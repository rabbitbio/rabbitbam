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1" r:id="rId3"/>
    <p:sldId id="262" r:id="rId5"/>
    <p:sldId id="260" r:id="rId6"/>
    <p:sldId id="263"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77A0"/>
    <a:srgbClr val="1739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74"/>
        <p:guide pos="28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SWBAM: library architecture and batch-level composition</a:t>
            </a:r>
          </a:p>
          <a:p/>
          <a:p>
            <a:r>
              <a:t>Redrawn using plot.pptx visual vocabulary: memory plane, MPE/CPE array, expanded processing components. Shapes illustrate SWBAM, not ZFP; no reference-paper mechanisms are claimed. One MPI rank uses one active core group (1 MPE + 64 CPEs). Four alternative processing pipelines, not four concurrent kernels. Application composition occurs at batch boundaries on the MPE. The common BAM read operator can emit raw views, counters, parsed records, or algorithm metadata. The optional bam1_t adapter materializes objects on the MPE and is not shown as a CPE stage. The BAM write pipeline also accepts already packed raw payloads (compression-only). Backend labels are for BAM; SAM backend support is not implied by the entire list. Source: swbam-sdk/lib/cpe/swbam_cpe_bam_read_pipeline.cpp, swbam_cpe_bam_write_pipeline.cpp; lib/operators/swbam_bam_transform_operator.cpp; include/swbam/cpe_pipeline.h; overleaf/SWBAM/bare_jrnl_new_sample4.tex Methods.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Alternating buffers and MPE-CPE overlap</a:t>
            </a:r>
          </a:p>
          <a:p/>
          <a:p>
            <a:r>
              <a:t>Independent read and write schedules for one active core group; horizontal lengths are schematic, not measured times. Read shows overlap_input=true and prefetch_during_post_process=false. The MPE prefetches next input while the CPE handles current input. Post-processing follows join and validation; it is not overlapped with that read kernel. Write Start launches current compression then FlushPending writes previous output, optional prefetch follows, Complete joins and validates. No simultaneous read/write CPE kernels are implied. Raw payloads skip serialization. Source: swbam-sdk/lib/cpe/swbam_cpe_bam_read_pipeline.cpp RunCpeReadPipeline; swbam-sdk/lib/cpe/swbam_cpe_bam_write_pipeline.cpp CpeWritePipelineSession::{Start,Complete,FlushPending}.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Distributed sorting and collation: revised author-edited slide 3.</a:t>
            </a:r>
          </a:p>
          <a:p/>
          <a:p>
            <a:r>
              <a:t>Panel (a): cell colors and numbers denote eventual destination ranks, including before Sort splitters are selected. The extracted data are decoded BAM bytes plus metadata. Local sorting rearranges metadata. The same-QNAME grouping performed by Collate is not globally lexicographic QNAME sorting. Rank-local output is therefore called merged records rather than globally sorted data. Local data avoid network transfer but may incur local copies. src0-src5 identify source ranks. The six segment glyphs summarize source contributions: sources can be empty or supply multiple segments in external mode. Merged records may interleave sources. Rank bodies are joined under one BAM header with one final BGZF EOF.</a:t>
            </a:r>
          </a:p>
          <a:p/>
          <a:p>
            <a:r>
              <a:t>Panel (b): Sort gathers local samples, selects five global splitters for six ranks, and broadcasts them. Collate uses owner=floor(bin*nranks/nbins); 66 bins are an example. Its comparator uses bin, hash, full QNAME, group order and global input order.</a:t>
            </a:r>
          </a:p>
          <a:p/>
          <a:p>
            <a:r>
              <a:t>The six logical stages are shared by in-memory and external-memory execution. Each storage box contains two alternatives selected by the algorithm mode; its RAM and temporary-file rows are not serial stages. External execution sorts successive bounded input chunks, stores local runs, exchanges bounded chunks into received segments, and consolidates segments under a memory-derived merge fan-in F. Only the final merge enters BGZF output. The dashed left arrow is an iteration over new input, not a readback of runs to re-sort them. Temporary extents contain metadata and raw BAM bytes; each icon does not imply a separate file. Some runs may remain resident. Algorithm temporary storage is independent of final rank-body spool.</a:t>
            </a:r>
          </a:p>
          <a:p/>
          <a:p>
            <a:r>
              <a:t>Code: swbam-app/algorithms/sort/swbam_sort_optimized_mpi.cpp; swbam-app/algorithms/collate/swbam_collate_mpi.cpp. Terminology follows standard local sorting, partitioning, data exchange, sorted runs, and multi-way merging, as used in the reference RabbitBAM/RabbitBAM-SORT paper. Visual style follows overleaf/reference/plot.pptx. The diagram summarizes separate Sort/Collate implementations; it does not claim identical code paths.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One-pass markdup: boundary pre-resolution and ordered retirement</a:t>
            </a:r>
          </a:p>
          <a:p/>
          <a:p>
            <a:r>
              <a:t>Panel (a) precedes the main stream: read/decode rank head/tail blocks, extract candidate metadata, allgather starts and collectively verify halo coverage against maximum read length L. When covered, select boundary candidates, route to coordinate owners, resolve groups and return source-local decisions H_r. Coverage failure on any rank disables the fast plan; retain boundary keys conservatively. All edges are schematic; left/right ranks are adjacent coordinate partitions. The example uses a shared duplicate key k with scores 70 and 60 (illustrative), and not full BAM record exchange. Paired/single interactions still follow implementation rules. Panel (b) excludes pre-resolved candidates from ordinary window processing, applies H_r and local/remote decisions to retained decoded blocks. Optimistic KEEP does not imply immediate output: active winners and remote decisions may pin records. Only complete front blocks are emitted. Pending blocks B2/B3 cannot overtake; storage is retired/recycled only after write completion. One-pass refers to the main record stream; edge probes perform additional limited decoding. No universal fixed memory bound for arbitrary coverage/fallback is claimed. Source: swbam-app/algorithms/markdup/swbam_markdup_mpi.cpp MdBuildOnePassBoundaryPlan, MdOnePassPrepareOutput, one-pass capture/output loop; swbam_markdup_stream_mpi.cpp candidate-window expiry and boundary retention.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a) SWBAM library: data access and batch execution"/>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SWBAM library: data access and batch processing</a:t>
            </a:r>
            <a:endParaRPr sz="1560" b="1" i="0">
              <a:solidFill>
                <a:srgbClr val="172C36"/>
              </a:solidFill>
              <a:latin typeface="Arial" panose="020B0604020202020204"/>
            </a:endParaRPr>
          </a:p>
        </p:txBody>
      </p:sp>
      <p:sp>
        <p:nvSpPr>
          <p:cNvPr id="3" name="Data access plane"/>
          <p:cNvSpPr/>
          <p:nvPr/>
        </p:nvSpPr>
        <p:spPr>
          <a:xfrm>
            <a:off x="213360" y="434340"/>
            <a:ext cx="11765280" cy="1051560"/>
          </a:xfrm>
          <a:prstGeom prst="rect">
            <a:avLst/>
          </a:prstGeom>
          <a:solidFill>
            <a:srgbClr val="D5EDF8"/>
          </a:solidFill>
          <a:ln w="1524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access title"/>
          <p:cNvSpPr txBox="1"/>
          <p:nvPr/>
        </p:nvSpPr>
        <p:spPr>
          <a:xfrm>
            <a:off x="365760" y="586740"/>
            <a:ext cx="1447800" cy="220980"/>
          </a:xfrm>
          <a:prstGeom prst="rect">
            <a:avLst/>
          </a:prstGeom>
          <a:noFill/>
        </p:spPr>
        <p:txBody>
          <a:bodyPr wrap="none" lIns="0" tIns="0" rIns="0" bIns="0" anchor="ctr">
            <a:noAutofit/>
          </a:bodyPr>
          <a:lstStyle/>
          <a:p>
            <a:pPr algn="ctr">
              <a:lnSpc>
                <a:spcPts val="1680"/>
              </a:lnSpc>
              <a:spcBef>
                <a:spcPts val="0"/>
              </a:spcBef>
              <a:spcAft>
                <a:spcPts val="0"/>
              </a:spcAft>
            </a:pPr>
            <a:r>
              <a:rPr sz="1500" b="1" i="0">
                <a:solidFill>
                  <a:srgbClr val="172C36"/>
                </a:solidFill>
                <a:latin typeface="Arial" panose="020B0604020202020204"/>
              </a:rPr>
              <a:t>Data access</a:t>
            </a:r>
            <a:endParaRPr sz="1500" b="1" i="0">
              <a:solidFill>
                <a:srgbClr val="172C36"/>
              </a:solidFill>
              <a:latin typeface="Arial" panose="020B0604020202020204"/>
            </a:endParaRPr>
          </a:p>
        </p:txBody>
      </p:sp>
      <p:sp>
        <p:nvSpPr>
          <p:cNvPr id="5" name="Input backends"/>
          <p:cNvSpPr txBox="1"/>
          <p:nvPr/>
        </p:nvSpPr>
        <p:spPr>
          <a:xfrm>
            <a:off x="365760" y="876300"/>
            <a:ext cx="1531620" cy="4267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BAM input backends</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Memory / POSIX / MPI-IO</a:t>
            </a:r>
            <a:endParaRPr sz="1020" b="0" i="0">
              <a:solidFill>
                <a:srgbClr val="172C36"/>
              </a:solidFill>
              <a:latin typeface="Arial" panose="020B0604020202020204"/>
            </a:endParaRPr>
          </a:p>
        </p:txBody>
      </p:sp>
      <p:grpSp>
        <p:nvGrpSpPr>
          <p:cNvPr id="8" name="BAM input file [editable group]"/>
          <p:cNvGrpSpPr/>
          <p:nvPr/>
        </p:nvGrpSpPr>
        <p:grpSpPr>
          <a:xfrm>
            <a:off x="2095499" y="632460"/>
            <a:ext cx="487680" cy="624840"/>
            <a:chOff x="2095499" y="632460"/>
            <a:chExt cx="487680" cy="624840"/>
          </a:xfrm>
        </p:grpSpPr>
        <p:sp>
          <p:nvSpPr>
            <p:cNvPr id="6" name="BAM input file"/>
            <p:cNvSpPr/>
            <p:nvPr/>
          </p:nvSpPr>
          <p:spPr>
            <a:xfrm>
              <a:off x="2095499" y="632460"/>
              <a:ext cx="487680" cy="624840"/>
            </a:xfrm>
            <a:prstGeom prst="foldedCorner">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M input file / label"/>
            <p:cNvSpPr txBox="1"/>
            <p:nvPr/>
          </p:nvSpPr>
          <p:spPr>
            <a:xfrm>
              <a:off x="2118360" y="832408"/>
              <a:ext cx="441960" cy="281178"/>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cxnSp>
        <p:nvCxnSpPr>
          <p:cNvPr id="9" name="Input to block batches / segment 0"/>
          <p:cNvCxnSpPr/>
          <p:nvPr/>
        </p:nvCxnSpPr>
        <p:spPr>
          <a:xfrm>
            <a:off x="2636520" y="929640"/>
            <a:ext cx="2819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BGZF input blocks / 0"/>
          <p:cNvSpPr/>
          <p:nvPr/>
        </p:nvSpPr>
        <p:spPr>
          <a:xfrm>
            <a:off x="2994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BGZF input blocks / divider 0 / segment 0"/>
          <p:cNvCxnSpPr/>
          <p:nvPr/>
        </p:nvCxnSpPr>
        <p:spPr>
          <a:xfrm>
            <a:off x="3070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2" name="BGZF input blocks / 1"/>
          <p:cNvSpPr/>
          <p:nvPr/>
        </p:nvSpPr>
        <p:spPr>
          <a:xfrm>
            <a:off x="32994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BGZF input blocks / divider 1 / segment 0"/>
          <p:cNvCxnSpPr/>
          <p:nvPr/>
        </p:nvCxnSpPr>
        <p:spPr>
          <a:xfrm>
            <a:off x="33755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 name="BGZF input blocks / 2"/>
          <p:cNvSpPr/>
          <p:nvPr/>
        </p:nvSpPr>
        <p:spPr>
          <a:xfrm>
            <a:off x="36042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BGZF input blocks / divider 2 / segment 0"/>
          <p:cNvCxnSpPr/>
          <p:nvPr/>
        </p:nvCxnSpPr>
        <p:spPr>
          <a:xfrm>
            <a:off x="36803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6" name="BGZF input blocks / 3"/>
          <p:cNvSpPr/>
          <p:nvPr/>
        </p:nvSpPr>
        <p:spPr>
          <a:xfrm>
            <a:off x="39090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BGZF input blocks / divider 3 / segment 0"/>
          <p:cNvCxnSpPr/>
          <p:nvPr/>
        </p:nvCxnSpPr>
        <p:spPr>
          <a:xfrm>
            <a:off x="39851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8" name="BGZF input blocks / 4"/>
          <p:cNvSpPr/>
          <p:nvPr/>
        </p:nvSpPr>
        <p:spPr>
          <a:xfrm>
            <a:off x="42138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BGZF input blocks / divider 4 / segment 0"/>
          <p:cNvCxnSpPr/>
          <p:nvPr/>
        </p:nvCxnSpPr>
        <p:spPr>
          <a:xfrm>
            <a:off x="42899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 name="BGZF input blocks / 5"/>
          <p:cNvSpPr/>
          <p:nvPr/>
        </p:nvSpPr>
        <p:spPr>
          <a:xfrm>
            <a:off x="4518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BGZF input blocks / divider 5 / segment 0"/>
          <p:cNvCxnSpPr/>
          <p:nvPr/>
        </p:nvCxnSpPr>
        <p:spPr>
          <a:xfrm>
            <a:off x="4594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2" name="Rank span / segment 0"/>
          <p:cNvCxnSpPr/>
          <p:nvPr/>
        </p:nvCxnSpPr>
        <p:spPr>
          <a:xfrm>
            <a:off x="299466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3" name="Rank span / segment 1"/>
          <p:cNvCxnSpPr/>
          <p:nvPr/>
        </p:nvCxnSpPr>
        <p:spPr>
          <a:xfrm>
            <a:off x="2994660" y="1135380"/>
            <a:ext cx="1805940" cy="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4" name="Rank span / segment 2"/>
          <p:cNvCxnSpPr/>
          <p:nvPr/>
        </p:nvCxnSpPr>
        <p:spPr>
          <a:xfrm flipV="1">
            <a:off x="480060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25" name="Rank span / label"/>
          <p:cNvSpPr txBox="1"/>
          <p:nvPr/>
        </p:nvSpPr>
        <p:spPr>
          <a:xfrm>
            <a:off x="2994660" y="1181100"/>
            <a:ext cx="18059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61727A"/>
                </a:solidFill>
                <a:latin typeface="Arial" panose="020B0604020202020204"/>
              </a:rPr>
              <a:t>Rank-local BGZF blocks</a:t>
            </a:r>
            <a:endParaRPr sz="1080" b="0" i="0">
              <a:solidFill>
                <a:srgbClr val="61727A"/>
              </a:solidFill>
              <a:latin typeface="Arial" panose="020B0604020202020204"/>
            </a:endParaRPr>
          </a:p>
        </p:txBody>
      </p:sp>
      <p:cxnSp>
        <p:nvCxnSpPr>
          <p:cNvPr id="26" name="Blocks to alternating input / segment 0"/>
          <p:cNvCxnSpPr/>
          <p:nvPr/>
        </p:nvCxnSpPr>
        <p:spPr>
          <a:xfrm>
            <a:off x="4899660" y="929640"/>
            <a:ext cx="3200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Input batch title"/>
          <p:cNvSpPr txBox="1"/>
          <p:nvPr/>
        </p:nvSpPr>
        <p:spPr>
          <a:xfrm>
            <a:off x="5356860" y="533400"/>
            <a:ext cx="193548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Double buffering</a:t>
            </a:r>
            <a:endParaRPr sz="1140" b="1" i="0">
              <a:solidFill>
                <a:srgbClr val="172C36"/>
              </a:solidFill>
              <a:latin typeface="Arial" panose="020B0604020202020204"/>
            </a:endParaRPr>
          </a:p>
        </p:txBody>
      </p:sp>
      <p:grpSp>
        <p:nvGrpSpPr>
          <p:cNvPr id="30" name="Input A [editable group]"/>
          <p:cNvGrpSpPr/>
          <p:nvPr/>
        </p:nvGrpSpPr>
        <p:grpSpPr>
          <a:xfrm>
            <a:off x="5349240" y="807720"/>
            <a:ext cx="845820" cy="358140"/>
            <a:chOff x="5349240" y="807720"/>
            <a:chExt cx="845820" cy="358140"/>
          </a:xfrm>
        </p:grpSpPr>
        <p:sp>
          <p:nvSpPr>
            <p:cNvPr id="28" name="Input A"/>
            <p:cNvSpPr/>
            <p:nvPr/>
          </p:nvSpPr>
          <p:spPr>
            <a:xfrm>
              <a:off x="5349240" y="807720"/>
              <a:ext cx="845820" cy="3581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put A / label"/>
            <p:cNvSpPr txBox="1"/>
            <p:nvPr/>
          </p:nvSpPr>
          <p:spPr>
            <a:xfrm>
              <a:off x="539496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a:t>
              </a:r>
              <a:endParaRPr sz="1380" b="1" i="0">
                <a:solidFill>
                  <a:srgbClr val="172C36"/>
                </a:solidFill>
                <a:latin typeface="Arial" panose="020B0604020202020204"/>
              </a:endParaRPr>
            </a:p>
          </p:txBody>
        </p:sp>
      </p:grpSp>
      <p:grpSp>
        <p:nvGrpSpPr>
          <p:cNvPr id="33" name="Input B [editable group]"/>
          <p:cNvGrpSpPr/>
          <p:nvPr/>
        </p:nvGrpSpPr>
        <p:grpSpPr>
          <a:xfrm>
            <a:off x="6316980" y="807720"/>
            <a:ext cx="845820" cy="358140"/>
            <a:chOff x="6316980" y="807720"/>
            <a:chExt cx="845820" cy="358140"/>
          </a:xfrm>
        </p:grpSpPr>
        <p:sp>
          <p:nvSpPr>
            <p:cNvPr id="31" name="Input B"/>
            <p:cNvSpPr/>
            <p:nvPr/>
          </p:nvSpPr>
          <p:spPr>
            <a:xfrm>
              <a:off x="6316980" y="807720"/>
              <a:ext cx="845820" cy="3581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put B / label"/>
            <p:cNvSpPr txBox="1"/>
            <p:nvPr/>
          </p:nvSpPr>
          <p:spPr>
            <a:xfrm>
              <a:off x="636270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a:t>
              </a:r>
              <a:endParaRPr sz="1380" b="1" i="0">
                <a:solidFill>
                  <a:srgbClr val="172C36"/>
                </a:solidFill>
                <a:latin typeface="Arial" panose="020B0604020202020204"/>
              </a:endParaRPr>
            </a:p>
          </p:txBody>
        </p:sp>
      </p:grpSp>
      <p:sp>
        <p:nvSpPr>
          <p:cNvPr id="34" name="Batch capacity"/>
          <p:cNvSpPr txBox="1"/>
          <p:nvPr/>
        </p:nvSpPr>
        <p:spPr>
          <a:xfrm>
            <a:off x="5349240" y="1211580"/>
            <a:ext cx="181356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Up to 64 blocks per batch</a:t>
            </a:r>
            <a:endParaRPr sz="1020" b="0" i="0">
              <a:solidFill>
                <a:srgbClr val="172C36"/>
              </a:solidFill>
              <a:latin typeface="Arial" panose="020B0604020202020204"/>
            </a:endParaRPr>
          </a:p>
        </p:txBody>
      </p:sp>
      <p:cxnSp>
        <p:nvCxnSpPr>
          <p:cNvPr id="35" name="Separate input and output / segment 0"/>
          <p:cNvCxnSpPr/>
          <p:nvPr/>
        </p:nvCxnSpPr>
        <p:spPr>
          <a:xfrm>
            <a:off x="7467599" y="586740"/>
            <a:ext cx="0" cy="754380"/>
          </a:xfrm>
          <a:prstGeom prst="line">
            <a:avLst/>
          </a:prstGeom>
          <a:ln w="10668">
            <a:solidFill>
              <a:srgbClr val="A9B8BD"/>
            </a:solidFill>
          </a:ln>
          <a:effectLst/>
        </p:spPr>
        <p:style>
          <a:lnRef idx="2">
            <a:schemeClr val="accent1"/>
          </a:lnRef>
          <a:fillRef idx="0">
            <a:schemeClr val="accent1"/>
          </a:fillRef>
          <a:effectRef idx="1">
            <a:schemeClr val="accent1"/>
          </a:effectRef>
          <a:fontRef idx="minor">
            <a:schemeClr val="tx1"/>
          </a:fontRef>
        </p:style>
      </p:cxnSp>
      <p:sp>
        <p:nvSpPr>
          <p:cNvPr id="36" name="Body output title"/>
          <p:cNvSpPr txBox="1"/>
          <p:nvPr/>
        </p:nvSpPr>
        <p:spPr>
          <a:xfrm>
            <a:off x="7650480" y="541020"/>
            <a:ext cx="201168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Rank-local output storage</a:t>
            </a:r>
            <a:endParaRPr sz="1200" b="1" i="0">
              <a:solidFill>
                <a:srgbClr val="172C36"/>
              </a:solidFill>
              <a:latin typeface="Arial" panose="020B0604020202020204"/>
            </a:endParaRPr>
          </a:p>
        </p:txBody>
      </p:sp>
      <p:sp>
        <p:nvSpPr>
          <p:cNvPr id="37" name="Rank output blocks / 0"/>
          <p:cNvSpPr/>
          <p:nvPr/>
        </p:nvSpPr>
        <p:spPr>
          <a:xfrm>
            <a:off x="775715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Rank output blocks / divider 0 / segment 0"/>
          <p:cNvCxnSpPr/>
          <p:nvPr/>
        </p:nvCxnSpPr>
        <p:spPr>
          <a:xfrm>
            <a:off x="783534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9" name="Rank output blocks / 1"/>
          <p:cNvSpPr/>
          <p:nvPr/>
        </p:nvSpPr>
        <p:spPr>
          <a:xfrm>
            <a:off x="806957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Rank output blocks / divider 1 / segment 0"/>
          <p:cNvCxnSpPr/>
          <p:nvPr/>
        </p:nvCxnSpPr>
        <p:spPr>
          <a:xfrm>
            <a:off x="814776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 name="Rank output blocks / 2"/>
          <p:cNvSpPr/>
          <p:nvPr/>
        </p:nvSpPr>
        <p:spPr>
          <a:xfrm>
            <a:off x="838199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Rank output blocks / divider 2 / segment 0"/>
          <p:cNvCxnSpPr/>
          <p:nvPr/>
        </p:nvCxnSpPr>
        <p:spPr>
          <a:xfrm>
            <a:off x="846018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 name="Rank output blocks / 3"/>
          <p:cNvSpPr/>
          <p:nvPr/>
        </p:nvSpPr>
        <p:spPr>
          <a:xfrm>
            <a:off x="869442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Rank output blocks / divider 3 / segment 0"/>
          <p:cNvCxnSpPr/>
          <p:nvPr/>
        </p:nvCxnSpPr>
        <p:spPr>
          <a:xfrm>
            <a:off x="877260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 name="Rank output blocks / 4"/>
          <p:cNvSpPr/>
          <p:nvPr/>
        </p:nvSpPr>
        <p:spPr>
          <a:xfrm>
            <a:off x="900684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Rank output blocks / divider 4 / segment 0"/>
          <p:cNvCxnSpPr/>
          <p:nvPr/>
        </p:nvCxnSpPr>
        <p:spPr>
          <a:xfrm>
            <a:off x="908502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 name="Body strategies"/>
          <p:cNvSpPr txBox="1"/>
          <p:nvPr/>
        </p:nvSpPr>
        <p:spPr>
          <a:xfrm>
            <a:off x="7658100" y="1165860"/>
            <a:ext cx="1981199"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Memory / temporary file</a:t>
            </a:r>
            <a:endParaRPr sz="1080" b="0" i="0">
              <a:solidFill>
                <a:srgbClr val="172C36"/>
              </a:solidFill>
              <a:latin typeface="Arial" panose="020B0604020202020204"/>
            </a:endParaRPr>
          </a:p>
        </p:txBody>
      </p:sp>
      <p:cxnSp>
        <p:nvCxnSpPr>
          <p:cNvPr id="48" name="Sink to output / segment 0"/>
          <p:cNvCxnSpPr/>
          <p:nvPr/>
        </p:nvCxnSpPr>
        <p:spPr>
          <a:xfrm>
            <a:off x="9723120" y="94488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51" name="Final BAM file [editable group]"/>
          <p:cNvGrpSpPr/>
          <p:nvPr/>
        </p:nvGrpSpPr>
        <p:grpSpPr>
          <a:xfrm>
            <a:off x="10119360" y="678180"/>
            <a:ext cx="510540" cy="586740"/>
            <a:chOff x="10119360" y="678180"/>
            <a:chExt cx="510540" cy="586740"/>
          </a:xfrm>
        </p:grpSpPr>
        <p:sp>
          <p:nvSpPr>
            <p:cNvPr id="49" name="Final BAM file"/>
            <p:cNvSpPr/>
            <p:nvPr/>
          </p:nvSpPr>
          <p:spPr>
            <a:xfrm>
              <a:off x="10119360" y="678180"/>
              <a:ext cx="510540" cy="58674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nal BAM file / label"/>
            <p:cNvSpPr txBox="1"/>
            <p:nvPr/>
          </p:nvSpPr>
          <p:spPr>
            <a:xfrm>
              <a:off x="10142220" y="865936"/>
              <a:ext cx="464820" cy="264033"/>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sp>
        <p:nvSpPr>
          <p:cNvPr id="52" name="Distributed output label"/>
          <p:cNvSpPr txBox="1"/>
          <p:nvPr/>
        </p:nvSpPr>
        <p:spPr>
          <a:xfrm>
            <a:off x="10744200" y="716280"/>
            <a:ext cx="1074420" cy="5105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Distributed</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BAM output</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Memory / MPI-IO</a:t>
            </a:r>
            <a:endParaRPr sz="1020" b="0" i="0">
              <a:solidFill>
                <a:srgbClr val="172C36"/>
              </a:solidFill>
              <a:latin typeface="Arial" panose="020B0604020202020204"/>
            </a:endParaRPr>
          </a:p>
        </p:txBody>
      </p:sp>
      <p:sp>
        <p:nvSpPr>
          <p:cNvPr id="53" name="Core group boundary"/>
          <p:cNvSpPr/>
          <p:nvPr/>
        </p:nvSpPr>
        <p:spPr>
          <a:xfrm>
            <a:off x="213360" y="1767840"/>
            <a:ext cx="11765280" cy="2628900"/>
          </a:xfrm>
          <a:prstGeom prst="roundRect">
            <a:avLst>
              <a:gd name="adj" fmla="val 3478"/>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ore group boundary / heading"/>
          <p:cNvSpPr txBox="1"/>
          <p:nvPr/>
        </p:nvSpPr>
        <p:spPr>
          <a:xfrm>
            <a:off x="327660" y="1844040"/>
            <a:ext cx="115366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Within each MPI rank: 1 MPE + 64 CPEs</a:t>
            </a:r>
            <a:endParaRPr sz="1440" b="1" i="0">
              <a:solidFill>
                <a:srgbClr val="172C36"/>
              </a:solidFill>
              <a:latin typeface="Arial" panose="020B0604020202020204"/>
            </a:endParaRPr>
          </a:p>
        </p:txBody>
      </p:sp>
      <p:sp>
        <p:nvSpPr>
          <p:cNvPr id="55" name="MPE controller"/>
          <p:cNvSpPr/>
          <p:nvPr/>
        </p:nvSpPr>
        <p:spPr>
          <a:xfrm>
            <a:off x="365760" y="2156460"/>
            <a:ext cx="1882139" cy="2042160"/>
          </a:xfrm>
          <a:prstGeom prst="roundRect">
            <a:avLst>
              <a:gd name="adj" fmla="val 485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PE controller / heading"/>
          <p:cNvSpPr txBox="1"/>
          <p:nvPr/>
        </p:nvSpPr>
        <p:spPr>
          <a:xfrm>
            <a:off x="480060" y="2232660"/>
            <a:ext cx="165354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MPE</a:t>
            </a:r>
            <a:endParaRPr sz="1440" b="1" i="0">
              <a:solidFill>
                <a:srgbClr val="172C36"/>
              </a:solidFill>
              <a:latin typeface="Arial" panose="020B0604020202020204"/>
            </a:endParaRPr>
          </a:p>
        </p:txBody>
      </p:sp>
      <p:grpSp>
        <p:nvGrpSpPr>
          <p:cNvPr id="59" name="MPE Prepare batch [editable group]"/>
          <p:cNvGrpSpPr/>
          <p:nvPr/>
        </p:nvGrpSpPr>
        <p:grpSpPr>
          <a:xfrm>
            <a:off x="495299" y="2567940"/>
            <a:ext cx="1623060" cy="335280"/>
            <a:chOff x="495299" y="2567940"/>
            <a:chExt cx="1623060" cy="335280"/>
          </a:xfrm>
        </p:grpSpPr>
        <p:sp>
          <p:nvSpPr>
            <p:cNvPr id="57" name="MPE Prepare batch"/>
            <p:cNvSpPr/>
            <p:nvPr/>
          </p:nvSpPr>
          <p:spPr>
            <a:xfrm>
              <a:off x="495299" y="25679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PE Prepare batch / label"/>
            <p:cNvSpPr txBox="1"/>
            <p:nvPr/>
          </p:nvSpPr>
          <p:spPr>
            <a:xfrm>
              <a:off x="541020" y="25908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Prepare batch</a:t>
              </a:r>
              <a:endParaRPr sz="1200" b="0" i="0">
                <a:solidFill>
                  <a:srgbClr val="172C36"/>
                </a:solidFill>
                <a:latin typeface="Arial" panose="020B0604020202020204"/>
              </a:endParaRPr>
            </a:p>
          </p:txBody>
        </p:sp>
      </p:grpSp>
      <p:grpSp>
        <p:nvGrpSpPr>
          <p:cNvPr id="62" name="MPE Launch / join [editable group]"/>
          <p:cNvGrpSpPr/>
          <p:nvPr/>
        </p:nvGrpSpPr>
        <p:grpSpPr>
          <a:xfrm>
            <a:off x="495299" y="3025140"/>
            <a:ext cx="1623060" cy="335280"/>
            <a:chOff x="495299" y="3025140"/>
            <a:chExt cx="1623060" cy="335280"/>
          </a:xfrm>
        </p:grpSpPr>
        <p:sp>
          <p:nvSpPr>
            <p:cNvPr id="60" name="MPE Launch / join"/>
            <p:cNvSpPr/>
            <p:nvPr/>
          </p:nvSpPr>
          <p:spPr>
            <a:xfrm>
              <a:off x="495299" y="30251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PE Launch / join / label"/>
            <p:cNvSpPr txBox="1"/>
            <p:nvPr/>
          </p:nvSpPr>
          <p:spPr>
            <a:xfrm>
              <a:off x="541020" y="30480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Launch / join CPEs</a:t>
              </a:r>
              <a:endParaRPr sz="1200" b="0" i="0">
                <a:solidFill>
                  <a:srgbClr val="172C36"/>
                </a:solidFill>
                <a:latin typeface="Arial" panose="020B0604020202020204"/>
              </a:endParaRPr>
            </a:p>
          </p:txBody>
        </p:sp>
      </p:grpSp>
      <p:grpSp>
        <p:nvGrpSpPr>
          <p:cNvPr id="65" name="MPE Batch post-processing [editable group]"/>
          <p:cNvGrpSpPr/>
          <p:nvPr/>
        </p:nvGrpSpPr>
        <p:grpSpPr>
          <a:xfrm>
            <a:off x="495299" y="3482340"/>
            <a:ext cx="1623060" cy="335280"/>
            <a:chOff x="495299" y="3482340"/>
            <a:chExt cx="1623060" cy="335280"/>
          </a:xfrm>
        </p:grpSpPr>
        <p:sp>
          <p:nvSpPr>
            <p:cNvPr id="63" name="MPE Batch post-processing"/>
            <p:cNvSpPr/>
            <p:nvPr/>
          </p:nvSpPr>
          <p:spPr>
            <a:xfrm>
              <a:off x="495299" y="34823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MPE Batch post-processing / label"/>
            <p:cNvSpPr txBox="1"/>
            <p:nvPr/>
          </p:nvSpPr>
          <p:spPr>
            <a:xfrm>
              <a:off x="541020" y="35052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Batch post-processing</a:t>
              </a:r>
              <a:endParaRPr sz="1200" b="0" i="0">
                <a:solidFill>
                  <a:srgbClr val="172C36"/>
                </a:solidFill>
                <a:latin typeface="Arial" panose="020B0604020202020204"/>
              </a:endParaRPr>
            </a:p>
          </p:txBody>
        </p:sp>
      </p:grpSp>
      <p:sp>
        <p:nvSpPr>
          <p:cNvPr id="66" name="Control granularity"/>
          <p:cNvSpPr txBox="1"/>
          <p:nvPr/>
        </p:nvSpPr>
        <p:spPr>
          <a:xfrm>
            <a:off x="502920" y="3916680"/>
            <a:ext cx="1607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9A7625"/>
                </a:solidFill>
                <a:latin typeface="Arial" panose="020B0604020202020204"/>
              </a:rPr>
              <a:t>Batch-level control</a:t>
            </a:r>
            <a:endParaRPr sz="1080" b="0" i="0">
              <a:solidFill>
                <a:srgbClr val="9A7625"/>
              </a:solidFill>
              <a:latin typeface="Arial" panose="020B0604020202020204"/>
            </a:endParaRPr>
          </a:p>
        </p:txBody>
      </p:sp>
      <p:cxnSp>
        <p:nvCxnSpPr>
          <p:cNvPr id="67" name="MPE launches core group / segment 0"/>
          <p:cNvCxnSpPr/>
          <p:nvPr/>
        </p:nvCxnSpPr>
        <p:spPr>
          <a:xfrm>
            <a:off x="2247900" y="3086100"/>
            <a:ext cx="2590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CPE array title"/>
          <p:cNvSpPr txBox="1"/>
          <p:nvPr/>
        </p:nvSpPr>
        <p:spPr>
          <a:xfrm>
            <a:off x="2567940" y="2156460"/>
            <a:ext cx="1577340" cy="21336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8 × 8 CPE array</a:t>
            </a:r>
            <a:endParaRPr sz="1260" b="1" i="0">
              <a:solidFill>
                <a:srgbClr val="172C36"/>
              </a:solidFill>
              <a:latin typeface="Arial" panose="020B0604020202020204"/>
            </a:endParaRPr>
          </a:p>
        </p:txBody>
      </p:sp>
      <p:sp>
        <p:nvSpPr>
          <p:cNvPr id="69" name="CPE 0"/>
          <p:cNvSpPr/>
          <p:nvPr/>
        </p:nvSpPr>
        <p:spPr>
          <a:xfrm>
            <a:off x="26289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PE 1"/>
          <p:cNvSpPr/>
          <p:nvPr/>
        </p:nvSpPr>
        <p:spPr>
          <a:xfrm>
            <a:off x="28117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PE 2"/>
          <p:cNvSpPr/>
          <p:nvPr/>
        </p:nvSpPr>
        <p:spPr>
          <a:xfrm>
            <a:off x="29946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PE 3"/>
          <p:cNvSpPr/>
          <p:nvPr/>
        </p:nvSpPr>
        <p:spPr>
          <a:xfrm>
            <a:off x="317754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PE 4"/>
          <p:cNvSpPr/>
          <p:nvPr/>
        </p:nvSpPr>
        <p:spPr>
          <a:xfrm>
            <a:off x="336042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PE 5"/>
          <p:cNvSpPr/>
          <p:nvPr/>
        </p:nvSpPr>
        <p:spPr>
          <a:xfrm>
            <a:off x="35433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PE 6"/>
          <p:cNvSpPr/>
          <p:nvPr/>
        </p:nvSpPr>
        <p:spPr>
          <a:xfrm>
            <a:off x="37261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PE 7"/>
          <p:cNvSpPr/>
          <p:nvPr/>
        </p:nvSpPr>
        <p:spPr>
          <a:xfrm>
            <a:off x="39090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PE 8"/>
          <p:cNvSpPr/>
          <p:nvPr/>
        </p:nvSpPr>
        <p:spPr>
          <a:xfrm>
            <a:off x="26289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PE 9"/>
          <p:cNvSpPr/>
          <p:nvPr/>
        </p:nvSpPr>
        <p:spPr>
          <a:xfrm>
            <a:off x="28117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PE 10"/>
          <p:cNvSpPr/>
          <p:nvPr/>
        </p:nvSpPr>
        <p:spPr>
          <a:xfrm>
            <a:off x="29946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PE 11"/>
          <p:cNvSpPr/>
          <p:nvPr/>
        </p:nvSpPr>
        <p:spPr>
          <a:xfrm>
            <a:off x="317754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PE 12"/>
          <p:cNvSpPr/>
          <p:nvPr/>
        </p:nvSpPr>
        <p:spPr>
          <a:xfrm>
            <a:off x="336042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PE 13"/>
          <p:cNvSpPr/>
          <p:nvPr/>
        </p:nvSpPr>
        <p:spPr>
          <a:xfrm>
            <a:off x="35433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PE 14"/>
          <p:cNvSpPr/>
          <p:nvPr/>
        </p:nvSpPr>
        <p:spPr>
          <a:xfrm>
            <a:off x="37261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PE 15"/>
          <p:cNvSpPr/>
          <p:nvPr/>
        </p:nvSpPr>
        <p:spPr>
          <a:xfrm>
            <a:off x="39090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PE 16"/>
          <p:cNvSpPr/>
          <p:nvPr/>
        </p:nvSpPr>
        <p:spPr>
          <a:xfrm>
            <a:off x="26289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PE 17"/>
          <p:cNvSpPr/>
          <p:nvPr/>
        </p:nvSpPr>
        <p:spPr>
          <a:xfrm>
            <a:off x="28117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PE 18"/>
          <p:cNvSpPr/>
          <p:nvPr/>
        </p:nvSpPr>
        <p:spPr>
          <a:xfrm>
            <a:off x="29946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PE 19"/>
          <p:cNvSpPr/>
          <p:nvPr/>
        </p:nvSpPr>
        <p:spPr>
          <a:xfrm>
            <a:off x="317754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PE 20"/>
          <p:cNvSpPr/>
          <p:nvPr/>
        </p:nvSpPr>
        <p:spPr>
          <a:xfrm>
            <a:off x="336042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PE 21"/>
          <p:cNvSpPr/>
          <p:nvPr/>
        </p:nvSpPr>
        <p:spPr>
          <a:xfrm>
            <a:off x="35433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PE 22"/>
          <p:cNvSpPr/>
          <p:nvPr/>
        </p:nvSpPr>
        <p:spPr>
          <a:xfrm>
            <a:off x="37261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PE 23"/>
          <p:cNvSpPr/>
          <p:nvPr/>
        </p:nvSpPr>
        <p:spPr>
          <a:xfrm>
            <a:off x="39090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PE 24"/>
          <p:cNvSpPr/>
          <p:nvPr/>
        </p:nvSpPr>
        <p:spPr>
          <a:xfrm>
            <a:off x="262890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PE 25"/>
          <p:cNvSpPr/>
          <p:nvPr/>
        </p:nvSpPr>
        <p:spPr>
          <a:xfrm>
            <a:off x="28117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PE 26"/>
          <p:cNvSpPr/>
          <p:nvPr/>
        </p:nvSpPr>
        <p:spPr>
          <a:xfrm>
            <a:off x="29946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PE 27"/>
          <p:cNvSpPr/>
          <p:nvPr/>
        </p:nvSpPr>
        <p:spPr>
          <a:xfrm>
            <a:off x="317754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PE 28"/>
          <p:cNvSpPr/>
          <p:nvPr/>
        </p:nvSpPr>
        <p:spPr>
          <a:xfrm>
            <a:off x="336042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PE 29"/>
          <p:cNvSpPr/>
          <p:nvPr/>
        </p:nvSpPr>
        <p:spPr>
          <a:xfrm>
            <a:off x="3543300" y="3032760"/>
            <a:ext cx="160020" cy="160020"/>
          </a:xfrm>
          <a:prstGeom prst="rect">
            <a:avLst/>
          </a:prstGeom>
          <a:solidFill>
            <a:srgbClr val="197BA3"/>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PE 30"/>
          <p:cNvSpPr/>
          <p:nvPr/>
        </p:nvSpPr>
        <p:spPr>
          <a:xfrm>
            <a:off x="37261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PE 31"/>
          <p:cNvSpPr/>
          <p:nvPr/>
        </p:nvSpPr>
        <p:spPr>
          <a:xfrm>
            <a:off x="39090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PE 32"/>
          <p:cNvSpPr/>
          <p:nvPr/>
        </p:nvSpPr>
        <p:spPr>
          <a:xfrm>
            <a:off x="26289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PE 33"/>
          <p:cNvSpPr/>
          <p:nvPr/>
        </p:nvSpPr>
        <p:spPr>
          <a:xfrm>
            <a:off x="28117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PE 34"/>
          <p:cNvSpPr/>
          <p:nvPr/>
        </p:nvSpPr>
        <p:spPr>
          <a:xfrm>
            <a:off x="29946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PE 35"/>
          <p:cNvSpPr/>
          <p:nvPr/>
        </p:nvSpPr>
        <p:spPr>
          <a:xfrm>
            <a:off x="317754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PE 36"/>
          <p:cNvSpPr/>
          <p:nvPr/>
        </p:nvSpPr>
        <p:spPr>
          <a:xfrm>
            <a:off x="336042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PE 37"/>
          <p:cNvSpPr/>
          <p:nvPr/>
        </p:nvSpPr>
        <p:spPr>
          <a:xfrm>
            <a:off x="35433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PE 38"/>
          <p:cNvSpPr/>
          <p:nvPr/>
        </p:nvSpPr>
        <p:spPr>
          <a:xfrm>
            <a:off x="37261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PE 39"/>
          <p:cNvSpPr/>
          <p:nvPr/>
        </p:nvSpPr>
        <p:spPr>
          <a:xfrm>
            <a:off x="39090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PE 40"/>
          <p:cNvSpPr/>
          <p:nvPr/>
        </p:nvSpPr>
        <p:spPr>
          <a:xfrm>
            <a:off x="26289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PE 41"/>
          <p:cNvSpPr/>
          <p:nvPr/>
        </p:nvSpPr>
        <p:spPr>
          <a:xfrm>
            <a:off x="28117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PE 42"/>
          <p:cNvSpPr/>
          <p:nvPr/>
        </p:nvSpPr>
        <p:spPr>
          <a:xfrm>
            <a:off x="29946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PE 43"/>
          <p:cNvSpPr/>
          <p:nvPr/>
        </p:nvSpPr>
        <p:spPr>
          <a:xfrm>
            <a:off x="317754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PE 44"/>
          <p:cNvSpPr/>
          <p:nvPr/>
        </p:nvSpPr>
        <p:spPr>
          <a:xfrm>
            <a:off x="336042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PE 45"/>
          <p:cNvSpPr/>
          <p:nvPr/>
        </p:nvSpPr>
        <p:spPr>
          <a:xfrm>
            <a:off x="35433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PE 46"/>
          <p:cNvSpPr/>
          <p:nvPr/>
        </p:nvSpPr>
        <p:spPr>
          <a:xfrm>
            <a:off x="37261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PE 47"/>
          <p:cNvSpPr/>
          <p:nvPr/>
        </p:nvSpPr>
        <p:spPr>
          <a:xfrm>
            <a:off x="39090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PE 48"/>
          <p:cNvSpPr/>
          <p:nvPr/>
        </p:nvSpPr>
        <p:spPr>
          <a:xfrm>
            <a:off x="26289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CPE 49"/>
          <p:cNvSpPr/>
          <p:nvPr/>
        </p:nvSpPr>
        <p:spPr>
          <a:xfrm>
            <a:off x="28117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PE 50"/>
          <p:cNvSpPr/>
          <p:nvPr/>
        </p:nvSpPr>
        <p:spPr>
          <a:xfrm>
            <a:off x="29946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PE 51"/>
          <p:cNvSpPr/>
          <p:nvPr/>
        </p:nvSpPr>
        <p:spPr>
          <a:xfrm>
            <a:off x="317754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PE 52"/>
          <p:cNvSpPr/>
          <p:nvPr/>
        </p:nvSpPr>
        <p:spPr>
          <a:xfrm>
            <a:off x="336042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PE 53"/>
          <p:cNvSpPr/>
          <p:nvPr/>
        </p:nvSpPr>
        <p:spPr>
          <a:xfrm>
            <a:off x="35433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PE 54"/>
          <p:cNvSpPr/>
          <p:nvPr/>
        </p:nvSpPr>
        <p:spPr>
          <a:xfrm>
            <a:off x="37261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PE 55"/>
          <p:cNvSpPr/>
          <p:nvPr/>
        </p:nvSpPr>
        <p:spPr>
          <a:xfrm>
            <a:off x="39090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PE 56"/>
          <p:cNvSpPr/>
          <p:nvPr/>
        </p:nvSpPr>
        <p:spPr>
          <a:xfrm>
            <a:off x="26289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PE 57"/>
          <p:cNvSpPr/>
          <p:nvPr/>
        </p:nvSpPr>
        <p:spPr>
          <a:xfrm>
            <a:off x="28117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PE 58"/>
          <p:cNvSpPr/>
          <p:nvPr/>
        </p:nvSpPr>
        <p:spPr>
          <a:xfrm>
            <a:off x="29946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PE 59"/>
          <p:cNvSpPr/>
          <p:nvPr/>
        </p:nvSpPr>
        <p:spPr>
          <a:xfrm>
            <a:off x="317754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PE 60"/>
          <p:cNvSpPr/>
          <p:nvPr/>
        </p:nvSpPr>
        <p:spPr>
          <a:xfrm>
            <a:off x="336042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PE 61"/>
          <p:cNvSpPr/>
          <p:nvPr/>
        </p:nvSpPr>
        <p:spPr>
          <a:xfrm>
            <a:off x="35433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PE 62"/>
          <p:cNvSpPr/>
          <p:nvPr/>
        </p:nvSpPr>
        <p:spPr>
          <a:xfrm>
            <a:off x="37261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PE 63"/>
          <p:cNvSpPr/>
          <p:nvPr/>
        </p:nvSpPr>
        <p:spPr>
          <a:xfrm>
            <a:off x="39090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PE array range"/>
          <p:cNvSpPr txBox="1"/>
          <p:nvPr/>
        </p:nvSpPr>
        <p:spPr>
          <a:xfrm>
            <a:off x="2545080" y="4008120"/>
            <a:ext cx="163830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CPE₀ … CPE₆₃</a:t>
            </a:r>
            <a:endParaRPr sz="1080" b="0" i="0">
              <a:solidFill>
                <a:srgbClr val="172C36"/>
              </a:solidFill>
              <a:latin typeface="Arial" panose="020B0604020202020204"/>
            </a:endParaRPr>
          </a:p>
        </p:txBody>
      </p:sp>
      <p:cxnSp>
        <p:nvCxnSpPr>
          <p:cNvPr id="134" name="Array expansion top / segment 0"/>
          <p:cNvCxnSpPr/>
          <p:nvPr/>
        </p:nvCxnSpPr>
        <p:spPr>
          <a:xfrm flipV="1">
            <a:off x="4084320" y="2164080"/>
            <a:ext cx="342900" cy="320040"/>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5" name="Array expansion bottom / segment 0"/>
          <p:cNvCxnSpPr/>
          <p:nvPr/>
        </p:nvCxnSpPr>
        <p:spPr>
          <a:xfrm>
            <a:off x="4084320" y="3924300"/>
            <a:ext cx="342900" cy="266699"/>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sp>
        <p:nvSpPr>
          <p:cNvPr id="136" name="Reusable CPE components"/>
          <p:cNvSpPr/>
          <p:nvPr/>
        </p:nvSpPr>
        <p:spPr>
          <a:xfrm>
            <a:off x="4434840" y="2156460"/>
            <a:ext cx="7383779" cy="2042160"/>
          </a:xfrm>
          <a:prstGeom prst="roundRect">
            <a:avLst>
              <a:gd name="adj" fmla="val 4477"/>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usable CPE components / heading"/>
          <p:cNvSpPr txBox="1"/>
          <p:nvPr/>
        </p:nvSpPr>
        <p:spPr>
          <a:xfrm>
            <a:off x="4549140" y="2232660"/>
            <a:ext cx="71551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CPE processing components</a:t>
            </a:r>
            <a:endParaRPr sz="1440" b="1" i="0">
              <a:solidFill>
                <a:srgbClr val="172C36"/>
              </a:solidFill>
              <a:latin typeface="Arial" panose="020B0604020202020204"/>
            </a:endParaRPr>
          </a:p>
        </p:txBody>
      </p:sp>
      <p:sp>
        <p:nvSpPr>
          <p:cNvPr id="138" name="Kernel selection note"/>
          <p:cNvSpPr txBox="1"/>
          <p:nvPr/>
        </p:nvSpPr>
        <p:spPr>
          <a:xfrm>
            <a:off x="8473440" y="2240280"/>
            <a:ext cx="3208020" cy="19812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57834A"/>
                </a:solidFill>
                <a:latin typeface="Arial" panose="020B0604020202020204"/>
              </a:rPr>
              <a:t>Selected by the pipeline operator</a:t>
            </a:r>
            <a:endParaRPr sz="1080" b="0" i="0">
              <a:solidFill>
                <a:srgbClr val="57834A"/>
              </a:solidFill>
              <a:latin typeface="Arial" panose="020B0604020202020204"/>
            </a:endParaRPr>
          </a:p>
        </p:txBody>
      </p:sp>
      <p:sp>
        <p:nvSpPr>
          <p:cNvPr id="139" name="BAM read heading"/>
          <p:cNvSpPr txBox="1"/>
          <p:nvPr/>
        </p:nvSpPr>
        <p:spPr>
          <a:xfrm>
            <a:off x="459486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read</a:t>
            </a:r>
            <a:endParaRPr sz="1200" b="1" i="0">
              <a:solidFill>
                <a:srgbClr val="172C36"/>
              </a:solidFill>
              <a:latin typeface="Arial" panose="020B0604020202020204"/>
            </a:endParaRPr>
          </a:p>
        </p:txBody>
      </p:sp>
      <p:grpSp>
        <p:nvGrpSpPr>
          <p:cNvPr id="142" name="BAM read Decode [editable group]"/>
          <p:cNvGrpSpPr/>
          <p:nvPr/>
        </p:nvGrpSpPr>
        <p:grpSpPr>
          <a:xfrm>
            <a:off x="4594860" y="2720340"/>
            <a:ext cx="960120" cy="358140"/>
            <a:chOff x="4594860" y="2720340"/>
            <a:chExt cx="960120" cy="358140"/>
          </a:xfrm>
        </p:grpSpPr>
        <p:sp>
          <p:nvSpPr>
            <p:cNvPr id="140" name="BAM read Decode"/>
            <p:cNvSpPr/>
            <p:nvPr/>
          </p:nvSpPr>
          <p:spPr>
            <a:xfrm>
              <a:off x="4594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BAM read Decode / label"/>
            <p:cNvSpPr txBox="1"/>
            <p:nvPr/>
          </p:nvSpPr>
          <p:spPr>
            <a:xfrm>
              <a:off x="4640580" y="2743200"/>
              <a:ext cx="868680" cy="3124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Decompress</a:t>
              </a:r>
              <a:endParaRPr sz="1140" b="0" i="0">
                <a:solidFill>
                  <a:srgbClr val="172C36"/>
                </a:solidFill>
                <a:latin typeface="Arial" panose="020B0604020202020204"/>
              </a:endParaRPr>
            </a:p>
          </p:txBody>
        </p:sp>
      </p:grpSp>
      <p:cxnSp>
        <p:nvCxnSpPr>
          <p:cNvPr id="143" name="BAM read stage 0 / segment 0"/>
          <p:cNvCxnSpPr/>
          <p:nvPr/>
        </p:nvCxnSpPr>
        <p:spPr>
          <a:xfrm>
            <a:off x="5554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46" name="BAM read Parse [editable group]"/>
          <p:cNvGrpSpPr/>
          <p:nvPr/>
        </p:nvGrpSpPr>
        <p:grpSpPr>
          <a:xfrm>
            <a:off x="5737860" y="2720340"/>
            <a:ext cx="960120" cy="358140"/>
            <a:chOff x="5737860" y="2720340"/>
            <a:chExt cx="960120" cy="358140"/>
          </a:xfrm>
        </p:grpSpPr>
        <p:sp>
          <p:nvSpPr>
            <p:cNvPr id="144" name="BAM read Parse"/>
            <p:cNvSpPr/>
            <p:nvPr/>
          </p:nvSpPr>
          <p:spPr>
            <a:xfrm>
              <a:off x="5737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BAM read Parse / label"/>
            <p:cNvSpPr txBox="1"/>
            <p:nvPr/>
          </p:nvSpPr>
          <p:spPr>
            <a:xfrm>
              <a:off x="5783580" y="2743200"/>
              <a:ext cx="868680" cy="3124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Parse records</a:t>
              </a:r>
              <a:endParaRPr sz="1140" b="0" i="0">
                <a:solidFill>
                  <a:srgbClr val="172C36"/>
                </a:solidFill>
                <a:latin typeface="Arial" panose="020B0604020202020204"/>
              </a:endParaRPr>
            </a:p>
          </p:txBody>
        </p:sp>
      </p:grpSp>
      <p:cxnSp>
        <p:nvCxnSpPr>
          <p:cNvPr id="147" name="BAM read stage 1 / segment 0"/>
          <p:cNvCxnSpPr/>
          <p:nvPr/>
        </p:nvCxnSpPr>
        <p:spPr>
          <a:xfrm>
            <a:off x="6697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0" name="BAM read Record op. [editable group]"/>
          <p:cNvGrpSpPr/>
          <p:nvPr/>
        </p:nvGrpSpPr>
        <p:grpSpPr>
          <a:xfrm>
            <a:off x="6880860" y="2720340"/>
            <a:ext cx="960120" cy="358140"/>
            <a:chOff x="6880860" y="2720340"/>
            <a:chExt cx="960120" cy="358140"/>
          </a:xfrm>
        </p:grpSpPr>
        <p:sp>
          <p:nvSpPr>
            <p:cNvPr id="148" name="BAM read Record op."/>
            <p:cNvSpPr/>
            <p:nvPr/>
          </p:nvSpPr>
          <p:spPr>
            <a:xfrm>
              <a:off x="6880860" y="2720340"/>
              <a:ext cx="960120" cy="358140"/>
            </a:xfrm>
            <a:prstGeom prst="roundRect">
              <a:avLst>
                <a:gd name="adj" fmla="val 17021"/>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BAM read Record op. / label"/>
            <p:cNvSpPr txBox="1"/>
            <p:nvPr/>
          </p:nvSpPr>
          <p:spPr>
            <a:xfrm>
              <a:off x="6926580" y="2743200"/>
              <a:ext cx="868680" cy="3124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Record</a:t>
              </a:r>
              <a:endParaRPr sz="114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operation</a:t>
              </a:r>
              <a:endParaRPr sz="1080" b="0" i="0">
                <a:solidFill>
                  <a:srgbClr val="172C36"/>
                </a:solidFill>
                <a:latin typeface="Arial" panose="020B0604020202020204"/>
              </a:endParaRPr>
            </a:p>
          </p:txBody>
        </p:sp>
      </p:grpSp>
      <p:sp>
        <p:nvSpPr>
          <p:cNvPr id="151" name="BAM write heading"/>
          <p:cNvSpPr txBox="1"/>
          <p:nvPr/>
        </p:nvSpPr>
        <p:spPr>
          <a:xfrm>
            <a:off x="822960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write</a:t>
            </a:r>
            <a:endParaRPr sz="1200" b="1" i="0">
              <a:solidFill>
                <a:srgbClr val="172C36"/>
              </a:solidFill>
              <a:latin typeface="Arial" panose="020B0604020202020204"/>
            </a:endParaRPr>
          </a:p>
        </p:txBody>
      </p:sp>
      <p:grpSp>
        <p:nvGrpSpPr>
          <p:cNvPr id="154" name="BAM write Serialize [editable group]"/>
          <p:cNvGrpSpPr/>
          <p:nvPr/>
        </p:nvGrpSpPr>
        <p:grpSpPr>
          <a:xfrm>
            <a:off x="8229600" y="2720340"/>
            <a:ext cx="1463040" cy="358140"/>
            <a:chOff x="8229600" y="2720340"/>
            <a:chExt cx="1463040" cy="358140"/>
          </a:xfrm>
        </p:grpSpPr>
        <p:sp>
          <p:nvSpPr>
            <p:cNvPr id="152" name="BAM write Serialize"/>
            <p:cNvSpPr/>
            <p:nvPr/>
          </p:nvSpPr>
          <p:spPr>
            <a:xfrm>
              <a:off x="822960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M write Serialize / label"/>
            <p:cNvSpPr txBox="1"/>
            <p:nvPr/>
          </p:nvSpPr>
          <p:spPr>
            <a:xfrm>
              <a:off x="827532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Serialize</a:t>
              </a:r>
              <a:endParaRPr sz="1140" b="0" i="0">
                <a:solidFill>
                  <a:srgbClr val="172C36"/>
                </a:solidFill>
                <a:latin typeface="Arial" panose="020B0604020202020204"/>
              </a:endParaRPr>
            </a:p>
          </p:txBody>
        </p:sp>
      </p:grpSp>
      <p:cxnSp>
        <p:nvCxnSpPr>
          <p:cNvPr id="155" name="BAM write stage 0 / segment 0"/>
          <p:cNvCxnSpPr/>
          <p:nvPr/>
        </p:nvCxnSpPr>
        <p:spPr>
          <a:xfrm>
            <a:off x="969264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8" name="BAM write Compress [editable group]"/>
          <p:cNvGrpSpPr/>
          <p:nvPr/>
        </p:nvGrpSpPr>
        <p:grpSpPr>
          <a:xfrm>
            <a:off x="9875520" y="2720340"/>
            <a:ext cx="1463040" cy="358140"/>
            <a:chOff x="9875520" y="2720340"/>
            <a:chExt cx="1463040" cy="358140"/>
          </a:xfrm>
        </p:grpSpPr>
        <p:sp>
          <p:nvSpPr>
            <p:cNvPr id="156" name="BAM write Compress"/>
            <p:cNvSpPr/>
            <p:nvPr/>
          </p:nvSpPr>
          <p:spPr>
            <a:xfrm>
              <a:off x="987552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M write Compress / label"/>
            <p:cNvSpPr txBox="1"/>
            <p:nvPr/>
          </p:nvSpPr>
          <p:spPr>
            <a:xfrm>
              <a:off x="992124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Compress</a:t>
              </a:r>
              <a:endParaRPr sz="1140" b="0" i="0">
                <a:solidFill>
                  <a:srgbClr val="172C36"/>
                </a:solidFill>
                <a:latin typeface="Arial" panose="020B0604020202020204"/>
              </a:endParaRPr>
            </a:p>
          </p:txBody>
        </p:sp>
      </p:grpSp>
      <p:sp>
        <p:nvSpPr>
          <p:cNvPr id="159" name="SAM read heading"/>
          <p:cNvSpPr txBox="1"/>
          <p:nvPr/>
        </p:nvSpPr>
        <p:spPr>
          <a:xfrm>
            <a:off x="459486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read</a:t>
            </a:r>
            <a:endParaRPr sz="1200" b="1" i="0">
              <a:solidFill>
                <a:srgbClr val="172C36"/>
              </a:solidFill>
              <a:latin typeface="Arial" panose="020B0604020202020204"/>
            </a:endParaRPr>
          </a:p>
        </p:txBody>
      </p:sp>
      <p:grpSp>
        <p:nvGrpSpPr>
          <p:cNvPr id="162" name="SAM read Text chunks [editable group]"/>
          <p:cNvGrpSpPr/>
          <p:nvPr/>
        </p:nvGrpSpPr>
        <p:grpSpPr>
          <a:xfrm>
            <a:off x="4594860" y="3543300"/>
            <a:ext cx="1463040" cy="358140"/>
            <a:chOff x="4594860" y="3543300"/>
            <a:chExt cx="1463040" cy="358140"/>
          </a:xfrm>
        </p:grpSpPr>
        <p:sp>
          <p:nvSpPr>
            <p:cNvPr id="160" name="SAM read Text chunks"/>
            <p:cNvSpPr/>
            <p:nvPr/>
          </p:nvSpPr>
          <p:spPr>
            <a:xfrm>
              <a:off x="459486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SAM read Text chunks / label"/>
            <p:cNvSpPr txBox="1"/>
            <p:nvPr/>
          </p:nvSpPr>
          <p:spPr>
            <a:xfrm>
              <a:off x="464058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Text chunks</a:t>
              </a:r>
              <a:endParaRPr sz="1140" b="0" i="0">
                <a:solidFill>
                  <a:srgbClr val="172C36"/>
                </a:solidFill>
                <a:latin typeface="Arial" panose="020B0604020202020204"/>
              </a:endParaRPr>
            </a:p>
          </p:txBody>
        </p:sp>
      </p:grpSp>
      <p:cxnSp>
        <p:nvCxnSpPr>
          <p:cNvPr id="163" name="SAM read stage 0 / segment 0"/>
          <p:cNvCxnSpPr/>
          <p:nvPr/>
        </p:nvCxnSpPr>
        <p:spPr>
          <a:xfrm>
            <a:off x="605790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6" name="SAM read Parse [editable group]"/>
          <p:cNvGrpSpPr/>
          <p:nvPr/>
        </p:nvGrpSpPr>
        <p:grpSpPr>
          <a:xfrm>
            <a:off x="6240780" y="3543300"/>
            <a:ext cx="1463040" cy="358140"/>
            <a:chOff x="6240780" y="3543300"/>
            <a:chExt cx="1463040" cy="358140"/>
          </a:xfrm>
        </p:grpSpPr>
        <p:sp>
          <p:nvSpPr>
            <p:cNvPr id="164" name="SAM read Parse"/>
            <p:cNvSpPr/>
            <p:nvPr/>
          </p:nvSpPr>
          <p:spPr>
            <a:xfrm>
              <a:off x="624078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SAM read Parse / label"/>
            <p:cNvSpPr txBox="1"/>
            <p:nvPr/>
          </p:nvSpPr>
          <p:spPr>
            <a:xfrm>
              <a:off x="628650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Parse SAM</a:t>
              </a:r>
              <a:endParaRPr sz="1140" b="0" i="0">
                <a:solidFill>
                  <a:srgbClr val="172C36"/>
                </a:solidFill>
                <a:latin typeface="Arial" panose="020B0604020202020204"/>
              </a:endParaRPr>
            </a:p>
          </p:txBody>
        </p:sp>
      </p:grpSp>
      <p:sp>
        <p:nvSpPr>
          <p:cNvPr id="167" name="SAM write heading"/>
          <p:cNvSpPr txBox="1"/>
          <p:nvPr/>
        </p:nvSpPr>
        <p:spPr>
          <a:xfrm>
            <a:off x="822960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write</a:t>
            </a:r>
            <a:endParaRPr sz="1200" b="1" i="0">
              <a:solidFill>
                <a:srgbClr val="172C36"/>
              </a:solidFill>
              <a:latin typeface="Arial" panose="020B0604020202020204"/>
            </a:endParaRPr>
          </a:p>
        </p:txBody>
      </p:sp>
      <p:grpSp>
        <p:nvGrpSpPr>
          <p:cNvPr id="170" name="SAM write BAM records [editable group]"/>
          <p:cNvGrpSpPr/>
          <p:nvPr/>
        </p:nvGrpSpPr>
        <p:grpSpPr>
          <a:xfrm>
            <a:off x="8229600" y="3543300"/>
            <a:ext cx="1463040" cy="358140"/>
            <a:chOff x="8229600" y="3543300"/>
            <a:chExt cx="1463040" cy="358140"/>
          </a:xfrm>
        </p:grpSpPr>
        <p:sp>
          <p:nvSpPr>
            <p:cNvPr id="168" name="SAM write BAM records"/>
            <p:cNvSpPr/>
            <p:nvPr/>
          </p:nvSpPr>
          <p:spPr>
            <a:xfrm>
              <a:off x="822960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SAM write BAM records / label"/>
            <p:cNvSpPr txBox="1"/>
            <p:nvPr/>
          </p:nvSpPr>
          <p:spPr>
            <a:xfrm>
              <a:off x="827532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records</a:t>
              </a:r>
              <a:endParaRPr sz="1140" b="0" i="0">
                <a:solidFill>
                  <a:srgbClr val="172C36"/>
                </a:solidFill>
                <a:latin typeface="Arial" panose="020B0604020202020204"/>
              </a:endParaRPr>
            </a:p>
          </p:txBody>
        </p:sp>
      </p:grpSp>
      <p:cxnSp>
        <p:nvCxnSpPr>
          <p:cNvPr id="171" name="SAM write stage 0 / segment 0"/>
          <p:cNvCxnSpPr/>
          <p:nvPr/>
        </p:nvCxnSpPr>
        <p:spPr>
          <a:xfrm>
            <a:off x="969264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SAM write Format [editable group]"/>
          <p:cNvGrpSpPr/>
          <p:nvPr/>
        </p:nvGrpSpPr>
        <p:grpSpPr>
          <a:xfrm>
            <a:off x="9875520" y="3543300"/>
            <a:ext cx="1463040" cy="358140"/>
            <a:chOff x="9875520" y="3543300"/>
            <a:chExt cx="1463040" cy="358140"/>
          </a:xfrm>
        </p:grpSpPr>
        <p:sp>
          <p:nvSpPr>
            <p:cNvPr id="172" name="SAM write Format"/>
            <p:cNvSpPr/>
            <p:nvPr/>
          </p:nvSpPr>
          <p:spPr>
            <a:xfrm>
              <a:off x="987552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SAM write Format / label"/>
            <p:cNvSpPr txBox="1"/>
            <p:nvPr/>
          </p:nvSpPr>
          <p:spPr>
            <a:xfrm>
              <a:off x="992124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Format SAM</a:t>
              </a:r>
              <a:endParaRPr sz="1140" b="0" i="0">
                <a:solidFill>
                  <a:srgbClr val="172C36"/>
                </a:solidFill>
                <a:latin typeface="Arial" panose="020B0604020202020204"/>
              </a:endParaRPr>
            </a:p>
          </p:txBody>
        </p:sp>
      </p:grpSp>
      <p:cxnSp>
        <p:nvCxnSpPr>
          <p:cNvPr id="175" name="Read batches into core group / segment 0"/>
          <p:cNvCxnSpPr/>
          <p:nvPr/>
        </p:nvCxnSpPr>
        <p:spPr>
          <a:xfrm>
            <a:off x="5768340" y="1485900"/>
            <a:ext cx="0" cy="640080"/>
          </a:xfrm>
          <a:prstGeom prst="line">
            <a:avLst/>
          </a:prstGeom>
          <a:ln w="21336">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6" name="Read batch transfer label"/>
          <p:cNvSpPr txBox="1"/>
          <p:nvPr/>
        </p:nvSpPr>
        <p:spPr>
          <a:xfrm>
            <a:off x="5897880" y="1539240"/>
            <a:ext cx="1684020" cy="1828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97BA3"/>
                </a:solidFill>
                <a:latin typeface="Arial" panose="020B0604020202020204"/>
              </a:rPr>
              <a:t>Input batches</a:t>
            </a:r>
            <a:endParaRPr sz="1080" b="0" i="0">
              <a:solidFill>
                <a:srgbClr val="197BA3"/>
              </a:solidFill>
              <a:latin typeface="Arial" panose="020B0604020202020204"/>
            </a:endParaRPr>
          </a:p>
        </p:txBody>
      </p:sp>
      <p:cxnSp>
        <p:nvCxnSpPr>
          <p:cNvPr id="177" name="Compressed batches to sink / segment 0"/>
          <p:cNvCxnSpPr/>
          <p:nvPr/>
        </p:nvCxnSpPr>
        <p:spPr>
          <a:xfrm flipV="1">
            <a:off x="8968740" y="1485900"/>
            <a:ext cx="0" cy="640080"/>
          </a:xfrm>
          <a:prstGeom prst="line">
            <a:avLst/>
          </a:prstGeom>
          <a:ln w="21336">
            <a:solidFill>
              <a:srgbClr val="B9536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8" name="Write batch transfer label"/>
          <p:cNvSpPr txBox="1"/>
          <p:nvPr/>
        </p:nvSpPr>
        <p:spPr>
          <a:xfrm>
            <a:off x="9090660" y="1539240"/>
            <a:ext cx="1851660" cy="1828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B95362"/>
                </a:solidFill>
                <a:latin typeface="Arial" panose="020B0604020202020204"/>
              </a:rPr>
              <a:t>Output batches</a:t>
            </a:r>
            <a:endParaRPr sz="1080" b="0" i="0">
              <a:solidFill>
                <a:srgbClr val="B95362"/>
              </a:solidFill>
              <a:latin typeface="Arial" panose="020B0604020202020204"/>
            </a:endParaRPr>
          </a:p>
        </p:txBody>
      </p:sp>
      <p:sp>
        <p:nvSpPr>
          <p:cNvPr id="179" name="(b) Compose applications at batch boundaries"/>
          <p:cNvSpPr txBox="1"/>
          <p:nvPr/>
        </p:nvSpPr>
        <p:spPr>
          <a:xfrm>
            <a:off x="228600" y="45796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Batch-level pipeline composition</a:t>
            </a:r>
            <a:endParaRPr sz="1560" b="1" i="0">
              <a:solidFill>
                <a:srgbClr val="172C36"/>
              </a:solidFill>
              <a:latin typeface="Arial" panose="020B0604020202020204"/>
            </a:endParaRPr>
          </a:p>
        </p:txBody>
      </p:sp>
      <p:sp>
        <p:nvSpPr>
          <p:cNvPr id="180" name="Record counting title"/>
          <p:cNvSpPr txBox="1"/>
          <p:nvPr/>
        </p:nvSpPr>
        <p:spPr>
          <a:xfrm>
            <a:off x="342900" y="496062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Record counting</a:t>
            </a:r>
            <a:endParaRPr sz="1260" b="1" i="0">
              <a:solidFill>
                <a:srgbClr val="172C36"/>
              </a:solidFill>
              <a:latin typeface="Arial" panose="020B0604020202020204"/>
            </a:endParaRPr>
          </a:p>
        </p:txBody>
      </p:sp>
      <p:grpSp>
        <p:nvGrpSpPr>
          <p:cNvPr id="183" name="Record counting / BAM read [editable group]"/>
          <p:cNvGrpSpPr/>
          <p:nvPr/>
        </p:nvGrpSpPr>
        <p:grpSpPr>
          <a:xfrm>
            <a:off x="342900" y="5212080"/>
            <a:ext cx="1577340" cy="327660"/>
            <a:chOff x="342900" y="5212080"/>
            <a:chExt cx="1577340" cy="327660"/>
          </a:xfrm>
        </p:grpSpPr>
        <p:sp>
          <p:nvSpPr>
            <p:cNvPr id="181" name="Record counting / BAM read"/>
            <p:cNvSpPr/>
            <p:nvPr/>
          </p:nvSpPr>
          <p:spPr>
            <a:xfrm>
              <a:off x="34290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ord counting / BAM read / label"/>
            <p:cNvSpPr txBox="1"/>
            <p:nvPr/>
          </p:nvSpPr>
          <p:spPr>
            <a:xfrm>
              <a:off x="3886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184" name="Record counting / link 0 / segment 0"/>
          <p:cNvCxnSpPr/>
          <p:nvPr/>
        </p:nvCxnSpPr>
        <p:spPr>
          <a:xfrm>
            <a:off x="192024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7" name="Record counting / Aggregate [editable group]"/>
          <p:cNvGrpSpPr/>
          <p:nvPr/>
        </p:nvGrpSpPr>
        <p:grpSpPr>
          <a:xfrm>
            <a:off x="2148840" y="5212080"/>
            <a:ext cx="1577340" cy="327660"/>
            <a:chOff x="2148840" y="5212080"/>
            <a:chExt cx="1577340" cy="327660"/>
          </a:xfrm>
        </p:grpSpPr>
        <p:sp>
          <p:nvSpPr>
            <p:cNvPr id="185" name="Record counting / Aggregate"/>
            <p:cNvSpPr/>
            <p:nvPr/>
          </p:nvSpPr>
          <p:spPr>
            <a:xfrm>
              <a:off x="2148840"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ord counting / Aggregate / label"/>
            <p:cNvSpPr txBox="1"/>
            <p:nvPr/>
          </p:nvSpPr>
          <p:spPr>
            <a:xfrm>
              <a:off x="219456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Combine counts</a:t>
              </a:r>
              <a:endParaRPr sz="1140" b="0" i="0">
                <a:solidFill>
                  <a:srgbClr val="172C36"/>
                </a:solidFill>
                <a:latin typeface="Arial" panose="020B0604020202020204"/>
              </a:endParaRPr>
            </a:p>
          </p:txBody>
        </p:sp>
      </p:grpSp>
      <p:cxnSp>
        <p:nvCxnSpPr>
          <p:cNvPr id="188" name="Record counting / link 1 / segment 0"/>
          <p:cNvCxnSpPr/>
          <p:nvPr/>
        </p:nvCxnSpPr>
        <p:spPr>
          <a:xfrm>
            <a:off x="372618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1" name="Record counting / MPI reduce [editable group]"/>
          <p:cNvGrpSpPr/>
          <p:nvPr/>
        </p:nvGrpSpPr>
        <p:grpSpPr>
          <a:xfrm>
            <a:off x="3954780" y="5212080"/>
            <a:ext cx="1577340" cy="327660"/>
            <a:chOff x="3954780" y="5212080"/>
            <a:chExt cx="1577340" cy="327660"/>
          </a:xfrm>
        </p:grpSpPr>
        <p:sp>
          <p:nvSpPr>
            <p:cNvPr id="189" name="Record counting / MPI reduce"/>
            <p:cNvSpPr/>
            <p:nvPr/>
          </p:nvSpPr>
          <p:spPr>
            <a:xfrm>
              <a:off x="3954780" y="5212080"/>
              <a:ext cx="1577340" cy="327660"/>
            </a:xfrm>
            <a:prstGeom prst="roundRect">
              <a:avLst>
                <a:gd name="adj" fmla="val 18604"/>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ord counting / MPI reduce / label"/>
            <p:cNvSpPr txBox="1"/>
            <p:nvPr/>
          </p:nvSpPr>
          <p:spPr>
            <a:xfrm>
              <a:off x="400050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MPI reduction</a:t>
              </a:r>
              <a:endParaRPr sz="1140" b="0" i="0">
                <a:solidFill>
                  <a:srgbClr val="172C36"/>
                </a:solidFill>
                <a:latin typeface="Arial" panose="020B0604020202020204"/>
              </a:endParaRPr>
            </a:p>
          </p:txBody>
        </p:sp>
      </p:grpSp>
      <p:sp>
        <p:nvSpPr>
          <p:cNvPr id="192" name="BAM filtering / rewriting title"/>
          <p:cNvSpPr txBox="1"/>
          <p:nvPr/>
        </p:nvSpPr>
        <p:spPr>
          <a:xfrm>
            <a:off x="6408420" y="496062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BAM filtering and rewriting</a:t>
            </a:r>
            <a:endParaRPr sz="1260" b="1" i="0">
              <a:solidFill>
                <a:srgbClr val="172C36"/>
              </a:solidFill>
              <a:latin typeface="Arial" panose="020B0604020202020204"/>
            </a:endParaRPr>
          </a:p>
        </p:txBody>
      </p:sp>
      <p:grpSp>
        <p:nvGrpSpPr>
          <p:cNvPr id="195" name="BAM filtering / rewriting / BAM read + filter [editable group]"/>
          <p:cNvGrpSpPr/>
          <p:nvPr/>
        </p:nvGrpSpPr>
        <p:grpSpPr>
          <a:xfrm>
            <a:off x="6408420" y="5212080"/>
            <a:ext cx="1577340" cy="327660"/>
            <a:chOff x="6408420" y="5212080"/>
            <a:chExt cx="1577340" cy="327660"/>
          </a:xfrm>
        </p:grpSpPr>
        <p:sp>
          <p:nvSpPr>
            <p:cNvPr id="193" name="BAM filtering / rewriting / BAM read + filter"/>
            <p:cNvSpPr/>
            <p:nvPr/>
          </p:nvSpPr>
          <p:spPr>
            <a:xfrm>
              <a:off x="640842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BAM filtering / rewriting / BAM read + filter / label"/>
            <p:cNvSpPr txBox="1"/>
            <p:nvPr/>
          </p:nvSpPr>
          <p:spPr>
            <a:xfrm>
              <a:off x="645414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 + filter</a:t>
              </a:r>
              <a:endParaRPr sz="1140" b="0" i="0">
                <a:solidFill>
                  <a:srgbClr val="172C36"/>
                </a:solidFill>
                <a:latin typeface="Arial" panose="020B0604020202020204"/>
              </a:endParaRPr>
            </a:p>
          </p:txBody>
        </p:sp>
      </p:grpSp>
      <p:cxnSp>
        <p:nvCxnSpPr>
          <p:cNvPr id="196" name="BAM filtering / rewriting / link 0 / segment 0"/>
          <p:cNvCxnSpPr/>
          <p:nvPr/>
        </p:nvCxnSpPr>
        <p:spPr>
          <a:xfrm>
            <a:off x="7985759"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9" name="BAM filtering / rewriting / Packing plan [editable group]"/>
          <p:cNvGrpSpPr/>
          <p:nvPr/>
        </p:nvGrpSpPr>
        <p:grpSpPr>
          <a:xfrm>
            <a:off x="8214359" y="5212080"/>
            <a:ext cx="1577340" cy="327660"/>
            <a:chOff x="8214359" y="5212080"/>
            <a:chExt cx="1577340" cy="327660"/>
          </a:xfrm>
        </p:grpSpPr>
        <p:sp>
          <p:nvSpPr>
            <p:cNvPr id="197" name="BAM filtering / rewriting / Packing plan"/>
            <p:cNvSpPr/>
            <p:nvPr/>
          </p:nvSpPr>
          <p:spPr>
            <a:xfrm>
              <a:off x="8214359"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BAM filtering / rewriting / Packing plan / label"/>
            <p:cNvSpPr txBox="1"/>
            <p:nvPr/>
          </p:nvSpPr>
          <p:spPr>
            <a:xfrm>
              <a:off x="826008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Plan record packing</a:t>
              </a:r>
              <a:endParaRPr sz="1140" b="0" i="0">
                <a:solidFill>
                  <a:srgbClr val="172C36"/>
                </a:solidFill>
                <a:latin typeface="Arial" panose="020B0604020202020204"/>
              </a:endParaRPr>
            </a:p>
          </p:txBody>
        </p:sp>
      </p:grpSp>
      <p:cxnSp>
        <p:nvCxnSpPr>
          <p:cNvPr id="200" name="BAM filtering / rewriting / link 1 / segment 0"/>
          <p:cNvCxnSpPr/>
          <p:nvPr/>
        </p:nvCxnSpPr>
        <p:spPr>
          <a:xfrm>
            <a:off x="979170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3" name="BAM filtering / rewriting / BAM write [editable group]"/>
          <p:cNvGrpSpPr/>
          <p:nvPr/>
        </p:nvGrpSpPr>
        <p:grpSpPr>
          <a:xfrm>
            <a:off x="10020300" y="5212080"/>
            <a:ext cx="1577340" cy="327660"/>
            <a:chOff x="10020300" y="5212080"/>
            <a:chExt cx="1577340" cy="327660"/>
          </a:xfrm>
        </p:grpSpPr>
        <p:sp>
          <p:nvSpPr>
            <p:cNvPr id="201" name="BAM filtering / rewriting / BAM write"/>
            <p:cNvSpPr/>
            <p:nvPr/>
          </p:nvSpPr>
          <p:spPr>
            <a:xfrm>
              <a:off x="10020300" y="521208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BAM filtering / rewriting / BAM write / label"/>
            <p:cNvSpPr txBox="1"/>
            <p:nvPr/>
          </p:nvSpPr>
          <p:spPr>
            <a:xfrm>
              <a:off x="100660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04" name="BAM → SAM title"/>
          <p:cNvSpPr txBox="1"/>
          <p:nvPr/>
        </p:nvSpPr>
        <p:spPr>
          <a:xfrm>
            <a:off x="34290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BAM → SAM</a:t>
            </a:r>
            <a:endParaRPr sz="1260" b="1" i="0">
              <a:solidFill>
                <a:srgbClr val="172C36"/>
              </a:solidFill>
              <a:latin typeface="Arial" panose="020B0604020202020204"/>
            </a:endParaRPr>
          </a:p>
        </p:txBody>
      </p:sp>
      <p:grpSp>
        <p:nvGrpSpPr>
          <p:cNvPr id="207" name="BAM → SAM / BAM read [editable group]"/>
          <p:cNvGrpSpPr/>
          <p:nvPr/>
        </p:nvGrpSpPr>
        <p:grpSpPr>
          <a:xfrm>
            <a:off x="342900" y="5989320"/>
            <a:ext cx="1577340" cy="327660"/>
            <a:chOff x="342900" y="5989320"/>
            <a:chExt cx="1577340" cy="327660"/>
          </a:xfrm>
        </p:grpSpPr>
        <p:sp>
          <p:nvSpPr>
            <p:cNvPr id="205" name="BAM → SAM / BAM read"/>
            <p:cNvSpPr/>
            <p:nvPr/>
          </p:nvSpPr>
          <p:spPr>
            <a:xfrm>
              <a:off x="34290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BAM → SAM / BAM read / label"/>
            <p:cNvSpPr txBox="1"/>
            <p:nvPr/>
          </p:nvSpPr>
          <p:spPr>
            <a:xfrm>
              <a:off x="3886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208" name="BAM → SAM / link 0 / segment 0"/>
          <p:cNvCxnSpPr/>
          <p:nvPr/>
        </p:nvCxnSpPr>
        <p:spPr>
          <a:xfrm>
            <a:off x="192024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1" name="BAM → SAM / Batch handoff [editable group]"/>
          <p:cNvGrpSpPr/>
          <p:nvPr/>
        </p:nvGrpSpPr>
        <p:grpSpPr>
          <a:xfrm>
            <a:off x="2148840" y="5989320"/>
            <a:ext cx="1577340" cy="327660"/>
            <a:chOff x="2148840" y="5989320"/>
            <a:chExt cx="1577340" cy="327660"/>
          </a:xfrm>
        </p:grpSpPr>
        <p:sp>
          <p:nvSpPr>
            <p:cNvPr id="209" name="BAM → SAM / Batch handoff"/>
            <p:cNvSpPr/>
            <p:nvPr/>
          </p:nvSpPr>
          <p:spPr>
            <a:xfrm>
              <a:off x="2148840"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BAM → SAM / Batch handoff / label"/>
            <p:cNvSpPr txBox="1"/>
            <p:nvPr/>
          </p:nvSpPr>
          <p:spPr>
            <a:xfrm>
              <a:off x="219456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Pass record batch</a:t>
              </a:r>
              <a:endParaRPr sz="1140" b="0" i="0">
                <a:solidFill>
                  <a:srgbClr val="172C36"/>
                </a:solidFill>
                <a:latin typeface="Arial" panose="020B0604020202020204"/>
              </a:endParaRPr>
            </a:p>
          </p:txBody>
        </p:sp>
      </p:grpSp>
      <p:cxnSp>
        <p:nvCxnSpPr>
          <p:cNvPr id="212" name="BAM → SAM / link 1 / segment 0"/>
          <p:cNvCxnSpPr/>
          <p:nvPr/>
        </p:nvCxnSpPr>
        <p:spPr>
          <a:xfrm>
            <a:off x="372618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BAM → SAM / SAM write [editable group]"/>
          <p:cNvGrpSpPr/>
          <p:nvPr/>
        </p:nvGrpSpPr>
        <p:grpSpPr>
          <a:xfrm>
            <a:off x="3954780" y="5989320"/>
            <a:ext cx="1577340" cy="327660"/>
            <a:chOff x="3954780" y="5989320"/>
            <a:chExt cx="1577340" cy="327660"/>
          </a:xfrm>
        </p:grpSpPr>
        <p:sp>
          <p:nvSpPr>
            <p:cNvPr id="213" name="BAM → SAM / SAM write"/>
            <p:cNvSpPr/>
            <p:nvPr/>
          </p:nvSpPr>
          <p:spPr>
            <a:xfrm>
              <a:off x="395478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BAM → SAM / SAM write / label"/>
            <p:cNvSpPr txBox="1"/>
            <p:nvPr/>
          </p:nvSpPr>
          <p:spPr>
            <a:xfrm>
              <a:off x="400050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write</a:t>
              </a:r>
              <a:endParaRPr sz="1140" b="0" i="0">
                <a:solidFill>
                  <a:srgbClr val="172C36"/>
                </a:solidFill>
                <a:latin typeface="Arial" panose="020B0604020202020204"/>
              </a:endParaRPr>
            </a:p>
          </p:txBody>
        </p:sp>
      </p:grpSp>
      <p:sp>
        <p:nvSpPr>
          <p:cNvPr id="216" name="SAM → BAM title"/>
          <p:cNvSpPr txBox="1"/>
          <p:nvPr/>
        </p:nvSpPr>
        <p:spPr>
          <a:xfrm>
            <a:off x="640842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SAM → BAM</a:t>
            </a:r>
            <a:endParaRPr sz="1260" b="1" i="0">
              <a:solidFill>
                <a:srgbClr val="172C36"/>
              </a:solidFill>
              <a:latin typeface="Arial" panose="020B0604020202020204"/>
            </a:endParaRPr>
          </a:p>
        </p:txBody>
      </p:sp>
      <p:grpSp>
        <p:nvGrpSpPr>
          <p:cNvPr id="219" name="SAM → BAM / SAM read [editable group]"/>
          <p:cNvGrpSpPr/>
          <p:nvPr/>
        </p:nvGrpSpPr>
        <p:grpSpPr>
          <a:xfrm>
            <a:off x="6408420" y="5989320"/>
            <a:ext cx="1577340" cy="327660"/>
            <a:chOff x="6408420" y="5989320"/>
            <a:chExt cx="1577340" cy="327660"/>
          </a:xfrm>
        </p:grpSpPr>
        <p:sp>
          <p:nvSpPr>
            <p:cNvPr id="217" name="SAM → BAM / SAM read"/>
            <p:cNvSpPr/>
            <p:nvPr/>
          </p:nvSpPr>
          <p:spPr>
            <a:xfrm>
              <a:off x="640842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SAM → BAM / SAM read / label"/>
            <p:cNvSpPr txBox="1"/>
            <p:nvPr/>
          </p:nvSpPr>
          <p:spPr>
            <a:xfrm>
              <a:off x="645414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read</a:t>
              </a:r>
              <a:endParaRPr sz="1140" b="0" i="0">
                <a:solidFill>
                  <a:srgbClr val="172C36"/>
                </a:solidFill>
                <a:latin typeface="Arial" panose="020B0604020202020204"/>
              </a:endParaRPr>
            </a:p>
          </p:txBody>
        </p:sp>
      </p:grpSp>
      <p:cxnSp>
        <p:nvCxnSpPr>
          <p:cNvPr id="220" name="SAM → BAM / link 0 / segment 0"/>
          <p:cNvCxnSpPr/>
          <p:nvPr/>
        </p:nvCxnSpPr>
        <p:spPr>
          <a:xfrm>
            <a:off x="7985759"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3" name="SAM → BAM / Packing plan [editable group]"/>
          <p:cNvGrpSpPr/>
          <p:nvPr/>
        </p:nvGrpSpPr>
        <p:grpSpPr>
          <a:xfrm>
            <a:off x="8214359" y="5989320"/>
            <a:ext cx="1577340" cy="327660"/>
            <a:chOff x="8214359" y="5989320"/>
            <a:chExt cx="1577340" cy="327660"/>
          </a:xfrm>
        </p:grpSpPr>
        <p:sp>
          <p:nvSpPr>
            <p:cNvPr id="221" name="SAM → BAM / Packing plan"/>
            <p:cNvSpPr/>
            <p:nvPr/>
          </p:nvSpPr>
          <p:spPr>
            <a:xfrm>
              <a:off x="8214359"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SAM → BAM / Packing plan / label"/>
            <p:cNvSpPr txBox="1"/>
            <p:nvPr/>
          </p:nvSpPr>
          <p:spPr>
            <a:xfrm>
              <a:off x="826008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Plan record packing</a:t>
              </a:r>
              <a:endParaRPr sz="1140" b="0" i="0">
                <a:solidFill>
                  <a:srgbClr val="172C36"/>
                </a:solidFill>
                <a:latin typeface="Arial" panose="020B0604020202020204"/>
              </a:endParaRPr>
            </a:p>
          </p:txBody>
        </p:sp>
      </p:grpSp>
      <p:cxnSp>
        <p:nvCxnSpPr>
          <p:cNvPr id="224" name="SAM → BAM / link 1 / segment 0"/>
          <p:cNvCxnSpPr/>
          <p:nvPr/>
        </p:nvCxnSpPr>
        <p:spPr>
          <a:xfrm>
            <a:off x="979170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7" name="SAM → BAM / BAM write [editable group]"/>
          <p:cNvGrpSpPr/>
          <p:nvPr/>
        </p:nvGrpSpPr>
        <p:grpSpPr>
          <a:xfrm>
            <a:off x="10020300" y="5989320"/>
            <a:ext cx="1577340" cy="327660"/>
            <a:chOff x="10020300" y="5989320"/>
            <a:chExt cx="1577340" cy="327660"/>
          </a:xfrm>
        </p:grpSpPr>
        <p:sp>
          <p:nvSpPr>
            <p:cNvPr id="225" name="SAM → BAM / BAM write"/>
            <p:cNvSpPr/>
            <p:nvPr/>
          </p:nvSpPr>
          <p:spPr>
            <a:xfrm>
              <a:off x="1002030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SAM → BAM / BAM write / label"/>
            <p:cNvSpPr txBox="1"/>
            <p:nvPr/>
          </p:nvSpPr>
          <p:spPr>
            <a:xfrm>
              <a:off x="100660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28" name="Higher level state"/>
          <p:cNvSpPr txBox="1"/>
          <p:nvPr/>
        </p:nvSpPr>
        <p:spPr>
          <a:xfrm>
            <a:off x="281940" y="6545580"/>
            <a:ext cx="11628120" cy="20574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61727A"/>
                </a:solidFill>
                <a:latin typeface="Arial" panose="020B0604020202020204"/>
              </a:rPr>
              <a:t>Sort, Collate, Fixmate and Markdup add ordering, grouping, cross-record state and MPI communication.</a:t>
            </a:r>
            <a:endParaRPr sz="1200" b="0" i="0">
              <a:solidFill>
                <a:srgbClr val="61727A"/>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a) BAM read: reuse buffers, overlap independent work"/>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BAM read: overlap input reads with CPE processing</a:t>
            </a:r>
            <a:endParaRPr sz="1560" b="1" i="0">
              <a:solidFill>
                <a:srgbClr val="172C36"/>
              </a:solidFill>
              <a:latin typeface="Arial" panose="020B0604020202020204"/>
            </a:endParaRPr>
          </a:p>
        </p:txBody>
      </p:sp>
      <p:sp>
        <p:nvSpPr>
          <p:cNvPr id="3" name="BAM read buffers"/>
          <p:cNvSpPr/>
          <p:nvPr/>
        </p:nvSpPr>
        <p:spPr>
          <a:xfrm>
            <a:off x="228600" y="556260"/>
            <a:ext cx="1981199" cy="2225040"/>
          </a:xfrm>
          <a:prstGeom prst="roundRect">
            <a:avLst>
              <a:gd name="adj" fmla="val 4615"/>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M read buffers / heading"/>
          <p:cNvSpPr txBox="1"/>
          <p:nvPr/>
        </p:nvSpPr>
        <p:spPr>
          <a:xfrm>
            <a:off x="342900" y="632460"/>
            <a:ext cx="175260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Double buffering</a:t>
            </a:r>
            <a:endParaRPr sz="1440" b="1" i="0">
              <a:solidFill>
                <a:srgbClr val="172C36"/>
              </a:solidFill>
              <a:latin typeface="Arial" panose="020B0604020202020204"/>
            </a:endParaRPr>
          </a:p>
        </p:txBody>
      </p:sp>
      <p:grpSp>
        <p:nvGrpSpPr>
          <p:cNvPr id="7" name="BAM read buffer A [editable group]"/>
          <p:cNvGrpSpPr/>
          <p:nvPr/>
        </p:nvGrpSpPr>
        <p:grpSpPr>
          <a:xfrm>
            <a:off x="434340" y="1021080"/>
            <a:ext cx="1562100" cy="388620"/>
            <a:chOff x="434340" y="1021080"/>
            <a:chExt cx="1562100" cy="388620"/>
          </a:xfrm>
        </p:grpSpPr>
        <p:sp>
          <p:nvSpPr>
            <p:cNvPr id="5" name="BAM read buffer A"/>
            <p:cNvSpPr/>
            <p:nvPr/>
          </p:nvSpPr>
          <p:spPr>
            <a:xfrm>
              <a:off x="434340" y="102108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M read buffer A / label"/>
            <p:cNvSpPr txBox="1"/>
            <p:nvPr/>
          </p:nvSpPr>
          <p:spPr>
            <a:xfrm>
              <a:off x="480060" y="104394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10" name="BAM read buffer B [editable group]"/>
          <p:cNvGrpSpPr/>
          <p:nvPr/>
        </p:nvGrpSpPr>
        <p:grpSpPr>
          <a:xfrm>
            <a:off x="434340" y="1615440"/>
            <a:ext cx="1562100" cy="388620"/>
            <a:chOff x="434340" y="1615440"/>
            <a:chExt cx="1562100" cy="388620"/>
          </a:xfrm>
        </p:grpSpPr>
        <p:sp>
          <p:nvSpPr>
            <p:cNvPr id="8" name="BAM read buffer B"/>
            <p:cNvSpPr/>
            <p:nvPr/>
          </p:nvSpPr>
          <p:spPr>
            <a:xfrm>
              <a:off x="434340" y="161544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M read buffer B / label"/>
            <p:cNvSpPr txBox="1"/>
            <p:nvPr/>
          </p:nvSpPr>
          <p:spPr>
            <a:xfrm>
              <a:off x="480060" y="163830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11" name="BAM read role"/>
          <p:cNvSpPr txBox="1"/>
          <p:nvPr/>
        </p:nvSpPr>
        <p:spPr>
          <a:xfrm>
            <a:off x="350520" y="2171700"/>
            <a:ext cx="1744980" cy="3886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Compressed input buffers</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Alternate between A and B</a:t>
            </a:r>
            <a:endParaRPr sz="1020" b="0" i="0">
              <a:solidFill>
                <a:srgbClr val="172C36"/>
              </a:solidFill>
              <a:latin typeface="Arial" panose="020B0604020202020204"/>
            </a:endParaRPr>
          </a:p>
        </p:txBody>
      </p:sp>
      <p:cxnSp>
        <p:nvCxnSpPr>
          <p:cNvPr id="12" name="BAM read time axis / segment 0"/>
          <p:cNvCxnSpPr/>
          <p:nvPr/>
        </p:nvCxnSpPr>
        <p:spPr>
          <a:xfrm>
            <a:off x="2994660" y="81534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BAM read time label"/>
          <p:cNvSpPr txBox="1"/>
          <p:nvPr/>
        </p:nvSpPr>
        <p:spPr>
          <a:xfrm>
            <a:off x="9890760" y="53340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14" name="BAM read MPE label"/>
          <p:cNvSpPr txBox="1"/>
          <p:nvPr/>
        </p:nvSpPr>
        <p:spPr>
          <a:xfrm>
            <a:off x="2324100" y="126492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15" name="BAM read CPE label"/>
          <p:cNvSpPr txBox="1"/>
          <p:nvPr/>
        </p:nvSpPr>
        <p:spPr>
          <a:xfrm>
            <a:off x="2270760" y="214122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16" name="BAM read overlap band 481"/>
          <p:cNvSpPr/>
          <p:nvPr/>
        </p:nvSpPr>
        <p:spPr>
          <a:xfrm>
            <a:off x="36652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M read overlap band 1021"/>
          <p:cNvSpPr/>
          <p:nvPr/>
        </p:nvSpPr>
        <p:spPr>
          <a:xfrm>
            <a:off x="77800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BAM read task 0 [editable group]"/>
          <p:cNvGrpSpPr/>
          <p:nvPr/>
        </p:nvGrpSpPr>
        <p:grpSpPr>
          <a:xfrm>
            <a:off x="3055620" y="1196340"/>
            <a:ext cx="609600" cy="464820"/>
            <a:chOff x="3055620" y="1196340"/>
            <a:chExt cx="609600" cy="464820"/>
          </a:xfrm>
        </p:grpSpPr>
        <p:sp>
          <p:nvSpPr>
            <p:cNvPr id="18" name="BAM read task 0"/>
            <p:cNvSpPr/>
            <p:nvPr/>
          </p:nvSpPr>
          <p:spPr>
            <a:xfrm>
              <a:off x="30556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M read task 0 / label"/>
            <p:cNvSpPr txBox="1"/>
            <p:nvPr/>
          </p:nvSpPr>
          <p:spPr>
            <a:xfrm>
              <a:off x="3101340" y="1219200"/>
              <a:ext cx="518160" cy="41910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Prepare</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i</a:t>
              </a:r>
              <a:endParaRPr sz="1020" b="0" i="0">
                <a:solidFill>
                  <a:srgbClr val="172C36"/>
                </a:solidFill>
                <a:latin typeface="Arial" panose="020B0604020202020204"/>
              </a:endParaRPr>
            </a:p>
          </p:txBody>
        </p:sp>
      </p:grpSp>
      <p:grpSp>
        <p:nvGrpSpPr>
          <p:cNvPr id="23" name="BAM read task 1 [editable group]"/>
          <p:cNvGrpSpPr/>
          <p:nvPr/>
        </p:nvGrpSpPr>
        <p:grpSpPr>
          <a:xfrm>
            <a:off x="3665220" y="1196340"/>
            <a:ext cx="1562100" cy="464820"/>
            <a:chOff x="3665220" y="1196340"/>
            <a:chExt cx="1562100" cy="464820"/>
          </a:xfrm>
        </p:grpSpPr>
        <p:sp>
          <p:nvSpPr>
            <p:cNvPr id="21" name="BAM read task 1"/>
            <p:cNvSpPr/>
            <p:nvPr/>
          </p:nvSpPr>
          <p:spPr>
            <a:xfrm>
              <a:off x="36652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M read task 1 / label"/>
            <p:cNvSpPr txBox="1"/>
            <p:nvPr/>
          </p:nvSpPr>
          <p:spPr>
            <a:xfrm>
              <a:off x="3710940" y="1219200"/>
              <a:ext cx="14706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batch i+1</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into B</a:t>
              </a:r>
              <a:endParaRPr sz="1080" b="0" i="0">
                <a:solidFill>
                  <a:srgbClr val="172C36"/>
                </a:solidFill>
                <a:latin typeface="Arial" panose="020B0604020202020204"/>
              </a:endParaRPr>
            </a:p>
          </p:txBody>
        </p:sp>
      </p:grpSp>
      <p:grpSp>
        <p:nvGrpSpPr>
          <p:cNvPr id="26" name="BAM read task 2 [editable group]"/>
          <p:cNvGrpSpPr/>
          <p:nvPr/>
        </p:nvGrpSpPr>
        <p:grpSpPr>
          <a:xfrm>
            <a:off x="5227320" y="1196340"/>
            <a:ext cx="701040" cy="464820"/>
            <a:chOff x="5227320" y="1196340"/>
            <a:chExt cx="701040" cy="464820"/>
          </a:xfrm>
        </p:grpSpPr>
        <p:sp>
          <p:nvSpPr>
            <p:cNvPr id="24" name="BAM read task 2"/>
            <p:cNvSpPr/>
            <p:nvPr/>
          </p:nvSpPr>
          <p:spPr>
            <a:xfrm>
              <a:off x="52273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M read task 2 / label"/>
            <p:cNvSpPr txBox="1"/>
            <p:nvPr/>
          </p:nvSpPr>
          <p:spPr>
            <a:xfrm>
              <a:off x="52730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29" name="BAM read task 3 [editable group]"/>
          <p:cNvGrpSpPr/>
          <p:nvPr/>
        </p:nvGrpSpPr>
        <p:grpSpPr>
          <a:xfrm>
            <a:off x="5928360" y="1196340"/>
            <a:ext cx="1242060" cy="464820"/>
            <a:chOff x="5928360" y="1196340"/>
            <a:chExt cx="1242060" cy="464820"/>
          </a:xfrm>
        </p:grpSpPr>
        <p:sp>
          <p:nvSpPr>
            <p:cNvPr id="27" name="BAM read task 3"/>
            <p:cNvSpPr/>
            <p:nvPr/>
          </p:nvSpPr>
          <p:spPr>
            <a:xfrm>
              <a:off x="5928360" y="119634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M read task 3 / label"/>
            <p:cNvSpPr txBox="1"/>
            <p:nvPr/>
          </p:nvSpPr>
          <p:spPr>
            <a:xfrm>
              <a:off x="5974080" y="1219200"/>
              <a:ext cx="11506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Post-process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batch i</a:t>
              </a:r>
              <a:endParaRPr sz="1080" b="0" i="0">
                <a:solidFill>
                  <a:srgbClr val="172C36"/>
                </a:solidFill>
                <a:latin typeface="Arial" panose="020B0604020202020204"/>
              </a:endParaRPr>
            </a:p>
          </p:txBody>
        </p:sp>
      </p:grpSp>
      <p:grpSp>
        <p:nvGrpSpPr>
          <p:cNvPr id="32" name="BAM read task 4 [editable group]"/>
          <p:cNvGrpSpPr/>
          <p:nvPr/>
        </p:nvGrpSpPr>
        <p:grpSpPr>
          <a:xfrm>
            <a:off x="7170420" y="1196340"/>
            <a:ext cx="609600" cy="464820"/>
            <a:chOff x="7170420" y="1196340"/>
            <a:chExt cx="609600" cy="464820"/>
          </a:xfrm>
        </p:grpSpPr>
        <p:sp>
          <p:nvSpPr>
            <p:cNvPr id="30" name="BAM read task 4"/>
            <p:cNvSpPr/>
            <p:nvPr/>
          </p:nvSpPr>
          <p:spPr>
            <a:xfrm>
              <a:off x="71704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M read task 4 / label"/>
            <p:cNvSpPr txBox="1"/>
            <p:nvPr/>
          </p:nvSpPr>
          <p:spPr>
            <a:xfrm>
              <a:off x="7216140" y="1219200"/>
              <a:ext cx="518160" cy="41910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Prepare</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i+1</a:t>
              </a:r>
              <a:endParaRPr sz="1020" b="0" i="0">
                <a:solidFill>
                  <a:srgbClr val="172C36"/>
                </a:solidFill>
                <a:latin typeface="Arial" panose="020B0604020202020204"/>
              </a:endParaRPr>
            </a:p>
          </p:txBody>
        </p:sp>
      </p:grpSp>
      <p:grpSp>
        <p:nvGrpSpPr>
          <p:cNvPr id="35" name="BAM read task 5 [editable group]"/>
          <p:cNvGrpSpPr/>
          <p:nvPr/>
        </p:nvGrpSpPr>
        <p:grpSpPr>
          <a:xfrm>
            <a:off x="7780020" y="1196340"/>
            <a:ext cx="1562100" cy="464820"/>
            <a:chOff x="7780020" y="1196340"/>
            <a:chExt cx="1562100" cy="464820"/>
          </a:xfrm>
        </p:grpSpPr>
        <p:sp>
          <p:nvSpPr>
            <p:cNvPr id="33" name="BAM read task 5"/>
            <p:cNvSpPr/>
            <p:nvPr/>
          </p:nvSpPr>
          <p:spPr>
            <a:xfrm>
              <a:off x="77800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M read task 5 / label"/>
            <p:cNvSpPr txBox="1"/>
            <p:nvPr/>
          </p:nvSpPr>
          <p:spPr>
            <a:xfrm>
              <a:off x="7825740" y="1219200"/>
              <a:ext cx="14706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batch i+2</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into A</a:t>
              </a:r>
              <a:endParaRPr sz="1080" b="0" i="0">
                <a:solidFill>
                  <a:srgbClr val="172C36"/>
                </a:solidFill>
                <a:latin typeface="Arial" panose="020B0604020202020204"/>
              </a:endParaRPr>
            </a:p>
          </p:txBody>
        </p:sp>
      </p:grpSp>
      <p:grpSp>
        <p:nvGrpSpPr>
          <p:cNvPr id="38" name="BAM read task 6 [editable group]"/>
          <p:cNvGrpSpPr/>
          <p:nvPr/>
        </p:nvGrpSpPr>
        <p:grpSpPr>
          <a:xfrm>
            <a:off x="9342120" y="1196340"/>
            <a:ext cx="701040" cy="464820"/>
            <a:chOff x="9342120" y="1196340"/>
            <a:chExt cx="701040" cy="464820"/>
          </a:xfrm>
        </p:grpSpPr>
        <p:sp>
          <p:nvSpPr>
            <p:cNvPr id="36" name="BAM read task 6"/>
            <p:cNvSpPr/>
            <p:nvPr/>
          </p:nvSpPr>
          <p:spPr>
            <a:xfrm>
              <a:off x="93421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M read task 6 / label"/>
            <p:cNvSpPr txBox="1"/>
            <p:nvPr/>
          </p:nvSpPr>
          <p:spPr>
            <a:xfrm>
              <a:off x="93878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41" name="BAM read task 7 [editable group]"/>
          <p:cNvGrpSpPr/>
          <p:nvPr/>
        </p:nvGrpSpPr>
        <p:grpSpPr>
          <a:xfrm>
            <a:off x="10043160" y="1196340"/>
            <a:ext cx="1699260" cy="464820"/>
            <a:chOff x="10043160" y="1196340"/>
            <a:chExt cx="1699260" cy="464820"/>
          </a:xfrm>
        </p:grpSpPr>
        <p:sp>
          <p:nvSpPr>
            <p:cNvPr id="39" name="BAM read task 7"/>
            <p:cNvSpPr/>
            <p:nvPr/>
          </p:nvSpPr>
          <p:spPr>
            <a:xfrm>
              <a:off x="10043160" y="119634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M read task 7 / label"/>
            <p:cNvSpPr txBox="1"/>
            <p:nvPr/>
          </p:nvSpPr>
          <p:spPr>
            <a:xfrm>
              <a:off x="10088880" y="1219200"/>
              <a:ext cx="16078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Post-process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batch i+1</a:t>
              </a:r>
              <a:endParaRPr sz="1080" b="0" i="0">
                <a:solidFill>
                  <a:srgbClr val="172C36"/>
                </a:solidFill>
                <a:latin typeface="Arial" panose="020B0604020202020204"/>
              </a:endParaRPr>
            </a:p>
          </p:txBody>
        </p:sp>
      </p:grpSp>
      <p:grpSp>
        <p:nvGrpSpPr>
          <p:cNvPr id="44" name="BAM read CPE kernel 0 [editable group]"/>
          <p:cNvGrpSpPr/>
          <p:nvPr/>
        </p:nvGrpSpPr>
        <p:grpSpPr>
          <a:xfrm>
            <a:off x="3665220" y="2072640"/>
            <a:ext cx="2263140" cy="472440"/>
            <a:chOff x="3665220" y="2072640"/>
            <a:chExt cx="2263140" cy="472440"/>
          </a:xfrm>
        </p:grpSpPr>
        <p:sp>
          <p:nvSpPr>
            <p:cNvPr id="42" name="BAM read CPE kernel 0"/>
            <p:cNvSpPr/>
            <p:nvPr/>
          </p:nvSpPr>
          <p:spPr>
            <a:xfrm>
              <a:off x="36652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M read CPE kernel 0 / label"/>
            <p:cNvSpPr txBox="1"/>
            <p:nvPr/>
          </p:nvSpPr>
          <p:spPr>
            <a:xfrm>
              <a:off x="3710940" y="2095499"/>
              <a:ext cx="2171700" cy="4267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Decompress + parse + process</a:t>
              </a:r>
              <a:endParaRPr sz="1200" b="1" i="0">
                <a:solidFill>
                  <a:srgbClr val="172C36"/>
                </a:solidFill>
                <a:latin typeface="Arial" panose="020B0604020202020204"/>
              </a:endParaRPr>
            </a:p>
            <a:p>
              <a:pPr algn="ctr">
                <a:lnSpc>
                  <a:spcPts val="1210"/>
                </a:lnSpc>
                <a:spcBef>
                  <a:spcPts val="0"/>
                </a:spcBef>
                <a:spcAft>
                  <a:spcPts val="0"/>
                </a:spcAft>
              </a:pPr>
              <a:r>
                <a:rPr sz="1080" b="1" i="0">
                  <a:solidFill>
                    <a:srgbClr val="172C36"/>
                  </a:solidFill>
                  <a:latin typeface="Arial" panose="020B0604020202020204"/>
                </a:rPr>
                <a:t>Batch i (buffer A)</a:t>
              </a:r>
              <a:endParaRPr sz="1080" b="1" i="0">
                <a:solidFill>
                  <a:srgbClr val="172C36"/>
                </a:solidFill>
                <a:latin typeface="Arial" panose="020B0604020202020204"/>
              </a:endParaRPr>
            </a:p>
          </p:txBody>
        </p:sp>
      </p:grpSp>
      <p:cxnSp>
        <p:nvCxnSpPr>
          <p:cNvPr id="45" name="BAM read launch 0 / segment 0"/>
          <p:cNvCxnSpPr/>
          <p:nvPr/>
        </p:nvCxnSpPr>
        <p:spPr>
          <a:xfrm>
            <a:off x="36652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BAM read launch label 0"/>
          <p:cNvSpPr txBox="1"/>
          <p:nvPr/>
        </p:nvSpPr>
        <p:spPr>
          <a:xfrm>
            <a:off x="3718560" y="178308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47" name="BAM read completion 0 / segment 0"/>
          <p:cNvCxnSpPr/>
          <p:nvPr/>
        </p:nvCxnSpPr>
        <p:spPr>
          <a:xfrm flipV="1">
            <a:off x="59283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BAM read completion label 0"/>
          <p:cNvSpPr txBox="1"/>
          <p:nvPr/>
        </p:nvSpPr>
        <p:spPr>
          <a:xfrm>
            <a:off x="5966460" y="179070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Join / validate</a:t>
            </a:r>
            <a:endParaRPr sz="1020" b="0" i="0">
              <a:solidFill>
                <a:srgbClr val="172C36"/>
              </a:solidFill>
              <a:latin typeface="Arial" panose="020B0604020202020204"/>
            </a:endParaRPr>
          </a:p>
        </p:txBody>
      </p:sp>
      <p:grpSp>
        <p:nvGrpSpPr>
          <p:cNvPr id="51" name="BAM read CPE kernel 1 [editable group]"/>
          <p:cNvGrpSpPr/>
          <p:nvPr/>
        </p:nvGrpSpPr>
        <p:grpSpPr>
          <a:xfrm>
            <a:off x="7780020" y="2072640"/>
            <a:ext cx="2263140" cy="472440"/>
            <a:chOff x="7780020" y="2072640"/>
            <a:chExt cx="2263140" cy="472440"/>
          </a:xfrm>
        </p:grpSpPr>
        <p:sp>
          <p:nvSpPr>
            <p:cNvPr id="49" name="BAM read CPE kernel 1"/>
            <p:cNvSpPr/>
            <p:nvPr/>
          </p:nvSpPr>
          <p:spPr>
            <a:xfrm>
              <a:off x="77800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M read CPE kernel 1 / label"/>
            <p:cNvSpPr txBox="1"/>
            <p:nvPr/>
          </p:nvSpPr>
          <p:spPr>
            <a:xfrm>
              <a:off x="7825740" y="2095499"/>
              <a:ext cx="2171700" cy="4267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Decompress + parse + process</a:t>
              </a:r>
              <a:endParaRPr sz="1200" b="1" i="0">
                <a:solidFill>
                  <a:srgbClr val="172C36"/>
                </a:solidFill>
                <a:latin typeface="Arial" panose="020B0604020202020204"/>
              </a:endParaRPr>
            </a:p>
            <a:p>
              <a:pPr algn="ctr">
                <a:lnSpc>
                  <a:spcPts val="1210"/>
                </a:lnSpc>
                <a:spcBef>
                  <a:spcPts val="0"/>
                </a:spcBef>
                <a:spcAft>
                  <a:spcPts val="0"/>
                </a:spcAft>
              </a:pPr>
              <a:r>
                <a:rPr sz="1080" b="1" i="0">
                  <a:solidFill>
                    <a:srgbClr val="172C36"/>
                  </a:solidFill>
                  <a:latin typeface="Arial" panose="020B0604020202020204"/>
                </a:rPr>
                <a:t>Batch i+1 (buffer B)</a:t>
              </a:r>
              <a:endParaRPr sz="1080" b="1" i="0">
                <a:solidFill>
                  <a:srgbClr val="172C36"/>
                </a:solidFill>
                <a:latin typeface="Arial" panose="020B0604020202020204"/>
              </a:endParaRPr>
            </a:p>
          </p:txBody>
        </p:sp>
      </p:grpSp>
      <p:cxnSp>
        <p:nvCxnSpPr>
          <p:cNvPr id="52" name="BAM read launch 1 / segment 0"/>
          <p:cNvCxnSpPr/>
          <p:nvPr/>
        </p:nvCxnSpPr>
        <p:spPr>
          <a:xfrm>
            <a:off x="77800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BAM read launch label 1"/>
          <p:cNvSpPr txBox="1"/>
          <p:nvPr/>
        </p:nvSpPr>
        <p:spPr>
          <a:xfrm>
            <a:off x="7833360" y="178308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54" name="BAM read completion 1 / segment 0"/>
          <p:cNvCxnSpPr/>
          <p:nvPr/>
        </p:nvCxnSpPr>
        <p:spPr>
          <a:xfrm flipV="1">
            <a:off x="100431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BAM read completion label 1"/>
          <p:cNvSpPr txBox="1"/>
          <p:nvPr/>
        </p:nvSpPr>
        <p:spPr>
          <a:xfrm>
            <a:off x="10081260" y="179070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Join / validate</a:t>
            </a:r>
            <a:endParaRPr sz="1020" b="0" i="0">
              <a:solidFill>
                <a:srgbClr val="172C36"/>
              </a:solidFill>
              <a:latin typeface="Arial" panose="020B0604020202020204"/>
            </a:endParaRPr>
          </a:p>
        </p:txBody>
      </p:sp>
      <p:cxnSp>
        <p:nvCxnSpPr>
          <p:cNvPr id="56" name="BAM read overlap bracket / segment 0"/>
          <p:cNvCxnSpPr/>
          <p:nvPr/>
        </p:nvCxnSpPr>
        <p:spPr>
          <a:xfrm>
            <a:off x="366522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7" name="BAM read overlap bracket / segment 1"/>
          <p:cNvCxnSpPr/>
          <p:nvPr/>
        </p:nvCxnSpPr>
        <p:spPr>
          <a:xfrm>
            <a:off x="3665220" y="268224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8" name="BAM read overlap bracket / segment 2"/>
          <p:cNvCxnSpPr/>
          <p:nvPr/>
        </p:nvCxnSpPr>
        <p:spPr>
          <a:xfrm flipV="1">
            <a:off x="592836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59" name="BAM read overlap bracket / label"/>
          <p:cNvSpPr txBox="1"/>
          <p:nvPr/>
        </p:nvSpPr>
        <p:spPr>
          <a:xfrm>
            <a:off x="3665220" y="2727960"/>
            <a:ext cx="22631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Input read / CPE overlap</a:t>
            </a:r>
            <a:endParaRPr sz="1080" b="0" i="0">
              <a:solidFill>
                <a:srgbClr val="57834A"/>
              </a:solidFill>
              <a:latin typeface="Arial" panose="020B0604020202020204"/>
            </a:endParaRPr>
          </a:p>
        </p:txBody>
      </p:sp>
      <p:sp>
        <p:nvSpPr>
          <p:cNvPr id="60" name="BAM read dependency note"/>
          <p:cNvSpPr txBox="1"/>
          <p:nvPr/>
        </p:nvSpPr>
        <p:spPr>
          <a:xfrm>
            <a:off x="6591300" y="2644140"/>
            <a:ext cx="5151120" cy="358140"/>
          </a:xfrm>
          <a:prstGeom prst="rect">
            <a:avLst/>
          </a:prstGeom>
          <a:noFill/>
        </p:spPr>
        <p:txBody>
          <a:bodyPr wrap="none" lIns="0" tIns="0" rIns="0" bIns="0" anchor="ctr">
            <a:noAutofit/>
          </a:bodyPr>
          <a:lstStyle/>
          <a:p>
            <a:pPr algn="r">
              <a:lnSpc>
                <a:spcPts val="1275"/>
              </a:lnSpc>
              <a:spcBef>
                <a:spcPts val="0"/>
              </a:spcBef>
              <a:spcAft>
                <a:spcPts val="0"/>
              </a:spcAft>
            </a:pPr>
            <a:r>
              <a:rPr sz="1140" b="0" i="0">
                <a:solidFill>
                  <a:srgbClr val="61727A"/>
                </a:solidFill>
                <a:latin typeface="Arial" panose="020B0604020202020204"/>
              </a:rPr>
              <a:t>Post-processing follows CPE completion and validation.</a:t>
            </a:r>
            <a:endParaRPr sz="1140" b="0" i="0">
              <a:solidFill>
                <a:srgbClr val="61727A"/>
              </a:solidFill>
              <a:latin typeface="Arial" panose="020B0604020202020204"/>
            </a:endParaRPr>
          </a:p>
        </p:txBody>
      </p:sp>
      <p:sp>
        <p:nvSpPr>
          <p:cNvPr id="61" name="(b) BAM write: reuse buffers, overlap independent work"/>
          <p:cNvSpPr txBox="1"/>
          <p:nvPr/>
        </p:nvSpPr>
        <p:spPr>
          <a:xfrm>
            <a:off x="228600" y="34747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BAM write: overlap output writes with CPE processing</a:t>
            </a:r>
            <a:endParaRPr sz="1560" b="1" i="0">
              <a:solidFill>
                <a:srgbClr val="172C36"/>
              </a:solidFill>
              <a:latin typeface="Arial" panose="020B0604020202020204"/>
            </a:endParaRPr>
          </a:p>
        </p:txBody>
      </p:sp>
      <p:sp>
        <p:nvSpPr>
          <p:cNvPr id="62" name="BAM write buffers"/>
          <p:cNvSpPr/>
          <p:nvPr/>
        </p:nvSpPr>
        <p:spPr>
          <a:xfrm>
            <a:off x="228600" y="3939540"/>
            <a:ext cx="1981199" cy="2225040"/>
          </a:xfrm>
          <a:prstGeom prst="roundRect">
            <a:avLst>
              <a:gd name="adj" fmla="val 4615"/>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M write buffers / heading"/>
          <p:cNvSpPr txBox="1"/>
          <p:nvPr/>
        </p:nvSpPr>
        <p:spPr>
          <a:xfrm>
            <a:off x="342900" y="4015740"/>
            <a:ext cx="175260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Double buffering</a:t>
            </a:r>
            <a:endParaRPr sz="1440" b="1" i="0">
              <a:solidFill>
                <a:srgbClr val="172C36"/>
              </a:solidFill>
              <a:latin typeface="Arial" panose="020B0604020202020204"/>
            </a:endParaRPr>
          </a:p>
        </p:txBody>
      </p:sp>
      <p:grpSp>
        <p:nvGrpSpPr>
          <p:cNvPr id="66" name="BAM write buffer A [editable group]"/>
          <p:cNvGrpSpPr/>
          <p:nvPr/>
        </p:nvGrpSpPr>
        <p:grpSpPr>
          <a:xfrm>
            <a:off x="434340" y="4404360"/>
            <a:ext cx="1562100" cy="388620"/>
            <a:chOff x="434340" y="4404360"/>
            <a:chExt cx="1562100" cy="388620"/>
          </a:xfrm>
        </p:grpSpPr>
        <p:sp>
          <p:nvSpPr>
            <p:cNvPr id="64" name="BAM write buffer A"/>
            <p:cNvSpPr/>
            <p:nvPr/>
          </p:nvSpPr>
          <p:spPr>
            <a:xfrm>
              <a:off x="434340" y="440436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M write buffer A / label"/>
            <p:cNvSpPr txBox="1"/>
            <p:nvPr/>
          </p:nvSpPr>
          <p:spPr>
            <a:xfrm>
              <a:off x="480060" y="442722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69" name="BAM write buffer B [editable group]"/>
          <p:cNvGrpSpPr/>
          <p:nvPr/>
        </p:nvGrpSpPr>
        <p:grpSpPr>
          <a:xfrm>
            <a:off x="434340" y="4998720"/>
            <a:ext cx="1562100" cy="388620"/>
            <a:chOff x="434340" y="4998720"/>
            <a:chExt cx="1562100" cy="388620"/>
          </a:xfrm>
        </p:grpSpPr>
        <p:sp>
          <p:nvSpPr>
            <p:cNvPr id="67" name="BAM write buffer B"/>
            <p:cNvSpPr/>
            <p:nvPr/>
          </p:nvSpPr>
          <p:spPr>
            <a:xfrm>
              <a:off x="434340" y="499872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M write buffer B / label"/>
            <p:cNvSpPr txBox="1"/>
            <p:nvPr/>
          </p:nvSpPr>
          <p:spPr>
            <a:xfrm>
              <a:off x="480060" y="502158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70" name="BAM write role"/>
          <p:cNvSpPr txBox="1"/>
          <p:nvPr/>
        </p:nvSpPr>
        <p:spPr>
          <a:xfrm>
            <a:off x="350520" y="5554980"/>
            <a:ext cx="1744980" cy="3886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Compressed output buffers</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Alternate between A and B</a:t>
            </a:r>
            <a:endParaRPr sz="1020" b="0" i="0">
              <a:solidFill>
                <a:srgbClr val="172C36"/>
              </a:solidFill>
              <a:latin typeface="Arial" panose="020B0604020202020204"/>
            </a:endParaRPr>
          </a:p>
        </p:txBody>
      </p:sp>
      <p:cxnSp>
        <p:nvCxnSpPr>
          <p:cNvPr id="71" name="BAM write time axis / segment 0"/>
          <p:cNvCxnSpPr/>
          <p:nvPr/>
        </p:nvCxnSpPr>
        <p:spPr>
          <a:xfrm>
            <a:off x="2994660" y="419862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BAM write time label"/>
          <p:cNvSpPr txBox="1"/>
          <p:nvPr/>
        </p:nvSpPr>
        <p:spPr>
          <a:xfrm>
            <a:off x="9890760" y="391668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73" name="BAM write MPE label"/>
          <p:cNvSpPr txBox="1"/>
          <p:nvPr/>
        </p:nvSpPr>
        <p:spPr>
          <a:xfrm>
            <a:off x="2324100" y="464820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74" name="BAM write CPE label"/>
          <p:cNvSpPr txBox="1"/>
          <p:nvPr/>
        </p:nvSpPr>
        <p:spPr>
          <a:xfrm>
            <a:off x="2270760" y="552450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75" name="BAM write overlap band 481"/>
          <p:cNvSpPr/>
          <p:nvPr/>
        </p:nvSpPr>
        <p:spPr>
          <a:xfrm>
            <a:off x="36652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M write overlap band 1021"/>
          <p:cNvSpPr/>
          <p:nvPr/>
        </p:nvSpPr>
        <p:spPr>
          <a:xfrm>
            <a:off x="77800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BAM write task 0 [editable group]"/>
          <p:cNvGrpSpPr/>
          <p:nvPr/>
        </p:nvGrpSpPr>
        <p:grpSpPr>
          <a:xfrm>
            <a:off x="3055620" y="4579620"/>
            <a:ext cx="609600" cy="464820"/>
            <a:chOff x="3055620" y="4579620"/>
            <a:chExt cx="609600" cy="464820"/>
          </a:xfrm>
        </p:grpSpPr>
        <p:sp>
          <p:nvSpPr>
            <p:cNvPr id="77" name="BAM write task 0"/>
            <p:cNvSpPr/>
            <p:nvPr/>
          </p:nvSpPr>
          <p:spPr>
            <a:xfrm>
              <a:off x="30556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M write task 0 / label"/>
            <p:cNvSpPr txBox="1"/>
            <p:nvPr/>
          </p:nvSpPr>
          <p:spPr>
            <a:xfrm>
              <a:off x="3101340" y="4602480"/>
              <a:ext cx="518160" cy="41910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Prepare</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i</a:t>
              </a:r>
              <a:endParaRPr sz="1020" b="0" i="0">
                <a:solidFill>
                  <a:srgbClr val="172C36"/>
                </a:solidFill>
                <a:latin typeface="Arial" panose="020B0604020202020204"/>
              </a:endParaRPr>
            </a:p>
          </p:txBody>
        </p:sp>
      </p:grpSp>
      <p:grpSp>
        <p:nvGrpSpPr>
          <p:cNvPr id="82" name="BAM write task 1 [editable group]"/>
          <p:cNvGrpSpPr/>
          <p:nvPr/>
        </p:nvGrpSpPr>
        <p:grpSpPr>
          <a:xfrm>
            <a:off x="3665220" y="4579620"/>
            <a:ext cx="1143000" cy="464820"/>
            <a:chOff x="3665220" y="4579620"/>
            <a:chExt cx="1143000" cy="464820"/>
          </a:xfrm>
        </p:grpSpPr>
        <p:sp>
          <p:nvSpPr>
            <p:cNvPr id="80" name="BAM write task 1"/>
            <p:cNvSpPr/>
            <p:nvPr/>
          </p:nvSpPr>
          <p:spPr>
            <a:xfrm>
              <a:off x="36652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M write task 1 / label"/>
            <p:cNvSpPr txBox="1"/>
            <p:nvPr/>
          </p:nvSpPr>
          <p:spPr>
            <a:xfrm>
              <a:off x="3710940" y="4602480"/>
              <a:ext cx="10515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Write batch i−1</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from B</a:t>
              </a:r>
              <a:endParaRPr sz="1080" b="0" i="0">
                <a:solidFill>
                  <a:srgbClr val="172C36"/>
                </a:solidFill>
                <a:latin typeface="Arial" panose="020B0604020202020204"/>
              </a:endParaRPr>
            </a:p>
          </p:txBody>
        </p:sp>
      </p:grpSp>
      <p:grpSp>
        <p:nvGrpSpPr>
          <p:cNvPr id="85" name="BAM write task 2 [editable group]"/>
          <p:cNvGrpSpPr/>
          <p:nvPr/>
        </p:nvGrpSpPr>
        <p:grpSpPr>
          <a:xfrm>
            <a:off x="4808220" y="4579620"/>
            <a:ext cx="1120140" cy="464820"/>
            <a:chOff x="4808220" y="4579620"/>
            <a:chExt cx="1120140" cy="464820"/>
          </a:xfrm>
        </p:grpSpPr>
        <p:sp>
          <p:nvSpPr>
            <p:cNvPr id="83" name="BAM write task 2"/>
            <p:cNvSpPr/>
            <p:nvPr/>
          </p:nvSpPr>
          <p:spPr>
            <a:xfrm>
              <a:off x="48082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M write task 2 / label"/>
            <p:cNvSpPr txBox="1"/>
            <p:nvPr/>
          </p:nvSpPr>
          <p:spPr>
            <a:xfrm>
              <a:off x="4853940" y="4602480"/>
              <a:ext cx="10287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ahead</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(optional)</a:t>
              </a:r>
              <a:endParaRPr sz="1080" b="0" i="0">
                <a:solidFill>
                  <a:srgbClr val="172C36"/>
                </a:solidFill>
                <a:latin typeface="Arial" panose="020B0604020202020204"/>
              </a:endParaRPr>
            </a:p>
          </p:txBody>
        </p:sp>
      </p:grpSp>
      <p:grpSp>
        <p:nvGrpSpPr>
          <p:cNvPr id="88" name="BAM write task 3 [editable group]"/>
          <p:cNvGrpSpPr/>
          <p:nvPr/>
        </p:nvGrpSpPr>
        <p:grpSpPr>
          <a:xfrm>
            <a:off x="5928360" y="4579620"/>
            <a:ext cx="1242060" cy="464820"/>
            <a:chOff x="5928360" y="4579620"/>
            <a:chExt cx="1242060" cy="464820"/>
          </a:xfrm>
        </p:grpSpPr>
        <p:sp>
          <p:nvSpPr>
            <p:cNvPr id="86" name="BAM write task 3"/>
            <p:cNvSpPr/>
            <p:nvPr/>
          </p:nvSpPr>
          <p:spPr>
            <a:xfrm>
              <a:off x="5928360" y="457962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M write task 3 / label"/>
            <p:cNvSpPr txBox="1"/>
            <p:nvPr/>
          </p:nvSpPr>
          <p:spPr>
            <a:xfrm>
              <a:off x="5974080" y="4602480"/>
              <a:ext cx="11506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Join / validate</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batch i</a:t>
              </a:r>
              <a:endParaRPr sz="1080" b="0" i="0">
                <a:solidFill>
                  <a:srgbClr val="172C36"/>
                </a:solidFill>
                <a:latin typeface="Arial" panose="020B0604020202020204"/>
              </a:endParaRPr>
            </a:p>
          </p:txBody>
        </p:sp>
      </p:grpSp>
      <p:grpSp>
        <p:nvGrpSpPr>
          <p:cNvPr id="91" name="BAM write task 4 [editable group]"/>
          <p:cNvGrpSpPr/>
          <p:nvPr/>
        </p:nvGrpSpPr>
        <p:grpSpPr>
          <a:xfrm>
            <a:off x="7170420" y="4579620"/>
            <a:ext cx="609600" cy="464820"/>
            <a:chOff x="7170420" y="4579620"/>
            <a:chExt cx="609600" cy="464820"/>
          </a:xfrm>
        </p:grpSpPr>
        <p:sp>
          <p:nvSpPr>
            <p:cNvPr id="89" name="BAM write task 4"/>
            <p:cNvSpPr/>
            <p:nvPr/>
          </p:nvSpPr>
          <p:spPr>
            <a:xfrm>
              <a:off x="71704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M write task 4 / label"/>
            <p:cNvSpPr txBox="1"/>
            <p:nvPr/>
          </p:nvSpPr>
          <p:spPr>
            <a:xfrm>
              <a:off x="7216140" y="4602480"/>
              <a:ext cx="518160" cy="41910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Prepare</a:t>
              </a:r>
              <a:endParaRPr sz="108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i+1</a:t>
              </a:r>
              <a:endParaRPr sz="1020" b="0" i="0">
                <a:solidFill>
                  <a:srgbClr val="172C36"/>
                </a:solidFill>
                <a:latin typeface="Arial" panose="020B0604020202020204"/>
              </a:endParaRPr>
            </a:p>
          </p:txBody>
        </p:sp>
      </p:grpSp>
      <p:grpSp>
        <p:nvGrpSpPr>
          <p:cNvPr id="94" name="BAM write task 5 [editable group]"/>
          <p:cNvGrpSpPr/>
          <p:nvPr/>
        </p:nvGrpSpPr>
        <p:grpSpPr>
          <a:xfrm>
            <a:off x="7780020" y="4579620"/>
            <a:ext cx="1143000" cy="464820"/>
            <a:chOff x="7780020" y="4579620"/>
            <a:chExt cx="1143000" cy="464820"/>
          </a:xfrm>
        </p:grpSpPr>
        <p:sp>
          <p:nvSpPr>
            <p:cNvPr id="92" name="BAM write task 5"/>
            <p:cNvSpPr/>
            <p:nvPr/>
          </p:nvSpPr>
          <p:spPr>
            <a:xfrm>
              <a:off x="77800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AM write task 5 / label"/>
            <p:cNvSpPr txBox="1"/>
            <p:nvPr/>
          </p:nvSpPr>
          <p:spPr>
            <a:xfrm>
              <a:off x="7825740" y="4602480"/>
              <a:ext cx="10515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Write batch i</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from A</a:t>
              </a:r>
              <a:endParaRPr sz="1080" b="0" i="0">
                <a:solidFill>
                  <a:srgbClr val="172C36"/>
                </a:solidFill>
                <a:latin typeface="Arial" panose="020B0604020202020204"/>
              </a:endParaRPr>
            </a:p>
          </p:txBody>
        </p:sp>
      </p:grpSp>
      <p:grpSp>
        <p:nvGrpSpPr>
          <p:cNvPr id="97" name="BAM write task 6 [editable group]"/>
          <p:cNvGrpSpPr/>
          <p:nvPr/>
        </p:nvGrpSpPr>
        <p:grpSpPr>
          <a:xfrm>
            <a:off x="8923020" y="4579620"/>
            <a:ext cx="1120140" cy="464820"/>
            <a:chOff x="8923020" y="4579620"/>
            <a:chExt cx="1120140" cy="464820"/>
          </a:xfrm>
        </p:grpSpPr>
        <p:sp>
          <p:nvSpPr>
            <p:cNvPr id="95" name="BAM write task 6"/>
            <p:cNvSpPr/>
            <p:nvPr/>
          </p:nvSpPr>
          <p:spPr>
            <a:xfrm>
              <a:off x="89230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AM write task 6 / label"/>
            <p:cNvSpPr txBox="1"/>
            <p:nvPr/>
          </p:nvSpPr>
          <p:spPr>
            <a:xfrm>
              <a:off x="8968740" y="4602480"/>
              <a:ext cx="10287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ahead</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(optional)</a:t>
              </a:r>
              <a:endParaRPr sz="1080" b="0" i="0">
                <a:solidFill>
                  <a:srgbClr val="172C36"/>
                </a:solidFill>
                <a:latin typeface="Arial" panose="020B0604020202020204"/>
              </a:endParaRPr>
            </a:p>
          </p:txBody>
        </p:sp>
      </p:grpSp>
      <p:grpSp>
        <p:nvGrpSpPr>
          <p:cNvPr id="100" name="BAM write task 7 [editable group]"/>
          <p:cNvGrpSpPr/>
          <p:nvPr/>
        </p:nvGrpSpPr>
        <p:grpSpPr>
          <a:xfrm>
            <a:off x="10043160" y="4579620"/>
            <a:ext cx="1699260" cy="464820"/>
            <a:chOff x="10043160" y="4579620"/>
            <a:chExt cx="1699260" cy="464820"/>
          </a:xfrm>
        </p:grpSpPr>
        <p:sp>
          <p:nvSpPr>
            <p:cNvPr id="98" name="BAM write task 7"/>
            <p:cNvSpPr/>
            <p:nvPr/>
          </p:nvSpPr>
          <p:spPr>
            <a:xfrm>
              <a:off x="10043160" y="457962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M write task 7 / label"/>
            <p:cNvSpPr txBox="1"/>
            <p:nvPr/>
          </p:nvSpPr>
          <p:spPr>
            <a:xfrm>
              <a:off x="10088880" y="4602480"/>
              <a:ext cx="16078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Join / validate</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batch i+1</a:t>
              </a:r>
              <a:endParaRPr sz="1080" b="0" i="0">
                <a:solidFill>
                  <a:srgbClr val="172C36"/>
                </a:solidFill>
                <a:latin typeface="Arial" panose="020B0604020202020204"/>
              </a:endParaRPr>
            </a:p>
          </p:txBody>
        </p:sp>
      </p:grpSp>
      <p:grpSp>
        <p:nvGrpSpPr>
          <p:cNvPr id="103" name="BAM write CPE kernel 0 [editable group]"/>
          <p:cNvGrpSpPr/>
          <p:nvPr/>
        </p:nvGrpSpPr>
        <p:grpSpPr>
          <a:xfrm>
            <a:off x="3665220" y="5455920"/>
            <a:ext cx="2263140" cy="472440"/>
            <a:chOff x="3665220" y="5455920"/>
            <a:chExt cx="2263140" cy="472440"/>
          </a:xfrm>
        </p:grpSpPr>
        <p:sp>
          <p:nvSpPr>
            <p:cNvPr id="101" name="BAM write CPE kernel 0"/>
            <p:cNvSpPr/>
            <p:nvPr/>
          </p:nvSpPr>
          <p:spPr>
            <a:xfrm>
              <a:off x="36652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AM write CPE kernel 0 / label"/>
            <p:cNvSpPr txBox="1"/>
            <p:nvPr/>
          </p:nvSpPr>
          <p:spPr>
            <a:xfrm>
              <a:off x="3710940" y="5478780"/>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Serialize + compress</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 (buffer A)</a:t>
              </a:r>
              <a:endParaRPr sz="1200" b="1" i="0">
                <a:solidFill>
                  <a:srgbClr val="172C36"/>
                </a:solidFill>
                <a:latin typeface="Arial" panose="020B0604020202020204"/>
              </a:endParaRPr>
            </a:p>
          </p:txBody>
        </p:sp>
      </p:grpSp>
      <p:cxnSp>
        <p:nvCxnSpPr>
          <p:cNvPr id="104" name="BAM write launch 0 / segment 0"/>
          <p:cNvCxnSpPr/>
          <p:nvPr/>
        </p:nvCxnSpPr>
        <p:spPr>
          <a:xfrm>
            <a:off x="36652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BAM write launch label 0"/>
          <p:cNvSpPr txBox="1"/>
          <p:nvPr/>
        </p:nvSpPr>
        <p:spPr>
          <a:xfrm>
            <a:off x="3718560" y="516636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106" name="BAM write completion 0 / segment 0"/>
          <p:cNvCxnSpPr/>
          <p:nvPr/>
        </p:nvCxnSpPr>
        <p:spPr>
          <a:xfrm flipV="1">
            <a:off x="59283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BAM write completion label 0"/>
          <p:cNvSpPr txBox="1"/>
          <p:nvPr/>
        </p:nvSpPr>
        <p:spPr>
          <a:xfrm>
            <a:off x="5966460" y="517398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Complete</a:t>
            </a:r>
            <a:endParaRPr sz="1020" b="0" i="0">
              <a:solidFill>
                <a:srgbClr val="172C36"/>
              </a:solidFill>
              <a:latin typeface="Arial" panose="020B0604020202020204"/>
            </a:endParaRPr>
          </a:p>
        </p:txBody>
      </p:sp>
      <p:grpSp>
        <p:nvGrpSpPr>
          <p:cNvPr id="110" name="BAM write CPE kernel 1 [editable group]"/>
          <p:cNvGrpSpPr/>
          <p:nvPr/>
        </p:nvGrpSpPr>
        <p:grpSpPr>
          <a:xfrm>
            <a:off x="7780020" y="5455920"/>
            <a:ext cx="2263140" cy="472440"/>
            <a:chOff x="7780020" y="5455920"/>
            <a:chExt cx="2263140" cy="472440"/>
          </a:xfrm>
        </p:grpSpPr>
        <p:sp>
          <p:nvSpPr>
            <p:cNvPr id="108" name="BAM write CPE kernel 1"/>
            <p:cNvSpPr/>
            <p:nvPr/>
          </p:nvSpPr>
          <p:spPr>
            <a:xfrm>
              <a:off x="77800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AM write CPE kernel 1 / label"/>
            <p:cNvSpPr txBox="1"/>
            <p:nvPr/>
          </p:nvSpPr>
          <p:spPr>
            <a:xfrm>
              <a:off x="7825740" y="5478780"/>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Serialize + compress</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i+1 (buffer B)</a:t>
              </a:r>
              <a:endParaRPr sz="1200" b="1" i="0">
                <a:solidFill>
                  <a:srgbClr val="172C36"/>
                </a:solidFill>
                <a:latin typeface="Arial" panose="020B0604020202020204"/>
              </a:endParaRPr>
            </a:p>
          </p:txBody>
        </p:sp>
      </p:grpSp>
      <p:cxnSp>
        <p:nvCxnSpPr>
          <p:cNvPr id="111" name="BAM write launch 1 / segment 0"/>
          <p:cNvCxnSpPr/>
          <p:nvPr/>
        </p:nvCxnSpPr>
        <p:spPr>
          <a:xfrm>
            <a:off x="77800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2" name="BAM write launch label 1"/>
          <p:cNvSpPr txBox="1"/>
          <p:nvPr/>
        </p:nvSpPr>
        <p:spPr>
          <a:xfrm>
            <a:off x="7833360" y="516636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113" name="BAM write completion 1 / segment 0"/>
          <p:cNvCxnSpPr/>
          <p:nvPr/>
        </p:nvCxnSpPr>
        <p:spPr>
          <a:xfrm flipV="1">
            <a:off x="100431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BAM write completion label 1"/>
          <p:cNvSpPr txBox="1"/>
          <p:nvPr/>
        </p:nvSpPr>
        <p:spPr>
          <a:xfrm>
            <a:off x="10081260" y="517398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Complete</a:t>
            </a:r>
            <a:endParaRPr sz="1020" b="0" i="0">
              <a:solidFill>
                <a:srgbClr val="172C36"/>
              </a:solidFill>
              <a:latin typeface="Arial" panose="020B0604020202020204"/>
            </a:endParaRPr>
          </a:p>
        </p:txBody>
      </p:sp>
      <p:cxnSp>
        <p:nvCxnSpPr>
          <p:cNvPr id="115" name="BAM write overlap bracket / segment 0"/>
          <p:cNvCxnSpPr/>
          <p:nvPr/>
        </p:nvCxnSpPr>
        <p:spPr>
          <a:xfrm>
            <a:off x="366522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6" name="BAM write overlap bracket / segment 1"/>
          <p:cNvCxnSpPr/>
          <p:nvPr/>
        </p:nvCxnSpPr>
        <p:spPr>
          <a:xfrm>
            <a:off x="3665220" y="606552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7" name="BAM write overlap bracket / segment 2"/>
          <p:cNvCxnSpPr/>
          <p:nvPr/>
        </p:nvCxnSpPr>
        <p:spPr>
          <a:xfrm flipV="1">
            <a:off x="592836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18" name="BAM write overlap bracket / label"/>
          <p:cNvSpPr txBox="1"/>
          <p:nvPr/>
        </p:nvSpPr>
        <p:spPr>
          <a:xfrm>
            <a:off x="3665220" y="6111240"/>
            <a:ext cx="22631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Output write / CPE overlap</a:t>
            </a:r>
            <a:endParaRPr sz="1080" b="0" i="0">
              <a:solidFill>
                <a:srgbClr val="57834A"/>
              </a:solidFill>
              <a:latin typeface="Arial" panose="020B0604020202020204"/>
            </a:endParaRPr>
          </a:p>
        </p:txBody>
      </p:sp>
      <p:sp>
        <p:nvSpPr>
          <p:cNvPr id="119" name="BAM write dependency note"/>
          <p:cNvSpPr txBox="1"/>
          <p:nvPr/>
        </p:nvSpPr>
        <p:spPr>
          <a:xfrm>
            <a:off x="6591300" y="6027420"/>
            <a:ext cx="5151120" cy="358140"/>
          </a:xfrm>
          <a:prstGeom prst="rect">
            <a:avLst/>
          </a:prstGeom>
          <a:noFill/>
        </p:spPr>
        <p:txBody>
          <a:bodyPr wrap="none" lIns="0" tIns="0" rIns="0" bIns="0" anchor="ctr">
            <a:noAutofit/>
          </a:bodyPr>
          <a:lstStyle/>
          <a:p>
            <a:pPr algn="r">
              <a:lnSpc>
                <a:spcPts val="1275"/>
              </a:lnSpc>
              <a:spcBef>
                <a:spcPts val="0"/>
              </a:spcBef>
              <a:spcAft>
                <a:spcPts val="0"/>
              </a:spcAft>
            </a:pPr>
            <a:r>
              <a:rPr sz="1140" b="0" i="0">
                <a:solidFill>
                  <a:srgbClr val="61727A"/>
                </a:solidFill>
                <a:latin typeface="Arial" panose="020B0604020202020204"/>
              </a:rPr>
              <a:t>Packed BGZF payloads require compression only.</a:t>
            </a:r>
            <a:endParaRPr sz="1140" b="0" i="0">
              <a:solidFill>
                <a:srgbClr val="61727A"/>
              </a:solidFill>
              <a:latin typeface="Arial" panose="020B0604020202020204"/>
            </a:endParaRPr>
          </a:p>
        </p:txBody>
      </p:sp>
      <p:sp>
        <p:nvSpPr>
          <p:cNvPr id="120" name="Timeline scope"/>
          <p:cNvSpPr txBox="1"/>
          <p:nvPr/>
        </p:nvSpPr>
        <p:spPr>
          <a:xfrm>
            <a:off x="228600" y="6598920"/>
            <a:ext cx="11696700" cy="2057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61727A"/>
                </a:solidFill>
                <a:latin typeface="Arial" panose="020B0604020202020204"/>
              </a:rPr>
              <a:t>Read and write schedules are shown separately; each core group runs one CPE kernel at a time.</a:t>
            </a:r>
            <a:endParaRPr sz="1140" b="0" i="0">
              <a:solidFill>
                <a:srgbClr val="61727A"/>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a) Shared distributed reordering: six MPI ranks"/>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Distributed sorting and collation (six MPI ranks)</a:t>
            </a:r>
            <a:endParaRPr sz="1560" b="1" i="0">
              <a:solidFill>
                <a:srgbClr val="172C36"/>
              </a:solidFill>
              <a:latin typeface="Arial" panose="020B0604020202020204"/>
            </a:endParaRPr>
          </a:p>
        </p:txBody>
      </p:sp>
      <p:sp>
        <p:nvSpPr>
          <p:cNvPr id="3" name="Shared six-rank processing region"/>
          <p:cNvSpPr/>
          <p:nvPr/>
        </p:nvSpPr>
        <p:spPr>
          <a:xfrm>
            <a:off x="228600" y="434340"/>
            <a:ext cx="11765280" cy="3276600"/>
          </a:xfrm>
          <a:prstGeom prst="roundRect">
            <a:avLst>
              <a:gd name="adj" fmla="val 1860"/>
            </a:avLst>
          </a:prstGeom>
          <a:solidFill>
            <a:srgbClr val="FFFFFF"/>
          </a:solidFill>
          <a:ln w="18288">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4" name="Read / extract / band"/>
          <p:cNvSpPr/>
          <p:nvPr/>
        </p:nvSpPr>
        <p:spPr>
          <a:xfrm>
            <a:off x="358140" y="556260"/>
            <a:ext cx="220980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ad / extract / title"/>
          <p:cNvSpPr txBox="1"/>
          <p:nvPr/>
        </p:nvSpPr>
        <p:spPr>
          <a:xfrm>
            <a:off x="403860" y="586740"/>
            <a:ext cx="211836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BAM read pipeline</a:t>
            </a:r>
            <a:endParaRPr sz="1320" b="1" i="0">
              <a:solidFill>
                <a:srgbClr val="172C36"/>
              </a:solidFill>
              <a:latin typeface="Arial" panose="020B0604020202020204"/>
            </a:endParaRPr>
          </a:p>
        </p:txBody>
      </p:sp>
      <p:sp>
        <p:nvSpPr>
          <p:cNvPr id="6" name="Read / extract / subtitle"/>
          <p:cNvSpPr txBox="1"/>
          <p:nvPr/>
        </p:nvSpPr>
        <p:spPr>
          <a:xfrm>
            <a:off x="403860" y="792480"/>
            <a:ext cx="21183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Decode + extract (MPE / CPE)</a:t>
            </a:r>
            <a:endParaRPr sz="1020" b="0" i="0">
              <a:solidFill>
                <a:srgbClr val="172C36"/>
              </a:solidFill>
              <a:latin typeface="Arial" panose="020B0604020202020204"/>
            </a:endParaRPr>
          </a:p>
        </p:txBody>
      </p:sp>
      <p:sp>
        <p:nvSpPr>
          <p:cNvPr id="7" name="Local ordering / band"/>
          <p:cNvSpPr/>
          <p:nvPr/>
        </p:nvSpPr>
        <p:spPr>
          <a:xfrm>
            <a:off x="2819400" y="556260"/>
            <a:ext cx="1935480" cy="434340"/>
          </a:xfrm>
          <a:prstGeom prst="rect">
            <a:avLst/>
          </a:prstGeom>
          <a:solidFill>
            <a:srgbClr val="FFF7CE"/>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cal ordering / title"/>
          <p:cNvSpPr txBox="1"/>
          <p:nvPr/>
        </p:nvSpPr>
        <p:spPr>
          <a:xfrm>
            <a:off x="2865120" y="586740"/>
            <a:ext cx="184404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Local sorting</a:t>
            </a:r>
            <a:endParaRPr lang="en-US" sz="1320" b="1" i="0">
              <a:solidFill>
                <a:srgbClr val="172C36"/>
              </a:solidFill>
              <a:latin typeface="Arial" panose="020B0604020202020204"/>
            </a:endParaRPr>
          </a:p>
        </p:txBody>
      </p:sp>
      <p:sp>
        <p:nvSpPr>
          <p:cNvPr id="9" name="Local ordering / subtitle"/>
          <p:cNvSpPr txBox="1"/>
          <p:nvPr/>
        </p:nvSpPr>
        <p:spPr>
          <a:xfrm>
            <a:off x="2865120" y="792480"/>
            <a:ext cx="184404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a:t>
            </a:r>
            <a:endParaRPr sz="1020" b="0" i="0">
              <a:solidFill>
                <a:srgbClr val="172C36"/>
              </a:solidFill>
              <a:latin typeface="Arial" panose="020B0604020202020204"/>
            </a:endParaRPr>
          </a:p>
        </p:txBody>
      </p:sp>
      <p:sp>
        <p:nvSpPr>
          <p:cNvPr id="10" name="Redistribute / band"/>
          <p:cNvSpPr/>
          <p:nvPr/>
        </p:nvSpPr>
        <p:spPr>
          <a:xfrm>
            <a:off x="4953000" y="556260"/>
            <a:ext cx="137160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istribute / title"/>
          <p:cNvSpPr txBox="1"/>
          <p:nvPr/>
        </p:nvSpPr>
        <p:spPr>
          <a:xfrm>
            <a:off x="4998720" y="586740"/>
            <a:ext cx="1280160" cy="19812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Redistribution</a:t>
            </a:r>
            <a:endParaRPr sz="1320" b="1" i="0">
              <a:solidFill>
                <a:srgbClr val="172C36"/>
              </a:solidFill>
              <a:latin typeface="Arial" panose="020B0604020202020204"/>
            </a:endParaRPr>
          </a:p>
        </p:txBody>
      </p:sp>
      <p:sp>
        <p:nvSpPr>
          <p:cNvPr id="12" name="Redistribute / subtitle"/>
          <p:cNvSpPr txBox="1"/>
          <p:nvPr/>
        </p:nvSpPr>
        <p:spPr>
          <a:xfrm>
            <a:off x="4998720" y="792480"/>
            <a:ext cx="12801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By destination rank</a:t>
            </a:r>
            <a:endParaRPr sz="1020" b="0" i="0">
              <a:solidFill>
                <a:srgbClr val="172C36"/>
              </a:solidFill>
              <a:latin typeface="Arial" panose="020B0604020202020204"/>
            </a:endParaRPr>
          </a:p>
        </p:txBody>
      </p:sp>
      <p:sp>
        <p:nvSpPr>
          <p:cNvPr id="13" name="Received segments / band"/>
          <p:cNvSpPr/>
          <p:nvPr/>
        </p:nvSpPr>
        <p:spPr>
          <a:xfrm>
            <a:off x="6499860" y="556260"/>
            <a:ext cx="227076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eived segments / title"/>
          <p:cNvSpPr txBox="1"/>
          <p:nvPr/>
        </p:nvSpPr>
        <p:spPr>
          <a:xfrm>
            <a:off x="6545580" y="586740"/>
            <a:ext cx="217932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Sorted segments</a:t>
            </a:r>
            <a:endParaRPr sz="1320" b="1" i="0">
              <a:solidFill>
                <a:srgbClr val="172C36"/>
              </a:solidFill>
              <a:latin typeface="Arial" panose="020B0604020202020204"/>
            </a:endParaRPr>
          </a:p>
        </p:txBody>
      </p:sp>
      <p:sp>
        <p:nvSpPr>
          <p:cNvPr id="15" name="Received segments / subtitle"/>
          <p:cNvSpPr txBox="1"/>
          <p:nvPr/>
        </p:nvSpPr>
        <p:spPr>
          <a:xfrm>
            <a:off x="6545580" y="792480"/>
            <a:ext cx="217932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Grouped by source rank</a:t>
            </a:r>
            <a:endParaRPr sz="1020" b="0" i="0">
              <a:solidFill>
                <a:srgbClr val="172C36"/>
              </a:solidFill>
              <a:latin typeface="Arial" panose="020B0604020202020204"/>
            </a:endParaRPr>
          </a:p>
        </p:txBody>
      </p:sp>
      <p:sp>
        <p:nvSpPr>
          <p:cNvPr id="16" name="Merge / BGZF output / band"/>
          <p:cNvSpPr/>
          <p:nvPr/>
        </p:nvSpPr>
        <p:spPr>
          <a:xfrm>
            <a:off x="9227820" y="556260"/>
            <a:ext cx="259842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rge / BGZF output / title"/>
          <p:cNvSpPr txBox="1"/>
          <p:nvPr/>
        </p:nvSpPr>
        <p:spPr>
          <a:xfrm>
            <a:off x="9273540" y="586740"/>
            <a:ext cx="2506980" cy="19812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Merge + BAM write pipeline</a:t>
            </a:r>
            <a:endParaRPr lang="en-US" sz="1320" b="1" i="0">
              <a:solidFill>
                <a:srgbClr val="172C36"/>
              </a:solidFill>
              <a:latin typeface="Arial" panose="020B0604020202020204"/>
            </a:endParaRPr>
          </a:p>
        </p:txBody>
      </p:sp>
      <p:sp>
        <p:nvSpPr>
          <p:cNvPr id="18" name="Merge / BGZF output / subtitle"/>
          <p:cNvSpPr txBox="1"/>
          <p:nvPr/>
        </p:nvSpPr>
        <p:spPr>
          <a:xfrm>
            <a:off x="9273540" y="792480"/>
            <a:ext cx="250698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 / CPE</a:t>
            </a:r>
            <a:endParaRPr sz="1020" b="0" i="0">
              <a:solidFill>
                <a:srgbClr val="172C36"/>
              </a:solidFill>
              <a:latin typeface="Arial" panose="020B0604020202020204"/>
            </a:endParaRPr>
          </a:p>
        </p:txBody>
      </p:sp>
      <p:sp>
        <p:nvSpPr>
          <p:cNvPr id="19" name="Source segment heading 0"/>
          <p:cNvSpPr txBox="1"/>
          <p:nvPr/>
        </p:nvSpPr>
        <p:spPr>
          <a:xfrm>
            <a:off x="67894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0</a:t>
            </a:r>
            <a:endParaRPr sz="960" b="0" i="0">
              <a:solidFill>
                <a:srgbClr val="61727A"/>
              </a:solidFill>
              <a:latin typeface="Arial" panose="020B0604020202020204"/>
            </a:endParaRPr>
          </a:p>
        </p:txBody>
      </p:sp>
      <p:sp>
        <p:nvSpPr>
          <p:cNvPr id="20" name="Source segment heading 1"/>
          <p:cNvSpPr txBox="1"/>
          <p:nvPr/>
        </p:nvSpPr>
        <p:spPr>
          <a:xfrm>
            <a:off x="710946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1</a:t>
            </a:r>
            <a:endParaRPr sz="960" b="0" i="0">
              <a:solidFill>
                <a:srgbClr val="61727A"/>
              </a:solidFill>
              <a:latin typeface="Arial" panose="020B0604020202020204"/>
            </a:endParaRPr>
          </a:p>
        </p:txBody>
      </p:sp>
      <p:sp>
        <p:nvSpPr>
          <p:cNvPr id="21" name="Source segment heading 2"/>
          <p:cNvSpPr txBox="1"/>
          <p:nvPr/>
        </p:nvSpPr>
        <p:spPr>
          <a:xfrm>
            <a:off x="742950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2</a:t>
            </a:r>
            <a:endParaRPr sz="960" b="0" i="0">
              <a:solidFill>
                <a:srgbClr val="61727A"/>
              </a:solidFill>
              <a:latin typeface="Arial" panose="020B0604020202020204"/>
            </a:endParaRPr>
          </a:p>
        </p:txBody>
      </p:sp>
      <p:sp>
        <p:nvSpPr>
          <p:cNvPr id="22" name="Source segment heading 3"/>
          <p:cNvSpPr txBox="1"/>
          <p:nvPr/>
        </p:nvSpPr>
        <p:spPr>
          <a:xfrm>
            <a:off x="774954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3</a:t>
            </a:r>
            <a:endParaRPr sz="960" b="0" i="0">
              <a:solidFill>
                <a:srgbClr val="61727A"/>
              </a:solidFill>
              <a:latin typeface="Arial" panose="020B0604020202020204"/>
            </a:endParaRPr>
          </a:p>
        </p:txBody>
      </p:sp>
      <p:sp>
        <p:nvSpPr>
          <p:cNvPr id="23" name="Source segment heading 4"/>
          <p:cNvSpPr txBox="1"/>
          <p:nvPr/>
        </p:nvSpPr>
        <p:spPr>
          <a:xfrm>
            <a:off x="8069579"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4</a:t>
            </a:r>
            <a:endParaRPr sz="960" b="0" i="0">
              <a:solidFill>
                <a:srgbClr val="61727A"/>
              </a:solidFill>
              <a:latin typeface="Arial" panose="020B0604020202020204"/>
            </a:endParaRPr>
          </a:p>
        </p:txBody>
      </p:sp>
      <p:sp>
        <p:nvSpPr>
          <p:cNvPr id="24" name="Source segment heading 5"/>
          <p:cNvSpPr txBox="1"/>
          <p:nvPr/>
        </p:nvSpPr>
        <p:spPr>
          <a:xfrm>
            <a:off x="83896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5</a:t>
            </a:r>
            <a:endParaRPr sz="960" b="0" i="0">
              <a:solidFill>
                <a:srgbClr val="61727A"/>
              </a:solidFill>
              <a:latin typeface="Arial" panose="020B0604020202020204"/>
            </a:endParaRPr>
          </a:p>
        </p:txBody>
      </p:sp>
      <p:sp>
        <p:nvSpPr>
          <p:cNvPr id="25" name="Source rank 0"/>
          <p:cNvSpPr txBox="1"/>
          <p:nvPr/>
        </p:nvSpPr>
        <p:spPr>
          <a:xfrm>
            <a:off x="35814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grpSp>
        <p:nvGrpSpPr>
          <p:cNvPr id="28" name="Unordered rank 0 / 0 [editable group]"/>
          <p:cNvGrpSpPr/>
          <p:nvPr/>
        </p:nvGrpSpPr>
        <p:grpSpPr>
          <a:xfrm>
            <a:off x="723900" y="1264920"/>
            <a:ext cx="259080" cy="213360"/>
            <a:chOff x="723900" y="1264920"/>
            <a:chExt cx="259080" cy="213360"/>
          </a:xfrm>
        </p:grpSpPr>
        <p:sp>
          <p:nvSpPr>
            <p:cNvPr id="26" name="Unordered rank 0 / 0"/>
            <p:cNvSpPr/>
            <p:nvPr/>
          </p:nvSpPr>
          <p:spPr>
            <a:xfrm>
              <a:off x="72390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nordered rank 0 / 0 / label"/>
            <p:cNvSpPr txBox="1"/>
            <p:nvPr/>
          </p:nvSpPr>
          <p:spPr>
            <a:xfrm>
              <a:off x="7696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 name="Unordered rank 0 / 1 [editable group]"/>
          <p:cNvGrpSpPr/>
          <p:nvPr/>
        </p:nvGrpSpPr>
        <p:grpSpPr>
          <a:xfrm>
            <a:off x="1013460" y="1264920"/>
            <a:ext cx="259080" cy="213360"/>
            <a:chOff x="1013460" y="1264920"/>
            <a:chExt cx="259080" cy="213360"/>
          </a:xfrm>
        </p:grpSpPr>
        <p:sp>
          <p:nvSpPr>
            <p:cNvPr id="29" name="Unordered rank 0 / 1"/>
            <p:cNvSpPr/>
            <p:nvPr/>
          </p:nvSpPr>
          <p:spPr>
            <a:xfrm>
              <a:off x="10134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nordered rank 0 / 1 / label"/>
            <p:cNvSpPr txBox="1"/>
            <p:nvPr/>
          </p:nvSpPr>
          <p:spPr>
            <a:xfrm>
              <a:off x="105918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4" name="Unordered rank 0 / 2 [editable group]"/>
          <p:cNvGrpSpPr/>
          <p:nvPr/>
        </p:nvGrpSpPr>
        <p:grpSpPr>
          <a:xfrm>
            <a:off x="1303020" y="1264920"/>
            <a:ext cx="259080" cy="213360"/>
            <a:chOff x="1303020" y="1264920"/>
            <a:chExt cx="259080" cy="213360"/>
          </a:xfrm>
        </p:grpSpPr>
        <p:sp>
          <p:nvSpPr>
            <p:cNvPr id="32" name="Unordered rank 0 / 2"/>
            <p:cNvSpPr/>
            <p:nvPr/>
          </p:nvSpPr>
          <p:spPr>
            <a:xfrm>
              <a:off x="130302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nordered rank 0 / 2 / label"/>
            <p:cNvSpPr txBox="1"/>
            <p:nvPr/>
          </p:nvSpPr>
          <p:spPr>
            <a:xfrm>
              <a:off x="134874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7" name="Unordered rank 0 / 3 [editable group]"/>
          <p:cNvGrpSpPr/>
          <p:nvPr/>
        </p:nvGrpSpPr>
        <p:grpSpPr>
          <a:xfrm>
            <a:off x="1592580" y="1264920"/>
            <a:ext cx="259080" cy="213360"/>
            <a:chOff x="1592580" y="1264920"/>
            <a:chExt cx="259080" cy="213360"/>
          </a:xfrm>
        </p:grpSpPr>
        <p:sp>
          <p:nvSpPr>
            <p:cNvPr id="35" name="Unordered rank 0 / 3"/>
            <p:cNvSpPr/>
            <p:nvPr/>
          </p:nvSpPr>
          <p:spPr>
            <a:xfrm>
              <a:off x="159258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nordered rank 0 / 3 / label"/>
            <p:cNvSpPr txBox="1"/>
            <p:nvPr/>
          </p:nvSpPr>
          <p:spPr>
            <a:xfrm>
              <a:off x="16383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40" name="Unordered rank 0 / 4 [editable group]"/>
          <p:cNvGrpSpPr/>
          <p:nvPr/>
        </p:nvGrpSpPr>
        <p:grpSpPr>
          <a:xfrm>
            <a:off x="1882139" y="1264920"/>
            <a:ext cx="259080" cy="213360"/>
            <a:chOff x="1882139" y="1264920"/>
            <a:chExt cx="259080" cy="213360"/>
          </a:xfrm>
        </p:grpSpPr>
        <p:sp>
          <p:nvSpPr>
            <p:cNvPr id="38" name="Unordered rank 0 / 4"/>
            <p:cNvSpPr/>
            <p:nvPr/>
          </p:nvSpPr>
          <p:spPr>
            <a:xfrm>
              <a:off x="1882139" y="126492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nordered rank 0 / 4 / label"/>
            <p:cNvSpPr txBox="1"/>
            <p:nvPr/>
          </p:nvSpPr>
          <p:spPr>
            <a:xfrm>
              <a:off x="19278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43" name="Unordered rank 0 / 5 [editable group]"/>
          <p:cNvGrpSpPr/>
          <p:nvPr/>
        </p:nvGrpSpPr>
        <p:grpSpPr>
          <a:xfrm>
            <a:off x="2171700" y="1264920"/>
            <a:ext cx="259080" cy="213360"/>
            <a:chOff x="2171700" y="1264920"/>
            <a:chExt cx="259080" cy="213360"/>
          </a:xfrm>
        </p:grpSpPr>
        <p:sp>
          <p:nvSpPr>
            <p:cNvPr id="41" name="Unordered rank 0 / 5"/>
            <p:cNvSpPr/>
            <p:nvPr/>
          </p:nvSpPr>
          <p:spPr>
            <a:xfrm>
              <a:off x="217170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ordered rank 0 / 5 / label"/>
            <p:cNvSpPr txBox="1"/>
            <p:nvPr/>
          </p:nvSpPr>
          <p:spPr>
            <a:xfrm>
              <a:off x="22174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cxnSp>
        <p:nvCxnSpPr>
          <p:cNvPr id="44" name="Local ordering rank 0 / segment 0"/>
          <p:cNvCxnSpPr/>
          <p:nvPr/>
        </p:nvCxnSpPr>
        <p:spPr>
          <a:xfrm>
            <a:off x="2476500" y="13716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7" name="Owner-ordered rank 0 / 0 [editable group]"/>
          <p:cNvGrpSpPr/>
          <p:nvPr/>
        </p:nvGrpSpPr>
        <p:grpSpPr>
          <a:xfrm>
            <a:off x="2895600" y="1264920"/>
            <a:ext cx="259080" cy="213360"/>
            <a:chOff x="2895600" y="1264920"/>
            <a:chExt cx="259080" cy="213360"/>
          </a:xfrm>
        </p:grpSpPr>
        <p:sp>
          <p:nvSpPr>
            <p:cNvPr id="45" name="Owner-ordered rank 0 / 0"/>
            <p:cNvSpPr/>
            <p:nvPr/>
          </p:nvSpPr>
          <p:spPr>
            <a:xfrm>
              <a:off x="289560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n>
                  <a:noFill/>
                </a:ln>
              </a:endParaRPr>
            </a:p>
          </p:txBody>
        </p:sp>
        <p:sp>
          <p:nvSpPr>
            <p:cNvPr id="46" name="Owner-ordered rank 0 / 0 / label"/>
            <p:cNvSpPr txBox="1"/>
            <p:nvPr/>
          </p:nvSpPr>
          <p:spPr>
            <a:xfrm>
              <a:off x="294132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ln>
                    <a:noFill/>
                  </a:ln>
                  <a:solidFill>
                    <a:srgbClr val="172C36"/>
                  </a:solidFill>
                  <a:latin typeface="Arial" panose="020B0604020202020204"/>
                </a:rPr>
                <a:t>0</a:t>
              </a:r>
              <a:endParaRPr sz="1080" b="0" i="0">
                <a:ln>
                  <a:noFill/>
                </a:ln>
                <a:solidFill>
                  <a:srgbClr val="172C36"/>
                </a:solidFill>
                <a:latin typeface="Arial" panose="020B0604020202020204"/>
              </a:endParaRPr>
            </a:p>
          </p:txBody>
        </p:sp>
      </p:grpSp>
      <p:grpSp>
        <p:nvGrpSpPr>
          <p:cNvPr id="50" name="Owner-ordered rank 0 / 1 [editable group]"/>
          <p:cNvGrpSpPr/>
          <p:nvPr/>
        </p:nvGrpSpPr>
        <p:grpSpPr>
          <a:xfrm>
            <a:off x="3185160" y="1264920"/>
            <a:ext cx="259080" cy="213360"/>
            <a:chOff x="3185160" y="1264920"/>
            <a:chExt cx="259080" cy="213360"/>
          </a:xfrm>
        </p:grpSpPr>
        <p:sp>
          <p:nvSpPr>
            <p:cNvPr id="48" name="Owner-ordered rank 0 / 1"/>
            <p:cNvSpPr/>
            <p:nvPr/>
          </p:nvSpPr>
          <p:spPr>
            <a:xfrm>
              <a:off x="31851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wner-ordered rank 0 / 1 / label"/>
            <p:cNvSpPr txBox="1"/>
            <p:nvPr/>
          </p:nvSpPr>
          <p:spPr>
            <a:xfrm>
              <a:off x="323088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53" name="Owner-ordered rank 0 / 2 [editable group]"/>
          <p:cNvGrpSpPr/>
          <p:nvPr/>
        </p:nvGrpSpPr>
        <p:grpSpPr>
          <a:xfrm>
            <a:off x="3474720" y="1264920"/>
            <a:ext cx="259080" cy="213360"/>
            <a:chOff x="3474720" y="1264920"/>
            <a:chExt cx="259080" cy="213360"/>
          </a:xfrm>
        </p:grpSpPr>
        <p:sp>
          <p:nvSpPr>
            <p:cNvPr id="51" name="Owner-ordered rank 0 / 2"/>
            <p:cNvSpPr/>
            <p:nvPr/>
          </p:nvSpPr>
          <p:spPr>
            <a:xfrm>
              <a:off x="347472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wner-ordered rank 0 / 2 / label"/>
            <p:cNvSpPr txBox="1"/>
            <p:nvPr/>
          </p:nvSpPr>
          <p:spPr>
            <a:xfrm>
              <a:off x="352044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56" name="Owner-ordered rank 0 / 3 [editable group]"/>
          <p:cNvGrpSpPr/>
          <p:nvPr/>
        </p:nvGrpSpPr>
        <p:grpSpPr>
          <a:xfrm>
            <a:off x="3764279" y="1264920"/>
            <a:ext cx="259080" cy="213360"/>
            <a:chOff x="3764279" y="1264920"/>
            <a:chExt cx="259080" cy="213360"/>
          </a:xfrm>
        </p:grpSpPr>
        <p:sp>
          <p:nvSpPr>
            <p:cNvPr id="54" name="Owner-ordered rank 0 / 3"/>
            <p:cNvSpPr/>
            <p:nvPr/>
          </p:nvSpPr>
          <p:spPr>
            <a:xfrm>
              <a:off x="3764279" y="1264920"/>
              <a:ext cx="259080" cy="213360"/>
            </a:xfrm>
            <a:prstGeom prst="rect">
              <a:avLst/>
            </a:prstGeom>
            <a:solidFill>
              <a:srgbClr val="FAD9BF"/>
            </a:solidFill>
            <a:ln w="1905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wner-ordered rank 0 / 3 / label"/>
            <p:cNvSpPr txBox="1"/>
            <p:nvPr/>
          </p:nvSpPr>
          <p:spPr>
            <a:xfrm>
              <a:off x="38100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59" name="Owner-ordered rank 0 / 4 [editable group]"/>
          <p:cNvGrpSpPr/>
          <p:nvPr/>
        </p:nvGrpSpPr>
        <p:grpSpPr>
          <a:xfrm>
            <a:off x="4053840" y="1264920"/>
            <a:ext cx="259080" cy="213360"/>
            <a:chOff x="4053840" y="1264920"/>
            <a:chExt cx="259080" cy="213360"/>
          </a:xfrm>
        </p:grpSpPr>
        <p:sp>
          <p:nvSpPr>
            <p:cNvPr id="57" name="Owner-ordered rank 0 / 4"/>
            <p:cNvSpPr/>
            <p:nvPr/>
          </p:nvSpPr>
          <p:spPr>
            <a:xfrm>
              <a:off x="405384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wner-ordered rank 0 / 4 / label"/>
            <p:cNvSpPr txBox="1"/>
            <p:nvPr/>
          </p:nvSpPr>
          <p:spPr>
            <a:xfrm>
              <a:off x="40995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62" name="Owner-ordered rank 0 / 5 [editable group]"/>
          <p:cNvGrpSpPr/>
          <p:nvPr/>
        </p:nvGrpSpPr>
        <p:grpSpPr>
          <a:xfrm>
            <a:off x="4343400" y="1264920"/>
            <a:ext cx="259080" cy="213360"/>
            <a:chOff x="4343400" y="1264920"/>
            <a:chExt cx="259080" cy="213360"/>
          </a:xfrm>
        </p:grpSpPr>
        <p:sp>
          <p:nvSpPr>
            <p:cNvPr id="60" name="Owner-ordered rank 0 / 5"/>
            <p:cNvSpPr/>
            <p:nvPr/>
          </p:nvSpPr>
          <p:spPr>
            <a:xfrm>
              <a:off x="434340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wner-ordered rank 0 / 5 / label"/>
            <p:cNvSpPr txBox="1"/>
            <p:nvPr/>
          </p:nvSpPr>
          <p:spPr>
            <a:xfrm>
              <a:off x="43891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63" name="Destination rank 0"/>
          <p:cNvSpPr txBox="1"/>
          <p:nvPr/>
        </p:nvSpPr>
        <p:spPr>
          <a:xfrm>
            <a:off x="643890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sp>
        <p:nvSpPr>
          <p:cNvPr id="64" name="Rank 0 segment from source 0"/>
          <p:cNvSpPr/>
          <p:nvPr/>
        </p:nvSpPr>
        <p:spPr>
          <a:xfrm>
            <a:off x="678942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Rank 0 segment from source 0 / records 0 / segment 0"/>
          <p:cNvCxnSpPr/>
          <p:nvPr/>
        </p:nvCxnSpPr>
        <p:spPr>
          <a:xfrm>
            <a:off x="68351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6" name="Rank 0 segment from source 0 / records 1 / segment 0"/>
          <p:cNvCxnSpPr/>
          <p:nvPr/>
        </p:nvCxnSpPr>
        <p:spPr>
          <a:xfrm>
            <a:off x="68351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67" name="Rank 0 segment from source 1"/>
          <p:cNvSpPr/>
          <p:nvPr/>
        </p:nvSpPr>
        <p:spPr>
          <a:xfrm>
            <a:off x="710946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Rank 0 segment from source 1 / records 0 / segment 0"/>
          <p:cNvCxnSpPr/>
          <p:nvPr/>
        </p:nvCxnSpPr>
        <p:spPr>
          <a:xfrm>
            <a:off x="715518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9" name="Rank 0 segment from source 1 / records 1 / segment 0"/>
          <p:cNvCxnSpPr/>
          <p:nvPr/>
        </p:nvCxnSpPr>
        <p:spPr>
          <a:xfrm>
            <a:off x="715518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0" name="Rank 0 segment from source 2"/>
          <p:cNvSpPr/>
          <p:nvPr/>
        </p:nvSpPr>
        <p:spPr>
          <a:xfrm>
            <a:off x="742950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Rank 0 segment from source 2 / records 0 / segment 0"/>
          <p:cNvCxnSpPr/>
          <p:nvPr/>
        </p:nvCxnSpPr>
        <p:spPr>
          <a:xfrm>
            <a:off x="7475220" y="13335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2" name="Rank 0 segment from source 2 / records 1 / segment 0"/>
          <p:cNvCxnSpPr/>
          <p:nvPr/>
        </p:nvCxnSpPr>
        <p:spPr>
          <a:xfrm>
            <a:off x="7475220" y="14020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3" name="Rank 0 segment from source 3"/>
          <p:cNvSpPr/>
          <p:nvPr/>
        </p:nvSpPr>
        <p:spPr>
          <a:xfrm>
            <a:off x="774954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ank 0 segment from source 3 / records 0 / segment 0"/>
          <p:cNvCxnSpPr/>
          <p:nvPr/>
        </p:nvCxnSpPr>
        <p:spPr>
          <a:xfrm>
            <a:off x="779526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5" name="Rank 0 segment from source 3 / records 1 / segment 0"/>
          <p:cNvCxnSpPr/>
          <p:nvPr/>
        </p:nvCxnSpPr>
        <p:spPr>
          <a:xfrm>
            <a:off x="779526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6" name="Rank 0 segment from source 4"/>
          <p:cNvSpPr/>
          <p:nvPr/>
        </p:nvSpPr>
        <p:spPr>
          <a:xfrm>
            <a:off x="8069579"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Rank 0 segment from source 4 / records 0 / segment 0"/>
          <p:cNvCxnSpPr/>
          <p:nvPr/>
        </p:nvCxnSpPr>
        <p:spPr>
          <a:xfrm>
            <a:off x="811530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8" name="Rank 0 segment from source 4 / records 1 / segment 0"/>
          <p:cNvCxnSpPr/>
          <p:nvPr/>
        </p:nvCxnSpPr>
        <p:spPr>
          <a:xfrm>
            <a:off x="811530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9" name="Rank 0 segment from source 5"/>
          <p:cNvSpPr/>
          <p:nvPr/>
        </p:nvSpPr>
        <p:spPr>
          <a:xfrm>
            <a:off x="838962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Rank 0 segment from source 5 / records 0 / segment 0"/>
          <p:cNvCxnSpPr/>
          <p:nvPr/>
        </p:nvCxnSpPr>
        <p:spPr>
          <a:xfrm>
            <a:off x="84353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1" name="Rank 0 segment from source 5 / records 1 / segment 0"/>
          <p:cNvCxnSpPr/>
          <p:nvPr/>
        </p:nvCxnSpPr>
        <p:spPr>
          <a:xfrm>
            <a:off x="84353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2" name="Merge rank 0 / segment 0"/>
          <p:cNvCxnSpPr/>
          <p:nvPr/>
        </p:nvCxnSpPr>
        <p:spPr>
          <a:xfrm>
            <a:off x="8709660" y="13716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Rank 0 merged record group 0"/>
          <p:cNvSpPr/>
          <p:nvPr/>
        </p:nvSpPr>
        <p:spPr>
          <a:xfrm>
            <a:off x="93345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ank 0 merged record group 1"/>
          <p:cNvSpPr/>
          <p:nvPr/>
        </p:nvSpPr>
        <p:spPr>
          <a:xfrm>
            <a:off x="955548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ank 0 merged record group 2"/>
          <p:cNvSpPr/>
          <p:nvPr/>
        </p:nvSpPr>
        <p:spPr>
          <a:xfrm>
            <a:off x="977646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ank 0 merged record group 3"/>
          <p:cNvSpPr/>
          <p:nvPr/>
        </p:nvSpPr>
        <p:spPr>
          <a:xfrm>
            <a:off x="999744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ank 0 merged record group 4"/>
          <p:cNvSpPr/>
          <p:nvPr/>
        </p:nvSpPr>
        <p:spPr>
          <a:xfrm>
            <a:off x="1021842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ank 0 merged record group 5"/>
          <p:cNvSpPr/>
          <p:nvPr/>
        </p:nvSpPr>
        <p:spPr>
          <a:xfrm>
            <a:off x="104394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mpress rank 0 / segment 0"/>
          <p:cNvCxnSpPr/>
          <p:nvPr/>
        </p:nvCxnSpPr>
        <p:spPr>
          <a:xfrm>
            <a:off x="10721340" y="13716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92" name="Rank body 0 [editable group]"/>
          <p:cNvGrpSpPr/>
          <p:nvPr/>
        </p:nvGrpSpPr>
        <p:grpSpPr>
          <a:xfrm>
            <a:off x="11079480" y="1264920"/>
            <a:ext cx="647700" cy="213360"/>
            <a:chOff x="11079480" y="1264920"/>
            <a:chExt cx="647700" cy="213360"/>
          </a:xfrm>
        </p:grpSpPr>
        <p:sp>
          <p:nvSpPr>
            <p:cNvPr id="90" name="Rank body 0"/>
            <p:cNvSpPr/>
            <p:nvPr/>
          </p:nvSpPr>
          <p:spPr>
            <a:xfrm>
              <a:off x="11079480" y="12649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ank body 0 / label"/>
            <p:cNvSpPr txBox="1"/>
            <p:nvPr/>
          </p:nvSpPr>
          <p:spPr>
            <a:xfrm>
              <a:off x="11125200" y="12877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0</a:t>
              </a:r>
              <a:endParaRPr sz="1020" b="0" i="0">
                <a:solidFill>
                  <a:srgbClr val="172C36"/>
                </a:solidFill>
                <a:latin typeface="Arial" panose="020B0604020202020204"/>
              </a:endParaRPr>
            </a:p>
          </p:txBody>
        </p:sp>
      </p:grpSp>
      <p:sp>
        <p:nvSpPr>
          <p:cNvPr id="93" name="Source rank 1"/>
          <p:cNvSpPr txBox="1"/>
          <p:nvPr/>
        </p:nvSpPr>
        <p:spPr>
          <a:xfrm>
            <a:off x="35814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grpSp>
        <p:nvGrpSpPr>
          <p:cNvPr id="96" name="Unordered rank 1 / 0 [editable group]"/>
          <p:cNvGrpSpPr/>
          <p:nvPr/>
        </p:nvGrpSpPr>
        <p:grpSpPr>
          <a:xfrm>
            <a:off x="723900" y="1592580"/>
            <a:ext cx="259080" cy="213360"/>
            <a:chOff x="723900" y="1592580"/>
            <a:chExt cx="259080" cy="213360"/>
          </a:xfrm>
        </p:grpSpPr>
        <p:sp>
          <p:nvSpPr>
            <p:cNvPr id="94" name="Unordered rank 1 / 0"/>
            <p:cNvSpPr/>
            <p:nvPr/>
          </p:nvSpPr>
          <p:spPr>
            <a:xfrm>
              <a:off x="72390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Unordered rank 1 / 0 / label"/>
            <p:cNvSpPr txBox="1"/>
            <p:nvPr/>
          </p:nvSpPr>
          <p:spPr>
            <a:xfrm>
              <a:off x="7696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99" name="Unordered rank 1 / 1 [editable group]"/>
          <p:cNvGrpSpPr/>
          <p:nvPr/>
        </p:nvGrpSpPr>
        <p:grpSpPr>
          <a:xfrm>
            <a:off x="1013460" y="1592580"/>
            <a:ext cx="259080" cy="213360"/>
            <a:chOff x="1013460" y="1592580"/>
            <a:chExt cx="259080" cy="213360"/>
          </a:xfrm>
        </p:grpSpPr>
        <p:sp>
          <p:nvSpPr>
            <p:cNvPr id="97" name="Unordered rank 1 / 1"/>
            <p:cNvSpPr/>
            <p:nvPr/>
          </p:nvSpPr>
          <p:spPr>
            <a:xfrm>
              <a:off x="101346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Unordered rank 1 / 1 / label"/>
            <p:cNvSpPr txBox="1"/>
            <p:nvPr/>
          </p:nvSpPr>
          <p:spPr>
            <a:xfrm>
              <a:off x="10591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02" name="Unordered rank 1 / 2 [editable group]"/>
          <p:cNvGrpSpPr/>
          <p:nvPr/>
        </p:nvGrpSpPr>
        <p:grpSpPr>
          <a:xfrm>
            <a:off x="1303020" y="1592580"/>
            <a:ext cx="259080" cy="213360"/>
            <a:chOff x="1303020" y="1592580"/>
            <a:chExt cx="259080" cy="213360"/>
          </a:xfrm>
        </p:grpSpPr>
        <p:sp>
          <p:nvSpPr>
            <p:cNvPr id="100" name="Unordered rank 1 / 2"/>
            <p:cNvSpPr/>
            <p:nvPr/>
          </p:nvSpPr>
          <p:spPr>
            <a:xfrm>
              <a:off x="1303020"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Unordered rank 1 / 2 / label"/>
            <p:cNvSpPr txBox="1"/>
            <p:nvPr/>
          </p:nvSpPr>
          <p:spPr>
            <a:xfrm>
              <a:off x="13487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05" name="Unordered rank 1 / 3 [editable group]"/>
          <p:cNvGrpSpPr/>
          <p:nvPr/>
        </p:nvGrpSpPr>
        <p:grpSpPr>
          <a:xfrm>
            <a:off x="1592580" y="1592580"/>
            <a:ext cx="259080" cy="213360"/>
            <a:chOff x="1592580" y="1592580"/>
            <a:chExt cx="259080" cy="213360"/>
          </a:xfrm>
        </p:grpSpPr>
        <p:sp>
          <p:nvSpPr>
            <p:cNvPr id="103" name="Unordered rank 1 / 3"/>
            <p:cNvSpPr/>
            <p:nvPr/>
          </p:nvSpPr>
          <p:spPr>
            <a:xfrm>
              <a:off x="159258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Unordered rank 1 / 3 / label"/>
            <p:cNvSpPr txBox="1"/>
            <p:nvPr/>
          </p:nvSpPr>
          <p:spPr>
            <a:xfrm>
              <a:off x="16383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08" name="Unordered rank 1 / 4 [editable group]"/>
          <p:cNvGrpSpPr/>
          <p:nvPr/>
        </p:nvGrpSpPr>
        <p:grpSpPr>
          <a:xfrm>
            <a:off x="1882139" y="1592580"/>
            <a:ext cx="259080" cy="213360"/>
            <a:chOff x="1882139" y="1592580"/>
            <a:chExt cx="259080" cy="213360"/>
          </a:xfrm>
        </p:grpSpPr>
        <p:sp>
          <p:nvSpPr>
            <p:cNvPr id="106" name="Unordered rank 1 / 4"/>
            <p:cNvSpPr/>
            <p:nvPr/>
          </p:nvSpPr>
          <p:spPr>
            <a:xfrm>
              <a:off x="1882139"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Unordered rank 1 / 4 / label"/>
            <p:cNvSpPr txBox="1"/>
            <p:nvPr/>
          </p:nvSpPr>
          <p:spPr>
            <a:xfrm>
              <a:off x="19278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1" name="Unordered rank 1 / 5 [editable group]"/>
          <p:cNvGrpSpPr/>
          <p:nvPr/>
        </p:nvGrpSpPr>
        <p:grpSpPr>
          <a:xfrm>
            <a:off x="2171700" y="1592580"/>
            <a:ext cx="259080" cy="213360"/>
            <a:chOff x="2171700" y="1592580"/>
            <a:chExt cx="259080" cy="213360"/>
          </a:xfrm>
        </p:grpSpPr>
        <p:sp>
          <p:nvSpPr>
            <p:cNvPr id="109" name="Unordered rank 1 / 5"/>
            <p:cNvSpPr/>
            <p:nvPr/>
          </p:nvSpPr>
          <p:spPr>
            <a:xfrm>
              <a:off x="217170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Unordered rank 1 / 5 / label"/>
            <p:cNvSpPr txBox="1"/>
            <p:nvPr/>
          </p:nvSpPr>
          <p:spPr>
            <a:xfrm>
              <a:off x="22174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112" name="Local ordering rank 1 / segment 0"/>
          <p:cNvCxnSpPr/>
          <p:nvPr/>
        </p:nvCxnSpPr>
        <p:spPr>
          <a:xfrm>
            <a:off x="2476500" y="169926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5" name="Owner-ordered rank 1 / 0 [editable group]"/>
          <p:cNvGrpSpPr/>
          <p:nvPr/>
        </p:nvGrpSpPr>
        <p:grpSpPr>
          <a:xfrm>
            <a:off x="2895600" y="1592580"/>
            <a:ext cx="259080" cy="213360"/>
            <a:chOff x="2895600" y="1592580"/>
            <a:chExt cx="259080" cy="213360"/>
          </a:xfrm>
        </p:grpSpPr>
        <p:sp>
          <p:nvSpPr>
            <p:cNvPr id="113" name="Owner-ordered rank 1 / 0"/>
            <p:cNvSpPr/>
            <p:nvPr/>
          </p:nvSpPr>
          <p:spPr>
            <a:xfrm>
              <a:off x="2895600"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wner-ordered rank 1 / 0 / label"/>
            <p:cNvSpPr txBox="1"/>
            <p:nvPr/>
          </p:nvSpPr>
          <p:spPr>
            <a:xfrm>
              <a:off x="29413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8" name="Owner-ordered rank 1 / 1 [editable group]"/>
          <p:cNvGrpSpPr/>
          <p:nvPr/>
        </p:nvGrpSpPr>
        <p:grpSpPr>
          <a:xfrm>
            <a:off x="3185160" y="1592580"/>
            <a:ext cx="259080" cy="213360"/>
            <a:chOff x="3185160" y="1592580"/>
            <a:chExt cx="259080" cy="213360"/>
          </a:xfrm>
        </p:grpSpPr>
        <p:sp>
          <p:nvSpPr>
            <p:cNvPr id="116" name="Owner-ordered rank 1 / 1"/>
            <p:cNvSpPr/>
            <p:nvPr/>
          </p:nvSpPr>
          <p:spPr>
            <a:xfrm>
              <a:off x="318516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wner-ordered rank 1 / 1 / label"/>
            <p:cNvSpPr txBox="1"/>
            <p:nvPr/>
          </p:nvSpPr>
          <p:spPr>
            <a:xfrm>
              <a:off x="32308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21" name="Owner-ordered rank 1 / 2 [editable group]"/>
          <p:cNvGrpSpPr/>
          <p:nvPr/>
        </p:nvGrpSpPr>
        <p:grpSpPr>
          <a:xfrm>
            <a:off x="3474720" y="1592580"/>
            <a:ext cx="259080" cy="213360"/>
            <a:chOff x="3474720" y="1592580"/>
            <a:chExt cx="259080" cy="213360"/>
          </a:xfrm>
        </p:grpSpPr>
        <p:sp>
          <p:nvSpPr>
            <p:cNvPr id="119" name="Owner-ordered rank 1 / 2"/>
            <p:cNvSpPr/>
            <p:nvPr/>
          </p:nvSpPr>
          <p:spPr>
            <a:xfrm>
              <a:off x="347472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wner-ordered rank 1 / 2 / label"/>
            <p:cNvSpPr txBox="1"/>
            <p:nvPr/>
          </p:nvSpPr>
          <p:spPr>
            <a:xfrm>
              <a:off x="35204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24" name="Owner-ordered rank 1 / 3 [editable group]"/>
          <p:cNvGrpSpPr/>
          <p:nvPr/>
        </p:nvGrpSpPr>
        <p:grpSpPr>
          <a:xfrm>
            <a:off x="3764279" y="1592580"/>
            <a:ext cx="259080" cy="213360"/>
            <a:chOff x="3764279" y="1592580"/>
            <a:chExt cx="259080" cy="213360"/>
          </a:xfrm>
        </p:grpSpPr>
        <p:sp>
          <p:nvSpPr>
            <p:cNvPr id="122" name="Owner-ordered rank 1 / 3"/>
            <p:cNvSpPr/>
            <p:nvPr/>
          </p:nvSpPr>
          <p:spPr>
            <a:xfrm>
              <a:off x="3764279"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wner-ordered rank 1 / 3 / label"/>
            <p:cNvSpPr txBox="1"/>
            <p:nvPr/>
          </p:nvSpPr>
          <p:spPr>
            <a:xfrm>
              <a:off x="38100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27" name="Owner-ordered rank 1 / 4 [editable group]"/>
          <p:cNvGrpSpPr/>
          <p:nvPr/>
        </p:nvGrpSpPr>
        <p:grpSpPr>
          <a:xfrm>
            <a:off x="4053840" y="1592580"/>
            <a:ext cx="259080" cy="213360"/>
            <a:chOff x="4053840" y="1592580"/>
            <a:chExt cx="259080" cy="213360"/>
          </a:xfrm>
        </p:grpSpPr>
        <p:sp>
          <p:nvSpPr>
            <p:cNvPr id="125" name="Owner-ordered rank 1 / 4"/>
            <p:cNvSpPr/>
            <p:nvPr/>
          </p:nvSpPr>
          <p:spPr>
            <a:xfrm>
              <a:off x="405384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wner-ordered rank 1 / 4 / label"/>
            <p:cNvSpPr txBox="1"/>
            <p:nvPr/>
          </p:nvSpPr>
          <p:spPr>
            <a:xfrm>
              <a:off x="40995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30" name="Owner-ordered rank 1 / 5 [editable group]"/>
          <p:cNvGrpSpPr/>
          <p:nvPr/>
        </p:nvGrpSpPr>
        <p:grpSpPr>
          <a:xfrm>
            <a:off x="4343400" y="1592580"/>
            <a:ext cx="259080" cy="213360"/>
            <a:chOff x="4343400" y="1592580"/>
            <a:chExt cx="259080" cy="213360"/>
          </a:xfrm>
        </p:grpSpPr>
        <p:sp>
          <p:nvSpPr>
            <p:cNvPr id="128" name="Owner-ordered rank 1 / 5"/>
            <p:cNvSpPr/>
            <p:nvPr/>
          </p:nvSpPr>
          <p:spPr>
            <a:xfrm>
              <a:off x="434340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wner-ordered rank 1 / 5 / label"/>
            <p:cNvSpPr txBox="1"/>
            <p:nvPr/>
          </p:nvSpPr>
          <p:spPr>
            <a:xfrm>
              <a:off x="43891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31" name="Destination rank 1"/>
          <p:cNvSpPr txBox="1"/>
          <p:nvPr/>
        </p:nvSpPr>
        <p:spPr>
          <a:xfrm>
            <a:off x="643890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sp>
        <p:nvSpPr>
          <p:cNvPr id="132" name="Rank 1 segment from source 0"/>
          <p:cNvSpPr/>
          <p:nvPr/>
        </p:nvSpPr>
        <p:spPr>
          <a:xfrm>
            <a:off x="6789420" y="159258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Rank 1 segment from source 0 / records 0 / segment 0"/>
          <p:cNvCxnSpPr/>
          <p:nvPr/>
        </p:nvCxnSpPr>
        <p:spPr>
          <a:xfrm>
            <a:off x="68351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4" name="Rank 1 segment from source 0 / records 1 / segment 0"/>
          <p:cNvCxnSpPr/>
          <p:nvPr/>
        </p:nvCxnSpPr>
        <p:spPr>
          <a:xfrm>
            <a:off x="68351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5" name="Rank 1 segment from source 1"/>
          <p:cNvSpPr/>
          <p:nvPr/>
        </p:nvSpPr>
        <p:spPr>
          <a:xfrm>
            <a:off x="710946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Rank 1 segment from source 1 / records 0 / segment 0"/>
          <p:cNvCxnSpPr/>
          <p:nvPr/>
        </p:nvCxnSpPr>
        <p:spPr>
          <a:xfrm>
            <a:off x="715518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7" name="Rank 1 segment from source 1 / records 1 / segment 0"/>
          <p:cNvCxnSpPr/>
          <p:nvPr/>
        </p:nvCxnSpPr>
        <p:spPr>
          <a:xfrm>
            <a:off x="715518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8" name="Rank 1 segment from source 2"/>
          <p:cNvSpPr/>
          <p:nvPr/>
        </p:nvSpPr>
        <p:spPr>
          <a:xfrm>
            <a:off x="742950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Rank 1 segment from source 2 / records 0 / segment 0"/>
          <p:cNvCxnSpPr/>
          <p:nvPr/>
        </p:nvCxnSpPr>
        <p:spPr>
          <a:xfrm>
            <a:off x="7475220" y="16611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0" name="Rank 1 segment from source 2 / records 1 / segment 0"/>
          <p:cNvCxnSpPr/>
          <p:nvPr/>
        </p:nvCxnSpPr>
        <p:spPr>
          <a:xfrm>
            <a:off x="7475220" y="17297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1" name="Rank 1 segment from source 3"/>
          <p:cNvSpPr/>
          <p:nvPr/>
        </p:nvSpPr>
        <p:spPr>
          <a:xfrm>
            <a:off x="774954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Rank 1 segment from source 3 / records 0 / segment 0"/>
          <p:cNvCxnSpPr/>
          <p:nvPr/>
        </p:nvCxnSpPr>
        <p:spPr>
          <a:xfrm>
            <a:off x="779526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3" name="Rank 1 segment from source 3 / records 1 / segment 0"/>
          <p:cNvCxnSpPr/>
          <p:nvPr/>
        </p:nvCxnSpPr>
        <p:spPr>
          <a:xfrm>
            <a:off x="779526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4" name="Rank 1 segment from source 4"/>
          <p:cNvSpPr/>
          <p:nvPr/>
        </p:nvSpPr>
        <p:spPr>
          <a:xfrm>
            <a:off x="8069579"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Rank 1 segment from source 4 / records 0 / segment 0"/>
          <p:cNvCxnSpPr/>
          <p:nvPr/>
        </p:nvCxnSpPr>
        <p:spPr>
          <a:xfrm>
            <a:off x="811530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6" name="Rank 1 segment from source 4 / records 1 / segment 0"/>
          <p:cNvCxnSpPr/>
          <p:nvPr/>
        </p:nvCxnSpPr>
        <p:spPr>
          <a:xfrm>
            <a:off x="811530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7" name="Rank 1 segment from source 5"/>
          <p:cNvSpPr/>
          <p:nvPr/>
        </p:nvSpPr>
        <p:spPr>
          <a:xfrm>
            <a:off x="83896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Rank 1 segment from source 5 / records 0 / segment 0"/>
          <p:cNvCxnSpPr/>
          <p:nvPr/>
        </p:nvCxnSpPr>
        <p:spPr>
          <a:xfrm>
            <a:off x="84353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9" name="Rank 1 segment from source 5 / records 1 / segment 0"/>
          <p:cNvCxnSpPr/>
          <p:nvPr/>
        </p:nvCxnSpPr>
        <p:spPr>
          <a:xfrm>
            <a:off x="84353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50" name="Merge rank 1 / segment 0"/>
          <p:cNvCxnSpPr/>
          <p:nvPr/>
        </p:nvCxnSpPr>
        <p:spPr>
          <a:xfrm>
            <a:off x="8709660" y="169926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1" name="Rank 1 merged record group 0"/>
          <p:cNvSpPr/>
          <p:nvPr/>
        </p:nvSpPr>
        <p:spPr>
          <a:xfrm>
            <a:off x="93345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ank 1 merged record group 1"/>
          <p:cNvSpPr/>
          <p:nvPr/>
        </p:nvSpPr>
        <p:spPr>
          <a:xfrm>
            <a:off x="955548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ank 1 merged record group 2"/>
          <p:cNvSpPr/>
          <p:nvPr/>
        </p:nvSpPr>
        <p:spPr>
          <a:xfrm>
            <a:off x="977646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ank 1 merged record group 3"/>
          <p:cNvSpPr/>
          <p:nvPr/>
        </p:nvSpPr>
        <p:spPr>
          <a:xfrm>
            <a:off x="999744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ank 1 merged record group 4"/>
          <p:cNvSpPr/>
          <p:nvPr/>
        </p:nvSpPr>
        <p:spPr>
          <a:xfrm>
            <a:off x="1021842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ank 1 merged record group 5"/>
          <p:cNvSpPr/>
          <p:nvPr/>
        </p:nvSpPr>
        <p:spPr>
          <a:xfrm>
            <a:off x="104394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mpress rank 1 / segment 0"/>
          <p:cNvCxnSpPr/>
          <p:nvPr/>
        </p:nvCxnSpPr>
        <p:spPr>
          <a:xfrm>
            <a:off x="10721340" y="169926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0" name="Rank body 1 [editable group]"/>
          <p:cNvGrpSpPr/>
          <p:nvPr/>
        </p:nvGrpSpPr>
        <p:grpSpPr>
          <a:xfrm>
            <a:off x="11079480" y="1592580"/>
            <a:ext cx="647700" cy="213360"/>
            <a:chOff x="11079480" y="1592580"/>
            <a:chExt cx="647700" cy="213360"/>
          </a:xfrm>
        </p:grpSpPr>
        <p:sp>
          <p:nvSpPr>
            <p:cNvPr id="158" name="Rank body 1"/>
            <p:cNvSpPr/>
            <p:nvPr/>
          </p:nvSpPr>
          <p:spPr>
            <a:xfrm>
              <a:off x="11079480" y="159258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ank body 1 / label"/>
            <p:cNvSpPr txBox="1"/>
            <p:nvPr/>
          </p:nvSpPr>
          <p:spPr>
            <a:xfrm>
              <a:off x="11125200" y="161544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1</a:t>
              </a:r>
              <a:endParaRPr sz="1020" b="0" i="0">
                <a:solidFill>
                  <a:srgbClr val="172C36"/>
                </a:solidFill>
                <a:latin typeface="Arial" panose="020B0604020202020204"/>
              </a:endParaRPr>
            </a:p>
          </p:txBody>
        </p:sp>
      </p:grpSp>
      <p:sp>
        <p:nvSpPr>
          <p:cNvPr id="161" name="Source rank 2"/>
          <p:cNvSpPr txBox="1"/>
          <p:nvPr/>
        </p:nvSpPr>
        <p:spPr>
          <a:xfrm>
            <a:off x="35814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grpSp>
        <p:nvGrpSpPr>
          <p:cNvPr id="164" name="Unordered rank 2 / 0 [editable group]"/>
          <p:cNvGrpSpPr/>
          <p:nvPr/>
        </p:nvGrpSpPr>
        <p:grpSpPr>
          <a:xfrm>
            <a:off x="723900" y="1920240"/>
            <a:ext cx="259080" cy="213360"/>
            <a:chOff x="723900" y="1920240"/>
            <a:chExt cx="259080" cy="213360"/>
          </a:xfrm>
        </p:grpSpPr>
        <p:sp>
          <p:nvSpPr>
            <p:cNvPr id="162" name="Unordered rank 2 / 0"/>
            <p:cNvSpPr/>
            <p:nvPr/>
          </p:nvSpPr>
          <p:spPr>
            <a:xfrm>
              <a:off x="723900"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Unordered rank 2 / 0 / label"/>
            <p:cNvSpPr txBox="1"/>
            <p:nvPr/>
          </p:nvSpPr>
          <p:spPr>
            <a:xfrm>
              <a:off x="7696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67" name="Unordered rank 2 / 1 [editable group]"/>
          <p:cNvGrpSpPr/>
          <p:nvPr/>
        </p:nvGrpSpPr>
        <p:grpSpPr>
          <a:xfrm>
            <a:off x="1013460" y="1920240"/>
            <a:ext cx="259080" cy="213360"/>
            <a:chOff x="1013460" y="1920240"/>
            <a:chExt cx="259080" cy="213360"/>
          </a:xfrm>
        </p:grpSpPr>
        <p:sp>
          <p:nvSpPr>
            <p:cNvPr id="165" name="Unordered rank 2 / 1"/>
            <p:cNvSpPr/>
            <p:nvPr/>
          </p:nvSpPr>
          <p:spPr>
            <a:xfrm>
              <a:off x="101346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Unordered rank 2 / 1 / label"/>
            <p:cNvSpPr txBox="1"/>
            <p:nvPr/>
          </p:nvSpPr>
          <p:spPr>
            <a:xfrm>
              <a:off x="10591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70" name="Unordered rank 2 / 2 [editable group]"/>
          <p:cNvGrpSpPr/>
          <p:nvPr/>
        </p:nvGrpSpPr>
        <p:grpSpPr>
          <a:xfrm>
            <a:off x="1303020" y="1920240"/>
            <a:ext cx="259080" cy="213360"/>
            <a:chOff x="1303020" y="1920240"/>
            <a:chExt cx="259080" cy="213360"/>
          </a:xfrm>
        </p:grpSpPr>
        <p:sp>
          <p:nvSpPr>
            <p:cNvPr id="168" name="Unordered rank 2 / 2"/>
            <p:cNvSpPr/>
            <p:nvPr/>
          </p:nvSpPr>
          <p:spPr>
            <a:xfrm>
              <a:off x="130302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Unordered rank 2 / 2 / label"/>
            <p:cNvSpPr txBox="1"/>
            <p:nvPr/>
          </p:nvSpPr>
          <p:spPr>
            <a:xfrm>
              <a:off x="13487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73" name="Unordered rank 2 / 3 [editable group]"/>
          <p:cNvGrpSpPr/>
          <p:nvPr/>
        </p:nvGrpSpPr>
        <p:grpSpPr>
          <a:xfrm>
            <a:off x="1592580" y="1920240"/>
            <a:ext cx="259080" cy="213360"/>
            <a:chOff x="1592580" y="1920240"/>
            <a:chExt cx="259080" cy="213360"/>
          </a:xfrm>
        </p:grpSpPr>
        <p:sp>
          <p:nvSpPr>
            <p:cNvPr id="171" name="Unordered rank 2 / 3"/>
            <p:cNvSpPr/>
            <p:nvPr/>
          </p:nvSpPr>
          <p:spPr>
            <a:xfrm>
              <a:off x="159258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Unordered rank 2 / 3 / label"/>
            <p:cNvSpPr txBox="1"/>
            <p:nvPr/>
          </p:nvSpPr>
          <p:spPr>
            <a:xfrm>
              <a:off x="16383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76" name="Unordered rank 2 / 4 [editable group]"/>
          <p:cNvGrpSpPr/>
          <p:nvPr/>
        </p:nvGrpSpPr>
        <p:grpSpPr>
          <a:xfrm>
            <a:off x="1882139" y="1920240"/>
            <a:ext cx="259080" cy="213360"/>
            <a:chOff x="1882139" y="1920240"/>
            <a:chExt cx="259080" cy="213360"/>
          </a:xfrm>
        </p:grpSpPr>
        <p:sp>
          <p:nvSpPr>
            <p:cNvPr id="174" name="Unordered rank 2 / 4"/>
            <p:cNvSpPr/>
            <p:nvPr/>
          </p:nvSpPr>
          <p:spPr>
            <a:xfrm>
              <a:off x="1882139"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Unordered rank 2 / 4 / label"/>
            <p:cNvSpPr txBox="1"/>
            <p:nvPr/>
          </p:nvSpPr>
          <p:spPr>
            <a:xfrm>
              <a:off x="19278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79" name="Unordered rank 2 / 5 [editable group]"/>
          <p:cNvGrpSpPr/>
          <p:nvPr/>
        </p:nvGrpSpPr>
        <p:grpSpPr>
          <a:xfrm>
            <a:off x="2171700" y="1920240"/>
            <a:ext cx="259080" cy="213360"/>
            <a:chOff x="2171700" y="1920240"/>
            <a:chExt cx="259080" cy="213360"/>
          </a:xfrm>
        </p:grpSpPr>
        <p:sp>
          <p:nvSpPr>
            <p:cNvPr id="177" name="Unordered rank 2 / 5"/>
            <p:cNvSpPr/>
            <p:nvPr/>
          </p:nvSpPr>
          <p:spPr>
            <a:xfrm>
              <a:off x="217170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Unordered rank 2 / 5 / label"/>
            <p:cNvSpPr txBox="1"/>
            <p:nvPr/>
          </p:nvSpPr>
          <p:spPr>
            <a:xfrm>
              <a:off x="22174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cxnSp>
        <p:nvCxnSpPr>
          <p:cNvPr id="180" name="Local ordering rank 2 / segment 0"/>
          <p:cNvCxnSpPr/>
          <p:nvPr/>
        </p:nvCxnSpPr>
        <p:spPr>
          <a:xfrm>
            <a:off x="2476500" y="202692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3" name="Owner-ordered rank 2 / 0 [editable group]"/>
          <p:cNvGrpSpPr/>
          <p:nvPr/>
        </p:nvGrpSpPr>
        <p:grpSpPr>
          <a:xfrm>
            <a:off x="2895600" y="1920240"/>
            <a:ext cx="259080" cy="213360"/>
            <a:chOff x="2895600" y="1920240"/>
            <a:chExt cx="259080" cy="213360"/>
          </a:xfrm>
        </p:grpSpPr>
        <p:sp>
          <p:nvSpPr>
            <p:cNvPr id="181" name="Owner-ordered rank 2 / 0"/>
            <p:cNvSpPr/>
            <p:nvPr/>
          </p:nvSpPr>
          <p:spPr>
            <a:xfrm>
              <a:off x="289560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wner-ordered rank 2 / 0 / label"/>
            <p:cNvSpPr txBox="1"/>
            <p:nvPr/>
          </p:nvSpPr>
          <p:spPr>
            <a:xfrm>
              <a:off x="29413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86" name="Owner-ordered rank 2 / 1 [editable group]"/>
          <p:cNvGrpSpPr/>
          <p:nvPr/>
        </p:nvGrpSpPr>
        <p:grpSpPr>
          <a:xfrm>
            <a:off x="3185160" y="1920240"/>
            <a:ext cx="259080" cy="213360"/>
            <a:chOff x="3185160" y="1920240"/>
            <a:chExt cx="259080" cy="213360"/>
          </a:xfrm>
        </p:grpSpPr>
        <p:sp>
          <p:nvSpPr>
            <p:cNvPr id="184" name="Owner-ordered rank 2 / 1"/>
            <p:cNvSpPr/>
            <p:nvPr/>
          </p:nvSpPr>
          <p:spPr>
            <a:xfrm>
              <a:off x="318516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wner-ordered rank 2 / 1 / label"/>
            <p:cNvSpPr txBox="1"/>
            <p:nvPr/>
          </p:nvSpPr>
          <p:spPr>
            <a:xfrm>
              <a:off x="32308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89" name="Owner-ordered rank 2 / 2 [editable group]"/>
          <p:cNvGrpSpPr/>
          <p:nvPr/>
        </p:nvGrpSpPr>
        <p:grpSpPr>
          <a:xfrm>
            <a:off x="3474720" y="1920240"/>
            <a:ext cx="259080" cy="213360"/>
            <a:chOff x="3474720" y="1920240"/>
            <a:chExt cx="259080" cy="213360"/>
          </a:xfrm>
        </p:grpSpPr>
        <p:sp>
          <p:nvSpPr>
            <p:cNvPr id="187" name="Owner-ordered rank 2 / 2"/>
            <p:cNvSpPr/>
            <p:nvPr/>
          </p:nvSpPr>
          <p:spPr>
            <a:xfrm>
              <a:off x="347472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wner-ordered rank 2 / 2 / label"/>
            <p:cNvSpPr txBox="1"/>
            <p:nvPr/>
          </p:nvSpPr>
          <p:spPr>
            <a:xfrm>
              <a:off x="35204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92" name="Owner-ordered rank 2 / 3 [editable group]"/>
          <p:cNvGrpSpPr/>
          <p:nvPr/>
        </p:nvGrpSpPr>
        <p:grpSpPr>
          <a:xfrm>
            <a:off x="3764279" y="1920240"/>
            <a:ext cx="259080" cy="213360"/>
            <a:chOff x="3764279" y="1920240"/>
            <a:chExt cx="259080" cy="213360"/>
          </a:xfrm>
        </p:grpSpPr>
        <p:sp>
          <p:nvSpPr>
            <p:cNvPr id="190" name="Owner-ordered rank 2 / 3"/>
            <p:cNvSpPr/>
            <p:nvPr/>
          </p:nvSpPr>
          <p:spPr>
            <a:xfrm>
              <a:off x="3764279"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wner-ordered rank 2 / 3 / label"/>
            <p:cNvSpPr txBox="1"/>
            <p:nvPr/>
          </p:nvSpPr>
          <p:spPr>
            <a:xfrm>
              <a:off x="38100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95" name="Owner-ordered rank 2 / 4 [editable group]"/>
          <p:cNvGrpSpPr/>
          <p:nvPr/>
        </p:nvGrpSpPr>
        <p:grpSpPr>
          <a:xfrm>
            <a:off x="4053840" y="1920240"/>
            <a:ext cx="259080" cy="213360"/>
            <a:chOff x="4053840" y="1920240"/>
            <a:chExt cx="259080" cy="213360"/>
          </a:xfrm>
        </p:grpSpPr>
        <p:sp>
          <p:nvSpPr>
            <p:cNvPr id="193" name="Owner-ordered rank 2 / 4"/>
            <p:cNvSpPr/>
            <p:nvPr/>
          </p:nvSpPr>
          <p:spPr>
            <a:xfrm>
              <a:off x="405384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wner-ordered rank 2 / 4 / label"/>
            <p:cNvSpPr txBox="1"/>
            <p:nvPr/>
          </p:nvSpPr>
          <p:spPr>
            <a:xfrm>
              <a:off x="40995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98" name="Owner-ordered rank 2 / 5 [editable group]"/>
          <p:cNvGrpSpPr/>
          <p:nvPr/>
        </p:nvGrpSpPr>
        <p:grpSpPr>
          <a:xfrm>
            <a:off x="4343400" y="1920240"/>
            <a:ext cx="259080" cy="213360"/>
            <a:chOff x="4343400" y="1920240"/>
            <a:chExt cx="259080" cy="213360"/>
          </a:xfrm>
        </p:grpSpPr>
        <p:sp>
          <p:nvSpPr>
            <p:cNvPr id="196" name="Owner-ordered rank 2 / 5"/>
            <p:cNvSpPr/>
            <p:nvPr/>
          </p:nvSpPr>
          <p:spPr>
            <a:xfrm>
              <a:off x="4343400"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wner-ordered rank 2 / 5 / label"/>
            <p:cNvSpPr txBox="1"/>
            <p:nvPr/>
          </p:nvSpPr>
          <p:spPr>
            <a:xfrm>
              <a:off x="43891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99" name="Destination rank 2"/>
          <p:cNvSpPr txBox="1"/>
          <p:nvPr/>
        </p:nvSpPr>
        <p:spPr>
          <a:xfrm>
            <a:off x="643890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sp>
        <p:nvSpPr>
          <p:cNvPr id="200" name="Rank 2 segment from source 0"/>
          <p:cNvSpPr/>
          <p:nvPr/>
        </p:nvSpPr>
        <p:spPr>
          <a:xfrm>
            <a:off x="6789420" y="192024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Rank 2 segment from source 0 / records 0 / segment 0"/>
          <p:cNvCxnSpPr/>
          <p:nvPr/>
        </p:nvCxnSpPr>
        <p:spPr>
          <a:xfrm>
            <a:off x="68351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2" name="Rank 2 segment from source 0 / records 1 / segment 0"/>
          <p:cNvCxnSpPr/>
          <p:nvPr/>
        </p:nvCxnSpPr>
        <p:spPr>
          <a:xfrm>
            <a:off x="68351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3" name="Rank 2 segment from source 1"/>
          <p:cNvSpPr/>
          <p:nvPr/>
        </p:nvSpPr>
        <p:spPr>
          <a:xfrm>
            <a:off x="710946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Rank 2 segment from source 1 / records 0 / segment 0"/>
          <p:cNvCxnSpPr/>
          <p:nvPr/>
        </p:nvCxnSpPr>
        <p:spPr>
          <a:xfrm>
            <a:off x="715518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5" name="Rank 2 segment from source 1 / records 1 / segment 0"/>
          <p:cNvCxnSpPr/>
          <p:nvPr/>
        </p:nvCxnSpPr>
        <p:spPr>
          <a:xfrm>
            <a:off x="715518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6" name="Rank 2 segment from source 2"/>
          <p:cNvSpPr/>
          <p:nvPr/>
        </p:nvSpPr>
        <p:spPr>
          <a:xfrm>
            <a:off x="742950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Rank 2 segment from source 2 / records 0 / segment 0"/>
          <p:cNvCxnSpPr/>
          <p:nvPr/>
        </p:nvCxnSpPr>
        <p:spPr>
          <a:xfrm>
            <a:off x="7475220" y="1988819"/>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8" name="Rank 2 segment from source 2 / records 1 / segment 0"/>
          <p:cNvCxnSpPr/>
          <p:nvPr/>
        </p:nvCxnSpPr>
        <p:spPr>
          <a:xfrm>
            <a:off x="7475220" y="20574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9" name="Rank 2 segment from source 3"/>
          <p:cNvSpPr/>
          <p:nvPr/>
        </p:nvSpPr>
        <p:spPr>
          <a:xfrm>
            <a:off x="774954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Rank 2 segment from source 3 / records 0 / segment 0"/>
          <p:cNvCxnSpPr/>
          <p:nvPr/>
        </p:nvCxnSpPr>
        <p:spPr>
          <a:xfrm>
            <a:off x="779526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1" name="Rank 2 segment from source 3 / records 1 / segment 0"/>
          <p:cNvCxnSpPr/>
          <p:nvPr/>
        </p:nvCxnSpPr>
        <p:spPr>
          <a:xfrm>
            <a:off x="779526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2" name="Rank 2 segment from source 4"/>
          <p:cNvSpPr/>
          <p:nvPr/>
        </p:nvSpPr>
        <p:spPr>
          <a:xfrm>
            <a:off x="8069579"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3" name="Rank 2 segment from source 4 / records 0 / segment 0"/>
          <p:cNvCxnSpPr/>
          <p:nvPr/>
        </p:nvCxnSpPr>
        <p:spPr>
          <a:xfrm>
            <a:off x="811530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4" name="Rank 2 segment from source 4 / records 1 / segment 0"/>
          <p:cNvCxnSpPr/>
          <p:nvPr/>
        </p:nvCxnSpPr>
        <p:spPr>
          <a:xfrm>
            <a:off x="811530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5" name="Rank 2 segment from source 5"/>
          <p:cNvSpPr/>
          <p:nvPr/>
        </p:nvSpPr>
        <p:spPr>
          <a:xfrm>
            <a:off x="83896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6" name="Rank 2 segment from source 5 / records 0 / segment 0"/>
          <p:cNvCxnSpPr/>
          <p:nvPr/>
        </p:nvCxnSpPr>
        <p:spPr>
          <a:xfrm>
            <a:off x="84353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7" name="Rank 2 segment from source 5 / records 1 / segment 0"/>
          <p:cNvCxnSpPr/>
          <p:nvPr/>
        </p:nvCxnSpPr>
        <p:spPr>
          <a:xfrm>
            <a:off x="84353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8" name="Merge rank 2 / segment 0"/>
          <p:cNvCxnSpPr/>
          <p:nvPr/>
        </p:nvCxnSpPr>
        <p:spPr>
          <a:xfrm>
            <a:off x="8709660" y="202692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9" name="Rank 2 merged record group 0"/>
          <p:cNvSpPr/>
          <p:nvPr/>
        </p:nvSpPr>
        <p:spPr>
          <a:xfrm>
            <a:off x="93345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ank 2 merged record group 1"/>
          <p:cNvSpPr/>
          <p:nvPr/>
        </p:nvSpPr>
        <p:spPr>
          <a:xfrm>
            <a:off x="955548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ank 2 merged record group 2"/>
          <p:cNvSpPr/>
          <p:nvPr/>
        </p:nvSpPr>
        <p:spPr>
          <a:xfrm>
            <a:off x="977646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ank 2 merged record group 3"/>
          <p:cNvSpPr/>
          <p:nvPr/>
        </p:nvSpPr>
        <p:spPr>
          <a:xfrm>
            <a:off x="999744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ank 2 merged record group 4"/>
          <p:cNvSpPr/>
          <p:nvPr/>
        </p:nvSpPr>
        <p:spPr>
          <a:xfrm>
            <a:off x="1021842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ank 2 merged record group 5"/>
          <p:cNvSpPr/>
          <p:nvPr/>
        </p:nvSpPr>
        <p:spPr>
          <a:xfrm>
            <a:off x="104394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mpress rank 2 / segment 0"/>
          <p:cNvCxnSpPr/>
          <p:nvPr/>
        </p:nvCxnSpPr>
        <p:spPr>
          <a:xfrm>
            <a:off x="10721340" y="202692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8" name="Rank body 2 [editable group]"/>
          <p:cNvGrpSpPr/>
          <p:nvPr/>
        </p:nvGrpSpPr>
        <p:grpSpPr>
          <a:xfrm>
            <a:off x="11079480" y="1920240"/>
            <a:ext cx="647700" cy="213360"/>
            <a:chOff x="11079480" y="1920240"/>
            <a:chExt cx="647700" cy="213360"/>
          </a:xfrm>
        </p:grpSpPr>
        <p:sp>
          <p:nvSpPr>
            <p:cNvPr id="226" name="Rank body 2"/>
            <p:cNvSpPr/>
            <p:nvPr/>
          </p:nvSpPr>
          <p:spPr>
            <a:xfrm>
              <a:off x="11079480" y="192024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ank body 2 / label"/>
            <p:cNvSpPr txBox="1"/>
            <p:nvPr/>
          </p:nvSpPr>
          <p:spPr>
            <a:xfrm>
              <a:off x="11125200" y="194310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2</a:t>
              </a:r>
              <a:endParaRPr sz="1020" b="0" i="0">
                <a:solidFill>
                  <a:srgbClr val="172C36"/>
                </a:solidFill>
                <a:latin typeface="Arial" panose="020B0604020202020204"/>
              </a:endParaRPr>
            </a:p>
          </p:txBody>
        </p:sp>
      </p:grpSp>
      <p:sp>
        <p:nvSpPr>
          <p:cNvPr id="229" name="Source rank 3"/>
          <p:cNvSpPr txBox="1"/>
          <p:nvPr/>
        </p:nvSpPr>
        <p:spPr>
          <a:xfrm>
            <a:off x="35814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grpSp>
        <p:nvGrpSpPr>
          <p:cNvPr id="232" name="Unordered rank 3 / 0 [editable group]"/>
          <p:cNvGrpSpPr/>
          <p:nvPr/>
        </p:nvGrpSpPr>
        <p:grpSpPr>
          <a:xfrm>
            <a:off x="723900" y="2247900"/>
            <a:ext cx="259080" cy="213360"/>
            <a:chOff x="723900" y="2247900"/>
            <a:chExt cx="259080" cy="213360"/>
          </a:xfrm>
        </p:grpSpPr>
        <p:sp>
          <p:nvSpPr>
            <p:cNvPr id="230" name="Unordered rank 3 / 0"/>
            <p:cNvSpPr/>
            <p:nvPr/>
          </p:nvSpPr>
          <p:spPr>
            <a:xfrm>
              <a:off x="72390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Unordered rank 3 / 0 / label"/>
            <p:cNvSpPr txBox="1"/>
            <p:nvPr/>
          </p:nvSpPr>
          <p:spPr>
            <a:xfrm>
              <a:off x="7696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35" name="Unordered rank 3 / 1 [editable group]"/>
          <p:cNvGrpSpPr/>
          <p:nvPr/>
        </p:nvGrpSpPr>
        <p:grpSpPr>
          <a:xfrm>
            <a:off x="1013460" y="2247900"/>
            <a:ext cx="259080" cy="213360"/>
            <a:chOff x="1013460" y="2247900"/>
            <a:chExt cx="259080" cy="213360"/>
          </a:xfrm>
        </p:grpSpPr>
        <p:sp>
          <p:nvSpPr>
            <p:cNvPr id="233" name="Unordered rank 3 / 1"/>
            <p:cNvSpPr/>
            <p:nvPr/>
          </p:nvSpPr>
          <p:spPr>
            <a:xfrm>
              <a:off x="1013460"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Unordered rank 3 / 1 / label"/>
            <p:cNvSpPr txBox="1"/>
            <p:nvPr/>
          </p:nvSpPr>
          <p:spPr>
            <a:xfrm>
              <a:off x="10591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38" name="Unordered rank 3 / 2 [editable group]"/>
          <p:cNvGrpSpPr/>
          <p:nvPr/>
        </p:nvGrpSpPr>
        <p:grpSpPr>
          <a:xfrm>
            <a:off x="1303020" y="2247900"/>
            <a:ext cx="259080" cy="213360"/>
            <a:chOff x="1303020" y="2247900"/>
            <a:chExt cx="259080" cy="213360"/>
          </a:xfrm>
        </p:grpSpPr>
        <p:sp>
          <p:nvSpPr>
            <p:cNvPr id="236" name="Unordered rank 3 / 2"/>
            <p:cNvSpPr/>
            <p:nvPr/>
          </p:nvSpPr>
          <p:spPr>
            <a:xfrm>
              <a:off x="130302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Unordered rank 3 / 2 / label"/>
            <p:cNvSpPr txBox="1"/>
            <p:nvPr/>
          </p:nvSpPr>
          <p:spPr>
            <a:xfrm>
              <a:off x="13487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41" name="Unordered rank 3 / 3 [editable group]"/>
          <p:cNvGrpSpPr/>
          <p:nvPr/>
        </p:nvGrpSpPr>
        <p:grpSpPr>
          <a:xfrm>
            <a:off x="1592580" y="2247900"/>
            <a:ext cx="259080" cy="213360"/>
            <a:chOff x="1592580" y="2247900"/>
            <a:chExt cx="259080" cy="213360"/>
          </a:xfrm>
        </p:grpSpPr>
        <p:sp>
          <p:nvSpPr>
            <p:cNvPr id="239" name="Unordered rank 3 / 3"/>
            <p:cNvSpPr/>
            <p:nvPr/>
          </p:nvSpPr>
          <p:spPr>
            <a:xfrm>
              <a:off x="159258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Unordered rank 3 / 3 / label"/>
            <p:cNvSpPr txBox="1"/>
            <p:nvPr/>
          </p:nvSpPr>
          <p:spPr>
            <a:xfrm>
              <a:off x="16383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244" name="Unordered rank 3 / 4 [editable group]"/>
          <p:cNvGrpSpPr/>
          <p:nvPr/>
        </p:nvGrpSpPr>
        <p:grpSpPr>
          <a:xfrm>
            <a:off x="1882139" y="2247900"/>
            <a:ext cx="259080" cy="213360"/>
            <a:chOff x="1882139" y="2247900"/>
            <a:chExt cx="259080" cy="213360"/>
          </a:xfrm>
        </p:grpSpPr>
        <p:sp>
          <p:nvSpPr>
            <p:cNvPr id="242" name="Unordered rank 3 / 4"/>
            <p:cNvSpPr/>
            <p:nvPr/>
          </p:nvSpPr>
          <p:spPr>
            <a:xfrm>
              <a:off x="1882139"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Unordered rank 3 / 4 / label"/>
            <p:cNvSpPr txBox="1"/>
            <p:nvPr/>
          </p:nvSpPr>
          <p:spPr>
            <a:xfrm>
              <a:off x="19278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47" name="Unordered rank 3 / 5 [editable group]"/>
          <p:cNvGrpSpPr/>
          <p:nvPr/>
        </p:nvGrpSpPr>
        <p:grpSpPr>
          <a:xfrm>
            <a:off x="2171700" y="2247900"/>
            <a:ext cx="259080" cy="213360"/>
            <a:chOff x="2171700" y="2247900"/>
            <a:chExt cx="259080" cy="213360"/>
          </a:xfrm>
        </p:grpSpPr>
        <p:sp>
          <p:nvSpPr>
            <p:cNvPr id="245" name="Unordered rank 3 / 5"/>
            <p:cNvSpPr/>
            <p:nvPr/>
          </p:nvSpPr>
          <p:spPr>
            <a:xfrm>
              <a:off x="217170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Unordered rank 3 / 5 / label"/>
            <p:cNvSpPr txBox="1"/>
            <p:nvPr/>
          </p:nvSpPr>
          <p:spPr>
            <a:xfrm>
              <a:off x="22174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248" name="Local ordering rank 3 / segment 0"/>
          <p:cNvCxnSpPr/>
          <p:nvPr/>
        </p:nvCxnSpPr>
        <p:spPr>
          <a:xfrm>
            <a:off x="2476500" y="235458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1" name="Owner-ordered rank 3 / 0 [editable group]"/>
          <p:cNvGrpSpPr/>
          <p:nvPr/>
        </p:nvGrpSpPr>
        <p:grpSpPr>
          <a:xfrm>
            <a:off x="2895600" y="2247900"/>
            <a:ext cx="259080" cy="213360"/>
            <a:chOff x="2895600" y="2247900"/>
            <a:chExt cx="259080" cy="213360"/>
          </a:xfrm>
        </p:grpSpPr>
        <p:sp>
          <p:nvSpPr>
            <p:cNvPr id="249" name="Owner-ordered rank 3 / 0"/>
            <p:cNvSpPr/>
            <p:nvPr/>
          </p:nvSpPr>
          <p:spPr>
            <a:xfrm>
              <a:off x="289560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wner-ordered rank 3 / 0 / label"/>
            <p:cNvSpPr txBox="1"/>
            <p:nvPr/>
          </p:nvSpPr>
          <p:spPr>
            <a:xfrm>
              <a:off x="29413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54" name="Owner-ordered rank 3 / 1 [editable group]"/>
          <p:cNvGrpSpPr/>
          <p:nvPr/>
        </p:nvGrpSpPr>
        <p:grpSpPr>
          <a:xfrm>
            <a:off x="3185160" y="2247900"/>
            <a:ext cx="259080" cy="213360"/>
            <a:chOff x="3185160" y="2247900"/>
            <a:chExt cx="259080" cy="213360"/>
          </a:xfrm>
        </p:grpSpPr>
        <p:sp>
          <p:nvSpPr>
            <p:cNvPr id="252" name="Owner-ordered rank 3 / 1"/>
            <p:cNvSpPr/>
            <p:nvPr/>
          </p:nvSpPr>
          <p:spPr>
            <a:xfrm>
              <a:off x="318516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wner-ordered rank 3 / 1 / label"/>
            <p:cNvSpPr txBox="1"/>
            <p:nvPr/>
          </p:nvSpPr>
          <p:spPr>
            <a:xfrm>
              <a:off x="32308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57" name="Owner-ordered rank 3 / 2 [editable group]"/>
          <p:cNvGrpSpPr/>
          <p:nvPr/>
        </p:nvGrpSpPr>
        <p:grpSpPr>
          <a:xfrm>
            <a:off x="3474720" y="2247900"/>
            <a:ext cx="259080" cy="213360"/>
            <a:chOff x="3474720" y="2247900"/>
            <a:chExt cx="259080" cy="213360"/>
          </a:xfrm>
        </p:grpSpPr>
        <p:sp>
          <p:nvSpPr>
            <p:cNvPr id="255" name="Owner-ordered rank 3 / 2"/>
            <p:cNvSpPr/>
            <p:nvPr/>
          </p:nvSpPr>
          <p:spPr>
            <a:xfrm>
              <a:off x="3474720"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wner-ordered rank 3 / 2 / label"/>
            <p:cNvSpPr txBox="1"/>
            <p:nvPr/>
          </p:nvSpPr>
          <p:spPr>
            <a:xfrm>
              <a:off x="35204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60" name="Owner-ordered rank 3 / 3 [editable group]"/>
          <p:cNvGrpSpPr/>
          <p:nvPr/>
        </p:nvGrpSpPr>
        <p:grpSpPr>
          <a:xfrm>
            <a:off x="3764279" y="2247900"/>
            <a:ext cx="259080" cy="213360"/>
            <a:chOff x="3764279" y="2247900"/>
            <a:chExt cx="259080" cy="213360"/>
          </a:xfrm>
        </p:grpSpPr>
        <p:sp>
          <p:nvSpPr>
            <p:cNvPr id="258" name="Owner-ordered rank 3 / 3"/>
            <p:cNvSpPr/>
            <p:nvPr/>
          </p:nvSpPr>
          <p:spPr>
            <a:xfrm>
              <a:off x="3764279"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wner-ordered rank 3 / 3 / label"/>
            <p:cNvSpPr txBox="1"/>
            <p:nvPr/>
          </p:nvSpPr>
          <p:spPr>
            <a:xfrm>
              <a:off x="38100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63" name="Owner-ordered rank 3 / 4 [editable group]"/>
          <p:cNvGrpSpPr/>
          <p:nvPr/>
        </p:nvGrpSpPr>
        <p:grpSpPr>
          <a:xfrm>
            <a:off x="4053840" y="2247900"/>
            <a:ext cx="259080" cy="213360"/>
            <a:chOff x="4053840" y="2247900"/>
            <a:chExt cx="259080" cy="213360"/>
          </a:xfrm>
        </p:grpSpPr>
        <p:sp>
          <p:nvSpPr>
            <p:cNvPr id="261" name="Owner-ordered rank 3 / 4"/>
            <p:cNvSpPr/>
            <p:nvPr/>
          </p:nvSpPr>
          <p:spPr>
            <a:xfrm>
              <a:off x="405384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wner-ordered rank 3 / 4 / label"/>
            <p:cNvSpPr txBox="1"/>
            <p:nvPr/>
          </p:nvSpPr>
          <p:spPr>
            <a:xfrm>
              <a:off x="40995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266" name="Owner-ordered rank 3 / 5 [editable group]"/>
          <p:cNvGrpSpPr/>
          <p:nvPr/>
        </p:nvGrpSpPr>
        <p:grpSpPr>
          <a:xfrm>
            <a:off x="4343400" y="2247900"/>
            <a:ext cx="259080" cy="213360"/>
            <a:chOff x="4343400" y="2247900"/>
            <a:chExt cx="259080" cy="213360"/>
          </a:xfrm>
        </p:grpSpPr>
        <p:sp>
          <p:nvSpPr>
            <p:cNvPr id="264" name="Owner-ordered rank 3 / 5"/>
            <p:cNvSpPr/>
            <p:nvPr/>
          </p:nvSpPr>
          <p:spPr>
            <a:xfrm>
              <a:off x="434340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wner-ordered rank 3 / 5 / label"/>
            <p:cNvSpPr txBox="1"/>
            <p:nvPr/>
          </p:nvSpPr>
          <p:spPr>
            <a:xfrm>
              <a:off x="43891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267" name="Destination rank 3"/>
          <p:cNvSpPr txBox="1"/>
          <p:nvPr/>
        </p:nvSpPr>
        <p:spPr>
          <a:xfrm>
            <a:off x="643890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sp>
        <p:nvSpPr>
          <p:cNvPr id="268" name="Rank 3 segment from source 0"/>
          <p:cNvSpPr/>
          <p:nvPr/>
        </p:nvSpPr>
        <p:spPr>
          <a:xfrm>
            <a:off x="6789420" y="224790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 name="Rank 3 segment from source 0 / records 0 / segment 0"/>
          <p:cNvCxnSpPr/>
          <p:nvPr/>
        </p:nvCxnSpPr>
        <p:spPr>
          <a:xfrm>
            <a:off x="68351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0" name="Rank 3 segment from source 0 / records 1 / segment 0"/>
          <p:cNvCxnSpPr/>
          <p:nvPr/>
        </p:nvCxnSpPr>
        <p:spPr>
          <a:xfrm>
            <a:off x="68351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1" name="Rank 3 segment from source 1"/>
          <p:cNvSpPr/>
          <p:nvPr/>
        </p:nvSpPr>
        <p:spPr>
          <a:xfrm>
            <a:off x="710946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 name="Rank 3 segment from source 1 / records 0 / segment 0"/>
          <p:cNvCxnSpPr/>
          <p:nvPr/>
        </p:nvCxnSpPr>
        <p:spPr>
          <a:xfrm>
            <a:off x="715518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3" name="Rank 3 segment from source 1 / records 1 / segment 0"/>
          <p:cNvCxnSpPr/>
          <p:nvPr/>
        </p:nvCxnSpPr>
        <p:spPr>
          <a:xfrm>
            <a:off x="715518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4" name="Rank 3 segment from source 2"/>
          <p:cNvSpPr/>
          <p:nvPr/>
        </p:nvSpPr>
        <p:spPr>
          <a:xfrm>
            <a:off x="742950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Rank 3 segment from source 2 / records 0 / segment 0"/>
          <p:cNvCxnSpPr/>
          <p:nvPr/>
        </p:nvCxnSpPr>
        <p:spPr>
          <a:xfrm>
            <a:off x="7475220" y="23164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6" name="Rank 3 segment from source 2 / records 1 / segment 0"/>
          <p:cNvCxnSpPr/>
          <p:nvPr/>
        </p:nvCxnSpPr>
        <p:spPr>
          <a:xfrm>
            <a:off x="7475220" y="23850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7" name="Rank 3 segment from source 3"/>
          <p:cNvSpPr/>
          <p:nvPr/>
        </p:nvSpPr>
        <p:spPr>
          <a:xfrm>
            <a:off x="774954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 name="Rank 3 segment from source 3 / records 0 / segment 0"/>
          <p:cNvCxnSpPr/>
          <p:nvPr/>
        </p:nvCxnSpPr>
        <p:spPr>
          <a:xfrm>
            <a:off x="779526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9" name="Rank 3 segment from source 3 / records 1 / segment 0"/>
          <p:cNvCxnSpPr/>
          <p:nvPr/>
        </p:nvCxnSpPr>
        <p:spPr>
          <a:xfrm>
            <a:off x="779526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0" name="Rank 3 segment from source 4"/>
          <p:cNvSpPr/>
          <p:nvPr/>
        </p:nvSpPr>
        <p:spPr>
          <a:xfrm>
            <a:off x="8069579"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1" name="Rank 3 segment from source 4 / records 0 / segment 0"/>
          <p:cNvCxnSpPr/>
          <p:nvPr/>
        </p:nvCxnSpPr>
        <p:spPr>
          <a:xfrm>
            <a:off x="811530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2" name="Rank 3 segment from source 4 / records 1 / segment 0"/>
          <p:cNvCxnSpPr/>
          <p:nvPr/>
        </p:nvCxnSpPr>
        <p:spPr>
          <a:xfrm>
            <a:off x="811530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3" name="Rank 3 segment from source 5"/>
          <p:cNvSpPr/>
          <p:nvPr/>
        </p:nvSpPr>
        <p:spPr>
          <a:xfrm>
            <a:off x="83896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Rank 3 segment from source 5 / records 0 / segment 0"/>
          <p:cNvCxnSpPr/>
          <p:nvPr/>
        </p:nvCxnSpPr>
        <p:spPr>
          <a:xfrm>
            <a:off x="84353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5" name="Rank 3 segment from source 5 / records 1 / segment 0"/>
          <p:cNvCxnSpPr/>
          <p:nvPr/>
        </p:nvCxnSpPr>
        <p:spPr>
          <a:xfrm>
            <a:off x="84353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6" name="Merge rank 3 / segment 0"/>
          <p:cNvCxnSpPr/>
          <p:nvPr/>
        </p:nvCxnSpPr>
        <p:spPr>
          <a:xfrm>
            <a:off x="8709660" y="235458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7" name="Rank 3 merged record group 0"/>
          <p:cNvSpPr/>
          <p:nvPr/>
        </p:nvSpPr>
        <p:spPr>
          <a:xfrm>
            <a:off x="93345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ank 3 merged record group 1"/>
          <p:cNvSpPr/>
          <p:nvPr/>
        </p:nvSpPr>
        <p:spPr>
          <a:xfrm>
            <a:off x="955548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ank 3 merged record group 2"/>
          <p:cNvSpPr/>
          <p:nvPr/>
        </p:nvSpPr>
        <p:spPr>
          <a:xfrm>
            <a:off x="977646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ank 3 merged record group 3"/>
          <p:cNvSpPr/>
          <p:nvPr/>
        </p:nvSpPr>
        <p:spPr>
          <a:xfrm>
            <a:off x="999744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ank 3 merged record group 4"/>
          <p:cNvSpPr/>
          <p:nvPr/>
        </p:nvSpPr>
        <p:spPr>
          <a:xfrm>
            <a:off x="1021842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 name="Rank 3 merged record group 5"/>
          <p:cNvSpPr/>
          <p:nvPr/>
        </p:nvSpPr>
        <p:spPr>
          <a:xfrm>
            <a:off x="104394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mpress rank 3 / segment 0"/>
          <p:cNvCxnSpPr/>
          <p:nvPr/>
        </p:nvCxnSpPr>
        <p:spPr>
          <a:xfrm>
            <a:off x="10721340" y="235458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96" name="Rank body 3 [editable group]"/>
          <p:cNvGrpSpPr/>
          <p:nvPr/>
        </p:nvGrpSpPr>
        <p:grpSpPr>
          <a:xfrm>
            <a:off x="11079480" y="2247900"/>
            <a:ext cx="647700" cy="213360"/>
            <a:chOff x="11079480" y="2247900"/>
            <a:chExt cx="647700" cy="213360"/>
          </a:xfrm>
        </p:grpSpPr>
        <p:sp>
          <p:nvSpPr>
            <p:cNvPr id="294" name="Rank body 3"/>
            <p:cNvSpPr/>
            <p:nvPr/>
          </p:nvSpPr>
          <p:spPr>
            <a:xfrm>
              <a:off x="11079480" y="224790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ank body 3 / label"/>
            <p:cNvSpPr txBox="1"/>
            <p:nvPr/>
          </p:nvSpPr>
          <p:spPr>
            <a:xfrm>
              <a:off x="11125200" y="227076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3</a:t>
              </a:r>
              <a:endParaRPr sz="1020" b="0" i="0">
                <a:solidFill>
                  <a:srgbClr val="172C36"/>
                </a:solidFill>
                <a:latin typeface="Arial" panose="020B0604020202020204"/>
              </a:endParaRPr>
            </a:p>
          </p:txBody>
        </p:sp>
      </p:grpSp>
      <p:sp>
        <p:nvSpPr>
          <p:cNvPr id="297" name="Source rank 4"/>
          <p:cNvSpPr txBox="1"/>
          <p:nvPr/>
        </p:nvSpPr>
        <p:spPr>
          <a:xfrm>
            <a:off x="35814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grpSp>
        <p:nvGrpSpPr>
          <p:cNvPr id="300" name="Unordered rank 4 / 0 [editable group]"/>
          <p:cNvGrpSpPr/>
          <p:nvPr/>
        </p:nvGrpSpPr>
        <p:grpSpPr>
          <a:xfrm>
            <a:off x="723900" y="2575560"/>
            <a:ext cx="259080" cy="213360"/>
            <a:chOff x="723900" y="2575560"/>
            <a:chExt cx="259080" cy="213360"/>
          </a:xfrm>
        </p:grpSpPr>
        <p:sp>
          <p:nvSpPr>
            <p:cNvPr id="298" name="Unordered rank 4 / 0"/>
            <p:cNvSpPr/>
            <p:nvPr/>
          </p:nvSpPr>
          <p:spPr>
            <a:xfrm>
              <a:off x="7239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Unordered rank 4 / 0 / label"/>
            <p:cNvSpPr txBox="1"/>
            <p:nvPr/>
          </p:nvSpPr>
          <p:spPr>
            <a:xfrm>
              <a:off x="7696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03" name="Unordered rank 4 / 1 [editable group]"/>
          <p:cNvGrpSpPr/>
          <p:nvPr/>
        </p:nvGrpSpPr>
        <p:grpSpPr>
          <a:xfrm>
            <a:off x="1013460" y="2575560"/>
            <a:ext cx="259080" cy="213360"/>
            <a:chOff x="1013460" y="2575560"/>
            <a:chExt cx="259080" cy="213360"/>
          </a:xfrm>
        </p:grpSpPr>
        <p:sp>
          <p:nvSpPr>
            <p:cNvPr id="301" name="Unordered rank 4 / 1"/>
            <p:cNvSpPr/>
            <p:nvPr/>
          </p:nvSpPr>
          <p:spPr>
            <a:xfrm>
              <a:off x="101346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Unordered rank 4 / 1 / label"/>
            <p:cNvSpPr txBox="1"/>
            <p:nvPr/>
          </p:nvSpPr>
          <p:spPr>
            <a:xfrm>
              <a:off x="10591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06" name="Unordered rank 4 / 2 [editable group]"/>
          <p:cNvGrpSpPr/>
          <p:nvPr/>
        </p:nvGrpSpPr>
        <p:grpSpPr>
          <a:xfrm>
            <a:off x="1303020" y="2575560"/>
            <a:ext cx="259080" cy="213360"/>
            <a:chOff x="1303020" y="2575560"/>
            <a:chExt cx="259080" cy="213360"/>
          </a:xfrm>
        </p:grpSpPr>
        <p:sp>
          <p:nvSpPr>
            <p:cNvPr id="304" name="Unordered rank 4 / 2"/>
            <p:cNvSpPr/>
            <p:nvPr/>
          </p:nvSpPr>
          <p:spPr>
            <a:xfrm>
              <a:off x="130302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Unordered rank 4 / 2 / label"/>
            <p:cNvSpPr txBox="1"/>
            <p:nvPr/>
          </p:nvSpPr>
          <p:spPr>
            <a:xfrm>
              <a:off x="13487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09" name="Unordered rank 4 / 3 [editable group]"/>
          <p:cNvGrpSpPr/>
          <p:nvPr/>
        </p:nvGrpSpPr>
        <p:grpSpPr>
          <a:xfrm>
            <a:off x="1592580" y="2575560"/>
            <a:ext cx="259080" cy="213360"/>
            <a:chOff x="1592580" y="2575560"/>
            <a:chExt cx="259080" cy="213360"/>
          </a:xfrm>
        </p:grpSpPr>
        <p:sp>
          <p:nvSpPr>
            <p:cNvPr id="307" name="Unordered rank 4 / 3"/>
            <p:cNvSpPr/>
            <p:nvPr/>
          </p:nvSpPr>
          <p:spPr>
            <a:xfrm>
              <a:off x="159258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Unordered rank 4 / 3 / label"/>
            <p:cNvSpPr txBox="1"/>
            <p:nvPr/>
          </p:nvSpPr>
          <p:spPr>
            <a:xfrm>
              <a:off x="16383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2" name="Unordered rank 4 / 4 [editable group]"/>
          <p:cNvGrpSpPr/>
          <p:nvPr/>
        </p:nvGrpSpPr>
        <p:grpSpPr>
          <a:xfrm>
            <a:off x="1882139" y="2575560"/>
            <a:ext cx="259080" cy="213360"/>
            <a:chOff x="1882139" y="2575560"/>
            <a:chExt cx="259080" cy="213360"/>
          </a:xfrm>
        </p:grpSpPr>
        <p:sp>
          <p:nvSpPr>
            <p:cNvPr id="310" name="Unordered rank 4 / 4"/>
            <p:cNvSpPr/>
            <p:nvPr/>
          </p:nvSpPr>
          <p:spPr>
            <a:xfrm>
              <a:off x="1882139"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Unordered rank 4 / 4 / label"/>
            <p:cNvSpPr txBox="1"/>
            <p:nvPr/>
          </p:nvSpPr>
          <p:spPr>
            <a:xfrm>
              <a:off x="19278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15" name="Unordered rank 4 / 5 [editable group]"/>
          <p:cNvGrpSpPr/>
          <p:nvPr/>
        </p:nvGrpSpPr>
        <p:grpSpPr>
          <a:xfrm>
            <a:off x="2171700" y="2575560"/>
            <a:ext cx="259080" cy="213360"/>
            <a:chOff x="2171700" y="2575560"/>
            <a:chExt cx="259080" cy="213360"/>
          </a:xfrm>
        </p:grpSpPr>
        <p:sp>
          <p:nvSpPr>
            <p:cNvPr id="313" name="Unordered rank 4 / 5"/>
            <p:cNvSpPr/>
            <p:nvPr/>
          </p:nvSpPr>
          <p:spPr>
            <a:xfrm>
              <a:off x="2171700"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Unordered rank 4 / 5 / label"/>
            <p:cNvSpPr txBox="1"/>
            <p:nvPr/>
          </p:nvSpPr>
          <p:spPr>
            <a:xfrm>
              <a:off x="22174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cxnSp>
        <p:nvCxnSpPr>
          <p:cNvPr id="316" name="Local ordering rank 4 / segment 0"/>
          <p:cNvCxnSpPr/>
          <p:nvPr/>
        </p:nvCxnSpPr>
        <p:spPr>
          <a:xfrm>
            <a:off x="2476500" y="268224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19" name="Owner-ordered rank 4 / 0 [editable group]"/>
          <p:cNvGrpSpPr/>
          <p:nvPr/>
        </p:nvGrpSpPr>
        <p:grpSpPr>
          <a:xfrm>
            <a:off x="2895600" y="2575560"/>
            <a:ext cx="259080" cy="213360"/>
            <a:chOff x="2895600" y="2575560"/>
            <a:chExt cx="259080" cy="213360"/>
          </a:xfrm>
        </p:grpSpPr>
        <p:sp>
          <p:nvSpPr>
            <p:cNvPr id="317" name="Owner-ordered rank 4 / 0"/>
            <p:cNvSpPr/>
            <p:nvPr/>
          </p:nvSpPr>
          <p:spPr>
            <a:xfrm>
              <a:off x="2895600"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wner-ordered rank 4 / 0 / label"/>
            <p:cNvSpPr txBox="1"/>
            <p:nvPr/>
          </p:nvSpPr>
          <p:spPr>
            <a:xfrm>
              <a:off x="29413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22" name="Owner-ordered rank 4 / 1 [editable group]"/>
          <p:cNvGrpSpPr/>
          <p:nvPr/>
        </p:nvGrpSpPr>
        <p:grpSpPr>
          <a:xfrm>
            <a:off x="3185160" y="2575560"/>
            <a:ext cx="259080" cy="213360"/>
            <a:chOff x="3185160" y="2575560"/>
            <a:chExt cx="259080" cy="213360"/>
          </a:xfrm>
        </p:grpSpPr>
        <p:sp>
          <p:nvSpPr>
            <p:cNvPr id="320" name="Owner-ordered rank 4 / 1"/>
            <p:cNvSpPr/>
            <p:nvPr/>
          </p:nvSpPr>
          <p:spPr>
            <a:xfrm>
              <a:off x="318516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wner-ordered rank 4 / 1 / label"/>
            <p:cNvSpPr txBox="1"/>
            <p:nvPr/>
          </p:nvSpPr>
          <p:spPr>
            <a:xfrm>
              <a:off x="32308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25" name="Owner-ordered rank 4 / 2 [editable group]"/>
          <p:cNvGrpSpPr/>
          <p:nvPr/>
        </p:nvGrpSpPr>
        <p:grpSpPr>
          <a:xfrm>
            <a:off x="3474720" y="2575560"/>
            <a:ext cx="259080" cy="213360"/>
            <a:chOff x="3474720" y="2575560"/>
            <a:chExt cx="259080" cy="213360"/>
          </a:xfrm>
        </p:grpSpPr>
        <p:sp>
          <p:nvSpPr>
            <p:cNvPr id="323" name="Owner-ordered rank 4 / 2"/>
            <p:cNvSpPr/>
            <p:nvPr/>
          </p:nvSpPr>
          <p:spPr>
            <a:xfrm>
              <a:off x="347472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wner-ordered rank 4 / 2 / label"/>
            <p:cNvSpPr txBox="1"/>
            <p:nvPr/>
          </p:nvSpPr>
          <p:spPr>
            <a:xfrm>
              <a:off x="35204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28" name="Owner-ordered rank 4 / 3 [editable group]"/>
          <p:cNvGrpSpPr/>
          <p:nvPr/>
        </p:nvGrpSpPr>
        <p:grpSpPr>
          <a:xfrm>
            <a:off x="3764279" y="2575560"/>
            <a:ext cx="259080" cy="213360"/>
            <a:chOff x="3764279" y="2575560"/>
            <a:chExt cx="259080" cy="213360"/>
          </a:xfrm>
        </p:grpSpPr>
        <p:sp>
          <p:nvSpPr>
            <p:cNvPr id="326" name="Owner-ordered rank 4 / 3"/>
            <p:cNvSpPr/>
            <p:nvPr/>
          </p:nvSpPr>
          <p:spPr>
            <a:xfrm>
              <a:off x="3764279"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wner-ordered rank 4 / 3 / label"/>
            <p:cNvSpPr txBox="1"/>
            <p:nvPr/>
          </p:nvSpPr>
          <p:spPr>
            <a:xfrm>
              <a:off x="38100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31" name="Owner-ordered rank 4 / 4 [editable group]"/>
          <p:cNvGrpSpPr/>
          <p:nvPr/>
        </p:nvGrpSpPr>
        <p:grpSpPr>
          <a:xfrm>
            <a:off x="4053840" y="2575560"/>
            <a:ext cx="259080" cy="213360"/>
            <a:chOff x="4053840" y="2575560"/>
            <a:chExt cx="259080" cy="213360"/>
          </a:xfrm>
        </p:grpSpPr>
        <p:sp>
          <p:nvSpPr>
            <p:cNvPr id="329" name="Owner-ordered rank 4 / 4"/>
            <p:cNvSpPr/>
            <p:nvPr/>
          </p:nvSpPr>
          <p:spPr>
            <a:xfrm>
              <a:off x="405384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wner-ordered rank 4 / 4 / label"/>
            <p:cNvSpPr txBox="1"/>
            <p:nvPr/>
          </p:nvSpPr>
          <p:spPr>
            <a:xfrm>
              <a:off x="40995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34" name="Owner-ordered rank 4 / 5 [editable group]"/>
          <p:cNvGrpSpPr/>
          <p:nvPr/>
        </p:nvGrpSpPr>
        <p:grpSpPr>
          <a:xfrm>
            <a:off x="4343400" y="2575560"/>
            <a:ext cx="259080" cy="213360"/>
            <a:chOff x="4343400" y="2575560"/>
            <a:chExt cx="259080" cy="213360"/>
          </a:xfrm>
        </p:grpSpPr>
        <p:sp>
          <p:nvSpPr>
            <p:cNvPr id="332" name="Owner-ordered rank 4 / 5"/>
            <p:cNvSpPr/>
            <p:nvPr/>
          </p:nvSpPr>
          <p:spPr>
            <a:xfrm>
              <a:off x="43434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wner-ordered rank 4 / 5 / label"/>
            <p:cNvSpPr txBox="1"/>
            <p:nvPr/>
          </p:nvSpPr>
          <p:spPr>
            <a:xfrm>
              <a:off x="43891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335" name="Destination rank 4"/>
          <p:cNvSpPr txBox="1"/>
          <p:nvPr/>
        </p:nvSpPr>
        <p:spPr>
          <a:xfrm>
            <a:off x="643890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sp>
        <p:nvSpPr>
          <p:cNvPr id="336" name="Rank 4 segment from source 0"/>
          <p:cNvSpPr/>
          <p:nvPr/>
        </p:nvSpPr>
        <p:spPr>
          <a:xfrm>
            <a:off x="6789420" y="257556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7" name="Rank 4 segment from source 0 / records 0 / segment 0"/>
          <p:cNvCxnSpPr/>
          <p:nvPr/>
        </p:nvCxnSpPr>
        <p:spPr>
          <a:xfrm>
            <a:off x="68351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38" name="Rank 4 segment from source 0 / records 1 / segment 0"/>
          <p:cNvCxnSpPr/>
          <p:nvPr/>
        </p:nvCxnSpPr>
        <p:spPr>
          <a:xfrm>
            <a:off x="68351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39" name="Rank 4 segment from source 1"/>
          <p:cNvSpPr/>
          <p:nvPr/>
        </p:nvSpPr>
        <p:spPr>
          <a:xfrm>
            <a:off x="710946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0" name="Rank 4 segment from source 1 / records 0 / segment 0"/>
          <p:cNvCxnSpPr/>
          <p:nvPr/>
        </p:nvCxnSpPr>
        <p:spPr>
          <a:xfrm>
            <a:off x="715518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1" name="Rank 4 segment from source 1 / records 1 / segment 0"/>
          <p:cNvCxnSpPr/>
          <p:nvPr/>
        </p:nvCxnSpPr>
        <p:spPr>
          <a:xfrm>
            <a:off x="715518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2" name="Rank 4 segment from source 2"/>
          <p:cNvSpPr/>
          <p:nvPr/>
        </p:nvSpPr>
        <p:spPr>
          <a:xfrm>
            <a:off x="742950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Rank 4 segment from source 2 / records 0 / segment 0"/>
          <p:cNvCxnSpPr/>
          <p:nvPr/>
        </p:nvCxnSpPr>
        <p:spPr>
          <a:xfrm>
            <a:off x="7475220" y="26441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4" name="Rank 4 segment from source 2 / records 1 / segment 0"/>
          <p:cNvCxnSpPr/>
          <p:nvPr/>
        </p:nvCxnSpPr>
        <p:spPr>
          <a:xfrm>
            <a:off x="7475220" y="271272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5" name="Rank 4 segment from source 3"/>
          <p:cNvSpPr/>
          <p:nvPr/>
        </p:nvSpPr>
        <p:spPr>
          <a:xfrm>
            <a:off x="774954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6" name="Rank 4 segment from source 3 / records 0 / segment 0"/>
          <p:cNvCxnSpPr/>
          <p:nvPr/>
        </p:nvCxnSpPr>
        <p:spPr>
          <a:xfrm>
            <a:off x="779526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7" name="Rank 4 segment from source 3 / records 1 / segment 0"/>
          <p:cNvCxnSpPr/>
          <p:nvPr/>
        </p:nvCxnSpPr>
        <p:spPr>
          <a:xfrm>
            <a:off x="779526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8" name="Rank 4 segment from source 4"/>
          <p:cNvSpPr/>
          <p:nvPr/>
        </p:nvSpPr>
        <p:spPr>
          <a:xfrm>
            <a:off x="8069579"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9" name="Rank 4 segment from source 4 / records 0 / segment 0"/>
          <p:cNvCxnSpPr/>
          <p:nvPr/>
        </p:nvCxnSpPr>
        <p:spPr>
          <a:xfrm>
            <a:off x="811530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0" name="Rank 4 segment from source 4 / records 1 / segment 0"/>
          <p:cNvCxnSpPr/>
          <p:nvPr/>
        </p:nvCxnSpPr>
        <p:spPr>
          <a:xfrm>
            <a:off x="811530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51" name="Rank 4 segment from source 5"/>
          <p:cNvSpPr/>
          <p:nvPr/>
        </p:nvSpPr>
        <p:spPr>
          <a:xfrm>
            <a:off x="83896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2" name="Rank 4 segment from source 5 / records 0 / segment 0"/>
          <p:cNvCxnSpPr/>
          <p:nvPr/>
        </p:nvCxnSpPr>
        <p:spPr>
          <a:xfrm>
            <a:off x="84353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3" name="Rank 4 segment from source 5 / records 1 / segment 0"/>
          <p:cNvCxnSpPr/>
          <p:nvPr/>
        </p:nvCxnSpPr>
        <p:spPr>
          <a:xfrm>
            <a:off x="84353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4" name="Merge rank 4 / segment 0"/>
          <p:cNvCxnSpPr/>
          <p:nvPr/>
        </p:nvCxnSpPr>
        <p:spPr>
          <a:xfrm>
            <a:off x="8709660" y="268224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5" name="Rank 4 merged record group 0"/>
          <p:cNvSpPr/>
          <p:nvPr/>
        </p:nvSpPr>
        <p:spPr>
          <a:xfrm>
            <a:off x="93345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ank 4 merged record group 1"/>
          <p:cNvSpPr/>
          <p:nvPr/>
        </p:nvSpPr>
        <p:spPr>
          <a:xfrm>
            <a:off x="955548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ank 4 merged record group 2"/>
          <p:cNvSpPr/>
          <p:nvPr/>
        </p:nvSpPr>
        <p:spPr>
          <a:xfrm>
            <a:off x="977646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ank 4 merged record group 3"/>
          <p:cNvSpPr/>
          <p:nvPr/>
        </p:nvSpPr>
        <p:spPr>
          <a:xfrm>
            <a:off x="999744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ank 4 merged record group 4"/>
          <p:cNvSpPr/>
          <p:nvPr/>
        </p:nvSpPr>
        <p:spPr>
          <a:xfrm>
            <a:off x="1021842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ank 4 merged record group 5"/>
          <p:cNvSpPr/>
          <p:nvPr/>
        </p:nvSpPr>
        <p:spPr>
          <a:xfrm>
            <a:off x="104394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1" name="Compress rank 4 / segment 0"/>
          <p:cNvCxnSpPr/>
          <p:nvPr/>
        </p:nvCxnSpPr>
        <p:spPr>
          <a:xfrm>
            <a:off x="10721340" y="268224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64" name="Rank body 4 [editable group]"/>
          <p:cNvGrpSpPr/>
          <p:nvPr/>
        </p:nvGrpSpPr>
        <p:grpSpPr>
          <a:xfrm>
            <a:off x="11079480" y="2575560"/>
            <a:ext cx="647700" cy="213360"/>
            <a:chOff x="11079480" y="2575560"/>
            <a:chExt cx="647700" cy="213360"/>
          </a:xfrm>
        </p:grpSpPr>
        <p:sp>
          <p:nvSpPr>
            <p:cNvPr id="362" name="Rank body 4"/>
            <p:cNvSpPr/>
            <p:nvPr/>
          </p:nvSpPr>
          <p:spPr>
            <a:xfrm>
              <a:off x="11079480" y="257556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ank body 4 / label"/>
            <p:cNvSpPr txBox="1"/>
            <p:nvPr/>
          </p:nvSpPr>
          <p:spPr>
            <a:xfrm>
              <a:off x="11125200" y="259842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4</a:t>
              </a:r>
              <a:endParaRPr sz="1020" b="0" i="0">
                <a:solidFill>
                  <a:srgbClr val="172C36"/>
                </a:solidFill>
                <a:latin typeface="Arial" panose="020B0604020202020204"/>
              </a:endParaRPr>
            </a:p>
          </p:txBody>
        </p:sp>
      </p:grpSp>
      <p:sp>
        <p:nvSpPr>
          <p:cNvPr id="365" name="Source rank 5"/>
          <p:cNvSpPr txBox="1"/>
          <p:nvPr/>
        </p:nvSpPr>
        <p:spPr>
          <a:xfrm>
            <a:off x="35814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grpSp>
        <p:nvGrpSpPr>
          <p:cNvPr id="368" name="Unordered rank 5 / 0 [editable group]"/>
          <p:cNvGrpSpPr/>
          <p:nvPr/>
        </p:nvGrpSpPr>
        <p:grpSpPr>
          <a:xfrm>
            <a:off x="723900" y="2903220"/>
            <a:ext cx="259080" cy="213360"/>
            <a:chOff x="723900" y="2903220"/>
            <a:chExt cx="259080" cy="213360"/>
          </a:xfrm>
        </p:grpSpPr>
        <p:sp>
          <p:nvSpPr>
            <p:cNvPr id="366" name="Unordered rank 5 / 0"/>
            <p:cNvSpPr/>
            <p:nvPr/>
          </p:nvSpPr>
          <p:spPr>
            <a:xfrm>
              <a:off x="7239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Unordered rank 5 / 0 / label"/>
            <p:cNvSpPr txBox="1"/>
            <p:nvPr/>
          </p:nvSpPr>
          <p:spPr>
            <a:xfrm>
              <a:off x="7696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71" name="Unordered rank 5 / 1 [editable group]"/>
          <p:cNvGrpSpPr/>
          <p:nvPr/>
        </p:nvGrpSpPr>
        <p:grpSpPr>
          <a:xfrm>
            <a:off x="1013460" y="2903220"/>
            <a:ext cx="259080" cy="213360"/>
            <a:chOff x="1013460" y="2903220"/>
            <a:chExt cx="259080" cy="213360"/>
          </a:xfrm>
        </p:grpSpPr>
        <p:sp>
          <p:nvSpPr>
            <p:cNvPr id="369" name="Unordered rank 5 / 1"/>
            <p:cNvSpPr/>
            <p:nvPr/>
          </p:nvSpPr>
          <p:spPr>
            <a:xfrm>
              <a:off x="101346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Unordered rank 5 / 1 / label"/>
            <p:cNvSpPr txBox="1"/>
            <p:nvPr/>
          </p:nvSpPr>
          <p:spPr>
            <a:xfrm>
              <a:off x="10591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74" name="Unordered rank 5 / 2 [editable group]"/>
          <p:cNvGrpSpPr/>
          <p:nvPr/>
        </p:nvGrpSpPr>
        <p:grpSpPr>
          <a:xfrm>
            <a:off x="1303020" y="2903220"/>
            <a:ext cx="259080" cy="213360"/>
            <a:chOff x="1303020" y="2903220"/>
            <a:chExt cx="259080" cy="213360"/>
          </a:xfrm>
        </p:grpSpPr>
        <p:sp>
          <p:nvSpPr>
            <p:cNvPr id="372" name="Unordered rank 5 / 2"/>
            <p:cNvSpPr/>
            <p:nvPr/>
          </p:nvSpPr>
          <p:spPr>
            <a:xfrm>
              <a:off x="13030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Unordered rank 5 / 2 / label"/>
            <p:cNvSpPr txBox="1"/>
            <p:nvPr/>
          </p:nvSpPr>
          <p:spPr>
            <a:xfrm>
              <a:off x="13487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77" name="Unordered rank 5 / 3 [editable group]"/>
          <p:cNvGrpSpPr/>
          <p:nvPr/>
        </p:nvGrpSpPr>
        <p:grpSpPr>
          <a:xfrm>
            <a:off x="1592580" y="2903220"/>
            <a:ext cx="259080" cy="213360"/>
            <a:chOff x="1592580" y="2903220"/>
            <a:chExt cx="259080" cy="213360"/>
          </a:xfrm>
        </p:grpSpPr>
        <p:sp>
          <p:nvSpPr>
            <p:cNvPr id="375" name="Unordered rank 5 / 3"/>
            <p:cNvSpPr/>
            <p:nvPr/>
          </p:nvSpPr>
          <p:spPr>
            <a:xfrm>
              <a:off x="1592580"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Unordered rank 5 / 3 / label"/>
            <p:cNvSpPr txBox="1"/>
            <p:nvPr/>
          </p:nvSpPr>
          <p:spPr>
            <a:xfrm>
              <a:off x="16383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80" name="Unordered rank 5 / 4 [editable group]"/>
          <p:cNvGrpSpPr/>
          <p:nvPr/>
        </p:nvGrpSpPr>
        <p:grpSpPr>
          <a:xfrm>
            <a:off x="1882139" y="2903220"/>
            <a:ext cx="259080" cy="213360"/>
            <a:chOff x="1882139" y="2903220"/>
            <a:chExt cx="259080" cy="213360"/>
          </a:xfrm>
        </p:grpSpPr>
        <p:sp>
          <p:nvSpPr>
            <p:cNvPr id="378" name="Unordered rank 5 / 4"/>
            <p:cNvSpPr/>
            <p:nvPr/>
          </p:nvSpPr>
          <p:spPr>
            <a:xfrm>
              <a:off x="1882139"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Unordered rank 5 / 4 / label"/>
            <p:cNvSpPr txBox="1"/>
            <p:nvPr/>
          </p:nvSpPr>
          <p:spPr>
            <a:xfrm>
              <a:off x="19278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83" name="Unordered rank 5 / 5 [editable group]"/>
          <p:cNvGrpSpPr/>
          <p:nvPr/>
        </p:nvGrpSpPr>
        <p:grpSpPr>
          <a:xfrm>
            <a:off x="2171700" y="2903220"/>
            <a:ext cx="259080" cy="213360"/>
            <a:chOff x="2171700" y="2903220"/>
            <a:chExt cx="259080" cy="213360"/>
          </a:xfrm>
        </p:grpSpPr>
        <p:sp>
          <p:nvSpPr>
            <p:cNvPr id="381" name="Unordered rank 5 / 5"/>
            <p:cNvSpPr/>
            <p:nvPr/>
          </p:nvSpPr>
          <p:spPr>
            <a:xfrm>
              <a:off x="21717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Unordered rank 5 / 5 / label"/>
            <p:cNvSpPr txBox="1"/>
            <p:nvPr/>
          </p:nvSpPr>
          <p:spPr>
            <a:xfrm>
              <a:off x="22174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cxnSp>
        <p:nvCxnSpPr>
          <p:cNvPr id="384" name="Local ordering rank 5 / segment 0"/>
          <p:cNvCxnSpPr/>
          <p:nvPr/>
        </p:nvCxnSpPr>
        <p:spPr>
          <a:xfrm>
            <a:off x="2476500" y="30099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87" name="Owner-ordered rank 5 / 0 [editable group]"/>
          <p:cNvGrpSpPr/>
          <p:nvPr/>
        </p:nvGrpSpPr>
        <p:grpSpPr>
          <a:xfrm>
            <a:off x="2895600" y="2903220"/>
            <a:ext cx="259080" cy="213360"/>
            <a:chOff x="2895600" y="2903220"/>
            <a:chExt cx="259080" cy="213360"/>
          </a:xfrm>
        </p:grpSpPr>
        <p:sp>
          <p:nvSpPr>
            <p:cNvPr id="385" name="Owner-ordered rank 5 / 0"/>
            <p:cNvSpPr/>
            <p:nvPr/>
          </p:nvSpPr>
          <p:spPr>
            <a:xfrm>
              <a:off x="28956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wner-ordered rank 5 / 0 / label"/>
            <p:cNvSpPr txBox="1"/>
            <p:nvPr/>
          </p:nvSpPr>
          <p:spPr>
            <a:xfrm>
              <a:off x="29413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90" name="Owner-ordered rank 5 / 1 [editable group]"/>
          <p:cNvGrpSpPr/>
          <p:nvPr/>
        </p:nvGrpSpPr>
        <p:grpSpPr>
          <a:xfrm>
            <a:off x="3185160" y="2903220"/>
            <a:ext cx="259080" cy="213360"/>
            <a:chOff x="3185160" y="2903220"/>
            <a:chExt cx="259080" cy="213360"/>
          </a:xfrm>
        </p:grpSpPr>
        <p:sp>
          <p:nvSpPr>
            <p:cNvPr id="388" name="Owner-ordered rank 5 / 1"/>
            <p:cNvSpPr/>
            <p:nvPr/>
          </p:nvSpPr>
          <p:spPr>
            <a:xfrm>
              <a:off x="3185160"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wner-ordered rank 5 / 1 / label"/>
            <p:cNvSpPr txBox="1"/>
            <p:nvPr/>
          </p:nvSpPr>
          <p:spPr>
            <a:xfrm>
              <a:off x="32308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93" name="Owner-ordered rank 5 / 2 [editable group]"/>
          <p:cNvGrpSpPr/>
          <p:nvPr/>
        </p:nvGrpSpPr>
        <p:grpSpPr>
          <a:xfrm>
            <a:off x="3474720" y="2903220"/>
            <a:ext cx="259080" cy="213360"/>
            <a:chOff x="3474720" y="2903220"/>
            <a:chExt cx="259080" cy="213360"/>
          </a:xfrm>
        </p:grpSpPr>
        <p:sp>
          <p:nvSpPr>
            <p:cNvPr id="391" name="Owner-ordered rank 5 / 2"/>
            <p:cNvSpPr/>
            <p:nvPr/>
          </p:nvSpPr>
          <p:spPr>
            <a:xfrm>
              <a:off x="34747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wner-ordered rank 5 / 2 / label"/>
            <p:cNvSpPr txBox="1"/>
            <p:nvPr/>
          </p:nvSpPr>
          <p:spPr>
            <a:xfrm>
              <a:off x="35204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96" name="Owner-ordered rank 5 / 3 [editable group]"/>
          <p:cNvGrpSpPr/>
          <p:nvPr/>
        </p:nvGrpSpPr>
        <p:grpSpPr>
          <a:xfrm>
            <a:off x="3764279" y="2903220"/>
            <a:ext cx="259080" cy="213360"/>
            <a:chOff x="3764279" y="2903220"/>
            <a:chExt cx="259080" cy="213360"/>
          </a:xfrm>
        </p:grpSpPr>
        <p:sp>
          <p:nvSpPr>
            <p:cNvPr id="394" name="Owner-ordered rank 5 / 3"/>
            <p:cNvSpPr/>
            <p:nvPr/>
          </p:nvSpPr>
          <p:spPr>
            <a:xfrm>
              <a:off x="3764279"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wner-ordered rank 5 / 3 / label"/>
            <p:cNvSpPr txBox="1"/>
            <p:nvPr/>
          </p:nvSpPr>
          <p:spPr>
            <a:xfrm>
              <a:off x="38100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99" name="Owner-ordered rank 5 / 4 [editable group]"/>
          <p:cNvGrpSpPr/>
          <p:nvPr/>
        </p:nvGrpSpPr>
        <p:grpSpPr>
          <a:xfrm>
            <a:off x="4053840" y="2903220"/>
            <a:ext cx="259080" cy="213360"/>
            <a:chOff x="4053840" y="2903220"/>
            <a:chExt cx="259080" cy="213360"/>
          </a:xfrm>
        </p:grpSpPr>
        <p:sp>
          <p:nvSpPr>
            <p:cNvPr id="397" name="Owner-ordered rank 5 / 4"/>
            <p:cNvSpPr/>
            <p:nvPr/>
          </p:nvSpPr>
          <p:spPr>
            <a:xfrm>
              <a:off x="405384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wner-ordered rank 5 / 4 / label"/>
            <p:cNvSpPr txBox="1"/>
            <p:nvPr/>
          </p:nvSpPr>
          <p:spPr>
            <a:xfrm>
              <a:off x="40995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402" name="Owner-ordered rank 5 / 5 [editable group]"/>
          <p:cNvGrpSpPr/>
          <p:nvPr/>
        </p:nvGrpSpPr>
        <p:grpSpPr>
          <a:xfrm>
            <a:off x="4343400" y="2903220"/>
            <a:ext cx="259080" cy="213360"/>
            <a:chOff x="4343400" y="2903220"/>
            <a:chExt cx="259080" cy="213360"/>
          </a:xfrm>
        </p:grpSpPr>
        <p:sp>
          <p:nvSpPr>
            <p:cNvPr id="400" name="Owner-ordered rank 5 / 5"/>
            <p:cNvSpPr/>
            <p:nvPr/>
          </p:nvSpPr>
          <p:spPr>
            <a:xfrm>
              <a:off x="43434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wner-ordered rank 5 / 5 / label"/>
            <p:cNvSpPr txBox="1"/>
            <p:nvPr/>
          </p:nvSpPr>
          <p:spPr>
            <a:xfrm>
              <a:off x="43891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403" name="Destination rank 5"/>
          <p:cNvSpPr txBox="1"/>
          <p:nvPr/>
        </p:nvSpPr>
        <p:spPr>
          <a:xfrm>
            <a:off x="643890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sp>
        <p:nvSpPr>
          <p:cNvPr id="404" name="Rank 5 segment from source 0"/>
          <p:cNvSpPr/>
          <p:nvPr/>
        </p:nvSpPr>
        <p:spPr>
          <a:xfrm>
            <a:off x="6789420" y="29032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5" name="Rank 5 segment from source 0 / records 0 / segment 0"/>
          <p:cNvCxnSpPr/>
          <p:nvPr/>
        </p:nvCxnSpPr>
        <p:spPr>
          <a:xfrm>
            <a:off x="68351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6" name="Rank 5 segment from source 0 / records 1 / segment 0"/>
          <p:cNvCxnSpPr/>
          <p:nvPr/>
        </p:nvCxnSpPr>
        <p:spPr>
          <a:xfrm>
            <a:off x="68351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07" name="Rank 5 segment from source 1"/>
          <p:cNvSpPr/>
          <p:nvPr/>
        </p:nvSpPr>
        <p:spPr>
          <a:xfrm>
            <a:off x="710946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8" name="Rank 5 segment from source 1 / records 0 / segment 0"/>
          <p:cNvCxnSpPr/>
          <p:nvPr/>
        </p:nvCxnSpPr>
        <p:spPr>
          <a:xfrm>
            <a:off x="715518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9" name="Rank 5 segment from source 1 / records 1 / segment 0"/>
          <p:cNvCxnSpPr/>
          <p:nvPr/>
        </p:nvCxnSpPr>
        <p:spPr>
          <a:xfrm>
            <a:off x="715518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0" name="Rank 5 segment from source 2"/>
          <p:cNvSpPr/>
          <p:nvPr/>
        </p:nvSpPr>
        <p:spPr>
          <a:xfrm>
            <a:off x="742950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1" name="Rank 5 segment from source 2 / records 0 / segment 0"/>
          <p:cNvCxnSpPr/>
          <p:nvPr/>
        </p:nvCxnSpPr>
        <p:spPr>
          <a:xfrm>
            <a:off x="7475220" y="29718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2" name="Rank 5 segment from source 2 / records 1 / segment 0"/>
          <p:cNvCxnSpPr/>
          <p:nvPr/>
        </p:nvCxnSpPr>
        <p:spPr>
          <a:xfrm>
            <a:off x="7475220" y="30403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3" name="Rank 5 segment from source 3"/>
          <p:cNvSpPr/>
          <p:nvPr/>
        </p:nvSpPr>
        <p:spPr>
          <a:xfrm>
            <a:off x="774954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4" name="Rank 5 segment from source 3 / records 0 / segment 0"/>
          <p:cNvCxnSpPr/>
          <p:nvPr/>
        </p:nvCxnSpPr>
        <p:spPr>
          <a:xfrm>
            <a:off x="779526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5" name="Rank 5 segment from source 3 / records 1 / segment 0"/>
          <p:cNvCxnSpPr/>
          <p:nvPr/>
        </p:nvCxnSpPr>
        <p:spPr>
          <a:xfrm>
            <a:off x="779526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6" name="Rank 5 segment from source 4"/>
          <p:cNvSpPr/>
          <p:nvPr/>
        </p:nvSpPr>
        <p:spPr>
          <a:xfrm>
            <a:off x="8069579"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7" name="Rank 5 segment from source 4 / records 0 / segment 0"/>
          <p:cNvCxnSpPr/>
          <p:nvPr/>
        </p:nvCxnSpPr>
        <p:spPr>
          <a:xfrm>
            <a:off x="811530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8" name="Rank 5 segment from source 4 / records 1 / segment 0"/>
          <p:cNvCxnSpPr/>
          <p:nvPr/>
        </p:nvCxnSpPr>
        <p:spPr>
          <a:xfrm>
            <a:off x="811530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9" name="Rank 5 segment from source 5"/>
          <p:cNvSpPr/>
          <p:nvPr/>
        </p:nvSpPr>
        <p:spPr>
          <a:xfrm>
            <a:off x="838962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0" name="Rank 5 segment from source 5 / records 0 / segment 0"/>
          <p:cNvCxnSpPr/>
          <p:nvPr/>
        </p:nvCxnSpPr>
        <p:spPr>
          <a:xfrm>
            <a:off x="84353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1" name="Rank 5 segment from source 5 / records 1 / segment 0"/>
          <p:cNvCxnSpPr/>
          <p:nvPr/>
        </p:nvCxnSpPr>
        <p:spPr>
          <a:xfrm>
            <a:off x="84353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2" name="Merge rank 5 / segment 0"/>
          <p:cNvCxnSpPr/>
          <p:nvPr/>
        </p:nvCxnSpPr>
        <p:spPr>
          <a:xfrm>
            <a:off x="8709660" y="30099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3" name="Rank 5 merged record group 0"/>
          <p:cNvSpPr/>
          <p:nvPr/>
        </p:nvSpPr>
        <p:spPr>
          <a:xfrm>
            <a:off x="93345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ank 5 merged record group 1"/>
          <p:cNvSpPr/>
          <p:nvPr/>
        </p:nvSpPr>
        <p:spPr>
          <a:xfrm>
            <a:off x="955548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ank 5 merged record group 2"/>
          <p:cNvSpPr/>
          <p:nvPr/>
        </p:nvSpPr>
        <p:spPr>
          <a:xfrm>
            <a:off x="977646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ank 5 merged record group 3"/>
          <p:cNvSpPr/>
          <p:nvPr/>
        </p:nvSpPr>
        <p:spPr>
          <a:xfrm>
            <a:off x="999744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ank 5 merged record group 4"/>
          <p:cNvSpPr/>
          <p:nvPr/>
        </p:nvSpPr>
        <p:spPr>
          <a:xfrm>
            <a:off x="1021842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ank 5 merged record group 5"/>
          <p:cNvSpPr/>
          <p:nvPr/>
        </p:nvSpPr>
        <p:spPr>
          <a:xfrm>
            <a:off x="104394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9" name="Compress rank 5 / segment 0"/>
          <p:cNvCxnSpPr/>
          <p:nvPr/>
        </p:nvCxnSpPr>
        <p:spPr>
          <a:xfrm>
            <a:off x="10721340" y="30099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32" name="Rank body 5 [editable group]"/>
          <p:cNvGrpSpPr/>
          <p:nvPr/>
        </p:nvGrpSpPr>
        <p:grpSpPr>
          <a:xfrm>
            <a:off x="11079480" y="2903220"/>
            <a:ext cx="647700" cy="213360"/>
            <a:chOff x="11079480" y="2903220"/>
            <a:chExt cx="647700" cy="213360"/>
          </a:xfrm>
        </p:grpSpPr>
        <p:sp>
          <p:nvSpPr>
            <p:cNvPr id="430" name="Rank body 5"/>
            <p:cNvSpPr/>
            <p:nvPr/>
          </p:nvSpPr>
          <p:spPr>
            <a:xfrm>
              <a:off x="11079480" y="29032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ank body 5 / label"/>
            <p:cNvSpPr txBox="1"/>
            <p:nvPr/>
          </p:nvSpPr>
          <p:spPr>
            <a:xfrm>
              <a:off x="11125200" y="29260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5</a:t>
              </a:r>
              <a:endParaRPr sz="1020" b="0" i="0">
                <a:solidFill>
                  <a:srgbClr val="172C36"/>
                </a:solidFill>
                <a:latin typeface="Arial" panose="020B0604020202020204"/>
              </a:endParaRPr>
            </a:p>
          </p:txBody>
        </p:sp>
      </p:grpSp>
      <p:cxnSp>
        <p:nvCxnSpPr>
          <p:cNvPr id="433" name="All sender ranks bracket / segment 0"/>
          <p:cNvCxnSpPr/>
          <p:nvPr/>
        </p:nvCxnSpPr>
        <p:spPr>
          <a:xfrm>
            <a:off x="477774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4" name="All sender ranks bracket / segment 1"/>
          <p:cNvCxnSpPr/>
          <p:nvPr/>
        </p:nvCxnSpPr>
        <p:spPr>
          <a:xfrm>
            <a:off x="486156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5" name="All sender ranks bracket / segment 2"/>
          <p:cNvCxnSpPr/>
          <p:nvPr/>
        </p:nvCxnSpPr>
        <p:spPr>
          <a:xfrm flipH="1">
            <a:off x="477774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6" name="All receiver ranks bracket / segment 0"/>
          <p:cNvCxnSpPr/>
          <p:nvPr/>
        </p:nvCxnSpPr>
        <p:spPr>
          <a:xfrm flipH="1">
            <a:off x="629412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7" name="All receiver ranks bracket / segment 1"/>
          <p:cNvCxnSpPr/>
          <p:nvPr/>
        </p:nvCxnSpPr>
        <p:spPr>
          <a:xfrm>
            <a:off x="629412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8" name="All receiver ranks bracket / segment 2"/>
          <p:cNvCxnSpPr/>
          <p:nvPr/>
        </p:nvCxnSpPr>
        <p:spPr>
          <a:xfrm>
            <a:off x="629412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9" name="Chunked exchange caption"/>
          <p:cNvSpPr txBox="1"/>
          <p:nvPr/>
        </p:nvSpPr>
        <p:spPr>
          <a:xfrm>
            <a:off x="4922520" y="1516380"/>
            <a:ext cx="1318260" cy="47244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Chunked</a:t>
            </a:r>
            <a:endParaRPr sz="1260" b="1" i="0">
              <a:solidFill>
                <a:srgbClr val="172C36"/>
              </a:solidFill>
              <a:latin typeface="Arial" panose="020B0604020202020204"/>
            </a:endParaRPr>
          </a:p>
          <a:p>
            <a:pPr algn="ctr">
              <a:lnSpc>
                <a:spcPts val="1480"/>
              </a:lnSpc>
              <a:spcBef>
                <a:spcPts val="0"/>
              </a:spcBef>
              <a:spcAft>
                <a:spcPts val="0"/>
              </a:spcAft>
            </a:pPr>
            <a:r>
              <a:rPr sz="1320" b="1" i="0">
                <a:solidFill>
                  <a:srgbClr val="172C36"/>
                </a:solidFill>
                <a:latin typeface="Arial" panose="020B0604020202020204"/>
              </a:rPr>
              <a:t>MPI exchange</a:t>
            </a:r>
            <a:endParaRPr sz="1320" b="1" i="0">
              <a:solidFill>
                <a:srgbClr val="172C36"/>
              </a:solidFill>
              <a:latin typeface="Arial" panose="020B0604020202020204"/>
            </a:endParaRPr>
          </a:p>
        </p:txBody>
      </p:sp>
      <p:cxnSp>
        <p:nvCxnSpPr>
          <p:cNvPr id="440" name="Distributed transpose / segment 0"/>
          <p:cNvCxnSpPr/>
          <p:nvPr/>
        </p:nvCxnSpPr>
        <p:spPr>
          <a:xfrm>
            <a:off x="4861560" y="2156460"/>
            <a:ext cx="1432560" cy="0"/>
          </a:xfrm>
          <a:prstGeom prst="line">
            <a:avLst/>
          </a:prstGeom>
          <a:ln w="3200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1" name="Self-owned local path / segment 0"/>
          <p:cNvCxnSpPr/>
          <p:nvPr/>
        </p:nvCxnSpPr>
        <p:spPr>
          <a:xfrm>
            <a:off x="5166360" y="2385060"/>
            <a:ext cx="0" cy="13716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2" name="Self-owned local path / segment 1"/>
          <p:cNvCxnSpPr/>
          <p:nvPr/>
        </p:nvCxnSpPr>
        <p:spPr>
          <a:xfrm>
            <a:off x="5166360" y="2522220"/>
            <a:ext cx="876300" cy="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3" name="Self-owned local path / segment 2"/>
          <p:cNvCxnSpPr/>
          <p:nvPr/>
        </p:nvCxnSpPr>
        <p:spPr>
          <a:xfrm flipV="1">
            <a:off x="6042660" y="2385060"/>
            <a:ext cx="0" cy="1371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4" name="Self-owned local caption"/>
          <p:cNvSpPr txBox="1"/>
          <p:nvPr/>
        </p:nvSpPr>
        <p:spPr>
          <a:xfrm>
            <a:off x="4922520" y="2628900"/>
            <a:ext cx="1356360" cy="3733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Local data:</a:t>
            </a:r>
            <a:endParaRPr sz="114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no network transfer</a:t>
            </a:r>
            <a:endParaRPr sz="1020" b="0" i="0">
              <a:solidFill>
                <a:srgbClr val="172C36"/>
              </a:solidFill>
              <a:latin typeface="Arial" panose="020B0604020202020204"/>
            </a:endParaRPr>
          </a:p>
        </p:txBody>
      </p:sp>
      <p:sp>
        <p:nvSpPr>
          <p:cNvPr id="445" name="Destination color legend"/>
          <p:cNvSpPr txBox="1"/>
          <p:nvPr/>
        </p:nvSpPr>
        <p:spPr>
          <a:xfrm>
            <a:off x="2667000" y="3436620"/>
            <a:ext cx="1272540" cy="21336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446" name="Source and local segment legend"/>
          <p:cNvSpPr txBox="1"/>
          <p:nvPr/>
        </p:nvSpPr>
        <p:spPr>
          <a:xfrm>
            <a:off x="6545580" y="3238500"/>
            <a:ext cx="217932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Segments by source</a:t>
            </a:r>
            <a:endParaRPr lang="en-US" sz="1020" b="0" i="0">
              <a:solidFill>
                <a:srgbClr val="172C36"/>
              </a:solidFill>
              <a:latin typeface="Arial" panose="020B0604020202020204"/>
            </a:endParaRPr>
          </a:p>
        </p:txBody>
      </p:sp>
      <p:sp>
        <p:nvSpPr>
          <p:cNvPr id="447" name="Output body clarification"/>
          <p:cNvSpPr txBox="1"/>
          <p:nvPr/>
        </p:nvSpPr>
        <p:spPr>
          <a:xfrm>
            <a:off x="9235440" y="3238500"/>
            <a:ext cx="150876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Merged records</a:t>
            </a:r>
            <a:endParaRPr lang="en-US" altLang="zh-CN" sz="1080" b="0" i="0">
              <a:solidFill>
                <a:srgbClr val="172C36"/>
              </a:solidFill>
              <a:latin typeface="Arial" panose="020B0604020202020204"/>
            </a:endParaRPr>
          </a:p>
        </p:txBody>
      </p:sp>
      <p:sp>
        <p:nvSpPr>
          <p:cNvPr id="448" name="Partition policy inset"/>
          <p:cNvSpPr/>
          <p:nvPr/>
        </p:nvSpPr>
        <p:spPr>
          <a:xfrm>
            <a:off x="213360" y="3901440"/>
            <a:ext cx="469392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Partition policy inset / heading"/>
          <p:cNvSpPr txBox="1"/>
          <p:nvPr/>
        </p:nvSpPr>
        <p:spPr>
          <a:xfrm>
            <a:off x="327660" y="3977639"/>
            <a:ext cx="44653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(b) Partitioning rules</a:t>
            </a:r>
            <a:endParaRPr sz="1440" b="1" i="0">
              <a:solidFill>
                <a:srgbClr val="172C36"/>
              </a:solidFill>
              <a:latin typeface="Arial" panose="020B0604020202020204"/>
            </a:endParaRPr>
          </a:p>
        </p:txBody>
      </p:sp>
      <p:sp>
        <p:nvSpPr>
          <p:cNvPr id="450" name="Sort policy title"/>
          <p:cNvSpPr txBox="1"/>
          <p:nvPr/>
        </p:nvSpPr>
        <p:spPr>
          <a:xfrm>
            <a:off x="373380" y="4335780"/>
            <a:ext cx="7620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97BA3"/>
                </a:solidFill>
                <a:latin typeface="Arial" panose="020B0604020202020204"/>
              </a:rPr>
              <a:t>Sort</a:t>
            </a:r>
            <a:endParaRPr sz="1380" b="1" i="0">
              <a:solidFill>
                <a:srgbClr val="197BA3"/>
              </a:solidFill>
              <a:latin typeface="Arial" panose="020B0604020202020204"/>
            </a:endParaRPr>
          </a:p>
        </p:txBody>
      </p:sp>
      <p:sp>
        <p:nvSpPr>
          <p:cNvPr id="451" name="Sort policy summary"/>
          <p:cNvSpPr txBox="1"/>
          <p:nvPr/>
        </p:nvSpPr>
        <p:spPr>
          <a:xfrm>
            <a:off x="1257300" y="4343400"/>
            <a:ext cx="3459480" cy="2133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Samples → 5 splitters → 6 ranges</a:t>
            </a:r>
            <a:endParaRPr sz="1200" b="0" i="0">
              <a:solidFill>
                <a:srgbClr val="172C36"/>
              </a:solidFill>
              <a:latin typeface="Arial" panose="020B0604020202020204"/>
            </a:endParaRPr>
          </a:p>
        </p:txBody>
      </p:sp>
      <p:grpSp>
        <p:nvGrpSpPr>
          <p:cNvPr id="454" name="Coordinate owner range 0 [editable group]"/>
          <p:cNvGrpSpPr/>
          <p:nvPr/>
        </p:nvGrpSpPr>
        <p:grpSpPr>
          <a:xfrm>
            <a:off x="434340" y="4831080"/>
            <a:ext cx="701040" cy="266700"/>
            <a:chOff x="434340" y="4831080"/>
            <a:chExt cx="701040" cy="266700"/>
          </a:xfrm>
        </p:grpSpPr>
        <p:sp>
          <p:nvSpPr>
            <p:cNvPr id="452" name="Coordinate owner range 0"/>
            <p:cNvSpPr/>
            <p:nvPr/>
          </p:nvSpPr>
          <p:spPr>
            <a:xfrm>
              <a:off x="434340" y="4831080"/>
              <a:ext cx="701040" cy="26670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Coordinate owner range 0 / label"/>
            <p:cNvSpPr txBox="1"/>
            <p:nvPr/>
          </p:nvSpPr>
          <p:spPr>
            <a:xfrm>
              <a:off x="48006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0</a:t>
              </a:r>
              <a:endParaRPr sz="1200" b="1" i="0">
                <a:solidFill>
                  <a:srgbClr val="172C36"/>
                </a:solidFill>
                <a:latin typeface="Arial" panose="020B0604020202020204"/>
              </a:endParaRPr>
            </a:p>
          </p:txBody>
        </p:sp>
      </p:grpSp>
      <p:grpSp>
        <p:nvGrpSpPr>
          <p:cNvPr id="457" name="Coordinate owner range 1 [editable group]"/>
          <p:cNvGrpSpPr/>
          <p:nvPr/>
        </p:nvGrpSpPr>
        <p:grpSpPr>
          <a:xfrm>
            <a:off x="1135380" y="4831080"/>
            <a:ext cx="701040" cy="266700"/>
            <a:chOff x="1135380" y="4831080"/>
            <a:chExt cx="701040" cy="266700"/>
          </a:xfrm>
        </p:grpSpPr>
        <p:sp>
          <p:nvSpPr>
            <p:cNvPr id="455" name="Coordinate owner range 1"/>
            <p:cNvSpPr/>
            <p:nvPr/>
          </p:nvSpPr>
          <p:spPr>
            <a:xfrm>
              <a:off x="1135380" y="4831080"/>
              <a:ext cx="701040" cy="26670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Coordinate owner range 1 / label"/>
            <p:cNvSpPr txBox="1"/>
            <p:nvPr/>
          </p:nvSpPr>
          <p:spPr>
            <a:xfrm>
              <a:off x="118110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1</a:t>
              </a:r>
              <a:endParaRPr sz="1200" b="1" i="0">
                <a:solidFill>
                  <a:srgbClr val="172C36"/>
                </a:solidFill>
                <a:latin typeface="Arial" panose="020B0604020202020204"/>
              </a:endParaRPr>
            </a:p>
          </p:txBody>
        </p:sp>
      </p:grpSp>
      <p:cxnSp>
        <p:nvCxnSpPr>
          <p:cNvPr id="458" name="Splitter tick 1 / segment 0"/>
          <p:cNvCxnSpPr/>
          <p:nvPr/>
        </p:nvCxnSpPr>
        <p:spPr>
          <a:xfrm>
            <a:off x="113538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9" name="Splitter label 1"/>
          <p:cNvSpPr txBox="1"/>
          <p:nvPr/>
        </p:nvSpPr>
        <p:spPr>
          <a:xfrm>
            <a:off x="96774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s1</a:t>
            </a:r>
            <a:endParaRPr sz="1080" b="0" i="0">
              <a:solidFill>
                <a:srgbClr val="172C36"/>
              </a:solidFill>
              <a:latin typeface="Arial" panose="020B0604020202020204"/>
            </a:endParaRPr>
          </a:p>
        </p:txBody>
      </p:sp>
      <p:grpSp>
        <p:nvGrpSpPr>
          <p:cNvPr id="462" name="Coordinate owner range 2 [editable group]"/>
          <p:cNvGrpSpPr/>
          <p:nvPr/>
        </p:nvGrpSpPr>
        <p:grpSpPr>
          <a:xfrm>
            <a:off x="1836420" y="4831080"/>
            <a:ext cx="701040" cy="266700"/>
            <a:chOff x="1836420" y="4831080"/>
            <a:chExt cx="701040" cy="266700"/>
          </a:xfrm>
        </p:grpSpPr>
        <p:sp>
          <p:nvSpPr>
            <p:cNvPr id="460" name="Coordinate owner range 2"/>
            <p:cNvSpPr/>
            <p:nvPr/>
          </p:nvSpPr>
          <p:spPr>
            <a:xfrm>
              <a:off x="1836420" y="4831080"/>
              <a:ext cx="701040" cy="26670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Coordinate owner range 2 / label"/>
            <p:cNvSpPr txBox="1"/>
            <p:nvPr/>
          </p:nvSpPr>
          <p:spPr>
            <a:xfrm>
              <a:off x="1882139"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2</a:t>
              </a:r>
              <a:endParaRPr sz="1200" b="1" i="0">
                <a:solidFill>
                  <a:srgbClr val="172C36"/>
                </a:solidFill>
                <a:latin typeface="Arial" panose="020B0604020202020204"/>
              </a:endParaRPr>
            </a:p>
          </p:txBody>
        </p:sp>
      </p:grpSp>
      <p:cxnSp>
        <p:nvCxnSpPr>
          <p:cNvPr id="463" name="Splitter tick 2 / segment 0"/>
          <p:cNvCxnSpPr/>
          <p:nvPr/>
        </p:nvCxnSpPr>
        <p:spPr>
          <a:xfrm>
            <a:off x="183642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4" name="Splitter label 2"/>
          <p:cNvSpPr txBox="1"/>
          <p:nvPr/>
        </p:nvSpPr>
        <p:spPr>
          <a:xfrm>
            <a:off x="166878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s2</a:t>
            </a:r>
            <a:endParaRPr sz="1080" b="0" i="0">
              <a:solidFill>
                <a:srgbClr val="172C36"/>
              </a:solidFill>
              <a:latin typeface="Arial" panose="020B0604020202020204"/>
            </a:endParaRPr>
          </a:p>
        </p:txBody>
      </p:sp>
      <p:grpSp>
        <p:nvGrpSpPr>
          <p:cNvPr id="467" name="Coordinate owner range 3 [editable group]"/>
          <p:cNvGrpSpPr/>
          <p:nvPr/>
        </p:nvGrpSpPr>
        <p:grpSpPr>
          <a:xfrm>
            <a:off x="2537460" y="4831080"/>
            <a:ext cx="701040" cy="266700"/>
            <a:chOff x="2537460" y="4831080"/>
            <a:chExt cx="701040" cy="266700"/>
          </a:xfrm>
        </p:grpSpPr>
        <p:sp>
          <p:nvSpPr>
            <p:cNvPr id="465" name="Coordinate owner range 3"/>
            <p:cNvSpPr/>
            <p:nvPr/>
          </p:nvSpPr>
          <p:spPr>
            <a:xfrm>
              <a:off x="2537460" y="4831080"/>
              <a:ext cx="701040" cy="26670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Coordinate owner range 3 / label"/>
            <p:cNvSpPr txBox="1"/>
            <p:nvPr/>
          </p:nvSpPr>
          <p:spPr>
            <a:xfrm>
              <a:off x="258318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3</a:t>
              </a:r>
              <a:endParaRPr sz="1200" b="1" i="0">
                <a:solidFill>
                  <a:srgbClr val="172C36"/>
                </a:solidFill>
                <a:latin typeface="Arial" panose="020B0604020202020204"/>
              </a:endParaRPr>
            </a:p>
          </p:txBody>
        </p:sp>
      </p:grpSp>
      <p:cxnSp>
        <p:nvCxnSpPr>
          <p:cNvPr id="468" name="Splitter tick 3 / segment 0"/>
          <p:cNvCxnSpPr/>
          <p:nvPr/>
        </p:nvCxnSpPr>
        <p:spPr>
          <a:xfrm>
            <a:off x="253746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9" name="Splitter label 3"/>
          <p:cNvSpPr txBox="1"/>
          <p:nvPr/>
        </p:nvSpPr>
        <p:spPr>
          <a:xfrm>
            <a:off x="236982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s3</a:t>
            </a:r>
            <a:endParaRPr sz="1080" b="0" i="0">
              <a:solidFill>
                <a:srgbClr val="172C36"/>
              </a:solidFill>
              <a:latin typeface="Arial" panose="020B0604020202020204"/>
            </a:endParaRPr>
          </a:p>
        </p:txBody>
      </p:sp>
      <p:grpSp>
        <p:nvGrpSpPr>
          <p:cNvPr id="472" name="Coordinate owner range 4 [editable group]"/>
          <p:cNvGrpSpPr/>
          <p:nvPr/>
        </p:nvGrpSpPr>
        <p:grpSpPr>
          <a:xfrm>
            <a:off x="3238500" y="4831080"/>
            <a:ext cx="701040" cy="266700"/>
            <a:chOff x="3238500" y="4831080"/>
            <a:chExt cx="701040" cy="266700"/>
          </a:xfrm>
        </p:grpSpPr>
        <p:sp>
          <p:nvSpPr>
            <p:cNvPr id="470" name="Coordinate owner range 4"/>
            <p:cNvSpPr/>
            <p:nvPr/>
          </p:nvSpPr>
          <p:spPr>
            <a:xfrm>
              <a:off x="3238500" y="4831080"/>
              <a:ext cx="701040" cy="26670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Coordinate owner range 4 / label"/>
            <p:cNvSpPr txBox="1"/>
            <p:nvPr/>
          </p:nvSpPr>
          <p:spPr>
            <a:xfrm>
              <a:off x="328422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4</a:t>
              </a:r>
              <a:endParaRPr sz="1200" b="1" i="0">
                <a:solidFill>
                  <a:srgbClr val="172C36"/>
                </a:solidFill>
                <a:latin typeface="Arial" panose="020B0604020202020204"/>
              </a:endParaRPr>
            </a:p>
          </p:txBody>
        </p:sp>
      </p:grpSp>
      <p:cxnSp>
        <p:nvCxnSpPr>
          <p:cNvPr id="473" name="Splitter tick 4 / segment 0"/>
          <p:cNvCxnSpPr/>
          <p:nvPr/>
        </p:nvCxnSpPr>
        <p:spPr>
          <a:xfrm>
            <a:off x="323850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4" name="Splitter label 4"/>
          <p:cNvSpPr txBox="1"/>
          <p:nvPr/>
        </p:nvSpPr>
        <p:spPr>
          <a:xfrm>
            <a:off x="307086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s4</a:t>
            </a:r>
            <a:endParaRPr sz="1080" b="0" i="0">
              <a:solidFill>
                <a:srgbClr val="172C36"/>
              </a:solidFill>
              <a:latin typeface="Arial" panose="020B0604020202020204"/>
            </a:endParaRPr>
          </a:p>
        </p:txBody>
      </p:sp>
      <p:grpSp>
        <p:nvGrpSpPr>
          <p:cNvPr id="477" name="Coordinate owner range 5 [editable group]"/>
          <p:cNvGrpSpPr/>
          <p:nvPr/>
        </p:nvGrpSpPr>
        <p:grpSpPr>
          <a:xfrm>
            <a:off x="3939540" y="4831080"/>
            <a:ext cx="701040" cy="266700"/>
            <a:chOff x="3939540" y="4831080"/>
            <a:chExt cx="701040" cy="266700"/>
          </a:xfrm>
        </p:grpSpPr>
        <p:sp>
          <p:nvSpPr>
            <p:cNvPr id="475" name="Coordinate owner range 5"/>
            <p:cNvSpPr/>
            <p:nvPr/>
          </p:nvSpPr>
          <p:spPr>
            <a:xfrm>
              <a:off x="3939540" y="4831080"/>
              <a:ext cx="701040" cy="26670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Coordinate owner range 5 / label"/>
            <p:cNvSpPr txBox="1"/>
            <p:nvPr/>
          </p:nvSpPr>
          <p:spPr>
            <a:xfrm>
              <a:off x="398526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5</a:t>
              </a:r>
              <a:endParaRPr sz="1200" b="1" i="0">
                <a:solidFill>
                  <a:srgbClr val="172C36"/>
                </a:solidFill>
                <a:latin typeface="Arial" panose="020B0604020202020204"/>
              </a:endParaRPr>
            </a:p>
          </p:txBody>
        </p:sp>
      </p:grpSp>
      <p:cxnSp>
        <p:nvCxnSpPr>
          <p:cNvPr id="478" name="Splitter tick 5 / segment 0"/>
          <p:cNvCxnSpPr/>
          <p:nvPr/>
        </p:nvCxnSpPr>
        <p:spPr>
          <a:xfrm>
            <a:off x="393954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9" name="Splitter label 5"/>
          <p:cNvSpPr txBox="1"/>
          <p:nvPr/>
        </p:nvSpPr>
        <p:spPr>
          <a:xfrm>
            <a:off x="377190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s5</a:t>
            </a:r>
            <a:endParaRPr sz="1080" b="0" i="0">
              <a:solidFill>
                <a:srgbClr val="172C36"/>
              </a:solidFill>
              <a:latin typeface="Arial" panose="020B0604020202020204"/>
            </a:endParaRPr>
          </a:p>
        </p:txBody>
      </p:sp>
      <p:sp>
        <p:nvSpPr>
          <p:cNvPr id="480" name="Sort coordinate order"/>
          <p:cNvSpPr txBox="1"/>
          <p:nvPr/>
        </p:nvSpPr>
        <p:spPr>
          <a:xfrm>
            <a:off x="396240" y="5166360"/>
            <a:ext cx="427482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97BA3"/>
                </a:solidFill>
                <a:latin typeface="Arial" panose="020B0604020202020204"/>
              </a:rPr>
              <a:t>Global coordinate order</a:t>
            </a:r>
            <a:endParaRPr sz="1200" b="1" i="0">
              <a:solidFill>
                <a:srgbClr val="197BA3"/>
              </a:solidFill>
              <a:latin typeface="Arial" panose="020B0604020202020204"/>
            </a:endParaRPr>
          </a:p>
        </p:txBody>
      </p:sp>
      <p:cxnSp>
        <p:nvCxnSpPr>
          <p:cNvPr id="481" name="Increasing coordinate axis / segment 0"/>
          <p:cNvCxnSpPr/>
          <p:nvPr/>
        </p:nvCxnSpPr>
        <p:spPr>
          <a:xfrm>
            <a:off x="640080" y="5425440"/>
            <a:ext cx="3787140" cy="0"/>
          </a:xfrm>
          <a:prstGeom prst="line">
            <a:avLst/>
          </a:prstGeom>
          <a:ln w="12192">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2" name="Collate policy title"/>
          <p:cNvSpPr txBox="1"/>
          <p:nvPr/>
        </p:nvSpPr>
        <p:spPr>
          <a:xfrm>
            <a:off x="373380" y="5570220"/>
            <a:ext cx="9144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57834A"/>
                </a:solidFill>
                <a:latin typeface="Arial" panose="020B0604020202020204"/>
              </a:rPr>
              <a:t>Collate</a:t>
            </a:r>
            <a:endParaRPr sz="1380" b="1" i="0">
              <a:solidFill>
                <a:srgbClr val="57834A"/>
              </a:solidFill>
              <a:latin typeface="Arial" panose="020B0604020202020204"/>
            </a:endParaRPr>
          </a:p>
        </p:txBody>
      </p:sp>
      <p:sp>
        <p:nvSpPr>
          <p:cNvPr id="483" name="Collate mapping formula"/>
          <p:cNvSpPr txBox="1"/>
          <p:nvPr/>
        </p:nvSpPr>
        <p:spPr>
          <a:xfrm>
            <a:off x="1348740" y="5554980"/>
            <a:ext cx="3383280" cy="2133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QNAME hash → 66 bins → 6 ranks</a:t>
            </a:r>
            <a:endParaRPr sz="1200" b="0" i="0">
              <a:solidFill>
                <a:srgbClr val="172C36"/>
              </a:solidFill>
              <a:latin typeface="Arial" panose="020B0604020202020204"/>
            </a:endParaRPr>
          </a:p>
        </p:txBody>
      </p:sp>
      <p:sp>
        <p:nvSpPr>
          <p:cNvPr id="484" name="Bin range 0"/>
          <p:cNvSpPr txBox="1"/>
          <p:nvPr/>
        </p:nvSpPr>
        <p:spPr>
          <a:xfrm>
            <a:off x="4343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0–10</a:t>
            </a:r>
            <a:endParaRPr sz="1080" b="0" i="0">
              <a:solidFill>
                <a:srgbClr val="172C36"/>
              </a:solidFill>
              <a:latin typeface="Arial" panose="020B0604020202020204"/>
            </a:endParaRPr>
          </a:p>
        </p:txBody>
      </p:sp>
      <p:grpSp>
        <p:nvGrpSpPr>
          <p:cNvPr id="487" name="Collate owner range 0 [editable group]"/>
          <p:cNvGrpSpPr/>
          <p:nvPr/>
        </p:nvGrpSpPr>
        <p:grpSpPr>
          <a:xfrm>
            <a:off x="434340" y="6050280"/>
            <a:ext cx="701040" cy="243840"/>
            <a:chOff x="434340" y="6050280"/>
            <a:chExt cx="701040" cy="243840"/>
          </a:xfrm>
        </p:grpSpPr>
        <p:sp>
          <p:nvSpPr>
            <p:cNvPr id="485" name="Collate owner range 0"/>
            <p:cNvSpPr/>
            <p:nvPr/>
          </p:nvSpPr>
          <p:spPr>
            <a:xfrm>
              <a:off x="434340" y="6050280"/>
              <a:ext cx="701040" cy="24384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Collate owner range 0 / label"/>
            <p:cNvSpPr txBox="1"/>
            <p:nvPr/>
          </p:nvSpPr>
          <p:spPr>
            <a:xfrm>
              <a:off x="48006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0</a:t>
              </a:r>
              <a:endParaRPr sz="1200" b="1" i="0">
                <a:solidFill>
                  <a:srgbClr val="172C36"/>
                </a:solidFill>
                <a:latin typeface="Arial" panose="020B0604020202020204"/>
              </a:endParaRPr>
            </a:p>
          </p:txBody>
        </p:sp>
      </p:grpSp>
      <p:sp>
        <p:nvSpPr>
          <p:cNvPr id="488" name="Bin range 1"/>
          <p:cNvSpPr txBox="1"/>
          <p:nvPr/>
        </p:nvSpPr>
        <p:spPr>
          <a:xfrm>
            <a:off x="113538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11–21</a:t>
            </a:r>
            <a:endParaRPr sz="1080" b="0" i="0">
              <a:solidFill>
                <a:srgbClr val="172C36"/>
              </a:solidFill>
              <a:latin typeface="Arial" panose="020B0604020202020204"/>
            </a:endParaRPr>
          </a:p>
        </p:txBody>
      </p:sp>
      <p:grpSp>
        <p:nvGrpSpPr>
          <p:cNvPr id="491" name="Collate owner range 1 [editable group]"/>
          <p:cNvGrpSpPr/>
          <p:nvPr/>
        </p:nvGrpSpPr>
        <p:grpSpPr>
          <a:xfrm>
            <a:off x="1135380" y="6050280"/>
            <a:ext cx="701040" cy="243840"/>
            <a:chOff x="1135380" y="6050280"/>
            <a:chExt cx="701040" cy="243840"/>
          </a:xfrm>
        </p:grpSpPr>
        <p:sp>
          <p:nvSpPr>
            <p:cNvPr id="489" name="Collate owner range 1"/>
            <p:cNvSpPr/>
            <p:nvPr/>
          </p:nvSpPr>
          <p:spPr>
            <a:xfrm>
              <a:off x="1135380" y="6050280"/>
              <a:ext cx="701040" cy="24384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Collate owner range 1 / label"/>
            <p:cNvSpPr txBox="1"/>
            <p:nvPr/>
          </p:nvSpPr>
          <p:spPr>
            <a:xfrm>
              <a:off x="118110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1</a:t>
              </a:r>
              <a:endParaRPr sz="1200" b="1" i="0">
                <a:solidFill>
                  <a:srgbClr val="172C36"/>
                </a:solidFill>
                <a:latin typeface="Arial" panose="020B0604020202020204"/>
              </a:endParaRPr>
            </a:p>
          </p:txBody>
        </p:sp>
      </p:grpSp>
      <p:sp>
        <p:nvSpPr>
          <p:cNvPr id="492" name="Bin range 2"/>
          <p:cNvSpPr txBox="1"/>
          <p:nvPr/>
        </p:nvSpPr>
        <p:spPr>
          <a:xfrm>
            <a:off x="183642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22–32</a:t>
            </a:r>
            <a:endParaRPr sz="1080" b="0" i="0">
              <a:solidFill>
                <a:srgbClr val="172C36"/>
              </a:solidFill>
              <a:latin typeface="Arial" panose="020B0604020202020204"/>
            </a:endParaRPr>
          </a:p>
        </p:txBody>
      </p:sp>
      <p:grpSp>
        <p:nvGrpSpPr>
          <p:cNvPr id="495" name="Collate owner range 2 [editable group]"/>
          <p:cNvGrpSpPr/>
          <p:nvPr/>
        </p:nvGrpSpPr>
        <p:grpSpPr>
          <a:xfrm>
            <a:off x="1836420" y="6050280"/>
            <a:ext cx="701040" cy="243840"/>
            <a:chOff x="1836420" y="6050280"/>
            <a:chExt cx="701040" cy="243840"/>
          </a:xfrm>
        </p:grpSpPr>
        <p:sp>
          <p:nvSpPr>
            <p:cNvPr id="493" name="Collate owner range 2"/>
            <p:cNvSpPr/>
            <p:nvPr/>
          </p:nvSpPr>
          <p:spPr>
            <a:xfrm>
              <a:off x="1836420" y="6050280"/>
              <a:ext cx="701040" cy="24384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Collate owner range 2 / label"/>
            <p:cNvSpPr txBox="1"/>
            <p:nvPr/>
          </p:nvSpPr>
          <p:spPr>
            <a:xfrm>
              <a:off x="1882139"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2</a:t>
              </a:r>
              <a:endParaRPr sz="1200" b="1" i="0">
                <a:solidFill>
                  <a:srgbClr val="172C36"/>
                </a:solidFill>
                <a:latin typeface="Arial" panose="020B0604020202020204"/>
              </a:endParaRPr>
            </a:p>
          </p:txBody>
        </p:sp>
      </p:grpSp>
      <p:sp>
        <p:nvSpPr>
          <p:cNvPr id="496" name="Bin range 3"/>
          <p:cNvSpPr txBox="1"/>
          <p:nvPr/>
        </p:nvSpPr>
        <p:spPr>
          <a:xfrm>
            <a:off x="253746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33–43</a:t>
            </a:r>
            <a:endParaRPr sz="1080" b="0" i="0">
              <a:solidFill>
                <a:srgbClr val="172C36"/>
              </a:solidFill>
              <a:latin typeface="Arial" panose="020B0604020202020204"/>
            </a:endParaRPr>
          </a:p>
        </p:txBody>
      </p:sp>
      <p:grpSp>
        <p:nvGrpSpPr>
          <p:cNvPr id="499" name="Collate owner range 3 [editable group]"/>
          <p:cNvGrpSpPr/>
          <p:nvPr/>
        </p:nvGrpSpPr>
        <p:grpSpPr>
          <a:xfrm>
            <a:off x="2537460" y="6050280"/>
            <a:ext cx="701040" cy="243840"/>
            <a:chOff x="2537460" y="6050280"/>
            <a:chExt cx="701040" cy="243840"/>
          </a:xfrm>
        </p:grpSpPr>
        <p:sp>
          <p:nvSpPr>
            <p:cNvPr id="497" name="Collate owner range 3"/>
            <p:cNvSpPr/>
            <p:nvPr/>
          </p:nvSpPr>
          <p:spPr>
            <a:xfrm>
              <a:off x="2537460" y="6050280"/>
              <a:ext cx="701040" cy="24384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Collate owner range 3 / label"/>
            <p:cNvSpPr txBox="1"/>
            <p:nvPr/>
          </p:nvSpPr>
          <p:spPr>
            <a:xfrm>
              <a:off x="258318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3</a:t>
              </a:r>
              <a:endParaRPr sz="1200" b="1" i="0">
                <a:solidFill>
                  <a:srgbClr val="172C36"/>
                </a:solidFill>
                <a:latin typeface="Arial" panose="020B0604020202020204"/>
              </a:endParaRPr>
            </a:p>
          </p:txBody>
        </p:sp>
      </p:grpSp>
      <p:sp>
        <p:nvSpPr>
          <p:cNvPr id="500" name="Bin range 4"/>
          <p:cNvSpPr txBox="1"/>
          <p:nvPr/>
        </p:nvSpPr>
        <p:spPr>
          <a:xfrm>
            <a:off x="323850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44–54</a:t>
            </a:r>
            <a:endParaRPr sz="1080" b="0" i="0">
              <a:solidFill>
                <a:srgbClr val="172C36"/>
              </a:solidFill>
              <a:latin typeface="Arial" panose="020B0604020202020204"/>
            </a:endParaRPr>
          </a:p>
        </p:txBody>
      </p:sp>
      <p:grpSp>
        <p:nvGrpSpPr>
          <p:cNvPr id="503" name="Collate owner range 4 [editable group]"/>
          <p:cNvGrpSpPr/>
          <p:nvPr/>
        </p:nvGrpSpPr>
        <p:grpSpPr>
          <a:xfrm>
            <a:off x="3238500" y="6050280"/>
            <a:ext cx="701040" cy="243840"/>
            <a:chOff x="3238500" y="6050280"/>
            <a:chExt cx="701040" cy="243840"/>
          </a:xfrm>
        </p:grpSpPr>
        <p:sp>
          <p:nvSpPr>
            <p:cNvPr id="501" name="Collate owner range 4"/>
            <p:cNvSpPr/>
            <p:nvPr/>
          </p:nvSpPr>
          <p:spPr>
            <a:xfrm>
              <a:off x="3238500" y="6050280"/>
              <a:ext cx="701040" cy="24384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Collate owner range 4 / label"/>
            <p:cNvSpPr txBox="1"/>
            <p:nvPr/>
          </p:nvSpPr>
          <p:spPr>
            <a:xfrm>
              <a:off x="328422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4</a:t>
              </a:r>
              <a:endParaRPr sz="1200" b="1" i="0">
                <a:solidFill>
                  <a:srgbClr val="172C36"/>
                </a:solidFill>
                <a:latin typeface="Arial" panose="020B0604020202020204"/>
              </a:endParaRPr>
            </a:p>
          </p:txBody>
        </p:sp>
      </p:grpSp>
      <p:sp>
        <p:nvSpPr>
          <p:cNvPr id="504" name="Bin range 5"/>
          <p:cNvSpPr txBox="1"/>
          <p:nvPr/>
        </p:nvSpPr>
        <p:spPr>
          <a:xfrm>
            <a:off x="39395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55–65</a:t>
            </a:r>
            <a:endParaRPr sz="1080" b="0" i="0">
              <a:solidFill>
                <a:srgbClr val="172C36"/>
              </a:solidFill>
              <a:latin typeface="Arial" panose="020B0604020202020204"/>
            </a:endParaRPr>
          </a:p>
        </p:txBody>
      </p:sp>
      <p:grpSp>
        <p:nvGrpSpPr>
          <p:cNvPr id="507" name="Collate owner range 5 [editable group]"/>
          <p:cNvGrpSpPr/>
          <p:nvPr/>
        </p:nvGrpSpPr>
        <p:grpSpPr>
          <a:xfrm>
            <a:off x="3939540" y="6050280"/>
            <a:ext cx="701040" cy="243840"/>
            <a:chOff x="3939540" y="6050280"/>
            <a:chExt cx="701040" cy="243840"/>
          </a:xfrm>
        </p:grpSpPr>
        <p:sp>
          <p:nvSpPr>
            <p:cNvPr id="505" name="Collate owner range 5"/>
            <p:cNvSpPr/>
            <p:nvPr/>
          </p:nvSpPr>
          <p:spPr>
            <a:xfrm>
              <a:off x="3939540" y="6050280"/>
              <a:ext cx="701040" cy="24384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Collate owner range 5 / label"/>
            <p:cNvSpPr txBox="1"/>
            <p:nvPr/>
          </p:nvSpPr>
          <p:spPr>
            <a:xfrm>
              <a:off x="398526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5</a:t>
              </a:r>
              <a:endParaRPr sz="1200" b="1" i="0">
                <a:solidFill>
                  <a:srgbClr val="172C36"/>
                </a:solidFill>
                <a:latin typeface="Arial" panose="020B0604020202020204"/>
              </a:endParaRPr>
            </a:p>
          </p:txBody>
        </p:sp>
      </p:grpSp>
      <p:sp>
        <p:nvSpPr>
          <p:cNvPr id="566" name="Output body clarification"/>
          <p:cNvSpPr txBox="1"/>
          <p:nvPr/>
        </p:nvSpPr>
        <p:spPr>
          <a:xfrm>
            <a:off x="8641080" y="1081405"/>
            <a:ext cx="625475" cy="206375"/>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Merge</a:t>
            </a:r>
            <a:endParaRPr lang="en-US" sz="1080" b="0" i="0">
              <a:solidFill>
                <a:srgbClr val="172C36"/>
              </a:solidFill>
              <a:latin typeface="Arial" panose="020B0604020202020204"/>
            </a:endParaRPr>
          </a:p>
        </p:txBody>
      </p:sp>
      <p:sp>
        <p:nvSpPr>
          <p:cNvPr id="568" name="圆角矩形 567"/>
          <p:cNvSpPr/>
          <p:nvPr/>
        </p:nvSpPr>
        <p:spPr>
          <a:xfrm>
            <a:off x="2850515" y="283527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0" name="下箭头 569"/>
          <p:cNvSpPr/>
          <p:nvPr/>
        </p:nvSpPr>
        <p:spPr>
          <a:xfrm>
            <a:off x="3024943" y="326274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1" name="Source and local segment legend"/>
          <p:cNvSpPr txBox="1"/>
          <p:nvPr/>
        </p:nvSpPr>
        <p:spPr>
          <a:xfrm>
            <a:off x="1066800" y="3238500"/>
            <a:ext cx="150876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Decoded BAM records</a:t>
            </a:r>
            <a:endParaRPr lang="en-US" altLang="zh-CN" sz="1020" b="0" i="0">
              <a:solidFill>
                <a:srgbClr val="172C36"/>
              </a:solidFill>
              <a:latin typeface="Arial" panose="020B0604020202020204"/>
            </a:endParaRPr>
          </a:p>
        </p:txBody>
      </p:sp>
      <p:sp>
        <p:nvSpPr>
          <p:cNvPr id="572" name="Source and local segment legend"/>
          <p:cNvSpPr txBox="1"/>
          <p:nvPr/>
        </p:nvSpPr>
        <p:spPr>
          <a:xfrm>
            <a:off x="3238500" y="3238500"/>
            <a:ext cx="140208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Sorted metadata</a:t>
            </a:r>
            <a:endParaRPr lang="en-US" altLang="zh-CN" sz="1020" b="0" i="0">
              <a:solidFill>
                <a:srgbClr val="172C36"/>
              </a:solidFill>
              <a:latin typeface="Arial" panose="020B0604020202020204"/>
            </a:endParaRPr>
          </a:p>
        </p:txBody>
      </p:sp>
      <p:sp>
        <p:nvSpPr>
          <p:cNvPr id="573" name="Sort coordinate order"/>
          <p:cNvSpPr txBox="1"/>
          <p:nvPr/>
        </p:nvSpPr>
        <p:spPr>
          <a:xfrm>
            <a:off x="373380" y="6400800"/>
            <a:ext cx="4396740" cy="2286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97BA3"/>
                </a:solidFill>
                <a:latin typeface="Arial" panose="020B0604020202020204"/>
              </a:rPr>
              <a:t>Records with the same QNAME are contiguous</a:t>
            </a:r>
            <a:endParaRPr sz="1200" b="1" i="0">
              <a:solidFill>
                <a:srgbClr val="197BA3"/>
              </a:solidFill>
              <a:latin typeface="Arial" panose="020B0604020202020204"/>
            </a:endParaRPr>
          </a:p>
        </p:txBody>
      </p:sp>
      <p:sp>
        <p:nvSpPr>
          <p:cNvPr id="576" name="圆角矩形 575"/>
          <p:cNvSpPr/>
          <p:nvPr/>
        </p:nvSpPr>
        <p:spPr>
          <a:xfrm>
            <a:off x="683895" y="283781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7" name="下箭头 576"/>
          <p:cNvSpPr/>
          <p:nvPr/>
        </p:nvSpPr>
        <p:spPr>
          <a:xfrm>
            <a:off x="822763" y="326528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8" name="Destination color legend"/>
          <p:cNvSpPr txBox="1"/>
          <p:nvPr/>
        </p:nvSpPr>
        <p:spPr>
          <a:xfrm>
            <a:off x="502920" y="3436620"/>
            <a:ext cx="1272540" cy="21336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579" name="Output body clarification"/>
          <p:cNvSpPr txBox="1"/>
          <p:nvPr/>
        </p:nvSpPr>
        <p:spPr>
          <a:xfrm>
            <a:off x="10820400" y="3238500"/>
            <a:ext cx="10668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BGZF blocks</a:t>
            </a:r>
            <a:endParaRPr lang="en-US" altLang="zh-CN" sz="1080" b="0" i="0">
              <a:solidFill>
                <a:srgbClr val="172C36"/>
              </a:solidFill>
              <a:latin typeface="Arial" panose="020B0604020202020204"/>
            </a:endParaRPr>
          </a:p>
        </p:txBody>
      </p:sp>
      <p:sp>
        <p:nvSpPr>
          <p:cNvPr id="580" name="Unified storage panel"/>
          <p:cNvSpPr/>
          <p:nvPr/>
        </p:nvSpPr>
        <p:spPr>
          <a:xfrm>
            <a:off x="5059680" y="3901440"/>
            <a:ext cx="691896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Unified storage panel / heading"/>
          <p:cNvSpPr txBox="1"/>
          <p:nvPr/>
        </p:nvSpPr>
        <p:spPr>
          <a:xfrm>
            <a:off x="5173980" y="3977639"/>
            <a:ext cx="669036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 Shared workflow with alternative storage</a:t>
            </a:r>
            <a:endParaRPr sz="1440" b="1" i="0">
              <a:solidFill>
                <a:srgbClr val="172C36"/>
              </a:solidFill>
              <a:latin typeface="Arial" panose="020B0604020202020204"/>
            </a:endParaRPr>
          </a:p>
        </p:txBody>
      </p:sp>
      <p:sp>
        <p:nvSpPr>
          <p:cNvPr id="582" name="Memory legend swatch"/>
          <p:cNvSpPr/>
          <p:nvPr/>
        </p:nvSpPr>
        <p:spPr>
          <a:xfrm>
            <a:off x="5257800" y="4305300"/>
            <a:ext cx="137160" cy="13716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Memory legend"/>
          <p:cNvSpPr txBox="1"/>
          <p:nvPr/>
        </p:nvSpPr>
        <p:spPr>
          <a:xfrm>
            <a:off x="5455920" y="4259580"/>
            <a:ext cx="89916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In-memory</a:t>
            </a:r>
            <a:endParaRPr sz="1080" b="0" i="0">
              <a:solidFill>
                <a:srgbClr val="172C36"/>
              </a:solidFill>
              <a:latin typeface="Arial" panose="020B0604020202020204"/>
            </a:endParaRPr>
          </a:p>
        </p:txBody>
      </p:sp>
      <p:sp>
        <p:nvSpPr>
          <p:cNvPr id="584" name="External legend swatch"/>
          <p:cNvSpPr/>
          <p:nvPr/>
        </p:nvSpPr>
        <p:spPr>
          <a:xfrm>
            <a:off x="6545580" y="4305300"/>
            <a:ext cx="137160" cy="13716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External legend"/>
          <p:cNvSpPr txBox="1"/>
          <p:nvPr/>
        </p:nvSpPr>
        <p:spPr>
          <a:xfrm>
            <a:off x="6743700" y="4259580"/>
            <a:ext cx="83058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External</a:t>
            </a:r>
            <a:endParaRPr sz="1080" b="0" i="0">
              <a:solidFill>
                <a:srgbClr val="172C36"/>
              </a:solidFill>
              <a:latin typeface="Arial" panose="020B0604020202020204"/>
            </a:endParaRPr>
          </a:p>
        </p:txBody>
      </p:sp>
      <p:cxnSp>
        <p:nvCxnSpPr>
          <p:cNvPr id="586" name="External iteration legend line / segment 0"/>
          <p:cNvCxnSpPr/>
          <p:nvPr/>
        </p:nvCxnSpPr>
        <p:spPr>
          <a:xfrm>
            <a:off x="8001000" y="4373880"/>
            <a:ext cx="411480" cy="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7" name="External iteration legend label"/>
          <p:cNvSpPr txBox="1"/>
          <p:nvPr/>
        </p:nvSpPr>
        <p:spPr>
          <a:xfrm>
            <a:off x="8503920" y="4259580"/>
            <a:ext cx="320802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9A7625"/>
                </a:solidFill>
                <a:latin typeface="Arial" panose="020B0604020202020204"/>
              </a:rPr>
              <a:t>External mode only</a:t>
            </a:r>
            <a:endParaRPr sz="1080" b="0" i="0">
              <a:solidFill>
                <a:srgbClr val="9A7625"/>
              </a:solidFill>
              <a:latin typeface="Arial" panose="020B0604020202020204"/>
            </a:endParaRPr>
          </a:p>
        </p:txBody>
      </p:sp>
      <p:grpSp>
        <p:nvGrpSpPr>
          <p:cNvPr id="588" name="Local sort operation [editable group]"/>
          <p:cNvGrpSpPr/>
          <p:nvPr/>
        </p:nvGrpSpPr>
        <p:grpSpPr>
          <a:xfrm>
            <a:off x="5227320" y="5013960"/>
            <a:ext cx="800100" cy="579120"/>
            <a:chOff x="5227320" y="5013960"/>
            <a:chExt cx="800100" cy="579120"/>
          </a:xfrm>
        </p:grpSpPr>
        <p:sp>
          <p:nvSpPr>
            <p:cNvPr id="589" name="Local sort operation"/>
            <p:cNvSpPr/>
            <p:nvPr/>
          </p:nvSpPr>
          <p:spPr>
            <a:xfrm>
              <a:off x="522732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Local sort operation / label"/>
            <p:cNvSpPr txBox="1"/>
            <p:nvPr/>
          </p:nvSpPr>
          <p:spPr>
            <a:xfrm>
              <a:off x="5273040" y="5036820"/>
              <a:ext cx="708660" cy="53340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Local</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sort</a:t>
              </a:r>
              <a:endParaRPr sz="1200" b="0" i="0">
                <a:solidFill>
                  <a:srgbClr val="172C36"/>
                </a:solidFill>
                <a:latin typeface="Arial" panose="020B0604020202020204"/>
              </a:endParaRPr>
            </a:p>
          </p:txBody>
        </p:sp>
      </p:grpSp>
      <p:sp>
        <p:nvSpPr>
          <p:cNvPr id="591" name="Local ordered storage / frame"/>
          <p:cNvSpPr/>
          <p:nvPr/>
        </p:nvSpPr>
        <p:spPr>
          <a:xfrm>
            <a:off x="619506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Local ordered storage / heading"/>
          <p:cNvSpPr txBox="1"/>
          <p:nvPr/>
        </p:nvSpPr>
        <p:spPr>
          <a:xfrm>
            <a:off x="6256020" y="4632960"/>
            <a:ext cx="1173480" cy="32004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Local</a:t>
            </a:r>
            <a:endParaRPr sz="1140" b="1" i="0">
              <a:solidFill>
                <a:srgbClr val="172C36"/>
              </a:solidFill>
              <a:latin typeface="Arial" panose="020B0604020202020204"/>
            </a:endParaRPr>
          </a:p>
          <a:p>
            <a:pPr algn="ctr">
              <a:lnSpc>
                <a:spcPts val="1275"/>
              </a:lnSpc>
              <a:spcBef>
                <a:spcPts val="0"/>
              </a:spcBef>
              <a:spcAft>
                <a:spcPts val="0"/>
              </a:spcAft>
            </a:pPr>
            <a:r>
              <a:rPr sz="1140" b="1" i="0">
                <a:solidFill>
                  <a:srgbClr val="172C36"/>
                </a:solidFill>
                <a:latin typeface="Arial" panose="020B0604020202020204"/>
              </a:rPr>
              <a:t>sorted data</a:t>
            </a:r>
            <a:endParaRPr sz="1140" b="1" i="0">
              <a:solidFill>
                <a:srgbClr val="172C36"/>
              </a:solidFill>
              <a:latin typeface="Arial" panose="020B0604020202020204"/>
            </a:endParaRPr>
          </a:p>
        </p:txBody>
      </p:sp>
      <p:sp>
        <p:nvSpPr>
          <p:cNvPr id="593" name="Local ordered storage / memory choice"/>
          <p:cNvSpPr/>
          <p:nvPr/>
        </p:nvSpPr>
        <p:spPr>
          <a:xfrm>
            <a:off x="625602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Local ordered storage / RAM label"/>
          <p:cNvSpPr txBox="1"/>
          <p:nvPr/>
        </p:nvSpPr>
        <p:spPr>
          <a:xfrm>
            <a:off x="6301740" y="5044440"/>
            <a:ext cx="464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RAM</a:t>
            </a:r>
            <a:endParaRPr sz="1080" b="0" i="0">
              <a:solidFill>
                <a:srgbClr val="172C36"/>
              </a:solidFill>
              <a:latin typeface="Arial" panose="020B0604020202020204"/>
            </a:endParaRPr>
          </a:p>
        </p:txBody>
      </p:sp>
      <p:sp>
        <p:nvSpPr>
          <p:cNvPr id="595" name="Local ordered storage / RAM cell 0"/>
          <p:cNvSpPr/>
          <p:nvPr/>
        </p:nvSpPr>
        <p:spPr>
          <a:xfrm>
            <a:off x="68351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Local ordered storage / RAM cell 1"/>
          <p:cNvSpPr/>
          <p:nvPr/>
        </p:nvSpPr>
        <p:spPr>
          <a:xfrm>
            <a:off x="69951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Local ordered storage / RAM cell 2"/>
          <p:cNvSpPr/>
          <p:nvPr/>
        </p:nvSpPr>
        <p:spPr>
          <a:xfrm>
            <a:off x="715518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Local ordered storage / external choice"/>
          <p:cNvSpPr/>
          <p:nvPr/>
        </p:nvSpPr>
        <p:spPr>
          <a:xfrm>
            <a:off x="625602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Local ordered storage / temporary label"/>
          <p:cNvSpPr txBox="1"/>
          <p:nvPr/>
        </p:nvSpPr>
        <p:spPr>
          <a:xfrm>
            <a:off x="6294120" y="5425440"/>
            <a:ext cx="75438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Temporary</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runs</a:t>
            </a:r>
            <a:endParaRPr sz="1020" b="0" i="0">
              <a:solidFill>
                <a:srgbClr val="172C36"/>
              </a:solidFill>
              <a:latin typeface="Arial" panose="020B0604020202020204"/>
            </a:endParaRPr>
          </a:p>
        </p:txBody>
      </p:sp>
      <p:sp>
        <p:nvSpPr>
          <p:cNvPr id="600" name="Local ordered storage / temporary extent 2"/>
          <p:cNvSpPr/>
          <p:nvPr/>
        </p:nvSpPr>
        <p:spPr>
          <a:xfrm>
            <a:off x="718566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Local ordered storage / temporary extent 1"/>
          <p:cNvSpPr/>
          <p:nvPr/>
        </p:nvSpPr>
        <p:spPr>
          <a:xfrm>
            <a:off x="716280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Local ordered storage / temporary extent 0"/>
          <p:cNvSpPr/>
          <p:nvPr/>
        </p:nvSpPr>
        <p:spPr>
          <a:xfrm>
            <a:off x="713994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3" name="Local ordered storage / record line 0 / segment 0"/>
          <p:cNvCxnSpPr/>
          <p:nvPr/>
        </p:nvCxnSpPr>
        <p:spPr>
          <a:xfrm>
            <a:off x="717804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04" name="Local ordered storage / record line 1 / segment 0"/>
          <p:cNvCxnSpPr/>
          <p:nvPr/>
        </p:nvCxnSpPr>
        <p:spPr>
          <a:xfrm>
            <a:off x="717804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05" name="Chunked MPI operation [editable group]"/>
          <p:cNvGrpSpPr/>
          <p:nvPr/>
        </p:nvGrpSpPr>
        <p:grpSpPr>
          <a:xfrm>
            <a:off x="7658100" y="5013960"/>
            <a:ext cx="838200" cy="579120"/>
            <a:chOff x="7658100" y="5013960"/>
            <a:chExt cx="838200" cy="579120"/>
          </a:xfrm>
        </p:grpSpPr>
        <p:sp>
          <p:nvSpPr>
            <p:cNvPr id="606" name="Chunked MPI operation"/>
            <p:cNvSpPr/>
            <p:nvPr/>
          </p:nvSpPr>
          <p:spPr>
            <a:xfrm>
              <a:off x="7658100" y="5013960"/>
              <a:ext cx="838200" cy="57912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Chunked MPI operation / label"/>
            <p:cNvSpPr txBox="1"/>
            <p:nvPr/>
          </p:nvSpPr>
          <p:spPr>
            <a:xfrm>
              <a:off x="7703820" y="5036820"/>
              <a:ext cx="746760" cy="5334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Chunked</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exchange</a:t>
              </a:r>
              <a:endParaRPr sz="1080" b="0" i="0">
                <a:solidFill>
                  <a:srgbClr val="172C36"/>
                </a:solidFill>
                <a:latin typeface="Arial" panose="020B0604020202020204"/>
              </a:endParaRPr>
            </a:p>
          </p:txBody>
        </p:sp>
      </p:grpSp>
      <p:sp>
        <p:nvSpPr>
          <p:cNvPr id="608" name="Received segment storage / frame"/>
          <p:cNvSpPr/>
          <p:nvPr/>
        </p:nvSpPr>
        <p:spPr>
          <a:xfrm>
            <a:off x="866394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eceived segment storage / heading"/>
          <p:cNvSpPr txBox="1"/>
          <p:nvPr/>
        </p:nvSpPr>
        <p:spPr>
          <a:xfrm>
            <a:off x="8724900" y="4632960"/>
            <a:ext cx="1173480" cy="32004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Received</a:t>
            </a:r>
            <a:endParaRPr sz="1140" b="1" i="0">
              <a:solidFill>
                <a:srgbClr val="172C36"/>
              </a:solidFill>
              <a:latin typeface="Arial" panose="020B0604020202020204"/>
            </a:endParaRPr>
          </a:p>
          <a:p>
            <a:pPr algn="ctr">
              <a:lnSpc>
                <a:spcPts val="1275"/>
              </a:lnSpc>
              <a:spcBef>
                <a:spcPts val="0"/>
              </a:spcBef>
              <a:spcAft>
                <a:spcPts val="0"/>
              </a:spcAft>
            </a:pPr>
            <a:r>
              <a:rPr sz="1140" b="1" i="0">
                <a:solidFill>
                  <a:srgbClr val="172C36"/>
                </a:solidFill>
                <a:latin typeface="Arial" panose="020B0604020202020204"/>
              </a:rPr>
              <a:t>segments</a:t>
            </a:r>
            <a:endParaRPr sz="1140" b="1" i="0">
              <a:solidFill>
                <a:srgbClr val="172C36"/>
              </a:solidFill>
              <a:latin typeface="Arial" panose="020B0604020202020204"/>
            </a:endParaRPr>
          </a:p>
        </p:txBody>
      </p:sp>
      <p:sp>
        <p:nvSpPr>
          <p:cNvPr id="610" name="Received segment storage / memory choice"/>
          <p:cNvSpPr/>
          <p:nvPr/>
        </p:nvSpPr>
        <p:spPr>
          <a:xfrm>
            <a:off x="872490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Received segment storage / RAM label"/>
          <p:cNvSpPr txBox="1"/>
          <p:nvPr/>
        </p:nvSpPr>
        <p:spPr>
          <a:xfrm>
            <a:off x="8770620" y="5044440"/>
            <a:ext cx="464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RAM</a:t>
            </a:r>
            <a:endParaRPr sz="1080" b="0" i="0">
              <a:solidFill>
                <a:srgbClr val="172C36"/>
              </a:solidFill>
              <a:latin typeface="Arial" panose="020B0604020202020204"/>
            </a:endParaRPr>
          </a:p>
        </p:txBody>
      </p:sp>
      <p:sp>
        <p:nvSpPr>
          <p:cNvPr id="612" name="Received segment storage / RAM cell 0"/>
          <p:cNvSpPr/>
          <p:nvPr/>
        </p:nvSpPr>
        <p:spPr>
          <a:xfrm>
            <a:off x="930402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Received segment storage / RAM cell 1"/>
          <p:cNvSpPr/>
          <p:nvPr/>
        </p:nvSpPr>
        <p:spPr>
          <a:xfrm>
            <a:off x="94640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Received segment storage / RAM cell 2"/>
          <p:cNvSpPr/>
          <p:nvPr/>
        </p:nvSpPr>
        <p:spPr>
          <a:xfrm>
            <a:off x="96240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Received segment storage / external choice"/>
          <p:cNvSpPr/>
          <p:nvPr/>
        </p:nvSpPr>
        <p:spPr>
          <a:xfrm>
            <a:off x="872490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Received segment storage / temporary label"/>
          <p:cNvSpPr txBox="1"/>
          <p:nvPr/>
        </p:nvSpPr>
        <p:spPr>
          <a:xfrm>
            <a:off x="8763000" y="5425440"/>
            <a:ext cx="75438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Temporary</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segments</a:t>
            </a:r>
            <a:endParaRPr sz="1020" b="0" i="0">
              <a:solidFill>
                <a:srgbClr val="172C36"/>
              </a:solidFill>
              <a:latin typeface="Arial" panose="020B0604020202020204"/>
            </a:endParaRPr>
          </a:p>
        </p:txBody>
      </p:sp>
      <p:sp>
        <p:nvSpPr>
          <p:cNvPr id="617" name="Received segment storage / temporary extent 2"/>
          <p:cNvSpPr/>
          <p:nvPr/>
        </p:nvSpPr>
        <p:spPr>
          <a:xfrm>
            <a:off x="965454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Received segment storage / temporary extent 1"/>
          <p:cNvSpPr/>
          <p:nvPr/>
        </p:nvSpPr>
        <p:spPr>
          <a:xfrm>
            <a:off x="963168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Received segment storage / temporary extent 0"/>
          <p:cNvSpPr/>
          <p:nvPr/>
        </p:nvSpPr>
        <p:spPr>
          <a:xfrm>
            <a:off x="960882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0" name="Received segment storage / record line 0 / segment 0"/>
          <p:cNvCxnSpPr/>
          <p:nvPr/>
        </p:nvCxnSpPr>
        <p:spPr>
          <a:xfrm>
            <a:off x="964692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21" name="Received segment storage / record line 1 / segment 0"/>
          <p:cNvCxnSpPr/>
          <p:nvPr/>
        </p:nvCxnSpPr>
        <p:spPr>
          <a:xfrm>
            <a:off x="964692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22" name="Multiway merge operation [editable group]"/>
          <p:cNvGrpSpPr/>
          <p:nvPr/>
        </p:nvGrpSpPr>
        <p:grpSpPr>
          <a:xfrm>
            <a:off x="10126980" y="5013960"/>
            <a:ext cx="800100" cy="579120"/>
            <a:chOff x="10126980" y="5013960"/>
            <a:chExt cx="800100" cy="579120"/>
          </a:xfrm>
        </p:grpSpPr>
        <p:sp>
          <p:nvSpPr>
            <p:cNvPr id="623" name="Multiway merge operation"/>
            <p:cNvSpPr/>
            <p:nvPr/>
          </p:nvSpPr>
          <p:spPr>
            <a:xfrm>
              <a:off x="1012698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Multiway merge operation / label"/>
            <p:cNvSpPr txBox="1"/>
            <p:nvPr/>
          </p:nvSpPr>
          <p:spPr>
            <a:xfrm>
              <a:off x="10172700" y="5036820"/>
              <a:ext cx="708660" cy="5334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Multi-way</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merge</a:t>
              </a:r>
              <a:endParaRPr sz="1080" b="0" i="0">
                <a:solidFill>
                  <a:srgbClr val="172C36"/>
                </a:solidFill>
                <a:latin typeface="Arial" panose="020B0604020202020204"/>
              </a:endParaRPr>
            </a:p>
          </p:txBody>
        </p:sp>
      </p:grpSp>
      <p:grpSp>
        <p:nvGrpSpPr>
          <p:cNvPr id="625" name="BGZF output operation [editable group]"/>
          <p:cNvGrpSpPr/>
          <p:nvPr/>
        </p:nvGrpSpPr>
        <p:grpSpPr>
          <a:xfrm>
            <a:off x="11094720" y="5013960"/>
            <a:ext cx="716280" cy="579120"/>
            <a:chOff x="11094720" y="5013960"/>
            <a:chExt cx="716280" cy="579120"/>
          </a:xfrm>
        </p:grpSpPr>
        <p:sp>
          <p:nvSpPr>
            <p:cNvPr id="626" name="BGZF output operation"/>
            <p:cNvSpPr/>
            <p:nvPr/>
          </p:nvSpPr>
          <p:spPr>
            <a:xfrm>
              <a:off x="11094720" y="5013960"/>
              <a:ext cx="716280" cy="5791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BGZF output operation / label"/>
            <p:cNvSpPr txBox="1"/>
            <p:nvPr/>
          </p:nvSpPr>
          <p:spPr>
            <a:xfrm>
              <a:off x="11140440" y="5036820"/>
              <a:ext cx="624840" cy="5334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BGZF</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output</a:t>
              </a:r>
              <a:endParaRPr sz="1140" b="0" i="0">
                <a:solidFill>
                  <a:srgbClr val="172C36"/>
                </a:solidFill>
                <a:latin typeface="Arial" panose="020B0604020202020204"/>
              </a:endParaRPr>
            </a:p>
          </p:txBody>
        </p:sp>
      </p:grpSp>
      <p:cxnSp>
        <p:nvCxnSpPr>
          <p:cNvPr id="628" name="Save local ordered data / segment 0"/>
          <p:cNvCxnSpPr/>
          <p:nvPr/>
        </p:nvCxnSpPr>
        <p:spPr>
          <a:xfrm>
            <a:off x="602742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9" name="Load data for exchange / segment 0"/>
          <p:cNvCxnSpPr/>
          <p:nvPr/>
        </p:nvCxnSpPr>
        <p:spPr>
          <a:xfrm>
            <a:off x="749046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0" name="Save received ordered data / segment 0"/>
          <p:cNvCxnSpPr/>
          <p:nvPr/>
        </p:nvCxnSpPr>
        <p:spPr>
          <a:xfrm>
            <a:off x="849630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1" name="Read ordered segments / segment 0"/>
          <p:cNvCxnSpPr/>
          <p:nvPr/>
        </p:nvCxnSpPr>
        <p:spPr>
          <a:xfrm>
            <a:off x="995934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2" name="Write final merge / segment 0"/>
          <p:cNvCxnSpPr/>
          <p:nvPr/>
        </p:nvCxnSpPr>
        <p:spPr>
          <a:xfrm>
            <a:off x="1092708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3" name="Final merge pass"/>
          <p:cNvSpPr txBox="1"/>
          <p:nvPr/>
        </p:nvSpPr>
        <p:spPr>
          <a:xfrm>
            <a:off x="10919460" y="4747260"/>
            <a:ext cx="89154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Final pass</a:t>
            </a:r>
            <a:endParaRPr sz="1020" b="0" i="0">
              <a:solidFill>
                <a:srgbClr val="61727A"/>
              </a:solidFill>
              <a:latin typeface="Arial" panose="020B0604020202020204"/>
            </a:endParaRPr>
          </a:p>
        </p:txBody>
      </p:sp>
      <p:cxnSp>
        <p:nvCxnSpPr>
          <p:cNvPr id="634" name="External run generation iterations / segment 0"/>
          <p:cNvCxnSpPr/>
          <p:nvPr/>
        </p:nvCxnSpPr>
        <p:spPr>
          <a:xfrm>
            <a:off x="6842760" y="5844540"/>
            <a:ext cx="0" cy="16764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5" name="External run generation iterations / segment 1"/>
          <p:cNvCxnSpPr/>
          <p:nvPr/>
        </p:nvCxnSpPr>
        <p:spPr>
          <a:xfrm flipH="1">
            <a:off x="5623560" y="6012180"/>
            <a:ext cx="121920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6" name="External run generation iterations / segment 2"/>
          <p:cNvCxnSpPr/>
          <p:nvPr/>
        </p:nvCxnSpPr>
        <p:spPr>
          <a:xfrm flipV="1">
            <a:off x="5623560" y="5615940"/>
            <a:ext cx="0" cy="39624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7" name="External input iteration label"/>
          <p:cNvSpPr txBox="1"/>
          <p:nvPr/>
        </p:nvSpPr>
        <p:spPr>
          <a:xfrm>
            <a:off x="5227320" y="6096000"/>
            <a:ext cx="2545080" cy="1981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Repeat for each input chunk</a:t>
            </a:r>
            <a:endParaRPr sz="1020" b="0" i="0">
              <a:solidFill>
                <a:srgbClr val="9A7625"/>
              </a:solidFill>
              <a:latin typeface="Arial" panose="020B0604020202020204"/>
            </a:endParaRPr>
          </a:p>
        </p:txBody>
      </p:sp>
      <p:cxnSp>
        <p:nvCxnSpPr>
          <p:cNvPr id="638" name="External intermediate merge iterations / segment 0"/>
          <p:cNvCxnSpPr/>
          <p:nvPr/>
        </p:nvCxnSpPr>
        <p:spPr>
          <a:xfrm>
            <a:off x="10523220" y="5593080"/>
            <a:ext cx="0" cy="41910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9" name="External intermediate merge iterations / segment 1"/>
          <p:cNvCxnSpPr/>
          <p:nvPr/>
        </p:nvCxnSpPr>
        <p:spPr>
          <a:xfrm flipH="1">
            <a:off x="9311640" y="6012180"/>
            <a:ext cx="121158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0" name="External intermediate merge iterations / segment 2"/>
          <p:cNvCxnSpPr/>
          <p:nvPr/>
        </p:nvCxnSpPr>
        <p:spPr>
          <a:xfrm flipV="1">
            <a:off x="9311640" y="5867400"/>
            <a:ext cx="0" cy="14478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41" name="External merge iteration label"/>
          <p:cNvSpPr txBox="1"/>
          <p:nvPr/>
        </p:nvSpPr>
        <p:spPr>
          <a:xfrm>
            <a:off x="8481060" y="6096000"/>
            <a:ext cx="3299460" cy="1981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Additional passes if segments exceed F</a:t>
            </a:r>
            <a:endParaRPr sz="1020" b="0" i="0">
              <a:solidFill>
                <a:srgbClr val="9A7625"/>
              </a:solidFill>
              <a:latin typeface="Arial" panose="020B0604020202020204"/>
            </a:endParaRPr>
          </a:p>
        </p:txBody>
      </p:sp>
      <p:sp>
        <p:nvSpPr>
          <p:cNvPr id="642" name="Temporary data representation"/>
          <p:cNvSpPr txBox="1"/>
          <p:nvPr/>
        </p:nvSpPr>
        <p:spPr>
          <a:xfrm>
            <a:off x="5378450" y="6446520"/>
            <a:ext cx="2804160" cy="19050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61727A"/>
                </a:solidFill>
                <a:latin typeface="Arial" panose="020B0604020202020204"/>
              </a:rPr>
              <a:t>Stored data: metadata + raw BAM bytes</a:t>
            </a:r>
            <a:endParaRPr sz="1020" b="0" i="0">
              <a:solidFill>
                <a:srgbClr val="61727A"/>
              </a:solidFill>
              <a:latin typeface="Arial" panose="020B0604020202020204"/>
            </a:endParaRPr>
          </a:p>
        </p:txBody>
      </p:sp>
      <p:sp>
        <p:nvSpPr>
          <p:cNvPr id="643" name="Fan-in explanation"/>
          <p:cNvSpPr txBox="1"/>
          <p:nvPr/>
        </p:nvSpPr>
        <p:spPr>
          <a:xfrm>
            <a:off x="8481060" y="6393180"/>
            <a:ext cx="329946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F: merge fan-in</a:t>
            </a:r>
            <a:endParaRPr sz="1020" b="0" i="0">
              <a:solidFill>
                <a:srgbClr val="61727A"/>
              </a:solidFill>
              <a:latin typeface="Arial" panose="020B0604020202020204"/>
            </a:endParaRPr>
          </a:p>
          <a:p>
            <a:pPr algn="ctr">
              <a:lnSpc>
                <a:spcPts val="1140"/>
              </a:lnSpc>
              <a:spcBef>
                <a:spcPts val="0"/>
              </a:spcBef>
              <a:spcAft>
                <a:spcPts val="0"/>
              </a:spcAft>
            </a:pPr>
            <a:r>
              <a:rPr sz="1020" b="0" i="0">
                <a:solidFill>
                  <a:srgbClr val="61727A"/>
                </a:solidFill>
                <a:latin typeface="Arial" panose="020B0604020202020204"/>
              </a:rPr>
              <a:t>Determined by the memory budget</a:t>
            </a:r>
            <a:endParaRPr sz="1020" b="0" i="0">
              <a:solidFill>
                <a:srgbClr val="61727A"/>
              </a:solidFill>
              <a:latin typeface="Arial" panose="020B0604020202020204"/>
            </a:endParaRPr>
          </a:p>
        </p:txBody>
      </p:sp>
      <p:cxnSp>
        <p:nvCxnSpPr>
          <p:cNvPr id="567" name="直线连接符 573"/>
          <p:cNvCxnSpPr/>
          <p:nvPr/>
        </p:nvCxnSpPr>
        <p:spPr>
          <a:xfrm flipH="1">
            <a:off x="434278" y="3238477"/>
            <a:ext cx="2461260" cy="1478280"/>
          </a:xfrm>
          <a:prstGeom prst="line">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4" name="直线连接符 573"/>
          <p:cNvCxnSpPr/>
          <p:nvPr/>
        </p:nvCxnSpPr>
        <p:spPr>
          <a:xfrm>
            <a:off x="4594798" y="3192757"/>
            <a:ext cx="76200" cy="1524000"/>
          </a:xfrm>
          <a:prstGeom prst="line">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a) Pre-resolve rank boundaries before the main stream"/>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Resolve boundary duplicates before streaming</a:t>
            </a:r>
            <a:endParaRPr sz="1560" b="1" i="0">
              <a:solidFill>
                <a:srgbClr val="172C36"/>
              </a:solidFill>
              <a:latin typeface="Arial" panose="020B0604020202020204"/>
            </a:endParaRPr>
          </a:p>
        </p:txBody>
      </p:sp>
      <p:sp>
        <p:nvSpPr>
          <p:cNvPr id="3" name="Boundary probe region"/>
          <p:cNvSpPr/>
          <p:nvPr/>
        </p:nvSpPr>
        <p:spPr>
          <a:xfrm>
            <a:off x="220980" y="457200"/>
            <a:ext cx="4632960" cy="2468880"/>
          </a:xfrm>
          <a:prstGeom prst="roundRect">
            <a:avLst>
              <a:gd name="adj" fmla="val 3703"/>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undary probe region / heading"/>
          <p:cNvSpPr txBox="1"/>
          <p:nvPr/>
        </p:nvSpPr>
        <p:spPr>
          <a:xfrm>
            <a:off x="335280" y="533400"/>
            <a:ext cx="4404360" cy="22860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72C36"/>
                </a:solidFill>
                <a:latin typeface="Arial" panose="020B0604020202020204"/>
              </a:rPr>
              <a:t>Probe the first and last BGZF blocks of each rank</a:t>
            </a:r>
            <a:endParaRPr sz="1440" b="1" i="0">
              <a:solidFill>
                <a:srgbClr val="172C36"/>
              </a:solidFill>
              <a:latin typeface="Arial" panose="020B0604020202020204"/>
            </a:endParaRPr>
          </a:p>
        </p:txBody>
      </p:sp>
      <p:sp>
        <p:nvSpPr>
          <p:cNvPr id="5" name="Left probe rank"/>
          <p:cNvSpPr txBox="1"/>
          <p:nvPr/>
        </p:nvSpPr>
        <p:spPr>
          <a:xfrm>
            <a:off x="441960" y="899160"/>
            <a:ext cx="1866899" cy="19050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Rank r−1: last blocks</a:t>
            </a:r>
            <a:endParaRPr sz="1320" b="1" i="0">
              <a:solidFill>
                <a:srgbClr val="172C36"/>
              </a:solidFill>
              <a:latin typeface="Arial" panose="020B0604020202020204"/>
            </a:endParaRPr>
          </a:p>
        </p:txBody>
      </p:sp>
      <p:sp>
        <p:nvSpPr>
          <p:cNvPr id="6" name="Right probe rank"/>
          <p:cNvSpPr txBox="1"/>
          <p:nvPr/>
        </p:nvSpPr>
        <p:spPr>
          <a:xfrm>
            <a:off x="2667000" y="899160"/>
            <a:ext cx="1882139" cy="19050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Rank r: first blocks</a:t>
            </a:r>
            <a:endParaRPr sz="1320" b="1" i="0">
              <a:solidFill>
                <a:srgbClr val="172C36"/>
              </a:solidFill>
              <a:latin typeface="Arial" panose="020B0604020202020204"/>
            </a:endParaRPr>
          </a:p>
        </p:txBody>
      </p:sp>
      <p:sp>
        <p:nvSpPr>
          <p:cNvPr id="7" name="Left BGZF blocks / 0"/>
          <p:cNvSpPr/>
          <p:nvPr/>
        </p:nvSpPr>
        <p:spPr>
          <a:xfrm>
            <a:off x="42672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Left BGZF blocks / divider 0 / segment 0"/>
          <p:cNvCxnSpPr/>
          <p:nvPr/>
        </p:nvCxnSpPr>
        <p:spPr>
          <a:xfrm>
            <a:off x="5090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9" name="Left BGZF blocks / 1"/>
          <p:cNvSpPr/>
          <p:nvPr/>
        </p:nvSpPr>
        <p:spPr>
          <a:xfrm>
            <a:off x="7543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Left BGZF blocks / divider 1 / segment 0"/>
          <p:cNvCxnSpPr/>
          <p:nvPr/>
        </p:nvCxnSpPr>
        <p:spPr>
          <a:xfrm>
            <a:off x="83667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1" name="Left BGZF blocks / 2"/>
          <p:cNvSpPr/>
          <p:nvPr/>
        </p:nvSpPr>
        <p:spPr>
          <a:xfrm>
            <a:off x="108204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eft BGZF blocks / divider 2 / segment 0"/>
          <p:cNvCxnSpPr/>
          <p:nvPr/>
        </p:nvCxnSpPr>
        <p:spPr>
          <a:xfrm>
            <a:off x="116433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 name="Left BGZF blocks / 3"/>
          <p:cNvSpPr/>
          <p:nvPr/>
        </p:nvSpPr>
        <p:spPr>
          <a:xfrm>
            <a:off x="14097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Left BGZF blocks / divider 3 / segment 0"/>
          <p:cNvCxnSpPr/>
          <p:nvPr/>
        </p:nvCxnSpPr>
        <p:spPr>
          <a:xfrm>
            <a:off x="14919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5" name="Left BGZF blocks / 4"/>
          <p:cNvSpPr/>
          <p:nvPr/>
        </p:nvSpPr>
        <p:spPr>
          <a:xfrm>
            <a:off x="17373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Left BGZF blocks / divider 4 / segment 0"/>
          <p:cNvCxnSpPr/>
          <p:nvPr/>
        </p:nvCxnSpPr>
        <p:spPr>
          <a:xfrm>
            <a:off x="18196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7" name="Left BGZF blocks / 5"/>
          <p:cNvSpPr/>
          <p:nvPr/>
        </p:nvSpPr>
        <p:spPr>
          <a:xfrm>
            <a:off x="20650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eft BGZF blocks / divider 5 / segment 0"/>
          <p:cNvCxnSpPr/>
          <p:nvPr/>
        </p:nvCxnSpPr>
        <p:spPr>
          <a:xfrm>
            <a:off x="21473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9" name="Right BGZF blocks / 0"/>
          <p:cNvSpPr/>
          <p:nvPr/>
        </p:nvSpPr>
        <p:spPr>
          <a:xfrm>
            <a:off x="26670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Right BGZF blocks / divider 0 / segment 0"/>
          <p:cNvCxnSpPr/>
          <p:nvPr/>
        </p:nvCxnSpPr>
        <p:spPr>
          <a:xfrm>
            <a:off x="27492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 name="Right BGZF blocks / 1"/>
          <p:cNvSpPr/>
          <p:nvPr/>
        </p:nvSpPr>
        <p:spPr>
          <a:xfrm>
            <a:off x="29946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Right BGZF blocks / divider 1 / segment 0"/>
          <p:cNvCxnSpPr/>
          <p:nvPr/>
        </p:nvCxnSpPr>
        <p:spPr>
          <a:xfrm>
            <a:off x="30769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3" name="Right BGZF blocks / 2"/>
          <p:cNvSpPr/>
          <p:nvPr/>
        </p:nvSpPr>
        <p:spPr>
          <a:xfrm>
            <a:off x="33223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ight BGZF blocks / divider 2 / segment 0"/>
          <p:cNvCxnSpPr/>
          <p:nvPr/>
        </p:nvCxnSpPr>
        <p:spPr>
          <a:xfrm>
            <a:off x="34046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5" name="Right BGZF blocks / 3"/>
          <p:cNvSpPr/>
          <p:nvPr/>
        </p:nvSpPr>
        <p:spPr>
          <a:xfrm>
            <a:off x="36499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Right BGZF blocks / divider 3 / segment 0"/>
          <p:cNvCxnSpPr/>
          <p:nvPr/>
        </p:nvCxnSpPr>
        <p:spPr>
          <a:xfrm>
            <a:off x="373227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 name="Right BGZF blocks / 4"/>
          <p:cNvSpPr/>
          <p:nvPr/>
        </p:nvSpPr>
        <p:spPr>
          <a:xfrm>
            <a:off x="3977639"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Right BGZF blocks / divider 4 / segment 0"/>
          <p:cNvCxnSpPr/>
          <p:nvPr/>
        </p:nvCxnSpPr>
        <p:spPr>
          <a:xfrm>
            <a:off x="405993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9" name="Right BGZF blocks / 5"/>
          <p:cNvSpPr/>
          <p:nvPr/>
        </p:nvSpPr>
        <p:spPr>
          <a:xfrm>
            <a:off x="430530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Right BGZF blocks / divider 5 / segment 0"/>
          <p:cNvCxnSpPr/>
          <p:nvPr/>
        </p:nvCxnSpPr>
        <p:spPr>
          <a:xfrm>
            <a:off x="43875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1" name="Rank partition cut / segment 0"/>
          <p:cNvCxnSpPr/>
          <p:nvPr/>
        </p:nvCxnSpPr>
        <p:spPr>
          <a:xfrm>
            <a:off x="2514600" y="1097280"/>
            <a:ext cx="0" cy="998219"/>
          </a:xfrm>
          <a:prstGeom prst="line">
            <a:avLst/>
          </a:prstGeom>
          <a:ln w="12954">
            <a:solidFill>
              <a:srgbClr val="17394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 name="Coordinate progress axis / segment 0"/>
          <p:cNvCxnSpPr/>
          <p:nvPr/>
        </p:nvCxnSpPr>
        <p:spPr>
          <a:xfrm>
            <a:off x="495299" y="1981199"/>
            <a:ext cx="4099561"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ordinate tick b−L / segment 0"/>
          <p:cNvCxnSpPr/>
          <p:nvPr/>
        </p:nvCxnSpPr>
        <p:spPr>
          <a:xfrm>
            <a:off x="172974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4" name="Coordinate label b−L"/>
          <p:cNvSpPr txBox="1"/>
          <p:nvPr/>
        </p:nvSpPr>
        <p:spPr>
          <a:xfrm>
            <a:off x="144780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5" name="Coordinate tick b / segment 0"/>
          <p:cNvCxnSpPr/>
          <p:nvPr/>
        </p:nvCxnSpPr>
        <p:spPr>
          <a:xfrm>
            <a:off x="25146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6" name="Coordinate label b"/>
          <p:cNvSpPr txBox="1"/>
          <p:nvPr/>
        </p:nvSpPr>
        <p:spPr>
          <a:xfrm>
            <a:off x="22326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t>
            </a:r>
            <a:endParaRPr sz="1140" b="0" i="0">
              <a:solidFill>
                <a:srgbClr val="172C36"/>
              </a:solidFill>
              <a:latin typeface="Arial" panose="020B0604020202020204"/>
            </a:endParaRPr>
          </a:p>
        </p:txBody>
      </p:sp>
      <p:cxnSp>
        <p:nvCxnSpPr>
          <p:cNvPr id="37" name="Coordinate tick b+L / segment 0"/>
          <p:cNvCxnSpPr/>
          <p:nvPr/>
        </p:nvCxnSpPr>
        <p:spPr>
          <a:xfrm>
            <a:off x="34671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8" name="Coordinate label b+L"/>
          <p:cNvSpPr txBox="1"/>
          <p:nvPr/>
        </p:nvSpPr>
        <p:spPr>
          <a:xfrm>
            <a:off x="31851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9" name="Probe halo extent / segment 0"/>
          <p:cNvCxnSpPr/>
          <p:nvPr/>
        </p:nvCxnSpPr>
        <p:spPr>
          <a:xfrm flipV="1">
            <a:off x="16764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0" name="Probe halo extent / segment 1"/>
          <p:cNvCxnSpPr/>
          <p:nvPr/>
        </p:nvCxnSpPr>
        <p:spPr>
          <a:xfrm>
            <a:off x="1676400" y="1790700"/>
            <a:ext cx="186690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1" name="Probe halo extent / segment 2"/>
          <p:cNvCxnSpPr/>
          <p:nvPr/>
        </p:nvCxnSpPr>
        <p:spPr>
          <a:xfrm>
            <a:off x="35433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42" name="Probe halo extent / label"/>
          <p:cNvSpPr txBox="1"/>
          <p:nvPr/>
        </p:nvSpPr>
        <p:spPr>
          <a:xfrm>
            <a:off x="1676400" y="1577340"/>
            <a:ext cx="1866899"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Boundary region</a:t>
            </a:r>
            <a:endParaRPr sz="1080" b="0" i="0">
              <a:solidFill>
                <a:srgbClr val="57834A"/>
              </a:solidFill>
              <a:latin typeface="Arial" panose="020B0604020202020204"/>
            </a:endParaRPr>
          </a:p>
        </p:txBody>
      </p:sp>
      <p:sp>
        <p:nvSpPr>
          <p:cNvPr id="43" name="Probe extraction note"/>
          <p:cNvSpPr txBox="1"/>
          <p:nvPr/>
        </p:nvSpPr>
        <p:spPr>
          <a:xfrm>
            <a:off x="457200" y="2415540"/>
            <a:ext cx="4145280" cy="3505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CPE decompression and candidate extraction</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Exchange candidate metadata, not full BAM records</a:t>
            </a:r>
            <a:endParaRPr sz="1080" b="0" i="0">
              <a:solidFill>
                <a:srgbClr val="172C36"/>
              </a:solidFill>
              <a:latin typeface="Arial" panose="020B0604020202020204"/>
            </a:endParaRPr>
          </a:p>
        </p:txBody>
      </p:sp>
      <p:cxnSp>
        <p:nvCxnSpPr>
          <p:cNvPr id="44" name="Probe to collective coverage / segment 0"/>
          <p:cNvCxnSpPr/>
          <p:nvPr/>
        </p:nvCxnSpPr>
        <p:spPr>
          <a:xfrm>
            <a:off x="4853940" y="1661160"/>
            <a:ext cx="3733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All ranks covered diamond"/>
          <p:cNvSpPr/>
          <p:nvPr/>
        </p:nvSpPr>
        <p:spPr>
          <a:xfrm>
            <a:off x="5234940" y="1234440"/>
            <a:ext cx="1264920" cy="853440"/>
          </a:xfrm>
          <a:prstGeom prst="diamond">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verage check text"/>
          <p:cNvSpPr txBox="1"/>
          <p:nvPr/>
        </p:nvSpPr>
        <p:spPr>
          <a:xfrm>
            <a:off x="5387340" y="1424940"/>
            <a:ext cx="960120" cy="48006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Full coverage</a:t>
            </a:r>
            <a:endParaRPr sz="1140" b="1" i="0">
              <a:solidFill>
                <a:srgbClr val="172C36"/>
              </a:solidFill>
              <a:latin typeface="Arial" panose="020B0604020202020204"/>
            </a:endParaRPr>
          </a:p>
          <a:p>
            <a:pPr algn="ctr">
              <a:lnSpc>
                <a:spcPts val="1210"/>
              </a:lnSpc>
              <a:spcBef>
                <a:spcPts val="0"/>
              </a:spcBef>
              <a:spcAft>
                <a:spcPts val="0"/>
              </a:spcAft>
            </a:pPr>
            <a:r>
              <a:rPr sz="1080" b="1" i="0">
                <a:solidFill>
                  <a:srgbClr val="172C36"/>
                </a:solidFill>
                <a:latin typeface="Arial" panose="020B0604020202020204"/>
              </a:rPr>
              <a:t>on all ranks?</a:t>
            </a:r>
            <a:endParaRPr sz="1080" b="1" i="0">
              <a:solidFill>
                <a:srgbClr val="172C36"/>
              </a:solidFill>
              <a:latin typeface="Arial" panose="020B0604020202020204"/>
            </a:endParaRPr>
          </a:p>
        </p:txBody>
      </p:sp>
      <p:cxnSp>
        <p:nvCxnSpPr>
          <p:cNvPr id="47" name="Covered to owner resolution / segment 0"/>
          <p:cNvCxnSpPr/>
          <p:nvPr/>
        </p:nvCxnSpPr>
        <p:spPr>
          <a:xfrm>
            <a:off x="6499860" y="1661160"/>
            <a:ext cx="3886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Coverage yes"/>
          <p:cNvSpPr txBox="1"/>
          <p:nvPr/>
        </p:nvSpPr>
        <p:spPr>
          <a:xfrm>
            <a:off x="6522720" y="1348740"/>
            <a:ext cx="3657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Yes</a:t>
            </a:r>
            <a:endParaRPr sz="1080" b="0" i="0">
              <a:solidFill>
                <a:srgbClr val="57834A"/>
              </a:solidFill>
              <a:latin typeface="Arial" panose="020B0604020202020204"/>
            </a:endParaRPr>
          </a:p>
        </p:txBody>
      </p:sp>
      <p:sp>
        <p:nvSpPr>
          <p:cNvPr id="49" name="Boundary owner resolution"/>
          <p:cNvSpPr/>
          <p:nvPr/>
        </p:nvSpPr>
        <p:spPr>
          <a:xfrm>
            <a:off x="6918960" y="701040"/>
            <a:ext cx="2446020" cy="1889760"/>
          </a:xfrm>
          <a:prstGeom prst="roundRect">
            <a:avLst>
              <a:gd name="adj" fmla="val 4838"/>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undary owner resolution / heading"/>
          <p:cNvSpPr txBox="1"/>
          <p:nvPr/>
        </p:nvSpPr>
        <p:spPr>
          <a:xfrm>
            <a:off x="7033260" y="777240"/>
            <a:ext cx="2217420" cy="22860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72C36"/>
                </a:solidFill>
                <a:latin typeface="Arial" panose="020B0604020202020204"/>
              </a:rPr>
              <a:t>Coordinate owner rank</a:t>
            </a:r>
            <a:endParaRPr sz="1440" b="1" i="0">
              <a:solidFill>
                <a:srgbClr val="172C36"/>
              </a:solidFill>
              <a:latin typeface="Arial" panose="020B0604020202020204"/>
            </a:endParaRPr>
          </a:p>
        </p:txBody>
      </p:sp>
      <p:grpSp>
        <p:nvGrpSpPr>
          <p:cNvPr id="53" name="Left candidate [editable group]"/>
          <p:cNvGrpSpPr/>
          <p:nvPr/>
        </p:nvGrpSpPr>
        <p:grpSpPr>
          <a:xfrm>
            <a:off x="7078980" y="1150620"/>
            <a:ext cx="2110740" cy="381000"/>
            <a:chOff x="7078980" y="1150620"/>
            <a:chExt cx="2110740" cy="381000"/>
          </a:xfrm>
        </p:grpSpPr>
        <p:sp>
          <p:nvSpPr>
            <p:cNvPr id="51" name="Left candidate"/>
            <p:cNvSpPr/>
            <p:nvPr/>
          </p:nvSpPr>
          <p:spPr>
            <a:xfrm>
              <a:off x="7078980" y="1150620"/>
              <a:ext cx="2110740" cy="3810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candidate / label"/>
            <p:cNvSpPr txBox="1"/>
            <p:nvPr/>
          </p:nvSpPr>
          <p:spPr>
            <a:xfrm>
              <a:off x="7124700" y="117348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r−1: key k  |  score 70</a:t>
              </a:r>
              <a:endParaRPr sz="1140" b="0" i="0">
                <a:solidFill>
                  <a:srgbClr val="172C36"/>
                </a:solidFill>
                <a:latin typeface="Arial" panose="020B0604020202020204"/>
              </a:endParaRPr>
            </a:p>
          </p:txBody>
        </p:sp>
      </p:grpSp>
      <p:grpSp>
        <p:nvGrpSpPr>
          <p:cNvPr id="56" name="Right candidate [editable group]"/>
          <p:cNvGrpSpPr/>
          <p:nvPr/>
        </p:nvGrpSpPr>
        <p:grpSpPr>
          <a:xfrm>
            <a:off x="7078980" y="1638300"/>
            <a:ext cx="2110740" cy="381000"/>
            <a:chOff x="7078980" y="1638300"/>
            <a:chExt cx="2110740" cy="381000"/>
          </a:xfrm>
        </p:grpSpPr>
        <p:sp>
          <p:nvSpPr>
            <p:cNvPr id="54" name="Right candidate"/>
            <p:cNvSpPr/>
            <p:nvPr/>
          </p:nvSpPr>
          <p:spPr>
            <a:xfrm>
              <a:off x="7078980" y="1638300"/>
              <a:ext cx="211074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candidate / label"/>
            <p:cNvSpPr txBox="1"/>
            <p:nvPr/>
          </p:nvSpPr>
          <p:spPr>
            <a:xfrm>
              <a:off x="7124700" y="166116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 key k  |  score 60</a:t>
              </a:r>
              <a:endParaRPr sz="1140" b="0" i="0">
                <a:solidFill>
                  <a:srgbClr val="172C36"/>
                </a:solidFill>
                <a:latin typeface="Arial" panose="020B0604020202020204"/>
              </a:endParaRPr>
            </a:p>
          </p:txBody>
        </p:sp>
      </p:grpSp>
      <p:sp>
        <p:nvSpPr>
          <p:cNvPr id="57" name="Resolve same duplicate key"/>
          <p:cNvSpPr txBox="1"/>
          <p:nvPr/>
        </p:nvSpPr>
        <p:spPr>
          <a:xfrm>
            <a:off x="7086600" y="2194560"/>
            <a:ext cx="210312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Resolve matching candidates</a:t>
            </a:r>
            <a:endParaRPr sz="1140" b="1" i="0">
              <a:solidFill>
                <a:srgbClr val="172C36"/>
              </a:solidFill>
              <a:latin typeface="Arial" panose="020B0604020202020204"/>
            </a:endParaRPr>
          </a:p>
        </p:txBody>
      </p:sp>
      <p:cxnSp>
        <p:nvCxnSpPr>
          <p:cNvPr id="58" name="Return boundary decisions / segment 0"/>
          <p:cNvCxnSpPr/>
          <p:nvPr/>
        </p:nvCxnSpPr>
        <p:spPr>
          <a:xfrm>
            <a:off x="9364980" y="1661160"/>
            <a:ext cx="4191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eturn label"/>
          <p:cNvSpPr txBox="1"/>
          <p:nvPr/>
        </p:nvSpPr>
        <p:spPr>
          <a:xfrm>
            <a:off x="9403080" y="1348740"/>
            <a:ext cx="403860" cy="19050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Return</a:t>
            </a:r>
            <a:endParaRPr sz="960" b="0" i="0">
              <a:solidFill>
                <a:srgbClr val="172C36"/>
              </a:solidFill>
              <a:latin typeface="Arial" panose="020B0604020202020204"/>
            </a:endParaRPr>
          </a:p>
        </p:txBody>
      </p:sp>
      <p:sp>
        <p:nvSpPr>
          <p:cNvPr id="60" name="Boundary decisions"/>
          <p:cNvSpPr/>
          <p:nvPr/>
        </p:nvSpPr>
        <p:spPr>
          <a:xfrm>
            <a:off x="9806940" y="701040"/>
            <a:ext cx="2164080" cy="1889760"/>
          </a:xfrm>
          <a:prstGeom prst="roundRect">
            <a:avLst>
              <a:gd name="adj" fmla="val 483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undary decisions / heading"/>
          <p:cNvSpPr txBox="1"/>
          <p:nvPr/>
        </p:nvSpPr>
        <p:spPr>
          <a:xfrm>
            <a:off x="9921240" y="777240"/>
            <a:ext cx="1935480" cy="228600"/>
          </a:xfrm>
          <a:prstGeom prst="rect">
            <a:avLst/>
          </a:prstGeom>
          <a:noFill/>
        </p:spPr>
        <p:txBody>
          <a:bodyPr wrap="none" lIns="0" tIns="0" rIns="0" bIns="0" anchor="ctr">
            <a:noAutofit/>
          </a:bodyPr>
          <a:lstStyle/>
          <a:p>
            <a:pPr algn="l">
              <a:lnSpc>
                <a:spcPts val="1480"/>
              </a:lnSpc>
              <a:spcBef>
                <a:spcPts val="0"/>
              </a:spcBef>
              <a:spcAft>
                <a:spcPts val="0"/>
              </a:spcAft>
            </a:pPr>
            <a:r>
              <a:rPr sz="1320" b="1" i="0">
                <a:solidFill>
                  <a:srgbClr val="172C36"/>
                </a:solidFill>
                <a:latin typeface="Arial" panose="020B0604020202020204"/>
              </a:rPr>
              <a:t>Boundary decisions Hᵣ</a:t>
            </a:r>
            <a:endParaRPr sz="1440" b="1" i="0">
              <a:solidFill>
                <a:srgbClr val="172C36"/>
              </a:solidFill>
              <a:latin typeface="Arial" panose="020B0604020202020204"/>
            </a:endParaRPr>
          </a:p>
        </p:txBody>
      </p:sp>
      <p:grpSp>
        <p:nvGrpSpPr>
          <p:cNvPr id="64" name="Pre resolved keep [editable group]"/>
          <p:cNvGrpSpPr/>
          <p:nvPr/>
        </p:nvGrpSpPr>
        <p:grpSpPr>
          <a:xfrm>
            <a:off x="9966960" y="1150620"/>
            <a:ext cx="1836420" cy="381000"/>
            <a:chOff x="9966960" y="1150620"/>
            <a:chExt cx="1836420" cy="381000"/>
          </a:xfrm>
        </p:grpSpPr>
        <p:sp>
          <p:nvSpPr>
            <p:cNvPr id="62" name="Pre resolved keep"/>
            <p:cNvSpPr/>
            <p:nvPr/>
          </p:nvSpPr>
          <p:spPr>
            <a:xfrm>
              <a:off x="9966960" y="1150620"/>
              <a:ext cx="1836420" cy="3810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e resolved keep / label"/>
            <p:cNvSpPr txBox="1"/>
            <p:nvPr/>
          </p:nvSpPr>
          <p:spPr>
            <a:xfrm>
              <a:off x="10012680" y="117348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r−1   :   KEEP</a:t>
              </a:r>
              <a:endParaRPr sz="1260" b="1" i="0">
                <a:solidFill>
                  <a:srgbClr val="172C36"/>
                </a:solidFill>
                <a:latin typeface="Arial" panose="020B0604020202020204"/>
              </a:endParaRPr>
            </a:p>
          </p:txBody>
        </p:sp>
      </p:grpSp>
      <p:grpSp>
        <p:nvGrpSpPr>
          <p:cNvPr id="67" name="Pre resolved duplicate [editable group]"/>
          <p:cNvGrpSpPr/>
          <p:nvPr/>
        </p:nvGrpSpPr>
        <p:grpSpPr>
          <a:xfrm>
            <a:off x="9966960" y="1638300"/>
            <a:ext cx="1836420" cy="381000"/>
            <a:chOff x="9966960" y="1638300"/>
            <a:chExt cx="1836420" cy="381000"/>
          </a:xfrm>
        </p:grpSpPr>
        <p:sp>
          <p:nvSpPr>
            <p:cNvPr id="65" name="Pre resolved duplicate"/>
            <p:cNvSpPr/>
            <p:nvPr/>
          </p:nvSpPr>
          <p:spPr>
            <a:xfrm>
              <a:off x="9966960" y="1638300"/>
              <a:ext cx="183642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e resolved duplicate / label"/>
            <p:cNvSpPr txBox="1"/>
            <p:nvPr/>
          </p:nvSpPr>
          <p:spPr>
            <a:xfrm>
              <a:off x="10012680" y="166116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      :   DUP</a:t>
              </a:r>
              <a:endParaRPr sz="1260" b="1" i="0">
                <a:solidFill>
                  <a:srgbClr val="172C36"/>
                </a:solidFill>
                <a:latin typeface="Arial" panose="020B0604020202020204"/>
              </a:endParaRPr>
            </a:p>
          </p:txBody>
        </p:sp>
      </p:grpSp>
      <p:sp>
        <p:nvSpPr>
          <p:cNvPr id="68" name="Boundary decision indexing"/>
          <p:cNvSpPr txBox="1"/>
          <p:nvPr/>
        </p:nvSpPr>
        <p:spPr>
          <a:xfrm>
            <a:off x="9951720" y="2194560"/>
            <a:ext cx="185928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Indexed by source record ID</a:t>
            </a:r>
            <a:endParaRPr sz="1080" b="0" i="0">
              <a:solidFill>
                <a:srgbClr val="172C36"/>
              </a:solidFill>
              <a:latin typeface="Arial" panose="020B0604020202020204"/>
            </a:endParaRPr>
          </a:p>
        </p:txBody>
      </p:sp>
      <p:cxnSp>
        <p:nvCxnSpPr>
          <p:cNvPr id="69" name="Coverage failure fallback / segment 0"/>
          <p:cNvCxnSpPr/>
          <p:nvPr/>
        </p:nvCxnSpPr>
        <p:spPr>
          <a:xfrm>
            <a:off x="5867400" y="2087880"/>
            <a:ext cx="0" cy="708660"/>
          </a:xfrm>
          <a:prstGeom prst="line">
            <a:avLst/>
          </a:prstGeom>
          <a:ln w="13716">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Coverage failure fallback / segment 1"/>
          <p:cNvCxnSpPr/>
          <p:nvPr/>
        </p:nvCxnSpPr>
        <p:spPr>
          <a:xfrm>
            <a:off x="5867400" y="2796540"/>
            <a:ext cx="731520" cy="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Failure label"/>
          <p:cNvSpPr txBox="1"/>
          <p:nvPr/>
        </p:nvSpPr>
        <p:spPr>
          <a:xfrm>
            <a:off x="5882640" y="2194560"/>
            <a:ext cx="5181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9A7625"/>
                </a:solidFill>
                <a:latin typeface="Arial" panose="020B0604020202020204"/>
              </a:rPr>
              <a:t>No</a:t>
            </a:r>
            <a:endParaRPr sz="1080" b="0" i="0">
              <a:solidFill>
                <a:srgbClr val="9A7625"/>
              </a:solidFill>
              <a:latin typeface="Arial" panose="020B0604020202020204"/>
            </a:endParaRPr>
          </a:p>
        </p:txBody>
      </p:sp>
      <p:sp>
        <p:nvSpPr>
          <p:cNvPr id="72" name="Conservative fallback"/>
          <p:cNvSpPr txBox="1"/>
          <p:nvPr/>
        </p:nvSpPr>
        <p:spPr>
          <a:xfrm>
            <a:off x="6682740" y="2644140"/>
            <a:ext cx="5044440" cy="365760"/>
          </a:xfrm>
          <a:prstGeom prst="rect">
            <a:avLst/>
          </a:prstGeom>
          <a:noFill/>
        </p:spPr>
        <p:txBody>
          <a:bodyPr wrap="none" lIns="0" tIns="0" rIns="0" bIns="0" anchor="ctr">
            <a:noAutofit/>
          </a:bodyPr>
          <a:lstStyle/>
          <a:p>
            <a:pPr algn="l">
              <a:lnSpc>
                <a:spcPts val="1275"/>
              </a:lnSpc>
              <a:spcBef>
                <a:spcPts val="0"/>
              </a:spcBef>
              <a:spcAft>
                <a:spcPts val="0"/>
              </a:spcAft>
            </a:pPr>
            <a:r>
              <a:rPr sz="1140" b="0" i="0">
                <a:solidFill>
                  <a:srgbClr val="9A7625"/>
                </a:solidFill>
                <a:latin typeface="Arial" panose="020B0604020202020204"/>
              </a:rPr>
              <a:t>Retain boundary candidates</a:t>
            </a:r>
            <a:endParaRPr sz="1140" b="0" i="0">
              <a:solidFill>
                <a:srgbClr val="9A7625"/>
              </a:solidFill>
              <a:latin typeface="Arial" panose="020B0604020202020204"/>
            </a:endParaRPr>
          </a:p>
          <a:p>
            <a:pPr algn="l">
              <a:lnSpc>
                <a:spcPts val="1275"/>
              </a:lnSpc>
              <a:spcBef>
                <a:spcPts val="0"/>
              </a:spcBef>
              <a:spcAft>
                <a:spcPts val="0"/>
              </a:spcAft>
            </a:pPr>
            <a:r>
              <a:rPr sz="1140" b="0" i="0">
                <a:solidFill>
                  <a:srgbClr val="9A7625"/>
                </a:solidFill>
                <a:latin typeface="Arial" panose="020B0604020202020204"/>
              </a:rPr>
              <a:t>in the conservative window</a:t>
            </a:r>
            <a:endParaRPr sz="1140" b="0" i="0">
              <a:solidFill>
                <a:srgbClr val="9A7625"/>
              </a:solidFill>
              <a:latin typeface="Arial" panose="020B0604020202020204"/>
            </a:endParaRPr>
          </a:p>
        </p:txBody>
      </p:sp>
      <p:sp>
        <p:nvSpPr>
          <p:cNvPr id="73" name="(b) Retain decoded blocks; emit only the finalized prefix"/>
          <p:cNvSpPr txBox="1"/>
          <p:nvPr/>
        </p:nvSpPr>
        <p:spPr>
          <a:xfrm>
            <a:off x="228600" y="31699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Mark duplicates and write finalized blocks in order</a:t>
            </a:r>
            <a:endParaRPr sz="1560" b="1" i="0">
              <a:solidFill>
                <a:srgbClr val="172C36"/>
              </a:solidFill>
              <a:latin typeface="Arial" panose="020B0604020202020204"/>
            </a:endParaRPr>
          </a:p>
        </p:txBody>
      </p:sp>
      <p:sp>
        <p:nvSpPr>
          <p:cNvPr id="74" name="Main read and candidate extraction"/>
          <p:cNvSpPr/>
          <p:nvPr/>
        </p:nvSpPr>
        <p:spPr>
          <a:xfrm>
            <a:off x="228600" y="3886200"/>
            <a:ext cx="2049780" cy="838200"/>
          </a:xfrm>
          <a:prstGeom prst="roundRect">
            <a:avLst>
              <a:gd name="adj" fmla="val 10909"/>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ain read and candidate extraction / heading"/>
          <p:cNvSpPr txBox="1"/>
          <p:nvPr/>
        </p:nvSpPr>
        <p:spPr>
          <a:xfrm>
            <a:off x="342900" y="3962399"/>
            <a:ext cx="1821180" cy="22860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Decode + extract (CPE)</a:t>
            </a:r>
            <a:endParaRPr sz="1440" b="1" i="0">
              <a:solidFill>
                <a:srgbClr val="172C36"/>
              </a:solidFill>
              <a:latin typeface="Arial" panose="020B0604020202020204"/>
            </a:endParaRPr>
          </a:p>
        </p:txBody>
      </p:sp>
      <p:sp>
        <p:nvSpPr>
          <p:cNvPr id="76" name="Decode extraction text"/>
          <p:cNvSpPr txBox="1"/>
          <p:nvPr/>
        </p:nvSpPr>
        <p:spPr>
          <a:xfrm>
            <a:off x="335280" y="4221480"/>
            <a:ext cx="1828800" cy="41910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Decoded blocks B</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Candidates C</a:t>
            </a:r>
            <a:endParaRPr sz="1200" b="0" i="0">
              <a:solidFill>
                <a:srgbClr val="172C36"/>
              </a:solidFill>
              <a:latin typeface="Arial" panose="020B0604020202020204"/>
            </a:endParaRPr>
          </a:p>
        </p:txBody>
      </p:sp>
      <p:cxnSp>
        <p:nvCxnSpPr>
          <p:cNvPr id="77" name="Local candidate handoff / segment 0"/>
          <p:cNvCxnSpPr/>
          <p:nvPr/>
        </p:nvCxnSpPr>
        <p:spPr>
          <a:xfrm>
            <a:off x="2278380" y="4282440"/>
            <a:ext cx="8229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8" name="Local candidate label"/>
          <p:cNvSpPr txBox="1"/>
          <p:nvPr/>
        </p:nvSpPr>
        <p:spPr>
          <a:xfrm>
            <a:off x="2621280" y="4351020"/>
            <a:ext cx="46482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Local C</a:t>
            </a:r>
            <a:endParaRPr sz="960" b="0" i="0">
              <a:solidFill>
                <a:srgbClr val="172C36"/>
              </a:solidFill>
              <a:latin typeface="Arial" panose="020B0604020202020204"/>
            </a:endParaRPr>
          </a:p>
        </p:txBody>
      </p:sp>
      <p:sp>
        <p:nvSpPr>
          <p:cNvPr id="79" name="Active candidate window"/>
          <p:cNvSpPr/>
          <p:nvPr/>
        </p:nvSpPr>
        <p:spPr>
          <a:xfrm>
            <a:off x="3101340" y="3886200"/>
            <a:ext cx="2865120" cy="838200"/>
          </a:xfrm>
          <a:prstGeom prst="roundRect">
            <a:avLst>
              <a:gd name="adj" fmla="val 10909"/>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ctive candidate window / heading"/>
          <p:cNvSpPr txBox="1"/>
          <p:nvPr/>
        </p:nvSpPr>
        <p:spPr>
          <a:xfrm>
            <a:off x="3215640" y="3962399"/>
            <a:ext cx="26365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Candidate window Wᵣ</a:t>
            </a:r>
            <a:endParaRPr sz="1440" b="1" i="0">
              <a:solidFill>
                <a:srgbClr val="172C36"/>
              </a:solidFill>
              <a:latin typeface="Arial" panose="020B0604020202020204"/>
            </a:endParaRPr>
          </a:p>
        </p:txBody>
      </p:sp>
      <p:sp>
        <p:nvSpPr>
          <p:cNvPr id="81" name="Owner candidate inputs"/>
          <p:cNvSpPr txBox="1"/>
          <p:nvPr/>
        </p:nvSpPr>
        <p:spPr>
          <a:xfrm>
            <a:off x="3238500" y="4190999"/>
            <a:ext cx="25755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57834A"/>
                </a:solidFill>
                <a:latin typeface="Arial" panose="020B0604020202020204"/>
              </a:rPr>
              <a:t>Local and received candidates</a:t>
            </a:r>
            <a:endParaRPr sz="1020" b="0" i="0">
              <a:solidFill>
                <a:srgbClr val="57834A"/>
              </a:solidFill>
              <a:latin typeface="Arial" panose="020B0604020202020204"/>
            </a:endParaRPr>
          </a:p>
        </p:txBody>
      </p:sp>
      <p:grpSp>
        <p:nvGrpSpPr>
          <p:cNvPr id="84" name="Paired window state [editable group]"/>
          <p:cNvGrpSpPr/>
          <p:nvPr/>
        </p:nvGrpSpPr>
        <p:grpSpPr>
          <a:xfrm>
            <a:off x="3238500" y="4404360"/>
            <a:ext cx="1203960" cy="228600"/>
            <a:chOff x="3238500" y="4404360"/>
            <a:chExt cx="1203960" cy="228600"/>
          </a:xfrm>
        </p:grpSpPr>
        <p:sp>
          <p:nvSpPr>
            <p:cNvPr id="82" name="Paired window state"/>
            <p:cNvSpPr/>
            <p:nvPr/>
          </p:nvSpPr>
          <p:spPr>
            <a:xfrm>
              <a:off x="323850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ired window state / label"/>
            <p:cNvSpPr txBox="1"/>
            <p:nvPr/>
          </p:nvSpPr>
          <p:spPr>
            <a:xfrm>
              <a:off x="3284220" y="4427220"/>
              <a:ext cx="1112520" cy="1828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Pair keys</a:t>
              </a:r>
              <a:endParaRPr sz="1140" b="0" i="0">
                <a:solidFill>
                  <a:srgbClr val="172C36"/>
                </a:solidFill>
                <a:latin typeface="Arial" panose="020B0604020202020204"/>
              </a:endParaRPr>
            </a:p>
          </p:txBody>
        </p:sp>
      </p:grpSp>
      <p:grpSp>
        <p:nvGrpSpPr>
          <p:cNvPr id="87" name="Single window state [editable group]"/>
          <p:cNvGrpSpPr/>
          <p:nvPr/>
        </p:nvGrpSpPr>
        <p:grpSpPr>
          <a:xfrm>
            <a:off x="4602480" y="4404360"/>
            <a:ext cx="1203960" cy="228600"/>
            <a:chOff x="4602480" y="4404360"/>
            <a:chExt cx="1203960" cy="228600"/>
          </a:xfrm>
        </p:grpSpPr>
        <p:sp>
          <p:nvSpPr>
            <p:cNvPr id="85" name="Single window state"/>
            <p:cNvSpPr/>
            <p:nvPr/>
          </p:nvSpPr>
          <p:spPr>
            <a:xfrm>
              <a:off x="460248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ingle window state / label"/>
            <p:cNvSpPr txBox="1"/>
            <p:nvPr/>
          </p:nvSpPr>
          <p:spPr>
            <a:xfrm>
              <a:off x="4648200" y="4427220"/>
              <a:ext cx="11125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Single-read keys</a:t>
              </a:r>
              <a:endParaRPr sz="1140" b="0" i="0">
                <a:solidFill>
                  <a:srgbClr val="172C36"/>
                </a:solidFill>
                <a:latin typeface="Arial" panose="020B0604020202020204"/>
              </a:endParaRPr>
            </a:p>
          </p:txBody>
        </p:sp>
      </p:grpSp>
      <p:sp>
        <p:nvSpPr>
          <p:cNvPr id="88" name="Exclude already pre resolved"/>
          <p:cNvSpPr txBox="1"/>
          <p:nvPr/>
        </p:nvSpPr>
        <p:spPr>
          <a:xfrm>
            <a:off x="2727960" y="3413760"/>
            <a:ext cx="345186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61727A"/>
                </a:solidFill>
                <a:latin typeface="Arial" panose="020B0604020202020204"/>
              </a:rPr>
              <a:t>Exclude candidates resolved by Hᵣ</a:t>
            </a:r>
            <a:endParaRPr sz="1080" b="0" i="0">
              <a:solidFill>
                <a:srgbClr val="61727A"/>
              </a:solidFill>
              <a:latin typeface="Arial" panose="020B0604020202020204"/>
            </a:endParaRPr>
          </a:p>
        </p:txBody>
      </p:sp>
      <p:sp>
        <p:nvSpPr>
          <p:cNvPr id="89" name="Remote owners"/>
          <p:cNvSpPr/>
          <p:nvPr/>
        </p:nvSpPr>
        <p:spPr>
          <a:xfrm>
            <a:off x="7231380" y="3886200"/>
            <a:ext cx="1958340" cy="838200"/>
          </a:xfrm>
          <a:prstGeom prst="roundRect">
            <a:avLst>
              <a:gd name="adj" fmla="val 10909"/>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mote owners / heading"/>
          <p:cNvSpPr txBox="1"/>
          <p:nvPr/>
        </p:nvSpPr>
        <p:spPr>
          <a:xfrm>
            <a:off x="7345680" y="3962399"/>
            <a:ext cx="1729740" cy="22860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Remote owner ranks</a:t>
            </a:r>
            <a:endParaRPr sz="1440" b="1" i="0">
              <a:solidFill>
                <a:srgbClr val="172C36"/>
              </a:solidFill>
              <a:latin typeface="Arial" panose="020B0604020202020204"/>
            </a:endParaRPr>
          </a:p>
        </p:txBody>
      </p:sp>
      <p:sp>
        <p:nvSpPr>
          <p:cNvPr id="91" name="Remote owner action"/>
          <p:cNvSpPr txBox="1"/>
          <p:nvPr/>
        </p:nvSpPr>
        <p:spPr>
          <a:xfrm>
            <a:off x="7330440" y="4221480"/>
            <a:ext cx="1767840" cy="4038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Resolve duplicate keys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Return decisions</a:t>
            </a:r>
            <a:endParaRPr sz="1080" b="0" i="0">
              <a:solidFill>
                <a:srgbClr val="172C36"/>
              </a:solidFill>
              <a:latin typeface="Arial" panose="020B0604020202020204"/>
            </a:endParaRPr>
          </a:p>
        </p:txBody>
      </p:sp>
      <p:cxnSp>
        <p:nvCxnSpPr>
          <p:cNvPr id="92" name="Remote candidate routing / segment 0"/>
          <p:cNvCxnSpPr/>
          <p:nvPr/>
        </p:nvCxnSpPr>
        <p:spPr>
          <a:xfrm flipV="1">
            <a:off x="2567940" y="3649980"/>
            <a:ext cx="0" cy="63246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3" name="Remote candidate routing / segment 1"/>
          <p:cNvCxnSpPr/>
          <p:nvPr/>
        </p:nvCxnSpPr>
        <p:spPr>
          <a:xfrm>
            <a:off x="2567940" y="3649980"/>
            <a:ext cx="5646419" cy="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4" name="Remote candidate routing / segment 2"/>
          <p:cNvCxnSpPr/>
          <p:nvPr/>
        </p:nvCxnSpPr>
        <p:spPr>
          <a:xfrm>
            <a:off x="8214359" y="3649980"/>
            <a:ext cx="0" cy="220980"/>
          </a:xfrm>
          <a:prstGeom prst="line">
            <a:avLst/>
          </a:prstGeom>
          <a:ln w="13716">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5" name="Remote candidates label"/>
          <p:cNvSpPr txBox="1"/>
          <p:nvPr/>
        </p:nvSpPr>
        <p:spPr>
          <a:xfrm>
            <a:off x="6911340" y="3413760"/>
            <a:ext cx="17678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7A6198"/>
                </a:solidFill>
                <a:latin typeface="Arial" panose="020B0604020202020204"/>
              </a:rPr>
              <a:t>Remote candidates</a:t>
            </a:r>
            <a:endParaRPr sz="1080" b="0" i="0">
              <a:solidFill>
                <a:srgbClr val="7A6198"/>
              </a:solidFill>
              <a:latin typeface="Arial" panose="020B0604020202020204"/>
            </a:endParaRPr>
          </a:p>
        </p:txBody>
      </p:sp>
      <p:cxnSp>
        <p:nvCxnSpPr>
          <p:cNvPr id="96" name="Remote decisions apply / segment 0"/>
          <p:cNvCxnSpPr/>
          <p:nvPr/>
        </p:nvCxnSpPr>
        <p:spPr>
          <a:xfrm>
            <a:off x="8214359" y="4724400"/>
            <a:ext cx="0" cy="411480"/>
          </a:xfrm>
          <a:prstGeom prst="line">
            <a:avLst/>
          </a:prstGeom>
          <a:ln w="13716">
            <a:solidFill>
              <a:srgbClr val="7A61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97" name="Remote decision label"/>
          <p:cNvSpPr txBox="1"/>
          <p:nvPr/>
        </p:nvSpPr>
        <p:spPr>
          <a:xfrm>
            <a:off x="8305800" y="4876800"/>
            <a:ext cx="1615440" cy="18288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7A6198"/>
                </a:solidFill>
                <a:latin typeface="Arial" panose="020B0604020202020204"/>
              </a:rPr>
              <a:t>Returned decisions</a:t>
            </a:r>
            <a:endParaRPr sz="1020" b="0" i="0">
              <a:solidFill>
                <a:srgbClr val="7A6198"/>
              </a:solidFill>
              <a:latin typeface="Arial" panose="020B0604020202020204"/>
            </a:endParaRPr>
          </a:p>
        </p:txBody>
      </p:sp>
      <p:grpSp>
        <p:nvGrpSpPr>
          <p:cNvPr id="100" name="Apply cached H [editable group]"/>
          <p:cNvGrpSpPr/>
          <p:nvPr/>
        </p:nvGrpSpPr>
        <p:grpSpPr>
          <a:xfrm>
            <a:off x="9707880" y="3886200"/>
            <a:ext cx="2255520" cy="762000"/>
            <a:chOff x="9707880" y="3886200"/>
            <a:chExt cx="2255520" cy="762000"/>
          </a:xfrm>
        </p:grpSpPr>
        <p:sp>
          <p:nvSpPr>
            <p:cNvPr id="98" name="Apply cached H"/>
            <p:cNvSpPr/>
            <p:nvPr/>
          </p:nvSpPr>
          <p:spPr>
            <a:xfrm>
              <a:off x="9707880" y="3886200"/>
              <a:ext cx="2255520" cy="762000"/>
            </a:xfrm>
            <a:prstGeom prst="roundRect">
              <a:avLst>
                <a:gd name="adj" fmla="val 8000"/>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pply cached H / label"/>
            <p:cNvSpPr txBox="1"/>
            <p:nvPr/>
          </p:nvSpPr>
          <p:spPr>
            <a:xfrm>
              <a:off x="9753600" y="3909060"/>
              <a:ext cx="2164080" cy="716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Apply boundary decisions</a:t>
              </a:r>
              <a:endParaRPr sz="1320" b="1" i="0">
                <a:solidFill>
                  <a:srgbClr val="172C36"/>
                </a:solidFill>
                <a:latin typeface="Arial" panose="020B0604020202020204"/>
              </a:endParaRPr>
            </a:p>
            <a:p>
              <a:pPr algn="ctr">
                <a:lnSpc>
                  <a:spcPts val="1410"/>
                </a:lnSpc>
                <a:spcBef>
                  <a:spcPts val="0"/>
                </a:spcBef>
                <a:spcAft>
                  <a:spcPts val="0"/>
                </a:spcAft>
              </a:pPr>
              <a:r>
                <a:rPr sz="1260" b="1" i="0">
                  <a:solidFill>
                    <a:srgbClr val="172C36"/>
                  </a:solidFill>
                  <a:latin typeface="Arial" panose="020B0604020202020204"/>
                </a:rPr>
                <a:t>Hᵣ: KEEP / DUP</a:t>
              </a:r>
              <a:endParaRPr sz="1260" b="1" i="0">
                <a:solidFill>
                  <a:srgbClr val="172C36"/>
                </a:solidFill>
                <a:latin typeface="Arial" panose="020B0604020202020204"/>
              </a:endParaRPr>
            </a:p>
          </p:txBody>
        </p:sp>
      </p:grpSp>
      <p:sp>
        <p:nvSpPr>
          <p:cNvPr id="101" name="Decoded retention label"/>
          <p:cNvSpPr txBox="1"/>
          <p:nvPr/>
        </p:nvSpPr>
        <p:spPr>
          <a:xfrm>
            <a:off x="754380" y="4876800"/>
            <a:ext cx="1722120" cy="3581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Retain decoded blocks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(provisional KEEP)</a:t>
            </a:r>
            <a:endParaRPr sz="1080" b="0" i="0">
              <a:solidFill>
                <a:srgbClr val="172C36"/>
              </a:solidFill>
              <a:latin typeface="Arial" panose="020B0604020202020204"/>
            </a:endParaRPr>
          </a:p>
        </p:txBody>
      </p:sp>
      <p:cxnSp>
        <p:nvCxnSpPr>
          <p:cNvPr id="102" name="Decoded block storage path / segment 0"/>
          <p:cNvCxnSpPr/>
          <p:nvPr/>
        </p:nvCxnSpPr>
        <p:spPr>
          <a:xfrm>
            <a:off x="609600" y="4724400"/>
            <a:ext cx="0" cy="708660"/>
          </a:xfrm>
          <a:prstGeom prst="line">
            <a:avLst/>
          </a:prstGeom>
          <a:ln w="16764">
            <a:solidFill>
              <a:srgbClr val="197BA3"/>
            </a:solidFill>
          </a:ln>
          <a:effectLst/>
        </p:spPr>
        <p:style>
          <a:lnRef idx="2">
            <a:schemeClr val="accent1"/>
          </a:lnRef>
          <a:fillRef idx="0">
            <a:schemeClr val="accent1"/>
          </a:fillRef>
          <a:effectRef idx="1">
            <a:schemeClr val="accent1"/>
          </a:effectRef>
          <a:fontRef idx="minor">
            <a:schemeClr val="tx1"/>
          </a:fontRef>
        </p:style>
      </p:cxnSp>
      <p:cxnSp>
        <p:nvCxnSpPr>
          <p:cNvPr id="103" name="Decoded block storage path / segment 1"/>
          <p:cNvCxnSpPr/>
          <p:nvPr/>
        </p:nvCxnSpPr>
        <p:spPr>
          <a:xfrm>
            <a:off x="609600" y="5433060"/>
            <a:ext cx="2034540" cy="0"/>
          </a:xfrm>
          <a:prstGeom prst="line">
            <a:avLst/>
          </a:prstGeom>
          <a:ln w="1676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4" name="Queue heading"/>
          <p:cNvSpPr txBox="1"/>
          <p:nvPr/>
        </p:nvSpPr>
        <p:spPr>
          <a:xfrm>
            <a:off x="2674620" y="4884420"/>
            <a:ext cx="2827020" cy="21336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Pending queue Qᵣ (input order)</a:t>
            </a:r>
            <a:endParaRPr sz="1260" b="1" i="0">
              <a:solidFill>
                <a:srgbClr val="172C36"/>
              </a:solidFill>
              <a:latin typeface="Arial" panose="020B0604020202020204"/>
            </a:endParaRPr>
          </a:p>
        </p:txBody>
      </p:sp>
      <p:sp>
        <p:nvSpPr>
          <p:cNvPr id="105" name="Queue tail label"/>
          <p:cNvSpPr txBox="1"/>
          <p:nvPr/>
        </p:nvSpPr>
        <p:spPr>
          <a:xfrm>
            <a:off x="11064240" y="4884420"/>
            <a:ext cx="723900" cy="20574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Tail</a:t>
            </a:r>
            <a:endParaRPr sz="1080" b="0" i="0">
              <a:solidFill>
                <a:srgbClr val="61727A"/>
              </a:solidFill>
              <a:latin typeface="Arial" panose="020B0604020202020204"/>
            </a:endParaRPr>
          </a:p>
        </p:txBody>
      </p:sp>
      <p:sp>
        <p:nvSpPr>
          <p:cNvPr id="106" name="Pending queue outline"/>
          <p:cNvSpPr/>
          <p:nvPr/>
        </p:nvSpPr>
        <p:spPr>
          <a:xfrm>
            <a:off x="2644140" y="5181600"/>
            <a:ext cx="9311640" cy="624840"/>
          </a:xfrm>
          <a:prstGeom prst="roundRect">
            <a:avLst>
              <a:gd name="adj" fmla="val 9756"/>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9" name="Queue block B₀ [editable group]"/>
          <p:cNvGrpSpPr/>
          <p:nvPr/>
        </p:nvGrpSpPr>
        <p:grpSpPr>
          <a:xfrm>
            <a:off x="2766060" y="5288280"/>
            <a:ext cx="2072640" cy="396240"/>
            <a:chOff x="2766060" y="5288280"/>
            <a:chExt cx="2072640" cy="396240"/>
          </a:xfrm>
        </p:grpSpPr>
        <p:sp>
          <p:nvSpPr>
            <p:cNvPr id="107" name="Queue block B₀"/>
            <p:cNvSpPr/>
            <p:nvPr/>
          </p:nvSpPr>
          <p:spPr>
            <a:xfrm>
              <a:off x="2766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Queue block B₀ / label"/>
            <p:cNvSpPr txBox="1"/>
            <p:nvPr/>
          </p:nvSpPr>
          <p:spPr>
            <a:xfrm>
              <a:off x="2811780"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B₀   Finalized</a:t>
              </a:r>
              <a:endParaRPr sz="1320" b="1" i="0">
                <a:solidFill>
                  <a:srgbClr val="172C36"/>
                </a:solidFill>
                <a:latin typeface="Arial" panose="020B0604020202020204"/>
              </a:endParaRPr>
            </a:p>
          </p:txBody>
        </p:sp>
      </p:grpSp>
      <p:cxnSp>
        <p:nvCxnSpPr>
          <p:cNvPr id="110" name="Queue order 0 / segment 0"/>
          <p:cNvCxnSpPr/>
          <p:nvPr/>
        </p:nvCxnSpPr>
        <p:spPr>
          <a:xfrm>
            <a:off x="4838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3" name="Queue block B₁ [editable group]"/>
          <p:cNvGrpSpPr/>
          <p:nvPr/>
        </p:nvGrpSpPr>
        <p:grpSpPr>
          <a:xfrm>
            <a:off x="5052060" y="5288280"/>
            <a:ext cx="2072640" cy="396240"/>
            <a:chOff x="5052060" y="5288280"/>
            <a:chExt cx="2072640" cy="396240"/>
          </a:xfrm>
        </p:grpSpPr>
        <p:sp>
          <p:nvSpPr>
            <p:cNvPr id="111" name="Queue block B₁"/>
            <p:cNvSpPr/>
            <p:nvPr/>
          </p:nvSpPr>
          <p:spPr>
            <a:xfrm>
              <a:off x="5052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Queue block B₁ / label"/>
            <p:cNvSpPr txBox="1"/>
            <p:nvPr/>
          </p:nvSpPr>
          <p:spPr>
            <a:xfrm>
              <a:off x="5097780"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B₁   Finalized</a:t>
              </a:r>
              <a:endParaRPr sz="1320" b="1" i="0">
                <a:solidFill>
                  <a:srgbClr val="172C36"/>
                </a:solidFill>
                <a:latin typeface="Arial" panose="020B0604020202020204"/>
              </a:endParaRPr>
            </a:p>
          </p:txBody>
        </p:sp>
      </p:grpSp>
      <p:cxnSp>
        <p:nvCxnSpPr>
          <p:cNvPr id="114" name="Queue order 1 / segment 0"/>
          <p:cNvCxnSpPr/>
          <p:nvPr/>
        </p:nvCxnSpPr>
        <p:spPr>
          <a:xfrm>
            <a:off x="7124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7" name="Queue block B₂ [editable group]"/>
          <p:cNvGrpSpPr/>
          <p:nvPr/>
        </p:nvGrpSpPr>
        <p:grpSpPr>
          <a:xfrm>
            <a:off x="7338060" y="5288280"/>
            <a:ext cx="2072640" cy="396240"/>
            <a:chOff x="7338060" y="5288280"/>
            <a:chExt cx="2072640" cy="396240"/>
          </a:xfrm>
        </p:grpSpPr>
        <p:sp>
          <p:nvSpPr>
            <p:cNvPr id="115" name="Queue block B₂"/>
            <p:cNvSpPr/>
            <p:nvPr/>
          </p:nvSpPr>
          <p:spPr>
            <a:xfrm>
              <a:off x="7338060" y="5288280"/>
              <a:ext cx="2072640" cy="3962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Queue block B₂ / label"/>
            <p:cNvSpPr txBox="1"/>
            <p:nvPr/>
          </p:nvSpPr>
          <p:spPr>
            <a:xfrm>
              <a:off x="7383779"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B₂   Pending</a:t>
              </a:r>
              <a:endParaRPr sz="1320" b="1" i="0">
                <a:solidFill>
                  <a:srgbClr val="172C36"/>
                </a:solidFill>
                <a:latin typeface="Arial" panose="020B0604020202020204"/>
              </a:endParaRPr>
            </a:p>
          </p:txBody>
        </p:sp>
      </p:grpSp>
      <p:cxnSp>
        <p:nvCxnSpPr>
          <p:cNvPr id="118" name="Queue order 2 / segment 0"/>
          <p:cNvCxnSpPr/>
          <p:nvPr/>
        </p:nvCxnSpPr>
        <p:spPr>
          <a:xfrm>
            <a:off x="9410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1" name="Queue block B₃ [editable group]"/>
          <p:cNvGrpSpPr/>
          <p:nvPr/>
        </p:nvGrpSpPr>
        <p:grpSpPr>
          <a:xfrm>
            <a:off x="9624060" y="5288280"/>
            <a:ext cx="2072640" cy="396240"/>
            <a:chOff x="9624060" y="5288280"/>
            <a:chExt cx="2072640" cy="396240"/>
          </a:xfrm>
        </p:grpSpPr>
        <p:sp>
          <p:nvSpPr>
            <p:cNvPr id="119" name="Queue block B₃"/>
            <p:cNvSpPr/>
            <p:nvPr/>
          </p:nvSpPr>
          <p:spPr>
            <a:xfrm>
              <a:off x="9624060" y="5288280"/>
              <a:ext cx="2072640" cy="39624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Queue block B₃ / label"/>
            <p:cNvSpPr txBox="1"/>
            <p:nvPr/>
          </p:nvSpPr>
          <p:spPr>
            <a:xfrm>
              <a:off x="9669780" y="5311140"/>
              <a:ext cx="1981199" cy="35052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B₃   Finalized, waiting</a:t>
              </a:r>
              <a:endParaRPr sz="1320" b="1" i="0">
                <a:solidFill>
                  <a:srgbClr val="172C36"/>
                </a:solidFill>
                <a:latin typeface="Arial" panose="020B0604020202020204"/>
              </a:endParaRPr>
            </a:p>
          </p:txBody>
        </p:sp>
      </p:grpSp>
      <p:cxnSp>
        <p:nvCxnSpPr>
          <p:cNvPr id="122" name="Window decisions apply / segment 0"/>
          <p:cNvCxnSpPr/>
          <p:nvPr/>
        </p:nvCxnSpPr>
        <p:spPr>
          <a:xfrm>
            <a:off x="4411980" y="4724400"/>
            <a:ext cx="0" cy="7620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Window decisions apply / segment 1"/>
          <p:cNvCxnSpPr/>
          <p:nvPr/>
        </p:nvCxnSpPr>
        <p:spPr>
          <a:xfrm>
            <a:off x="4411980" y="4800600"/>
            <a:ext cx="1417320" cy="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Window decisions apply / segment 2"/>
          <p:cNvCxnSpPr/>
          <p:nvPr/>
        </p:nvCxnSpPr>
        <p:spPr>
          <a:xfrm>
            <a:off x="5829300" y="4800600"/>
            <a:ext cx="0" cy="335280"/>
          </a:xfrm>
          <a:prstGeom prst="line">
            <a:avLst/>
          </a:prstGeom>
          <a:ln w="13716">
            <a:solidFill>
              <a:srgbClr val="57834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5" name="Local decisions label"/>
          <p:cNvSpPr txBox="1"/>
          <p:nvPr/>
        </p:nvSpPr>
        <p:spPr>
          <a:xfrm>
            <a:off x="5920740" y="4884420"/>
            <a:ext cx="138684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57834A"/>
                </a:solidFill>
                <a:latin typeface="Arial" panose="020B0604020202020204"/>
              </a:rPr>
              <a:t>Local decisions</a:t>
            </a:r>
            <a:endParaRPr sz="1020" b="0" i="0">
              <a:solidFill>
                <a:srgbClr val="57834A"/>
              </a:solidFill>
              <a:latin typeface="Arial" panose="020B0604020202020204"/>
            </a:endParaRPr>
          </a:p>
        </p:txBody>
      </p:sp>
      <p:cxnSp>
        <p:nvCxnSpPr>
          <p:cNvPr id="126" name="Cache decisions apply / segment 0"/>
          <p:cNvCxnSpPr/>
          <p:nvPr/>
        </p:nvCxnSpPr>
        <p:spPr>
          <a:xfrm>
            <a:off x="10835640" y="4648200"/>
            <a:ext cx="0" cy="48768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Ready output prefix / segment 0"/>
          <p:cNvCxnSpPr/>
          <p:nvPr/>
        </p:nvCxnSpPr>
        <p:spPr>
          <a:xfrm>
            <a:off x="276606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8" name="Ready output prefix / segment 1"/>
          <p:cNvCxnSpPr/>
          <p:nvPr/>
        </p:nvCxnSpPr>
        <p:spPr>
          <a:xfrm>
            <a:off x="2766060" y="5890260"/>
            <a:ext cx="43586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9" name="Ready output prefix / segment 2"/>
          <p:cNvCxnSpPr/>
          <p:nvPr/>
        </p:nvCxnSpPr>
        <p:spPr>
          <a:xfrm flipV="1">
            <a:off x="712470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30" name="Ready output prefix / label"/>
          <p:cNvSpPr txBox="1"/>
          <p:nvPr/>
        </p:nvSpPr>
        <p:spPr>
          <a:xfrm>
            <a:off x="2766060" y="5935980"/>
            <a:ext cx="43586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Write finalized blocks in input order</a:t>
            </a:r>
            <a:endParaRPr sz="1080" b="0" i="0">
              <a:solidFill>
                <a:srgbClr val="57834A"/>
              </a:solidFill>
              <a:latin typeface="Arial" panose="020B0604020202020204"/>
            </a:endParaRPr>
          </a:p>
        </p:txBody>
      </p:sp>
      <p:sp>
        <p:nvSpPr>
          <p:cNvPr id="131" name="Queue stop explanation"/>
          <p:cNvSpPr txBox="1"/>
          <p:nvPr/>
        </p:nvSpPr>
        <p:spPr>
          <a:xfrm>
            <a:off x="7322820" y="5913120"/>
            <a:ext cx="451866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9A7625"/>
                </a:solidFill>
                <a:latin typeface="Arial" panose="020B0604020202020204"/>
              </a:rPr>
              <a:t>Stop at the first unresolved block</a:t>
            </a:r>
            <a:endParaRPr sz="1140" b="1" i="0">
              <a:solidFill>
                <a:srgbClr val="9A7625"/>
              </a:solidFill>
              <a:latin typeface="Arial" panose="020B0604020202020204"/>
            </a:endParaRPr>
          </a:p>
        </p:txBody>
      </p:sp>
      <p:cxnSp>
        <p:nvCxnSpPr>
          <p:cNvPr id="132" name="Ready blocks to output / segment 0"/>
          <p:cNvCxnSpPr/>
          <p:nvPr/>
        </p:nvCxnSpPr>
        <p:spPr>
          <a:xfrm>
            <a:off x="3581400" y="6088380"/>
            <a:ext cx="0" cy="182880"/>
          </a:xfrm>
          <a:prstGeom prst="line">
            <a:avLst/>
          </a:prstGeom>
          <a:ln w="13716">
            <a:solidFill>
              <a:srgbClr val="57834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5" name="Output Patch DUP flags [editable group]"/>
          <p:cNvGrpSpPr/>
          <p:nvPr/>
        </p:nvGrpSpPr>
        <p:grpSpPr>
          <a:xfrm>
            <a:off x="2644140" y="6286500"/>
            <a:ext cx="1882139" cy="373380"/>
            <a:chOff x="2644140" y="6286500"/>
            <a:chExt cx="1882139" cy="373380"/>
          </a:xfrm>
        </p:grpSpPr>
        <p:sp>
          <p:nvSpPr>
            <p:cNvPr id="133" name="Output Patch DUP flags"/>
            <p:cNvSpPr/>
            <p:nvPr/>
          </p:nvSpPr>
          <p:spPr>
            <a:xfrm>
              <a:off x="2644140" y="6286500"/>
              <a:ext cx="1882139" cy="373380"/>
            </a:xfrm>
            <a:prstGeom prst="roundRect">
              <a:avLst>
                <a:gd name="adj" fmla="val 16326"/>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utput Patch DUP flags / label"/>
            <p:cNvSpPr txBox="1"/>
            <p:nvPr/>
          </p:nvSpPr>
          <p:spPr>
            <a:xfrm>
              <a:off x="2689860" y="6309360"/>
              <a:ext cx="179070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Update duplicate flags</a:t>
              </a:r>
              <a:endParaRPr sz="1140" b="0" i="0">
                <a:solidFill>
                  <a:srgbClr val="172C36"/>
                </a:solidFill>
                <a:latin typeface="Arial" panose="020B0604020202020204"/>
              </a:endParaRPr>
            </a:p>
          </p:txBody>
        </p:sp>
      </p:grpSp>
      <p:grpSp>
        <p:nvGrpSpPr>
          <p:cNvPr id="138" name="Output CPE BGZF compression [editable group]"/>
          <p:cNvGrpSpPr/>
          <p:nvPr/>
        </p:nvGrpSpPr>
        <p:grpSpPr>
          <a:xfrm>
            <a:off x="4823460" y="6286500"/>
            <a:ext cx="2072640" cy="373380"/>
            <a:chOff x="4823460" y="6286500"/>
            <a:chExt cx="2072640" cy="373380"/>
          </a:xfrm>
        </p:grpSpPr>
        <p:sp>
          <p:nvSpPr>
            <p:cNvPr id="136" name="Output CPE BGZF compression"/>
            <p:cNvSpPr/>
            <p:nvPr/>
          </p:nvSpPr>
          <p:spPr>
            <a:xfrm>
              <a:off x="4823460" y="6286500"/>
              <a:ext cx="2072640" cy="373380"/>
            </a:xfrm>
            <a:prstGeom prst="roundRect">
              <a:avLst>
                <a:gd name="adj" fmla="val 16326"/>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utput CPE BGZF compression / label"/>
            <p:cNvSpPr txBox="1"/>
            <p:nvPr/>
          </p:nvSpPr>
          <p:spPr>
            <a:xfrm>
              <a:off x="4869180" y="6309360"/>
              <a:ext cx="1981199"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CPE BGZF compression</a:t>
              </a:r>
              <a:endParaRPr sz="1140" b="0" i="0">
                <a:solidFill>
                  <a:srgbClr val="172C36"/>
                </a:solidFill>
                <a:latin typeface="Arial" panose="020B0604020202020204"/>
              </a:endParaRPr>
            </a:p>
          </p:txBody>
        </p:sp>
      </p:grpSp>
      <p:grpSp>
        <p:nvGrpSpPr>
          <p:cNvPr id="141" name="Output Append rank body [editable group]"/>
          <p:cNvGrpSpPr/>
          <p:nvPr/>
        </p:nvGrpSpPr>
        <p:grpSpPr>
          <a:xfrm>
            <a:off x="7193280" y="6286500"/>
            <a:ext cx="2026920" cy="373380"/>
            <a:chOff x="7193280" y="6286500"/>
            <a:chExt cx="2026920" cy="373380"/>
          </a:xfrm>
        </p:grpSpPr>
        <p:sp>
          <p:nvSpPr>
            <p:cNvPr id="139" name="Output Append rank body"/>
            <p:cNvSpPr/>
            <p:nvPr/>
          </p:nvSpPr>
          <p:spPr>
            <a:xfrm>
              <a:off x="7193280" y="6286500"/>
              <a:ext cx="2026920" cy="373380"/>
            </a:xfrm>
            <a:prstGeom prst="roundRect">
              <a:avLst>
                <a:gd name="adj" fmla="val 16326"/>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utput Append rank body / label"/>
            <p:cNvSpPr txBox="1"/>
            <p:nvPr/>
          </p:nvSpPr>
          <p:spPr>
            <a:xfrm>
              <a:off x="7239000" y="6309360"/>
              <a:ext cx="193548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Append to rank output</a:t>
              </a:r>
              <a:endParaRPr sz="1140" b="0" i="0">
                <a:solidFill>
                  <a:srgbClr val="172C36"/>
                </a:solidFill>
                <a:latin typeface="Arial" panose="020B0604020202020204"/>
              </a:endParaRPr>
            </a:p>
          </p:txBody>
        </p:sp>
      </p:grpSp>
      <p:grpSp>
        <p:nvGrpSpPr>
          <p:cNvPr id="144" name="Output Retire / recycle storage [editable group]"/>
          <p:cNvGrpSpPr/>
          <p:nvPr/>
        </p:nvGrpSpPr>
        <p:grpSpPr>
          <a:xfrm>
            <a:off x="9517380" y="6286500"/>
            <a:ext cx="2438400" cy="373380"/>
            <a:chOff x="9517380" y="6286500"/>
            <a:chExt cx="2438400" cy="373380"/>
          </a:xfrm>
        </p:grpSpPr>
        <p:sp>
          <p:nvSpPr>
            <p:cNvPr id="142" name="Output Retire / recycle storage"/>
            <p:cNvSpPr/>
            <p:nvPr/>
          </p:nvSpPr>
          <p:spPr>
            <a:xfrm>
              <a:off x="9517380" y="6286500"/>
              <a:ext cx="2438400" cy="373380"/>
            </a:xfrm>
            <a:prstGeom prst="roundRect">
              <a:avLst>
                <a:gd name="adj" fmla="val 16326"/>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utput Retire / recycle storage / label"/>
            <p:cNvSpPr txBox="1"/>
            <p:nvPr/>
          </p:nvSpPr>
          <p:spPr>
            <a:xfrm>
              <a:off x="9563100" y="6309360"/>
              <a:ext cx="234696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Release block storage</a:t>
              </a:r>
              <a:endParaRPr sz="1140" b="0" i="0">
                <a:solidFill>
                  <a:srgbClr val="172C36"/>
                </a:solidFill>
                <a:latin typeface="Arial" panose="020B0604020202020204"/>
              </a:endParaRPr>
            </a:p>
          </p:txBody>
        </p:sp>
      </p:grpSp>
      <p:cxnSp>
        <p:nvCxnSpPr>
          <p:cNvPr id="145" name="Output dependency 594 / segment 0"/>
          <p:cNvCxnSpPr/>
          <p:nvPr/>
        </p:nvCxnSpPr>
        <p:spPr>
          <a:xfrm>
            <a:off x="452628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Output dependency 905 / segment 0"/>
          <p:cNvCxnSpPr/>
          <p:nvPr/>
        </p:nvCxnSpPr>
        <p:spPr>
          <a:xfrm>
            <a:off x="68961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Output dependency 1210 / segment 0"/>
          <p:cNvCxnSpPr/>
          <p:nvPr/>
        </p:nvCxnSpPr>
        <p:spPr>
          <a:xfrm>
            <a:off x="92202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8" name="Main stream extra decoding qualifier"/>
          <p:cNvSpPr txBox="1"/>
          <p:nvPr/>
        </p:nvSpPr>
        <p:spPr>
          <a:xfrm>
            <a:off x="259080" y="6286500"/>
            <a:ext cx="2141220" cy="3733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Boundary probes require</a:t>
            </a:r>
            <a:endParaRPr sz="1020" b="0" i="0">
              <a:solidFill>
                <a:srgbClr val="61727A"/>
              </a:solidFill>
              <a:latin typeface="Arial" panose="020B0604020202020204"/>
            </a:endParaRPr>
          </a:p>
          <a:p>
            <a:pPr algn="ctr">
              <a:lnSpc>
                <a:spcPts val="1140"/>
              </a:lnSpc>
              <a:spcBef>
                <a:spcPts val="0"/>
              </a:spcBef>
              <a:spcAft>
                <a:spcPts val="0"/>
              </a:spcAft>
            </a:pPr>
            <a:r>
              <a:rPr sz="1020" b="0" i="0">
                <a:solidFill>
                  <a:srgbClr val="61727A"/>
                </a:solidFill>
                <a:latin typeface="Arial" panose="020B0604020202020204"/>
              </a:rPr>
              <a:t>limited extra decoding.</a:t>
            </a:r>
            <a:endParaRPr sz="1020" b="0" i="0">
              <a:solidFill>
                <a:srgbClr val="61727A"/>
              </a:solidFill>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4391</Words>
  <Application>WPS 演示</Application>
  <PresentationFormat>On-screen Show (4:3)</PresentationFormat>
  <Paragraphs>687</Paragraphs>
  <Slides>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SWBAM: Method Figures</dc:title>
  <dc:creator>SWBAM</dc:creator>
  <dc:description>generated using python-pptx</dc:description>
  <dc:subject>Editable architecture, overlap, reordering and duplicate marking diagrams</dc:subject>
  <cp:lastModifiedBy>⭐✨✨</cp:lastModifiedBy>
  <cp:revision>50</cp:revision>
  <dcterms:created xsi:type="dcterms:W3CDTF">2013-01-27T09:14:00Z</dcterms:created>
  <dcterms:modified xsi:type="dcterms:W3CDTF">2026-10-15T13:37:57Z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CFF9398008694F54BBDD96E96B5D23F8_12</vt:lpwstr>
  </property>
</Properties>
</file>