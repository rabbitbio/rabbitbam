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316736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Figure: SWBAM architecture and pipeline composition</a:t>
            </a:r>
          </a:p>
          <a:p/>
          <a:p>
            <a:r>
              <a:t>EDITING</a:t>
            </a:r>
          </a:p>
          <a:p>
            <a:r>
              <a:t>One editable slide. Pipeline and post-processing modules are grouped native</a:t>
            </a:r>
          </a:p>
          <a:p>
            <a:r>
              <a:t>shapes; text and arrows remain editable. Use PowerPoint's Selection Pane to</a:t>
            </a:r>
          </a:p>
          <a:p>
            <a:r>
              <a:t>select named modules. Export the slide as PDF after editing; the PNG/PDF/SVG</a:t>
            </a:r>
          </a:p>
          <a:p>
            <a:r>
              <a:t>provided alongside this file reflect the original generated layout only.</a:t>
            </a:r>
          </a:p>
          <a:p/>
          <a:p>
            <a:r>
              <a:t>SEMANTICS</a:t>
            </a:r>
          </a:p>
          <a:p>
            <a:r>
              <a:t>Panel (a) is an architecture/capability view, not four consecutive stages.</a:t>
            </a:r>
          </a:p>
          <a:p>
            <a:r>
              <a:t>Panel (b) shows batch-level dependencies, not concurrently running CPE kernels.</a:t>
            </a:r>
          </a:p>
          <a:p>
            <a:r>
              <a:t>Read pipelines are blue, write pipelines green, MPE work amber. Applications</a:t>
            </a:r>
          </a:p>
          <a:p>
            <a:r>
              <a:t>manage algorithm state and algorithm-specific MPI exchanges; the library</a:t>
            </a:r>
          </a:p>
          <a:p>
            <a:r>
              <a:t>provides batch execution, data access, rank partitioning and output layout.</a:t>
            </a:r>
          </a:p>
          <a:p>
            <a:r>
              <a:t>Input is partitioned into BGZF spans (BAM) or record-aligned text ranges (SAM).</a:t>
            </a:r>
          </a:p>
          <a:p>
            <a:r>
              <a:t>BAM read kernels may return records, counters or algorithm-specific metadata.</a:t>
            </a:r>
          </a:p>
          <a:p>
            <a:r>
              <a:t>The CPE work shown is representative of optimized application paths; it does</a:t>
            </a:r>
          </a:p>
          <a:p>
            <a:r>
              <a:t>not assert that every SDK bam1_t materialization runs on CPEs. Decode-only and</a:t>
            </a:r>
          </a:p>
          <a:p>
            <a:r>
              <a:t>compression-only variants are omitted. The implementation assumes BAM records</a:t>
            </a:r>
          </a:p>
          <a:p>
            <a:r>
              <a:t>do not span BGZF blocks. Data retained across batches require owned storage.</a:t>
            </a:r>
          </a:p>
          <a:p>
            <a:r>
              <a:t>The sink storage policy is independent from final output (memory / MPI-IO).</a:t>
            </a:r>
          </a:p>
          <a:p>
            <a:r>
              <a:t>No root-wide full-payload gather is implied for MPI-IO output.</a:t>
            </a:r>
          </a:p>
          <a:p>
            <a:r>
              <a:t>The figure does not claim arbitrary runtime composition of CPE record operators.</a:t>
            </a:r>
          </a:p>
          <a:p/>
          <a:p>
            <a:r>
              <a:t>CODE REFERENCES (relative to the RabbitBAM project)</a:t>
            </a:r>
          </a:p>
          <a:p>
            <a:r>
              <a:t>swbam-sdk/include/swbam/cpe_pipeline.h: CpeBatchOperator / RunCpeReadPipeline</a:t>
            </a:r>
          </a:p>
          <a:p>
            <a:r>
              <a:t>swbam-sdk/lib/cpe/swbam_cpe_bam_read_pipeline.cpp: prepare, launch, validate, post-process</a:t>
            </a:r>
          </a:p>
          <a:p>
            <a:r>
              <a:t>swbam-sdk/lib/cpe/swbam_cpe_bam_write_pipeline.cpp: current/pending output batches</a:t>
            </a:r>
          </a:p>
          <a:p>
            <a:r>
              <a:t>swbam-sdk/lib/operators/swbam_record_count_operator.cpp: read + accumulation</a:t>
            </a:r>
          </a:p>
          <a:p>
            <a:r>
              <a:t>swbam-sdk/lib/operators/swbam_bam_transform_operator.cpp: filter + packing + writer</a:t>
            </a:r>
          </a:p>
          <a:p>
            <a:r>
              <a:t>swbam-sdk/lib/operators/swbam_bam_to_sam_operator.cpp: read + SAM writer</a:t>
            </a:r>
          </a:p>
          <a:p>
            <a:r>
              <a:t>swbam-sdk/lib/operators/swbam_sam_to_bam_operator.cpp: SAM read + packing + BAM writer</a:t>
            </a:r>
          </a:p>
          <a:p>
            <a:r>
              <a:t>swbam-sdk/include/swbam/mpi_runtime.h: input planning and distributed output</a:t>
            </a:r>
          </a:p>
          <a:p/>
          <a:p>
            <a:r>
              <a:t>MANUSCRIPT AND VISUAL REFERENCES</a:t>
            </a:r>
          </a:p>
          <a:p>
            <a:r>
              <a:t>overleaf/SWBAM/bare_jrnl_new_sample4.tex: Methods / Overview and Library Design</a:t>
            </a:r>
          </a:p>
          <a:p>
            <a:r>
              <a:t>RabbitBAM, Fig. 1 and Fig. 3: explicit reusable read/write framework blocks</a:t>
            </a:r>
          </a:p>
          <a:p>
            <a:r>
              <a:t>SWBWA, Fig. 1: explicit MPE/CPE roles; style reference only, not its algorithm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anel A / label 1"/>
          <p:cNvSpPr txBox="1"/>
          <p:nvPr/>
        </p:nvSpPr>
        <p:spPr>
          <a:xfrm>
            <a:off x="256032" y="146304"/>
            <a:ext cx="8229600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222B33"/>
                </a:solidFill>
                <a:latin typeface="Arial"/>
              </a:rPr>
              <a:t>(a) SWBAM architecture</a:t>
            </a:r>
          </a:p>
        </p:txBody>
      </p:sp>
      <p:sp>
        <p:nvSpPr>
          <p:cNvPr id="3" name="Application layer / frame"/>
          <p:cNvSpPr/>
          <p:nvPr/>
        </p:nvSpPr>
        <p:spPr>
          <a:xfrm>
            <a:off x="256032" y="630936"/>
            <a:ext cx="12655296" cy="758952"/>
          </a:xfrm>
          <a:prstGeom prst="rect">
            <a:avLst/>
          </a:prstGeom>
          <a:solidFill>
            <a:srgbClr val="F4F3F7"/>
          </a:solidFill>
          <a:ln w="13716">
            <a:solidFill>
              <a:srgbClr val="8C849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pplication heading / label 1"/>
          <p:cNvSpPr txBox="1"/>
          <p:nvPr/>
        </p:nvSpPr>
        <p:spPr>
          <a:xfrm>
            <a:off x="448056" y="749808"/>
            <a:ext cx="2606040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B33"/>
                </a:solidFill>
                <a:latin typeface="Arial"/>
              </a:rPr>
              <a:t>SWBAM applications</a:t>
            </a:r>
          </a:p>
        </p:txBody>
      </p:sp>
      <p:sp>
        <p:nvSpPr>
          <p:cNvPr id="5" name="Application interface role / label 1"/>
          <p:cNvSpPr txBox="1"/>
          <p:nvPr/>
        </p:nvSpPr>
        <p:spPr>
          <a:xfrm>
            <a:off x="448056" y="1060704"/>
            <a:ext cx="2651760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Batch-level composition</a:t>
            </a:r>
          </a:p>
        </p:txBody>
      </p:sp>
      <p:sp>
        <p:nvSpPr>
          <p:cNvPr id="6" name="Streaming applications / label 1"/>
          <p:cNvSpPr txBox="1"/>
          <p:nvPr/>
        </p:nvSpPr>
        <p:spPr>
          <a:xfrm>
            <a:off x="3447288" y="749808"/>
            <a:ext cx="4059936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Statistics / filtering / conversion</a:t>
            </a:r>
          </a:p>
        </p:txBody>
      </p:sp>
      <p:sp>
        <p:nvSpPr>
          <p:cNvPr id="7" name="Streaming state / label 1"/>
          <p:cNvSpPr txBox="1"/>
          <p:nvPr/>
        </p:nvSpPr>
        <p:spPr>
          <a:xfrm>
            <a:off x="3447288" y="1060704"/>
            <a:ext cx="4059936" cy="2103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Batch-local processing and aggregation</a:t>
            </a:r>
          </a:p>
        </p:txBody>
      </p:sp>
      <p:sp>
        <p:nvSpPr>
          <p:cNvPr id="8" name="Stateful applications / label 1"/>
          <p:cNvSpPr txBox="1"/>
          <p:nvPr/>
        </p:nvSpPr>
        <p:spPr>
          <a:xfrm>
            <a:off x="7927848" y="749808"/>
            <a:ext cx="4754880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Sort / collate / fixmate / markdup</a:t>
            </a:r>
          </a:p>
        </p:txBody>
      </p:sp>
      <p:sp>
        <p:nvSpPr>
          <p:cNvPr id="9" name="Stateful responsibilities / label 1"/>
          <p:cNvSpPr txBox="1"/>
          <p:nvPr/>
        </p:nvSpPr>
        <p:spPr>
          <a:xfrm>
            <a:off x="7927848" y="1060704"/>
            <a:ext cx="4754880" cy="21031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Ordering / grouping / cross-record state / MPI</a:t>
            </a:r>
          </a:p>
        </p:txBody>
      </p:sp>
      <p:cxnSp>
        <p:nvCxnSpPr>
          <p:cNvPr id="10" name="Uses library"/>
          <p:cNvCxnSpPr/>
          <p:nvPr/>
        </p:nvCxnSpPr>
        <p:spPr>
          <a:xfrm>
            <a:off x="6583680" y="1389888"/>
            <a:ext cx="0" cy="329184"/>
          </a:xfrm>
          <a:prstGeom prst="line">
            <a:avLst/>
          </a:prstGeom>
          <a:ln w="16459">
            <a:solidFill>
              <a:srgbClr val="6F7B84"/>
            </a:solidFill>
            <a:prstDash val="dash"/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Uses batch interfaces / label 1"/>
          <p:cNvSpPr txBox="1"/>
          <p:nvPr/>
        </p:nvSpPr>
        <p:spPr>
          <a:xfrm>
            <a:off x="6775704" y="1453896"/>
            <a:ext cx="3200400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Batch-level interfaces</a:t>
            </a:r>
          </a:p>
        </p:txBody>
      </p:sp>
      <p:sp>
        <p:nvSpPr>
          <p:cNvPr id="12" name="SWBAM library boundary / frame"/>
          <p:cNvSpPr/>
          <p:nvPr/>
        </p:nvSpPr>
        <p:spPr>
          <a:xfrm>
            <a:off x="256032" y="1755648"/>
            <a:ext cx="12655296" cy="3172968"/>
          </a:xfrm>
          <a:prstGeom prst="rect">
            <a:avLst/>
          </a:prstGeom>
          <a:solidFill>
            <a:srgbClr val="FFFFFF"/>
          </a:solidFill>
          <a:ln w="13716">
            <a:solidFill>
              <a:srgbClr val="79838B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ibrary heading / label 1"/>
          <p:cNvSpPr txBox="1"/>
          <p:nvPr/>
        </p:nvSpPr>
        <p:spPr>
          <a:xfrm>
            <a:off x="448056" y="1865376"/>
            <a:ext cx="2606040" cy="31089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22B33"/>
                </a:solidFill>
                <a:latin typeface="Arial"/>
              </a:rPr>
              <a:t>SWBAM library</a:t>
            </a:r>
          </a:p>
        </p:txBody>
      </p:sp>
      <p:sp>
        <p:nvSpPr>
          <p:cNvPr id="14" name="Library rank scope / label 1"/>
          <p:cNvSpPr txBox="1"/>
          <p:nvPr/>
        </p:nvSpPr>
        <p:spPr>
          <a:xfrm>
            <a:off x="8869680" y="1901952"/>
            <a:ext cx="3840480" cy="25603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4E5B64"/>
                </a:solidFill>
                <a:latin typeface="Arial"/>
              </a:rPr>
              <a:t>Reusable execution within each MPI rank</a:t>
            </a:r>
          </a:p>
        </p:txBody>
      </p:sp>
      <p:grpSp>
        <p:nvGrpSpPr>
          <p:cNvPr id="15" name="BAM read pipeline"/>
          <p:cNvGrpSpPr/>
          <p:nvPr/>
        </p:nvGrpSpPr>
        <p:grpSpPr>
          <a:xfrm>
            <a:off x="448056" y="2322576"/>
            <a:ext cx="2798064" cy="768096"/>
            <a:chOff x="448056" y="2322576"/>
            <a:chExt cx="2798064" cy="768096"/>
          </a:xfrm>
        </p:grpSpPr>
        <p:sp>
          <p:nvSpPr>
            <p:cNvPr id="16" name="BAM read pipeline / frame"/>
            <p:cNvSpPr/>
            <p:nvPr/>
          </p:nvSpPr>
          <p:spPr>
            <a:xfrm>
              <a:off x="44805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BAM read pipeline / label 1"/>
            <p:cNvSpPr txBox="1"/>
            <p:nvPr/>
          </p:nvSpPr>
          <p:spPr>
            <a:xfrm>
              <a:off x="521207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18" name="BAM read pipeline / label 2"/>
            <p:cNvSpPr txBox="1"/>
            <p:nvPr/>
          </p:nvSpPr>
          <p:spPr>
            <a:xfrm>
              <a:off x="521207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decode + parse + op</a:t>
              </a:r>
            </a:p>
          </p:txBody>
        </p:sp>
      </p:grpSp>
      <p:grpSp>
        <p:nvGrpSpPr>
          <p:cNvPr id="19" name="BAM write pipeline"/>
          <p:cNvGrpSpPr/>
          <p:nvPr/>
        </p:nvGrpSpPr>
        <p:grpSpPr>
          <a:xfrm>
            <a:off x="3602736" y="2322576"/>
            <a:ext cx="2798064" cy="768096"/>
            <a:chOff x="3602736" y="2322576"/>
            <a:chExt cx="2798064" cy="768096"/>
          </a:xfrm>
        </p:grpSpPr>
        <p:sp>
          <p:nvSpPr>
            <p:cNvPr id="20" name="BAM write pipeline / frame"/>
            <p:cNvSpPr/>
            <p:nvPr/>
          </p:nvSpPr>
          <p:spPr>
            <a:xfrm>
              <a:off x="360273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BAM write pipeline / label 1"/>
            <p:cNvSpPr txBox="1"/>
            <p:nvPr/>
          </p:nvSpPr>
          <p:spPr>
            <a:xfrm>
              <a:off x="3675887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22" name="BAM write pipeline / label 2"/>
            <p:cNvSpPr txBox="1"/>
            <p:nvPr/>
          </p:nvSpPr>
          <p:spPr>
            <a:xfrm>
              <a:off x="3675887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serialize + compress</a:t>
              </a:r>
            </a:p>
          </p:txBody>
        </p:sp>
      </p:grpSp>
      <p:grpSp>
        <p:nvGrpSpPr>
          <p:cNvPr id="23" name="SAM read pipeline"/>
          <p:cNvGrpSpPr/>
          <p:nvPr/>
        </p:nvGrpSpPr>
        <p:grpSpPr>
          <a:xfrm>
            <a:off x="6757416" y="2322576"/>
            <a:ext cx="2798064" cy="768096"/>
            <a:chOff x="6757416" y="2322576"/>
            <a:chExt cx="2798064" cy="768096"/>
          </a:xfrm>
        </p:grpSpPr>
        <p:sp>
          <p:nvSpPr>
            <p:cNvPr id="24" name="SAM read pipeline / frame"/>
            <p:cNvSpPr/>
            <p:nvPr/>
          </p:nvSpPr>
          <p:spPr>
            <a:xfrm>
              <a:off x="675741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SAM read pipeline / label 1"/>
            <p:cNvSpPr txBox="1"/>
            <p:nvPr/>
          </p:nvSpPr>
          <p:spPr>
            <a:xfrm>
              <a:off x="6830568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SAM read</a:t>
              </a:r>
            </a:p>
          </p:txBody>
        </p:sp>
        <p:sp>
          <p:nvSpPr>
            <p:cNvPr id="26" name="SAM read pipeline / label 2"/>
            <p:cNvSpPr txBox="1"/>
            <p:nvPr/>
          </p:nvSpPr>
          <p:spPr>
            <a:xfrm>
              <a:off x="6830568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parse text into records</a:t>
              </a:r>
            </a:p>
          </p:txBody>
        </p:sp>
      </p:grpSp>
      <p:grpSp>
        <p:nvGrpSpPr>
          <p:cNvPr id="27" name="SAM write pipeline"/>
          <p:cNvGrpSpPr/>
          <p:nvPr/>
        </p:nvGrpSpPr>
        <p:grpSpPr>
          <a:xfrm>
            <a:off x="9912096" y="2322576"/>
            <a:ext cx="2798064" cy="768096"/>
            <a:chOff x="9912096" y="2322576"/>
            <a:chExt cx="2798064" cy="768096"/>
          </a:xfrm>
        </p:grpSpPr>
        <p:sp>
          <p:nvSpPr>
            <p:cNvPr id="28" name="SAM write pipeline / frame"/>
            <p:cNvSpPr/>
            <p:nvPr/>
          </p:nvSpPr>
          <p:spPr>
            <a:xfrm>
              <a:off x="9912096" y="2322576"/>
              <a:ext cx="2798064" cy="768096"/>
            </a:xfrm>
            <a:prstGeom prst="roundRect">
              <a:avLst>
                <a:gd name="adj" fmla="val 8333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SAM write pipeline / label 1"/>
            <p:cNvSpPr txBox="1"/>
            <p:nvPr/>
          </p:nvSpPr>
          <p:spPr>
            <a:xfrm>
              <a:off x="9985248" y="2442911"/>
              <a:ext cx="2651760" cy="256580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55" b="1">
                  <a:solidFill>
                    <a:srgbClr val="222B33"/>
                  </a:solidFill>
                  <a:latin typeface="Arial"/>
                </a:rPr>
                <a:t>SAM write</a:t>
              </a:r>
            </a:p>
          </p:txBody>
        </p:sp>
        <p:sp>
          <p:nvSpPr>
            <p:cNvPr id="30" name="SAM write pipeline / label 2"/>
            <p:cNvSpPr txBox="1"/>
            <p:nvPr/>
          </p:nvSpPr>
          <p:spPr>
            <a:xfrm>
              <a:off x="9985248" y="2736067"/>
              <a:ext cx="265176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CPE: format records as text</a:t>
              </a:r>
            </a:p>
          </p:txBody>
        </p:sp>
      </p:grpSp>
      <p:sp>
        <p:nvSpPr>
          <p:cNvPr id="31" name="Runtime heading / label 1"/>
          <p:cNvSpPr txBox="1"/>
          <p:nvPr/>
        </p:nvSpPr>
        <p:spPr>
          <a:xfrm>
            <a:off x="448056" y="3493008"/>
            <a:ext cx="1792224" cy="283464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Batch runtime</a:t>
            </a:r>
          </a:p>
        </p:txBody>
      </p:sp>
      <p:grpSp>
        <p:nvGrpSpPr>
          <p:cNvPr id="32" name="MPE preparation"/>
          <p:cNvGrpSpPr/>
          <p:nvPr/>
        </p:nvGrpSpPr>
        <p:grpSpPr>
          <a:xfrm>
            <a:off x="2276856" y="3383280"/>
            <a:ext cx="2240280" cy="594360"/>
            <a:chOff x="2276856" y="3383280"/>
            <a:chExt cx="2240280" cy="594360"/>
          </a:xfrm>
        </p:grpSpPr>
        <p:sp>
          <p:nvSpPr>
            <p:cNvPr id="33" name="MPE preparation / frame"/>
            <p:cNvSpPr/>
            <p:nvPr/>
          </p:nvSpPr>
          <p:spPr>
            <a:xfrm>
              <a:off x="2276856" y="3383280"/>
              <a:ext cx="224028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MPE preparation / label 1"/>
            <p:cNvSpPr txBox="1"/>
            <p:nvPr/>
          </p:nvSpPr>
          <p:spPr>
            <a:xfrm>
              <a:off x="2350008" y="3427902"/>
              <a:ext cx="209397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MPE preparation</a:t>
              </a:r>
            </a:p>
          </p:txBody>
        </p:sp>
        <p:sp>
          <p:nvSpPr>
            <p:cNvPr id="35" name="MPE preparation / label 2"/>
            <p:cNvSpPr txBox="1"/>
            <p:nvPr/>
          </p:nvSpPr>
          <p:spPr>
            <a:xfrm>
              <a:off x="2350008" y="3698748"/>
              <a:ext cx="209397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Buffers + parameters</a:t>
              </a:r>
            </a:p>
          </p:txBody>
        </p:sp>
      </p:grpSp>
      <p:cxnSp>
        <p:nvCxnSpPr>
          <p:cNvPr id="36" name="Launch"/>
          <p:cNvCxnSpPr/>
          <p:nvPr/>
        </p:nvCxnSpPr>
        <p:spPr>
          <a:xfrm>
            <a:off x="4517136" y="3666744"/>
            <a:ext cx="448056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7" name="CPE execution"/>
          <p:cNvGrpSpPr/>
          <p:nvPr/>
        </p:nvGrpSpPr>
        <p:grpSpPr>
          <a:xfrm>
            <a:off x="4965192" y="3383280"/>
            <a:ext cx="1929384" cy="594360"/>
            <a:chOff x="4965192" y="3383280"/>
            <a:chExt cx="1929384" cy="594360"/>
          </a:xfrm>
        </p:grpSpPr>
        <p:sp>
          <p:nvSpPr>
            <p:cNvPr id="38" name="CPE execution / frame"/>
            <p:cNvSpPr/>
            <p:nvPr/>
          </p:nvSpPr>
          <p:spPr>
            <a:xfrm>
              <a:off x="4965192" y="3383280"/>
              <a:ext cx="1929384" cy="594360"/>
            </a:xfrm>
            <a:prstGeom prst="roundRect">
              <a:avLst>
                <a:gd name="adj" fmla="val 10769"/>
              </a:avLst>
            </a:prstGeom>
            <a:solidFill>
              <a:srgbClr val="EEE9F6"/>
            </a:solidFill>
            <a:ln w="15544">
              <a:solidFill>
                <a:srgbClr val="73539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CPE execution / label 1"/>
            <p:cNvSpPr txBox="1"/>
            <p:nvPr/>
          </p:nvSpPr>
          <p:spPr>
            <a:xfrm>
              <a:off x="5038344" y="3427902"/>
              <a:ext cx="178308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CPE execution</a:t>
              </a:r>
            </a:p>
          </p:txBody>
        </p:sp>
        <p:sp>
          <p:nvSpPr>
            <p:cNvPr id="40" name="CPE execution / label 2"/>
            <p:cNvSpPr txBox="1"/>
            <p:nvPr/>
          </p:nvSpPr>
          <p:spPr>
            <a:xfrm>
              <a:off x="5038344" y="3698748"/>
              <a:ext cx="1783080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Selected kernel</a:t>
              </a:r>
            </a:p>
          </p:txBody>
        </p:sp>
      </p:grpSp>
      <p:cxnSp>
        <p:nvCxnSpPr>
          <p:cNvPr id="41" name="Complete and join"/>
          <p:cNvCxnSpPr/>
          <p:nvPr/>
        </p:nvCxnSpPr>
        <p:spPr>
          <a:xfrm>
            <a:off x="6894576" y="3666744"/>
            <a:ext cx="448055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2" name="MPE post-processing"/>
          <p:cNvGrpSpPr/>
          <p:nvPr/>
        </p:nvGrpSpPr>
        <p:grpSpPr>
          <a:xfrm>
            <a:off x="7342631" y="3383280"/>
            <a:ext cx="2788920" cy="594360"/>
            <a:chOff x="7342631" y="3383280"/>
            <a:chExt cx="2788920" cy="594360"/>
          </a:xfrm>
        </p:grpSpPr>
        <p:sp>
          <p:nvSpPr>
            <p:cNvPr id="43" name="MPE post-processing / frame"/>
            <p:cNvSpPr/>
            <p:nvPr/>
          </p:nvSpPr>
          <p:spPr>
            <a:xfrm>
              <a:off x="7342631" y="3383280"/>
              <a:ext cx="2788920" cy="594360"/>
            </a:xfrm>
            <a:prstGeom prst="roundRect">
              <a:avLst>
                <a:gd name="adj" fmla="val 10769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MPE post-processing / label 1"/>
            <p:cNvSpPr txBox="1"/>
            <p:nvPr/>
          </p:nvSpPr>
          <p:spPr>
            <a:xfrm>
              <a:off x="7415783" y="3422324"/>
              <a:ext cx="2642616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MPE post-processing</a:t>
              </a:r>
            </a:p>
          </p:txBody>
        </p:sp>
        <p:sp>
          <p:nvSpPr>
            <p:cNvPr id="45" name="MPE post-processing / label 2"/>
            <p:cNvSpPr txBox="1"/>
            <p:nvPr/>
          </p:nvSpPr>
          <p:spPr>
            <a:xfrm>
              <a:off x="7415783" y="3704325"/>
              <a:ext cx="2642616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Validate batch, then process</a:t>
              </a:r>
            </a:p>
          </p:txBody>
        </p:sp>
      </p:grpSp>
      <p:sp>
        <p:nvSpPr>
          <p:cNvPr id="46" name="Buffer reuse / label 1"/>
          <p:cNvSpPr txBox="1"/>
          <p:nvPr/>
        </p:nvSpPr>
        <p:spPr>
          <a:xfrm>
            <a:off x="10396728" y="3401568"/>
            <a:ext cx="2295144" cy="265176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1">
                <a:solidFill>
                  <a:srgbClr val="222B33"/>
                </a:solidFill>
                <a:latin typeface="Arial"/>
              </a:rPr>
              <a:t>Reusable buffers</a:t>
            </a:r>
          </a:p>
        </p:txBody>
      </p:sp>
      <p:sp>
        <p:nvSpPr>
          <p:cNvPr id="47" name="Pipeline overlap / label 1"/>
          <p:cNvSpPr txBox="1"/>
          <p:nvPr/>
        </p:nvSpPr>
        <p:spPr>
          <a:xfrm>
            <a:off x="10396728" y="3694176"/>
            <a:ext cx="2295144" cy="2286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>
                <a:solidFill>
                  <a:srgbClr val="222B33"/>
                </a:solidFill>
                <a:latin typeface="Arial"/>
              </a:rPr>
              <a:t>Overlap I/O + CPE work</a:t>
            </a:r>
          </a:p>
        </p:txBody>
      </p:sp>
      <p:sp>
        <p:nvSpPr>
          <p:cNvPr id="48" name="I/O heading / label 1"/>
          <p:cNvSpPr txBox="1"/>
          <p:nvPr/>
        </p:nvSpPr>
        <p:spPr>
          <a:xfrm>
            <a:off x="448056" y="4315968"/>
            <a:ext cx="2148840" cy="292608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84" b="1">
                <a:solidFill>
                  <a:srgbClr val="222B33"/>
                </a:solidFill>
                <a:latin typeface="Arial"/>
              </a:rPr>
              <a:t>I/O and MPI support</a:t>
            </a:r>
          </a:p>
        </p:txBody>
      </p:sp>
      <p:grpSp>
        <p:nvGrpSpPr>
          <p:cNvPr id="49" name="Input and partitioning"/>
          <p:cNvGrpSpPr/>
          <p:nvPr/>
        </p:nvGrpSpPr>
        <p:grpSpPr>
          <a:xfrm>
            <a:off x="2798064" y="4197096"/>
            <a:ext cx="4727448" cy="576072"/>
            <a:chOff x="2798064" y="4197096"/>
            <a:chExt cx="4727448" cy="576072"/>
          </a:xfrm>
        </p:grpSpPr>
        <p:sp>
          <p:nvSpPr>
            <p:cNvPr id="50" name="Input and partitioning / frame"/>
            <p:cNvSpPr/>
            <p:nvPr/>
          </p:nvSpPr>
          <p:spPr>
            <a:xfrm>
              <a:off x="2798064" y="4197096"/>
              <a:ext cx="4727448" cy="576072"/>
            </a:xfrm>
            <a:prstGeom prst="roundRect">
              <a:avLst>
                <a:gd name="adj" fmla="val 11111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1" name="Input and partitioning / label 1"/>
            <p:cNvSpPr txBox="1"/>
            <p:nvPr/>
          </p:nvSpPr>
          <p:spPr>
            <a:xfrm>
              <a:off x="2871216" y="4232574"/>
              <a:ext cx="458114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Input backend + rank partitioning</a:t>
              </a:r>
            </a:p>
          </p:txBody>
        </p:sp>
        <p:sp>
          <p:nvSpPr>
            <p:cNvPr id="52" name="Input and partitioning / label 2"/>
            <p:cNvSpPr txBox="1"/>
            <p:nvPr/>
          </p:nvSpPr>
          <p:spPr>
            <a:xfrm>
              <a:off x="2871216" y="4503420"/>
              <a:ext cx="458114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Memory / POSIX / MPI-IO</a:t>
              </a:r>
            </a:p>
          </p:txBody>
        </p:sp>
      </p:grpSp>
      <p:grpSp>
        <p:nvGrpSpPr>
          <p:cNvPr id="53" name="Output and layout"/>
          <p:cNvGrpSpPr/>
          <p:nvPr/>
        </p:nvGrpSpPr>
        <p:grpSpPr>
          <a:xfrm>
            <a:off x="7891272" y="4197096"/>
            <a:ext cx="4818888" cy="576072"/>
            <a:chOff x="7891272" y="4197096"/>
            <a:chExt cx="4818888" cy="576072"/>
          </a:xfrm>
        </p:grpSpPr>
        <p:sp>
          <p:nvSpPr>
            <p:cNvPr id="54" name="Output and layout / frame"/>
            <p:cNvSpPr/>
            <p:nvPr/>
          </p:nvSpPr>
          <p:spPr>
            <a:xfrm>
              <a:off x="7891272" y="4197096"/>
              <a:ext cx="4818888" cy="576072"/>
            </a:xfrm>
            <a:prstGeom prst="roundRect">
              <a:avLst>
                <a:gd name="adj" fmla="val 11111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5" name="Output and layout / label 1"/>
            <p:cNvSpPr txBox="1"/>
            <p:nvPr/>
          </p:nvSpPr>
          <p:spPr>
            <a:xfrm>
              <a:off x="7964424" y="4232574"/>
              <a:ext cx="46725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1">
                  <a:solidFill>
                    <a:srgbClr val="222B33"/>
                  </a:solidFill>
                  <a:latin typeface="Arial"/>
                </a:rPr>
                <a:t>Rank body sink + distributed output</a:t>
              </a:r>
            </a:p>
          </p:txBody>
        </p:sp>
        <p:sp>
          <p:nvSpPr>
            <p:cNvPr id="56" name="Output and layout / label 2"/>
            <p:cNvSpPr txBox="1"/>
            <p:nvPr/>
          </p:nvSpPr>
          <p:spPr>
            <a:xfrm>
              <a:off x="7964424" y="4503420"/>
              <a:ext cx="4672584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Memory / spool  →  Memory / MPI-IO</a:t>
              </a:r>
            </a:p>
          </p:txBody>
        </p:sp>
      </p:grpSp>
      <p:sp>
        <p:nvSpPr>
          <p:cNvPr id="57" name="Panel B / label 1"/>
          <p:cNvSpPr txBox="1"/>
          <p:nvPr/>
        </p:nvSpPr>
        <p:spPr>
          <a:xfrm>
            <a:off x="256032" y="5111496"/>
            <a:ext cx="10972800" cy="347472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43" b="1">
                <a:solidFill>
                  <a:srgbClr val="222B33"/>
                </a:solidFill>
                <a:latin typeface="Arial"/>
              </a:rPr>
              <a:t>(b) Example batch-level compositions</a:t>
            </a:r>
          </a:p>
        </p:txBody>
      </p:sp>
      <p:sp>
        <p:nvSpPr>
          <p:cNvPr id="58" name="Record counting heading / label 1"/>
          <p:cNvSpPr txBox="1"/>
          <p:nvPr/>
        </p:nvSpPr>
        <p:spPr>
          <a:xfrm>
            <a:off x="448056" y="5577840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Record counting</a:t>
            </a:r>
          </a:p>
        </p:txBody>
      </p:sp>
      <p:grpSp>
        <p:nvGrpSpPr>
          <p:cNvPr id="59" name="Record counting / BAM read"/>
          <p:cNvGrpSpPr/>
          <p:nvPr/>
        </p:nvGrpSpPr>
        <p:grpSpPr>
          <a:xfrm>
            <a:off x="448056" y="5934456"/>
            <a:ext cx="1719072" cy="658368"/>
            <a:chOff x="448056" y="5934456"/>
            <a:chExt cx="1719072" cy="658368"/>
          </a:xfrm>
        </p:grpSpPr>
        <p:sp>
          <p:nvSpPr>
            <p:cNvPr id="60" name="Record counting / BAM read / frame"/>
            <p:cNvSpPr/>
            <p:nvPr/>
          </p:nvSpPr>
          <p:spPr>
            <a:xfrm>
              <a:off x="448056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1" name="Record counting / BAM read / label 1"/>
            <p:cNvSpPr txBox="1"/>
            <p:nvPr/>
          </p:nvSpPr>
          <p:spPr>
            <a:xfrm>
              <a:off x="521207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62" name="Record counting / BAM read / label 2"/>
            <p:cNvSpPr txBox="1"/>
            <p:nvPr/>
          </p:nvSpPr>
          <p:spPr>
            <a:xfrm>
              <a:off x="521207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Count (CPE)</a:t>
              </a:r>
            </a:p>
          </p:txBody>
        </p:sp>
      </p:grpSp>
      <p:cxnSp>
        <p:nvCxnSpPr>
          <p:cNvPr id="63" name="Record counting / batch 0"/>
          <p:cNvCxnSpPr/>
          <p:nvPr/>
        </p:nvCxnSpPr>
        <p:spPr>
          <a:xfrm>
            <a:off x="2167128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4" name="Record counting / Aggregate"/>
          <p:cNvGrpSpPr/>
          <p:nvPr/>
        </p:nvGrpSpPr>
        <p:grpSpPr>
          <a:xfrm>
            <a:off x="2514600" y="5934456"/>
            <a:ext cx="1719072" cy="658368"/>
            <a:chOff x="2514600" y="5934456"/>
            <a:chExt cx="1719072" cy="658368"/>
          </a:xfrm>
        </p:grpSpPr>
        <p:sp>
          <p:nvSpPr>
            <p:cNvPr id="65" name="Record counting / Aggregate / frame"/>
            <p:cNvSpPr/>
            <p:nvPr/>
          </p:nvSpPr>
          <p:spPr>
            <a:xfrm>
              <a:off x="2514600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6" name="Record counting / Aggregate / label 1"/>
            <p:cNvSpPr txBox="1"/>
            <p:nvPr/>
          </p:nvSpPr>
          <p:spPr>
            <a:xfrm>
              <a:off x="2587752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Aggregate</a:t>
              </a:r>
            </a:p>
          </p:txBody>
        </p:sp>
        <p:sp>
          <p:nvSpPr>
            <p:cNvPr id="67" name="Record counting / Aggregate / label 2"/>
            <p:cNvSpPr txBox="1"/>
            <p:nvPr/>
          </p:nvSpPr>
          <p:spPr>
            <a:xfrm>
              <a:off x="2587752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68" name="Record counting / batch 1"/>
          <p:cNvCxnSpPr/>
          <p:nvPr/>
        </p:nvCxnSpPr>
        <p:spPr>
          <a:xfrm>
            <a:off x="4233672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9" name="Record counting / MPI reduce"/>
          <p:cNvGrpSpPr/>
          <p:nvPr/>
        </p:nvGrpSpPr>
        <p:grpSpPr>
          <a:xfrm>
            <a:off x="4581144" y="5934456"/>
            <a:ext cx="1719072" cy="658368"/>
            <a:chOff x="4581144" y="5934456"/>
            <a:chExt cx="1719072" cy="658368"/>
          </a:xfrm>
        </p:grpSpPr>
        <p:sp>
          <p:nvSpPr>
            <p:cNvPr id="70" name="Record counting / MPI reduce / frame"/>
            <p:cNvSpPr/>
            <p:nvPr/>
          </p:nvSpPr>
          <p:spPr>
            <a:xfrm>
              <a:off x="4581144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2F4F6"/>
            </a:solidFill>
            <a:ln w="15544">
              <a:solidFill>
                <a:srgbClr val="737D8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1" name="Record counting / MPI reduce / label 1"/>
            <p:cNvSpPr txBox="1"/>
            <p:nvPr/>
          </p:nvSpPr>
          <p:spPr>
            <a:xfrm>
              <a:off x="4654296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MPI reduce</a:t>
              </a:r>
            </a:p>
          </p:txBody>
        </p:sp>
        <p:sp>
          <p:nvSpPr>
            <p:cNvPr id="72" name="Record counting / MPI reduce / label 2"/>
            <p:cNvSpPr txBox="1"/>
            <p:nvPr/>
          </p:nvSpPr>
          <p:spPr>
            <a:xfrm>
              <a:off x="4654296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Global count</a:t>
              </a:r>
            </a:p>
          </p:txBody>
        </p:sp>
      </p:grpSp>
      <p:sp>
        <p:nvSpPr>
          <p:cNvPr id="73" name="BAM filtering / rewriting heading / label 1"/>
          <p:cNvSpPr txBox="1"/>
          <p:nvPr/>
        </p:nvSpPr>
        <p:spPr>
          <a:xfrm>
            <a:off x="6885432" y="5577840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BAM filtering / rewriting</a:t>
            </a:r>
          </a:p>
        </p:txBody>
      </p:sp>
      <p:grpSp>
        <p:nvGrpSpPr>
          <p:cNvPr id="74" name="BAM filtering / rewriting / BAM read"/>
          <p:cNvGrpSpPr/>
          <p:nvPr/>
        </p:nvGrpSpPr>
        <p:grpSpPr>
          <a:xfrm>
            <a:off x="6885432" y="5934456"/>
            <a:ext cx="1719072" cy="658368"/>
            <a:chOff x="6885432" y="5934456"/>
            <a:chExt cx="1719072" cy="658368"/>
          </a:xfrm>
        </p:grpSpPr>
        <p:sp>
          <p:nvSpPr>
            <p:cNvPr id="75" name="BAM filtering / rewriting / BAM read / frame"/>
            <p:cNvSpPr/>
            <p:nvPr/>
          </p:nvSpPr>
          <p:spPr>
            <a:xfrm>
              <a:off x="6885432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6" name="BAM filtering / rewriting / BAM read / label 1"/>
            <p:cNvSpPr txBox="1"/>
            <p:nvPr/>
          </p:nvSpPr>
          <p:spPr>
            <a:xfrm>
              <a:off x="6958584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77" name="BAM filtering / rewriting / BAM read / label 2"/>
            <p:cNvSpPr txBox="1"/>
            <p:nvPr/>
          </p:nvSpPr>
          <p:spPr>
            <a:xfrm>
              <a:off x="6958584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Filter / retain</a:t>
              </a:r>
            </a:p>
          </p:txBody>
        </p:sp>
      </p:grpSp>
      <p:cxnSp>
        <p:nvCxnSpPr>
          <p:cNvPr id="78" name="BAM filtering / rewriting / batch 0"/>
          <p:cNvCxnSpPr/>
          <p:nvPr/>
        </p:nvCxnSpPr>
        <p:spPr>
          <a:xfrm>
            <a:off x="8604504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9" name="BAM filtering / rewriting / Packing plan"/>
          <p:cNvGrpSpPr/>
          <p:nvPr/>
        </p:nvGrpSpPr>
        <p:grpSpPr>
          <a:xfrm>
            <a:off x="8951976" y="5934456"/>
            <a:ext cx="1719072" cy="658368"/>
            <a:chOff x="8951976" y="5934456"/>
            <a:chExt cx="1719072" cy="658368"/>
          </a:xfrm>
        </p:grpSpPr>
        <p:sp>
          <p:nvSpPr>
            <p:cNvPr id="80" name="BAM filtering / rewriting / Packing plan / frame"/>
            <p:cNvSpPr/>
            <p:nvPr/>
          </p:nvSpPr>
          <p:spPr>
            <a:xfrm>
              <a:off x="8951976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1" name="BAM filtering / rewriting / Packing plan / label 1"/>
            <p:cNvSpPr txBox="1"/>
            <p:nvPr/>
          </p:nvSpPr>
          <p:spPr>
            <a:xfrm>
              <a:off x="9025128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Packing plan</a:t>
              </a:r>
            </a:p>
          </p:txBody>
        </p:sp>
        <p:sp>
          <p:nvSpPr>
            <p:cNvPr id="82" name="BAM filtering / rewriting / Packing plan / label 2"/>
            <p:cNvSpPr txBox="1"/>
            <p:nvPr/>
          </p:nvSpPr>
          <p:spPr>
            <a:xfrm>
              <a:off x="9025128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83" name="BAM filtering / rewriting / batch 1"/>
          <p:cNvCxnSpPr/>
          <p:nvPr/>
        </p:nvCxnSpPr>
        <p:spPr>
          <a:xfrm>
            <a:off x="10671048" y="6263640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4" name="BAM filtering / rewriting / BAM write"/>
          <p:cNvGrpSpPr/>
          <p:nvPr/>
        </p:nvGrpSpPr>
        <p:grpSpPr>
          <a:xfrm>
            <a:off x="11018520" y="5934456"/>
            <a:ext cx="1719072" cy="658368"/>
            <a:chOff x="11018520" y="5934456"/>
            <a:chExt cx="1719072" cy="658368"/>
          </a:xfrm>
        </p:grpSpPr>
        <p:sp>
          <p:nvSpPr>
            <p:cNvPr id="85" name="BAM filtering / rewriting / BAM write / frame"/>
            <p:cNvSpPr/>
            <p:nvPr/>
          </p:nvSpPr>
          <p:spPr>
            <a:xfrm>
              <a:off x="11018520" y="5934456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BAM filtering / rewriting / BAM write / label 1"/>
            <p:cNvSpPr txBox="1"/>
            <p:nvPr/>
          </p:nvSpPr>
          <p:spPr>
            <a:xfrm>
              <a:off x="11091672" y="6005504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87" name="BAM filtering / rewriting / BAM write / label 2"/>
            <p:cNvSpPr txBox="1"/>
            <p:nvPr/>
          </p:nvSpPr>
          <p:spPr>
            <a:xfrm>
              <a:off x="11091672" y="6287505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Encode (CPE)</a:t>
              </a:r>
            </a:p>
          </p:txBody>
        </p:sp>
      </p:grpSp>
      <p:sp>
        <p:nvSpPr>
          <p:cNvPr id="88" name="BAM-to-SAM conversion heading / label 1"/>
          <p:cNvSpPr txBox="1"/>
          <p:nvPr/>
        </p:nvSpPr>
        <p:spPr>
          <a:xfrm>
            <a:off x="448056" y="6848856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BAM-to-SAM conversion</a:t>
            </a:r>
          </a:p>
        </p:txBody>
      </p:sp>
      <p:grpSp>
        <p:nvGrpSpPr>
          <p:cNvPr id="89" name="BAM-to-SAM conversion / BAM read"/>
          <p:cNvGrpSpPr/>
          <p:nvPr/>
        </p:nvGrpSpPr>
        <p:grpSpPr>
          <a:xfrm>
            <a:off x="448056" y="7205472"/>
            <a:ext cx="1719072" cy="658368"/>
            <a:chOff x="448056" y="7205472"/>
            <a:chExt cx="1719072" cy="658368"/>
          </a:xfrm>
        </p:grpSpPr>
        <p:sp>
          <p:nvSpPr>
            <p:cNvPr id="90" name="BAM-to-SAM conversion / BAM read / frame"/>
            <p:cNvSpPr/>
            <p:nvPr/>
          </p:nvSpPr>
          <p:spPr>
            <a:xfrm>
              <a:off x="448056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1" name="BAM-to-SAM conversion / BAM read / label 1"/>
            <p:cNvSpPr txBox="1"/>
            <p:nvPr/>
          </p:nvSpPr>
          <p:spPr>
            <a:xfrm>
              <a:off x="521207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read</a:t>
              </a:r>
            </a:p>
          </p:txBody>
        </p:sp>
        <p:sp>
          <p:nvSpPr>
            <p:cNvPr id="92" name="BAM-to-SAM conversion / BAM read / label 2"/>
            <p:cNvSpPr txBox="1"/>
            <p:nvPr/>
          </p:nvSpPr>
          <p:spPr>
            <a:xfrm>
              <a:off x="521207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Decode + parse</a:t>
              </a:r>
            </a:p>
          </p:txBody>
        </p:sp>
      </p:grpSp>
      <p:cxnSp>
        <p:nvCxnSpPr>
          <p:cNvPr id="93" name="BAM-to-SAM conversion / batch 0"/>
          <p:cNvCxnSpPr/>
          <p:nvPr/>
        </p:nvCxnSpPr>
        <p:spPr>
          <a:xfrm>
            <a:off x="2167128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4" name="BAM-to-SAM conversion / Batch handoff"/>
          <p:cNvGrpSpPr/>
          <p:nvPr/>
        </p:nvGrpSpPr>
        <p:grpSpPr>
          <a:xfrm>
            <a:off x="2514600" y="7205472"/>
            <a:ext cx="1719072" cy="658368"/>
            <a:chOff x="2514600" y="7205472"/>
            <a:chExt cx="1719072" cy="658368"/>
          </a:xfrm>
        </p:grpSpPr>
        <p:sp>
          <p:nvSpPr>
            <p:cNvPr id="95" name="BAM-to-SAM conversion / Batch handoff / frame"/>
            <p:cNvSpPr/>
            <p:nvPr/>
          </p:nvSpPr>
          <p:spPr>
            <a:xfrm>
              <a:off x="2514600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6" name="BAM-to-SAM conversion / Batch handoff / label 1"/>
            <p:cNvSpPr txBox="1"/>
            <p:nvPr/>
          </p:nvSpPr>
          <p:spPr>
            <a:xfrm>
              <a:off x="2587752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Batch handoff</a:t>
              </a:r>
            </a:p>
          </p:txBody>
        </p:sp>
        <p:sp>
          <p:nvSpPr>
            <p:cNvPr id="97" name="BAM-to-SAM conversion / Batch handoff / label 2"/>
            <p:cNvSpPr txBox="1"/>
            <p:nvPr/>
          </p:nvSpPr>
          <p:spPr>
            <a:xfrm>
              <a:off x="2587752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98" name="BAM-to-SAM conversion / batch 1"/>
          <p:cNvCxnSpPr/>
          <p:nvPr/>
        </p:nvCxnSpPr>
        <p:spPr>
          <a:xfrm>
            <a:off x="4233672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9" name="BAM-to-SAM conversion / SAM write"/>
          <p:cNvGrpSpPr/>
          <p:nvPr/>
        </p:nvGrpSpPr>
        <p:grpSpPr>
          <a:xfrm>
            <a:off x="4581144" y="7205472"/>
            <a:ext cx="1719072" cy="658368"/>
            <a:chOff x="4581144" y="7205472"/>
            <a:chExt cx="1719072" cy="658368"/>
          </a:xfrm>
        </p:grpSpPr>
        <p:sp>
          <p:nvSpPr>
            <p:cNvPr id="100" name="BAM-to-SAM conversion / SAM write / frame"/>
            <p:cNvSpPr/>
            <p:nvPr/>
          </p:nvSpPr>
          <p:spPr>
            <a:xfrm>
              <a:off x="4581144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1" name="BAM-to-SAM conversion / SAM write / label 1"/>
            <p:cNvSpPr txBox="1"/>
            <p:nvPr/>
          </p:nvSpPr>
          <p:spPr>
            <a:xfrm>
              <a:off x="4654296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 write</a:t>
              </a:r>
            </a:p>
          </p:txBody>
        </p:sp>
        <p:sp>
          <p:nvSpPr>
            <p:cNvPr id="102" name="BAM-to-SAM conversion / SAM write / label 2"/>
            <p:cNvSpPr txBox="1"/>
            <p:nvPr/>
          </p:nvSpPr>
          <p:spPr>
            <a:xfrm>
              <a:off x="4654296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Format (CPE)</a:t>
              </a:r>
            </a:p>
          </p:txBody>
        </p:sp>
      </p:grpSp>
      <p:sp>
        <p:nvSpPr>
          <p:cNvPr id="103" name="SAM-to-BAM conversion heading / label 1"/>
          <p:cNvSpPr txBox="1"/>
          <p:nvPr/>
        </p:nvSpPr>
        <p:spPr>
          <a:xfrm>
            <a:off x="6885432" y="6848856"/>
            <a:ext cx="5943600" cy="27432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5" b="1">
                <a:solidFill>
                  <a:srgbClr val="222B33"/>
                </a:solidFill>
                <a:latin typeface="Arial"/>
              </a:rPr>
              <a:t>SAM-to-BAM conversion</a:t>
            </a:r>
          </a:p>
        </p:txBody>
      </p:sp>
      <p:grpSp>
        <p:nvGrpSpPr>
          <p:cNvPr id="104" name="SAM-to-BAM conversion / SAM read"/>
          <p:cNvGrpSpPr/>
          <p:nvPr/>
        </p:nvGrpSpPr>
        <p:grpSpPr>
          <a:xfrm>
            <a:off x="6885432" y="7205472"/>
            <a:ext cx="1719072" cy="658368"/>
            <a:chOff x="6885432" y="7205472"/>
            <a:chExt cx="1719072" cy="658368"/>
          </a:xfrm>
        </p:grpSpPr>
        <p:sp>
          <p:nvSpPr>
            <p:cNvPr id="105" name="SAM-to-BAM conversion / SAM read / frame"/>
            <p:cNvSpPr/>
            <p:nvPr/>
          </p:nvSpPr>
          <p:spPr>
            <a:xfrm>
              <a:off x="6885432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4EFFA"/>
            </a:solidFill>
            <a:ln w="15544">
              <a:solidFill>
                <a:srgbClr val="2873AC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6" name="SAM-to-BAM conversion / SAM read / label 1"/>
            <p:cNvSpPr txBox="1"/>
            <p:nvPr/>
          </p:nvSpPr>
          <p:spPr>
            <a:xfrm>
              <a:off x="6958584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SAM read</a:t>
              </a:r>
            </a:p>
          </p:txBody>
        </p:sp>
        <p:sp>
          <p:nvSpPr>
            <p:cNvPr id="107" name="SAM-to-BAM conversion / SAM read / label 2"/>
            <p:cNvSpPr txBox="1"/>
            <p:nvPr/>
          </p:nvSpPr>
          <p:spPr>
            <a:xfrm>
              <a:off x="6958584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Parse (CPE)</a:t>
              </a:r>
            </a:p>
          </p:txBody>
        </p:sp>
      </p:grpSp>
      <p:cxnSp>
        <p:nvCxnSpPr>
          <p:cNvPr id="108" name="SAM-to-BAM conversion / batch 0"/>
          <p:cNvCxnSpPr/>
          <p:nvPr/>
        </p:nvCxnSpPr>
        <p:spPr>
          <a:xfrm>
            <a:off x="8604504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9" name="SAM-to-BAM conversion / Packing plan"/>
          <p:cNvGrpSpPr/>
          <p:nvPr/>
        </p:nvGrpSpPr>
        <p:grpSpPr>
          <a:xfrm>
            <a:off x="8951976" y="7205472"/>
            <a:ext cx="1719072" cy="658368"/>
            <a:chOff x="8951976" y="7205472"/>
            <a:chExt cx="1719072" cy="658368"/>
          </a:xfrm>
        </p:grpSpPr>
        <p:sp>
          <p:nvSpPr>
            <p:cNvPr id="110" name="SAM-to-BAM conversion / Packing plan / frame"/>
            <p:cNvSpPr/>
            <p:nvPr/>
          </p:nvSpPr>
          <p:spPr>
            <a:xfrm>
              <a:off x="8951976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FFF0DC"/>
            </a:solidFill>
            <a:ln w="15544">
              <a:solidFill>
                <a:srgbClr val="AB691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1" name="SAM-to-BAM conversion / Packing plan / label 1"/>
            <p:cNvSpPr txBox="1"/>
            <p:nvPr/>
          </p:nvSpPr>
          <p:spPr>
            <a:xfrm>
              <a:off x="9025128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Packing plan</a:t>
              </a:r>
            </a:p>
          </p:txBody>
        </p:sp>
        <p:sp>
          <p:nvSpPr>
            <p:cNvPr id="112" name="SAM-to-BAM conversion / Packing plan / label 2"/>
            <p:cNvSpPr txBox="1"/>
            <p:nvPr/>
          </p:nvSpPr>
          <p:spPr>
            <a:xfrm>
              <a:off x="9025128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MPE</a:t>
              </a:r>
            </a:p>
          </p:txBody>
        </p:sp>
      </p:grpSp>
      <p:cxnSp>
        <p:nvCxnSpPr>
          <p:cNvPr id="113" name="SAM-to-BAM conversion / batch 1"/>
          <p:cNvCxnSpPr/>
          <p:nvPr/>
        </p:nvCxnSpPr>
        <p:spPr>
          <a:xfrm>
            <a:off x="10671048" y="7534656"/>
            <a:ext cx="347472" cy="0"/>
          </a:xfrm>
          <a:prstGeom prst="line">
            <a:avLst/>
          </a:prstGeom>
          <a:ln w="16459">
            <a:solidFill>
              <a:srgbClr val="222B33"/>
            </a:solidFill>
            <a:tailEnd type="triangle" w="sm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SAM-to-BAM conversion / BAM write"/>
          <p:cNvGrpSpPr/>
          <p:nvPr/>
        </p:nvGrpSpPr>
        <p:grpSpPr>
          <a:xfrm>
            <a:off x="11018520" y="7205472"/>
            <a:ext cx="1719072" cy="658368"/>
            <a:chOff x="11018520" y="7205472"/>
            <a:chExt cx="1719072" cy="658368"/>
          </a:xfrm>
        </p:grpSpPr>
        <p:sp>
          <p:nvSpPr>
            <p:cNvPr id="115" name="SAM-to-BAM conversion / BAM write / frame"/>
            <p:cNvSpPr/>
            <p:nvPr/>
          </p:nvSpPr>
          <p:spPr>
            <a:xfrm>
              <a:off x="11018520" y="7205472"/>
              <a:ext cx="1719072" cy="658368"/>
            </a:xfrm>
            <a:prstGeom prst="roundRect">
              <a:avLst>
                <a:gd name="adj" fmla="val 9722"/>
              </a:avLst>
            </a:prstGeom>
            <a:solidFill>
              <a:srgbClr val="E1F2EA"/>
            </a:solidFill>
            <a:ln w="15544">
              <a:solidFill>
                <a:srgbClr val="217957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6" name="SAM-to-BAM conversion / BAM write / label 1"/>
            <p:cNvSpPr txBox="1"/>
            <p:nvPr/>
          </p:nvSpPr>
          <p:spPr>
            <a:xfrm>
              <a:off x="11091672" y="7276520"/>
              <a:ext cx="1572768" cy="245424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84" b="1">
                  <a:solidFill>
                    <a:srgbClr val="222B33"/>
                  </a:solidFill>
                  <a:latin typeface="Arial"/>
                </a:rPr>
                <a:t>BAM write</a:t>
              </a:r>
            </a:p>
          </p:txBody>
        </p:sp>
        <p:sp>
          <p:nvSpPr>
            <p:cNvPr id="117" name="SAM-to-BAM conversion / BAM write / label 2"/>
            <p:cNvSpPr txBox="1"/>
            <p:nvPr/>
          </p:nvSpPr>
          <p:spPr>
            <a:xfrm>
              <a:off x="11091672" y="7558521"/>
              <a:ext cx="1572768" cy="234269"/>
            </a:xfrm>
            <a:prstGeom prst="rect">
              <a:avLst/>
            </a:prstGeom>
            <a:noFill/>
          </p:spPr>
          <p:txBody>
            <a:bodyPr wrap="none" anchor="ctr" lIns="0" rIns="0" tIns="0" bIns="0">
              <a:no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12" b="0">
                  <a:solidFill>
                    <a:srgbClr val="4E5B64"/>
                  </a:solidFill>
                  <a:latin typeface="Arial"/>
                </a:rPr>
                <a:t>Encode (CPE)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SWBAM architecture and pipeline composition</dc:title>
  <dc:subject>Editable Method figure; all elements are native shapes</dc:subject>
  <dc:creator>SWBAM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