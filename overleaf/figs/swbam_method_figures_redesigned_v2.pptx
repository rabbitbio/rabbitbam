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SWBAM: library architecture and batch-level composition</a:t>
            </a:r>
          </a:p>
          <a:p/>
          <a:p>
            <a:r>
              <a:t>Redrawn using plot.pptx visual vocabulary: memory plane, MPE/CPE array, expanded processing components. Shapes illustrate SWBAM, not ZFP; no reference-paper mechanisms are claimed. One MPI rank uses one active core group (1 MPE + 64 CPEs). Four alternative processing pipelines, not four concurrent kernels. Application composition occurs at batch boundaries on the MPE. The common BAM read operator can emit raw views, counters, parsed records, or algorithm metadata. The optional bam1_t adapter materializes objects on the MPE and is not shown as a CPE stage. The BAM write pipeline also accepts already packed raw payloads (compression-only). Backend labels are for BAM; SAM backend support is not implied by the entire list. Source: swbam-sdk/lib/cpe/swbam_cpe_bam_read_pipeline.cpp, swbam_cpe_bam_write_pipeline.cpp; lib/operators/swbam_bam_transform_operator.cpp; include/swbam/cpe_pipeline.h; overleaf/SWBAM/bare_jrnl_new_sample4.tex Methods.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Alternating buffers and MPE-CPE overlap</a:t>
            </a:r>
          </a:p>
          <a:p/>
          <a:p>
            <a:r>
              <a:t>Independent read and write schedules for one active core group; horizontal lengths are schematic, not measured times. Read shows overlap_input=true and prefetch_during_post_process=false. The MPE prefetches next input while the CPE handles current input. Post-processing follows join and validation; it is not overlapped with that read kernel. Write Start launches current compression then FlushPending writes previous output, optional prefetch follows, Complete joins and validates. No simultaneous read/write CPE kernels are implied. Raw payloads skip serialization. Source: swbam-sdk/lib/cpe/swbam_cpe_bam_read_pipeline.cpp RunCpeReadPipeline; swbam-sdk/lib/cpe/swbam_cpe_bam_write_pipeline.cpp CpeWritePipelineSession::{Start,Complete,FlushPending}.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 and collate: shared distributed reordering</a:t>
            </a:r>
          </a:p>
          <a:p/>
          <a:p>
            <a:r>
              <a:t>Six MPI ranks are shown explicitly. Panel (a) combines the conceptual organization of sort and collate, not their separate implementations. Colors / cell numbers denote destination owners; s0-s5 denote source ranks. Glyphs represent record groups or ordered segments, not a literal block count. External mode can produce multiple segments per source. The broad exchange arrow is a distributed data transpose, not a coordinator or rank0 gather. Self-owned data avoid network transfer; external mode may still pack/copy/store them. The output is a rank-local compressed body, not an independent full BAM file per rank. Final distributed layout supplies the common header and one EOF.</a:t>
            </a:r>
          </a:p>
          <a:p/>
          <a:p>
            <a:r>
              <a:t>Sort selects coordinate splitters from samples and produces globally coordinate-sorted output. Collate uses bin/hash/QNAME ordering and owner=floor(bin*nranks/nbins): with 66 bins and six ranks, rank r owns bins 11r through 11r+10. Full QNAME comparisons disambiguate hashes. The example owner ranges do not imply global lexicographic QNAME order. Local sorting and merge/exchange control execute on MPE; CPE performs decode/extract and final compression.</a:t>
            </a:r>
          </a:p>
          <a:p/>
          <a:p>
            <a:r>
              <a:t>The external path generates bounded local sorted runs, exchanges chunks into temporary received segments, and uses memory-budgeted merge fan-in. Intermediate consolidation may require additional passes before final merge/compression. The drawing abstracts resident run optimizations; it does not claim every run must spill. Temporary algorithm runs/segments differ from an optional final RankBodySink spool. The -m working-set budget is not a whole-process RSS limit.</a:t>
            </a:r>
          </a:p>
          <a:p/>
          <a:p>
            <a:r>
              <a:t>Code anchors: swbam-app/algorithms/collate/swbam_collate_mpi.cpp (CollateOwner, CollateCompare, CollateExchangeMemory, CollateExchangeRuns, OptimizedBamExternalCollateMPIImpl); swbam-app/algorithms/sort/swbam_sort_optimized_mpi.cpp (OptimizedBamExternalSortMPIImpl, MpiSortChooseSplitters, MpiSortStrictExchangeRuns, MpiSortStrictConsolidate). Visual reference: overleaf/reference/plot.pptx, especially its cyan/green/yellow regions, dark outlines, data arrays and arrows.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One-pass markdup: boundary pre-resolution and ordered retirement</a:t>
            </a:r>
          </a:p>
          <a:p/>
          <a:p>
            <a:r>
              <a:t>Panel (a) precedes the main stream: read/decode rank head/tail blocks, extract candidate metadata, allgather starts and collectively verify halo coverage against maximum read length L. When covered, select boundary candidates, route to coordinate owners, resolve groups and return source-local decisions H_r. Coverage failure on any rank disables the fast plan; retain boundary keys conservatively. All edges are schematic; left/right ranks are adjacent coordinate partitions. The example uses a shared duplicate key k with scores 70 and 60 (illustrative), and not full BAM record exchange. Paired/single interactions still follow implementation rules. Panel (b) excludes pre-resolved candidates from ordinary window processing, applies H_r and local/remote decisions to retained decoded blocks. Optimistic KEEP does not imply immediate output: active winners and remote decisions may pin records. Only complete front blocks are emitted. Pending blocks B2/B3 cannot overtake; storage is retired/recycled only after write completion. One-pass refers to the main record stream; edge probes perform additional limited decoding. No universal fixed memory bound for arbitrary coverage/fallback is claimed. Source: swbam-app/algorithms/markdup/swbam_markdup_mpi.cpp MdBuildOnePassBoundaryPlan, MdOnePassPrepareOutput, one-pass capture/output loop; swbam_markdup_stream_mpi.cpp candidate-window expiry and boundary retention.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SWBAM library: data access and batch execution"/>
          <p:cNvSpPr txBox="1"/>
          <p:nvPr/>
        </p:nvSpPr>
        <p:spPr>
          <a:xfrm>
            <a:off x="228600" y="9144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(a) SWBAM library: data access and batch execution</a:t>
            </a:r>
          </a:p>
        </p:txBody>
      </p:sp>
      <p:sp>
        <p:nvSpPr>
          <p:cNvPr id="3" name="Data access plane"/>
          <p:cNvSpPr/>
          <p:nvPr/>
        </p:nvSpPr>
        <p:spPr>
          <a:xfrm>
            <a:off x="213360" y="434340"/>
            <a:ext cx="11765280" cy="1051560"/>
          </a:xfrm>
          <a:prstGeom prst="rect">
            <a:avLst/>
          </a:prstGeom>
          <a:solidFill>
            <a:srgbClr val="D5EDF8"/>
          </a:solidFill>
          <a:ln w="1524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ata access title"/>
          <p:cNvSpPr txBox="1"/>
          <p:nvPr/>
        </p:nvSpPr>
        <p:spPr>
          <a:xfrm>
            <a:off x="365760" y="586740"/>
            <a:ext cx="1447800" cy="220980"/>
          </a:xfrm>
          <a:prstGeom prst="rect">
            <a:avLst/>
          </a:prstGeom>
          <a:noFill/>
        </p:spPr>
        <p:txBody>
          <a:bodyPr wrap="none" lIns="0" rIns="0" tIns="0" bIns="0" anchor="ctr">
            <a:noAutofit/>
          </a:bodyPr>
          <a:lstStyle/>
          <a:p>
            <a:pPr algn="ctr">
              <a:lnSpc>
                <a:spcPts val="1680"/>
              </a:lnSpc>
              <a:spcBef>
                <a:spcPts val="0"/>
              </a:spcBef>
              <a:spcAft>
                <a:spcPts val="0"/>
              </a:spcAft>
            </a:pPr>
            <a:r>
              <a:rPr sz="1500" b="1" i="0">
                <a:solidFill>
                  <a:srgbClr val="172C36"/>
                </a:solidFill>
                <a:latin typeface="Arial"/>
              </a:rPr>
              <a:t>Data access</a:t>
            </a:r>
          </a:p>
        </p:txBody>
      </p:sp>
      <p:sp>
        <p:nvSpPr>
          <p:cNvPr id="5" name="Input backends"/>
          <p:cNvSpPr txBox="1"/>
          <p:nvPr/>
        </p:nvSpPr>
        <p:spPr>
          <a:xfrm>
            <a:off x="365760" y="876300"/>
            <a:ext cx="1531620" cy="42672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BAM backends</a:t>
            </a:r>
          </a:p>
          <a:p>
            <a:pPr algn="ctr">
              <a:lnSpc>
                <a:spcPts val="1142"/>
              </a:lnSpc>
              <a:spcBef>
                <a:spcPts val="0"/>
              </a:spcBef>
              <a:spcAft>
                <a:spcPts val="0"/>
              </a:spcAft>
            </a:pPr>
            <a:r>
              <a:rPr sz="1019" b="0" i="0">
                <a:solidFill>
                  <a:srgbClr val="172C36"/>
                </a:solidFill>
                <a:latin typeface="Arial"/>
              </a:rPr>
              <a:t>Memory / POSIX / MPI-IO</a:t>
            </a:r>
          </a:p>
        </p:txBody>
      </p:sp>
      <p:grpSp>
        <p:nvGrpSpPr>
          <p:cNvPr id="8" name="BAM input file [editable group]"/>
          <p:cNvGrpSpPr/>
          <p:nvPr/>
        </p:nvGrpSpPr>
        <p:grpSpPr>
          <a:xfrm>
            <a:off x="2095499" y="632460"/>
            <a:ext cx="487680" cy="624840"/>
            <a:chOff x="2095499" y="632460"/>
            <a:chExt cx="487680" cy="624840"/>
          </a:xfrm>
        </p:grpSpPr>
        <p:sp>
          <p:nvSpPr>
            <p:cNvPr id="6" name="BAM input file"/>
            <p:cNvSpPr/>
            <p:nvPr/>
          </p:nvSpPr>
          <p:spPr>
            <a:xfrm>
              <a:off x="2095499" y="632460"/>
              <a:ext cx="487680" cy="624840"/>
            </a:xfrm>
            <a:prstGeom prst="foldedCorner">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M input file / label"/>
            <p:cNvSpPr txBox="1"/>
            <p:nvPr/>
          </p:nvSpPr>
          <p:spPr>
            <a:xfrm>
              <a:off x="2118360" y="832408"/>
              <a:ext cx="441960" cy="281178"/>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BAM</a:t>
              </a:r>
            </a:p>
          </p:txBody>
        </p:sp>
      </p:grpSp>
      <p:cxnSp>
        <p:nvCxnSpPr>
          <p:cNvPr id="9" name="Input to block batches / segment 0"/>
          <p:cNvCxnSpPr/>
          <p:nvPr/>
        </p:nvCxnSpPr>
        <p:spPr>
          <a:xfrm>
            <a:off x="2636520" y="929640"/>
            <a:ext cx="2819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BGZF input blocks / 0"/>
          <p:cNvSpPr/>
          <p:nvPr/>
        </p:nvSpPr>
        <p:spPr>
          <a:xfrm>
            <a:off x="29946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BGZF input blocks / divider 0 / segment 0"/>
          <p:cNvCxnSpPr/>
          <p:nvPr/>
        </p:nvCxnSpPr>
        <p:spPr>
          <a:xfrm>
            <a:off x="30707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2" name="BGZF input blocks / 1"/>
          <p:cNvSpPr/>
          <p:nvPr/>
        </p:nvSpPr>
        <p:spPr>
          <a:xfrm>
            <a:off x="32994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BGZF input blocks / divider 1 / segment 0"/>
          <p:cNvCxnSpPr/>
          <p:nvPr/>
        </p:nvCxnSpPr>
        <p:spPr>
          <a:xfrm>
            <a:off x="33755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 name="BGZF input blocks / 2"/>
          <p:cNvSpPr/>
          <p:nvPr/>
        </p:nvSpPr>
        <p:spPr>
          <a:xfrm>
            <a:off x="36042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BGZF input blocks / divider 2 / segment 0"/>
          <p:cNvCxnSpPr/>
          <p:nvPr/>
        </p:nvCxnSpPr>
        <p:spPr>
          <a:xfrm>
            <a:off x="36803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6" name="BGZF input blocks / 3"/>
          <p:cNvSpPr/>
          <p:nvPr/>
        </p:nvSpPr>
        <p:spPr>
          <a:xfrm>
            <a:off x="39090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BGZF input blocks / divider 3 / segment 0"/>
          <p:cNvCxnSpPr/>
          <p:nvPr/>
        </p:nvCxnSpPr>
        <p:spPr>
          <a:xfrm>
            <a:off x="39851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8" name="BGZF input blocks / 4"/>
          <p:cNvSpPr/>
          <p:nvPr/>
        </p:nvSpPr>
        <p:spPr>
          <a:xfrm>
            <a:off x="42138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BGZF input blocks / divider 4 / segment 0"/>
          <p:cNvCxnSpPr/>
          <p:nvPr/>
        </p:nvCxnSpPr>
        <p:spPr>
          <a:xfrm>
            <a:off x="42899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 name="BGZF input blocks / 5"/>
          <p:cNvSpPr/>
          <p:nvPr/>
        </p:nvSpPr>
        <p:spPr>
          <a:xfrm>
            <a:off x="45186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BGZF input blocks / divider 5 / segment 0"/>
          <p:cNvCxnSpPr/>
          <p:nvPr/>
        </p:nvCxnSpPr>
        <p:spPr>
          <a:xfrm>
            <a:off x="45947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2" name="Rank span / segment 0"/>
          <p:cNvCxnSpPr/>
          <p:nvPr/>
        </p:nvCxnSpPr>
        <p:spPr>
          <a:xfrm>
            <a:off x="2994660" y="1082040"/>
            <a:ext cx="0" cy="5334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cxnSp>
        <p:nvCxnSpPr>
          <p:cNvPr id="23" name="Rank span / segment 1"/>
          <p:cNvCxnSpPr/>
          <p:nvPr/>
        </p:nvCxnSpPr>
        <p:spPr>
          <a:xfrm>
            <a:off x="2994660" y="1135380"/>
            <a:ext cx="1805940" cy="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cxnSp>
        <p:nvCxnSpPr>
          <p:cNvPr id="24" name="Rank span / segment 2"/>
          <p:cNvCxnSpPr/>
          <p:nvPr/>
        </p:nvCxnSpPr>
        <p:spPr>
          <a:xfrm flipV="1">
            <a:off x="4800600" y="1082040"/>
            <a:ext cx="0" cy="5334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25" name="Rank span / label"/>
          <p:cNvSpPr txBox="1"/>
          <p:nvPr/>
        </p:nvSpPr>
        <p:spPr>
          <a:xfrm>
            <a:off x="2994660" y="1181100"/>
            <a:ext cx="1805940" cy="1752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61727A"/>
                </a:solidFill>
                <a:latin typeface="Arial"/>
              </a:rPr>
              <a:t>Contiguous rank span</a:t>
            </a:r>
          </a:p>
        </p:txBody>
      </p:sp>
      <p:cxnSp>
        <p:nvCxnSpPr>
          <p:cNvPr id="26" name="Blocks to alternating input / segment 0"/>
          <p:cNvCxnSpPr/>
          <p:nvPr/>
        </p:nvCxnSpPr>
        <p:spPr>
          <a:xfrm>
            <a:off x="4899660" y="929640"/>
            <a:ext cx="3200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Input batch title"/>
          <p:cNvSpPr txBox="1"/>
          <p:nvPr/>
        </p:nvSpPr>
        <p:spPr>
          <a:xfrm>
            <a:off x="5356860" y="533400"/>
            <a:ext cx="1935480" cy="19050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Alternating batch buffers</a:t>
            </a:r>
          </a:p>
        </p:txBody>
      </p:sp>
      <p:grpSp>
        <p:nvGrpSpPr>
          <p:cNvPr id="30" name="Input A [editable group]"/>
          <p:cNvGrpSpPr/>
          <p:nvPr/>
        </p:nvGrpSpPr>
        <p:grpSpPr>
          <a:xfrm>
            <a:off x="5349240" y="807720"/>
            <a:ext cx="845820" cy="358140"/>
            <a:chOff x="5349240" y="807720"/>
            <a:chExt cx="845820" cy="358140"/>
          </a:xfrm>
        </p:grpSpPr>
        <p:sp>
          <p:nvSpPr>
            <p:cNvPr id="28" name="Input A"/>
            <p:cNvSpPr/>
            <p:nvPr/>
          </p:nvSpPr>
          <p:spPr>
            <a:xfrm>
              <a:off x="5349240" y="807720"/>
              <a:ext cx="845820" cy="35814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put A / label"/>
            <p:cNvSpPr txBox="1"/>
            <p:nvPr/>
          </p:nvSpPr>
          <p:spPr>
            <a:xfrm>
              <a:off x="5394960" y="830580"/>
              <a:ext cx="754380" cy="31242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A</a:t>
              </a:r>
            </a:p>
          </p:txBody>
        </p:sp>
      </p:grpSp>
      <p:grpSp>
        <p:nvGrpSpPr>
          <p:cNvPr id="33" name="Input B [editable group]"/>
          <p:cNvGrpSpPr/>
          <p:nvPr/>
        </p:nvGrpSpPr>
        <p:grpSpPr>
          <a:xfrm>
            <a:off x="6316980" y="807720"/>
            <a:ext cx="845820" cy="358140"/>
            <a:chOff x="6316980" y="807720"/>
            <a:chExt cx="845820" cy="358140"/>
          </a:xfrm>
        </p:grpSpPr>
        <p:sp>
          <p:nvSpPr>
            <p:cNvPr id="31" name="Input B"/>
            <p:cNvSpPr/>
            <p:nvPr/>
          </p:nvSpPr>
          <p:spPr>
            <a:xfrm>
              <a:off x="6316980" y="807720"/>
              <a:ext cx="845820" cy="3581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put B / label"/>
            <p:cNvSpPr txBox="1"/>
            <p:nvPr/>
          </p:nvSpPr>
          <p:spPr>
            <a:xfrm>
              <a:off x="6362700" y="830580"/>
              <a:ext cx="754380" cy="31242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B</a:t>
              </a:r>
            </a:p>
          </p:txBody>
        </p:sp>
      </p:grpSp>
      <p:sp>
        <p:nvSpPr>
          <p:cNvPr id="34" name="Batch capacity"/>
          <p:cNvSpPr txBox="1"/>
          <p:nvPr/>
        </p:nvSpPr>
        <p:spPr>
          <a:xfrm>
            <a:off x="5349240" y="1211580"/>
            <a:ext cx="1813560" cy="18288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Up to 64 BGZF blocks</a:t>
            </a:r>
          </a:p>
        </p:txBody>
      </p:sp>
      <p:cxnSp>
        <p:nvCxnSpPr>
          <p:cNvPr id="35" name="Separate input and output / segment 0"/>
          <p:cNvCxnSpPr/>
          <p:nvPr/>
        </p:nvCxnSpPr>
        <p:spPr>
          <a:xfrm>
            <a:off x="7467599" y="586740"/>
            <a:ext cx="0" cy="754380"/>
          </a:xfrm>
          <a:prstGeom prst="line">
            <a:avLst/>
          </a:prstGeom>
          <a:ln w="10668">
            <a:solidFill>
              <a:srgbClr val="A9B8BD"/>
            </a:solidFill>
          </a:ln>
          <a:effectLst/>
        </p:spPr>
        <p:style>
          <a:lnRef idx="2">
            <a:schemeClr val="accent1"/>
          </a:lnRef>
          <a:fillRef idx="0">
            <a:schemeClr val="accent1"/>
          </a:fillRef>
          <a:effectRef idx="1">
            <a:schemeClr val="accent1"/>
          </a:effectRef>
          <a:fontRef idx="minor">
            <a:schemeClr val="tx1"/>
          </a:fontRef>
        </p:style>
      </p:cxnSp>
      <p:sp>
        <p:nvSpPr>
          <p:cNvPr id="36" name="Body output title"/>
          <p:cNvSpPr txBox="1"/>
          <p:nvPr/>
        </p:nvSpPr>
        <p:spPr>
          <a:xfrm>
            <a:off x="7650480" y="541020"/>
            <a:ext cx="2011680" cy="19050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Rank body sink</a:t>
            </a:r>
          </a:p>
        </p:txBody>
      </p:sp>
      <p:sp>
        <p:nvSpPr>
          <p:cNvPr id="37" name="Rank output blocks / 0"/>
          <p:cNvSpPr/>
          <p:nvPr/>
        </p:nvSpPr>
        <p:spPr>
          <a:xfrm>
            <a:off x="775715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Rank output blocks / divider 0 / segment 0"/>
          <p:cNvCxnSpPr/>
          <p:nvPr/>
        </p:nvCxnSpPr>
        <p:spPr>
          <a:xfrm>
            <a:off x="783534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9" name="Rank output blocks / 1"/>
          <p:cNvSpPr/>
          <p:nvPr/>
        </p:nvSpPr>
        <p:spPr>
          <a:xfrm>
            <a:off x="806957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Rank output blocks / divider 1 / segment 0"/>
          <p:cNvCxnSpPr/>
          <p:nvPr/>
        </p:nvCxnSpPr>
        <p:spPr>
          <a:xfrm>
            <a:off x="814776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 name="Rank output blocks / 2"/>
          <p:cNvSpPr/>
          <p:nvPr/>
        </p:nvSpPr>
        <p:spPr>
          <a:xfrm>
            <a:off x="838199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Rank output blocks / divider 2 / segment 0"/>
          <p:cNvCxnSpPr/>
          <p:nvPr/>
        </p:nvCxnSpPr>
        <p:spPr>
          <a:xfrm>
            <a:off x="846018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3" name="Rank output blocks / 3"/>
          <p:cNvSpPr/>
          <p:nvPr/>
        </p:nvSpPr>
        <p:spPr>
          <a:xfrm>
            <a:off x="8694420"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Rank output blocks / divider 3 / segment 0"/>
          <p:cNvCxnSpPr/>
          <p:nvPr/>
        </p:nvCxnSpPr>
        <p:spPr>
          <a:xfrm>
            <a:off x="877260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5" name="Rank output blocks / 4"/>
          <p:cNvSpPr/>
          <p:nvPr/>
        </p:nvSpPr>
        <p:spPr>
          <a:xfrm>
            <a:off x="9006840"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Rank output blocks / divider 4 / segment 0"/>
          <p:cNvCxnSpPr/>
          <p:nvPr/>
        </p:nvCxnSpPr>
        <p:spPr>
          <a:xfrm>
            <a:off x="908502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 name="Body strategies"/>
          <p:cNvSpPr txBox="1"/>
          <p:nvPr/>
        </p:nvSpPr>
        <p:spPr>
          <a:xfrm>
            <a:off x="7658100" y="1165860"/>
            <a:ext cx="1981199"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Memory / spool</a:t>
            </a:r>
          </a:p>
        </p:txBody>
      </p:sp>
      <p:cxnSp>
        <p:nvCxnSpPr>
          <p:cNvPr id="48" name="Sink to output / segment 0"/>
          <p:cNvCxnSpPr/>
          <p:nvPr/>
        </p:nvCxnSpPr>
        <p:spPr>
          <a:xfrm>
            <a:off x="9723120" y="94488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51" name="Final BAM file [editable group]"/>
          <p:cNvGrpSpPr/>
          <p:nvPr/>
        </p:nvGrpSpPr>
        <p:grpSpPr>
          <a:xfrm>
            <a:off x="10119360" y="678180"/>
            <a:ext cx="510540" cy="586740"/>
            <a:chOff x="10119360" y="678180"/>
            <a:chExt cx="510540" cy="586740"/>
          </a:xfrm>
        </p:grpSpPr>
        <p:sp>
          <p:nvSpPr>
            <p:cNvPr id="49" name="Final BAM file"/>
            <p:cNvSpPr/>
            <p:nvPr/>
          </p:nvSpPr>
          <p:spPr>
            <a:xfrm>
              <a:off x="10119360" y="678180"/>
              <a:ext cx="510540" cy="586740"/>
            </a:xfrm>
            <a:prstGeom prst="foldedCorner">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inal BAM file / label"/>
            <p:cNvSpPr txBox="1"/>
            <p:nvPr/>
          </p:nvSpPr>
          <p:spPr>
            <a:xfrm>
              <a:off x="10142220" y="865936"/>
              <a:ext cx="464820" cy="264033"/>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BAM</a:t>
              </a:r>
            </a:p>
          </p:txBody>
        </p:sp>
      </p:grpSp>
      <p:sp>
        <p:nvSpPr>
          <p:cNvPr id="52" name="Distributed output label"/>
          <p:cNvSpPr txBox="1"/>
          <p:nvPr/>
        </p:nvSpPr>
        <p:spPr>
          <a:xfrm>
            <a:off x="10744200" y="716280"/>
            <a:ext cx="1074420" cy="51054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Distributed</a:t>
            </a:r>
          </a:p>
          <a:p>
            <a:pPr algn="ctr">
              <a:lnSpc>
                <a:spcPts val="1142"/>
              </a:lnSpc>
              <a:spcBef>
                <a:spcPts val="0"/>
              </a:spcBef>
              <a:spcAft>
                <a:spcPts val="0"/>
              </a:spcAft>
            </a:pPr>
            <a:r>
              <a:rPr sz="1019" b="0" i="0">
                <a:solidFill>
                  <a:srgbClr val="172C36"/>
                </a:solidFill>
                <a:latin typeface="Arial"/>
              </a:rPr>
              <a:t>output</a:t>
            </a:r>
          </a:p>
          <a:p>
            <a:pPr algn="ctr">
              <a:lnSpc>
                <a:spcPts val="1142"/>
              </a:lnSpc>
              <a:spcBef>
                <a:spcPts val="0"/>
              </a:spcBef>
              <a:spcAft>
                <a:spcPts val="0"/>
              </a:spcAft>
            </a:pPr>
            <a:r>
              <a:rPr sz="1019" b="0" i="0">
                <a:solidFill>
                  <a:srgbClr val="172C36"/>
                </a:solidFill>
                <a:latin typeface="Arial"/>
              </a:rPr>
              <a:t>Memory / MPI-IO</a:t>
            </a:r>
          </a:p>
        </p:txBody>
      </p:sp>
      <p:sp>
        <p:nvSpPr>
          <p:cNvPr id="53" name="Core group boundary"/>
          <p:cNvSpPr/>
          <p:nvPr/>
        </p:nvSpPr>
        <p:spPr>
          <a:xfrm>
            <a:off x="213360" y="1767840"/>
            <a:ext cx="11765280" cy="2628900"/>
          </a:xfrm>
          <a:prstGeom prst="roundRect">
            <a:avLst>
              <a:gd name="adj" fmla="val 3478"/>
            </a:avLst>
          </a:prstGeom>
          <a:solidFill>
            <a:srgbClr val="FFFFFF"/>
          </a:solidFill>
          <a:ln w="12192">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ore group boundary / heading"/>
          <p:cNvSpPr txBox="1"/>
          <p:nvPr/>
        </p:nvSpPr>
        <p:spPr>
          <a:xfrm>
            <a:off x="327660" y="1844040"/>
            <a:ext cx="1153668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One MPI rank: 1 MPE + 64 CPEs</a:t>
            </a:r>
          </a:p>
        </p:txBody>
      </p:sp>
      <p:sp>
        <p:nvSpPr>
          <p:cNvPr id="55" name="MPE controller"/>
          <p:cNvSpPr/>
          <p:nvPr/>
        </p:nvSpPr>
        <p:spPr>
          <a:xfrm>
            <a:off x="365760" y="2156460"/>
            <a:ext cx="1882139" cy="2042160"/>
          </a:xfrm>
          <a:prstGeom prst="roundRect">
            <a:avLst>
              <a:gd name="adj" fmla="val 4858"/>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MPE controller / heading"/>
          <p:cNvSpPr txBox="1"/>
          <p:nvPr/>
        </p:nvSpPr>
        <p:spPr>
          <a:xfrm>
            <a:off x="480060" y="2232660"/>
            <a:ext cx="165354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MPE</a:t>
            </a:r>
          </a:p>
        </p:txBody>
      </p:sp>
      <p:grpSp>
        <p:nvGrpSpPr>
          <p:cNvPr id="59" name="MPE Prepare batch [editable group]"/>
          <p:cNvGrpSpPr/>
          <p:nvPr/>
        </p:nvGrpSpPr>
        <p:grpSpPr>
          <a:xfrm>
            <a:off x="495299" y="2567940"/>
            <a:ext cx="1623060" cy="335280"/>
            <a:chOff x="495299" y="2567940"/>
            <a:chExt cx="1623060" cy="335280"/>
          </a:xfrm>
        </p:grpSpPr>
        <p:sp>
          <p:nvSpPr>
            <p:cNvPr id="57" name="MPE Prepare batch"/>
            <p:cNvSpPr/>
            <p:nvPr/>
          </p:nvSpPr>
          <p:spPr>
            <a:xfrm>
              <a:off x="495299" y="25679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MPE Prepare batch / label"/>
            <p:cNvSpPr txBox="1"/>
            <p:nvPr/>
          </p:nvSpPr>
          <p:spPr>
            <a:xfrm>
              <a:off x="541020" y="2590800"/>
              <a:ext cx="1531620" cy="28956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Prepare batch</a:t>
              </a:r>
            </a:p>
          </p:txBody>
        </p:sp>
      </p:grpSp>
      <p:grpSp>
        <p:nvGrpSpPr>
          <p:cNvPr id="62" name="MPE Launch / join [editable group]"/>
          <p:cNvGrpSpPr/>
          <p:nvPr/>
        </p:nvGrpSpPr>
        <p:grpSpPr>
          <a:xfrm>
            <a:off x="495299" y="3025140"/>
            <a:ext cx="1623060" cy="335280"/>
            <a:chOff x="495299" y="3025140"/>
            <a:chExt cx="1623060" cy="335280"/>
          </a:xfrm>
        </p:grpSpPr>
        <p:sp>
          <p:nvSpPr>
            <p:cNvPr id="60" name="MPE Launch / join"/>
            <p:cNvSpPr/>
            <p:nvPr/>
          </p:nvSpPr>
          <p:spPr>
            <a:xfrm>
              <a:off x="495299" y="30251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MPE Launch / join / label"/>
            <p:cNvSpPr txBox="1"/>
            <p:nvPr/>
          </p:nvSpPr>
          <p:spPr>
            <a:xfrm>
              <a:off x="541020" y="3048000"/>
              <a:ext cx="1531620" cy="28956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Launch / join</a:t>
              </a:r>
            </a:p>
          </p:txBody>
        </p:sp>
      </p:grpSp>
      <p:grpSp>
        <p:nvGrpSpPr>
          <p:cNvPr id="65" name="MPE Batch post-processing [editable group]"/>
          <p:cNvGrpSpPr/>
          <p:nvPr/>
        </p:nvGrpSpPr>
        <p:grpSpPr>
          <a:xfrm>
            <a:off x="495299" y="3482340"/>
            <a:ext cx="1623060" cy="335280"/>
            <a:chOff x="495299" y="3482340"/>
            <a:chExt cx="1623060" cy="335280"/>
          </a:xfrm>
        </p:grpSpPr>
        <p:sp>
          <p:nvSpPr>
            <p:cNvPr id="63" name="MPE Batch post-processing"/>
            <p:cNvSpPr/>
            <p:nvPr/>
          </p:nvSpPr>
          <p:spPr>
            <a:xfrm>
              <a:off x="495299" y="34823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MPE Batch post-processing / label"/>
            <p:cNvSpPr txBox="1"/>
            <p:nvPr/>
          </p:nvSpPr>
          <p:spPr>
            <a:xfrm>
              <a:off x="541020" y="3505200"/>
              <a:ext cx="1531620" cy="28956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Batch post-processing</a:t>
              </a:r>
            </a:p>
          </p:txBody>
        </p:sp>
      </p:grpSp>
      <p:sp>
        <p:nvSpPr>
          <p:cNvPr id="66" name="Control granularity"/>
          <p:cNvSpPr txBox="1"/>
          <p:nvPr/>
        </p:nvSpPr>
        <p:spPr>
          <a:xfrm>
            <a:off x="502920" y="3916680"/>
            <a:ext cx="160782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9A7625"/>
                </a:solidFill>
                <a:latin typeface="Arial"/>
              </a:rPr>
              <a:t>Once per batch</a:t>
            </a:r>
          </a:p>
        </p:txBody>
      </p:sp>
      <p:cxnSp>
        <p:nvCxnSpPr>
          <p:cNvPr id="67" name="MPE launches core group / segment 0"/>
          <p:cNvCxnSpPr/>
          <p:nvPr/>
        </p:nvCxnSpPr>
        <p:spPr>
          <a:xfrm>
            <a:off x="2247900" y="3086100"/>
            <a:ext cx="2590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8" name="CPE array title"/>
          <p:cNvSpPr txBox="1"/>
          <p:nvPr/>
        </p:nvSpPr>
        <p:spPr>
          <a:xfrm>
            <a:off x="2567940" y="2156460"/>
            <a:ext cx="1577340" cy="213360"/>
          </a:xfrm>
          <a:prstGeom prst="rect">
            <a:avLst/>
          </a:prstGeom>
          <a:noFill/>
        </p:spPr>
        <p:txBody>
          <a:bodyPr wrap="none" lIns="0" rIns="0" tIns="0" bIns="0" anchor="ctr">
            <a:noAutofit/>
          </a:bodyPr>
          <a:lstStyle/>
          <a:p>
            <a:pPr algn="ctr">
              <a:lnSpc>
                <a:spcPts val="1411"/>
              </a:lnSpc>
              <a:spcBef>
                <a:spcPts val="0"/>
              </a:spcBef>
              <a:spcAft>
                <a:spcPts val="0"/>
              </a:spcAft>
            </a:pPr>
            <a:r>
              <a:rPr sz="1260" b="1" i="0">
                <a:solidFill>
                  <a:srgbClr val="172C36"/>
                </a:solidFill>
                <a:latin typeface="Arial"/>
              </a:rPr>
              <a:t>8 × 8 CPE array</a:t>
            </a:r>
          </a:p>
        </p:txBody>
      </p:sp>
      <p:sp>
        <p:nvSpPr>
          <p:cNvPr id="69" name="CPE 0"/>
          <p:cNvSpPr/>
          <p:nvPr/>
        </p:nvSpPr>
        <p:spPr>
          <a:xfrm>
            <a:off x="262890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PE 1"/>
          <p:cNvSpPr/>
          <p:nvPr/>
        </p:nvSpPr>
        <p:spPr>
          <a:xfrm>
            <a:off x="281178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PE 2"/>
          <p:cNvSpPr/>
          <p:nvPr/>
        </p:nvSpPr>
        <p:spPr>
          <a:xfrm>
            <a:off x="299466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PE 3"/>
          <p:cNvSpPr/>
          <p:nvPr/>
        </p:nvSpPr>
        <p:spPr>
          <a:xfrm>
            <a:off x="317754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PE 4"/>
          <p:cNvSpPr/>
          <p:nvPr/>
        </p:nvSpPr>
        <p:spPr>
          <a:xfrm>
            <a:off x="336042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PE 5"/>
          <p:cNvSpPr/>
          <p:nvPr/>
        </p:nvSpPr>
        <p:spPr>
          <a:xfrm>
            <a:off x="354330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PE 6"/>
          <p:cNvSpPr/>
          <p:nvPr/>
        </p:nvSpPr>
        <p:spPr>
          <a:xfrm>
            <a:off x="372618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PE 7"/>
          <p:cNvSpPr/>
          <p:nvPr/>
        </p:nvSpPr>
        <p:spPr>
          <a:xfrm>
            <a:off x="390906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PE 8"/>
          <p:cNvSpPr/>
          <p:nvPr/>
        </p:nvSpPr>
        <p:spPr>
          <a:xfrm>
            <a:off x="262890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PE 9"/>
          <p:cNvSpPr/>
          <p:nvPr/>
        </p:nvSpPr>
        <p:spPr>
          <a:xfrm>
            <a:off x="281178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PE 10"/>
          <p:cNvSpPr/>
          <p:nvPr/>
        </p:nvSpPr>
        <p:spPr>
          <a:xfrm>
            <a:off x="299466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PE 11"/>
          <p:cNvSpPr/>
          <p:nvPr/>
        </p:nvSpPr>
        <p:spPr>
          <a:xfrm>
            <a:off x="317754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CPE 12"/>
          <p:cNvSpPr/>
          <p:nvPr/>
        </p:nvSpPr>
        <p:spPr>
          <a:xfrm>
            <a:off x="336042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CPE 13"/>
          <p:cNvSpPr/>
          <p:nvPr/>
        </p:nvSpPr>
        <p:spPr>
          <a:xfrm>
            <a:off x="354330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PE 14"/>
          <p:cNvSpPr/>
          <p:nvPr/>
        </p:nvSpPr>
        <p:spPr>
          <a:xfrm>
            <a:off x="372618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PE 15"/>
          <p:cNvSpPr/>
          <p:nvPr/>
        </p:nvSpPr>
        <p:spPr>
          <a:xfrm>
            <a:off x="390906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PE 16"/>
          <p:cNvSpPr/>
          <p:nvPr/>
        </p:nvSpPr>
        <p:spPr>
          <a:xfrm>
            <a:off x="262890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PE 17"/>
          <p:cNvSpPr/>
          <p:nvPr/>
        </p:nvSpPr>
        <p:spPr>
          <a:xfrm>
            <a:off x="281178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PE 18"/>
          <p:cNvSpPr/>
          <p:nvPr/>
        </p:nvSpPr>
        <p:spPr>
          <a:xfrm>
            <a:off x="299466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PE 19"/>
          <p:cNvSpPr/>
          <p:nvPr/>
        </p:nvSpPr>
        <p:spPr>
          <a:xfrm>
            <a:off x="317754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CPE 20"/>
          <p:cNvSpPr/>
          <p:nvPr/>
        </p:nvSpPr>
        <p:spPr>
          <a:xfrm>
            <a:off x="336042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PE 21"/>
          <p:cNvSpPr/>
          <p:nvPr/>
        </p:nvSpPr>
        <p:spPr>
          <a:xfrm>
            <a:off x="354330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CPE 22"/>
          <p:cNvSpPr/>
          <p:nvPr/>
        </p:nvSpPr>
        <p:spPr>
          <a:xfrm>
            <a:off x="372618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PE 23"/>
          <p:cNvSpPr/>
          <p:nvPr/>
        </p:nvSpPr>
        <p:spPr>
          <a:xfrm>
            <a:off x="390906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PE 24"/>
          <p:cNvSpPr/>
          <p:nvPr/>
        </p:nvSpPr>
        <p:spPr>
          <a:xfrm>
            <a:off x="262890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CPE 25"/>
          <p:cNvSpPr/>
          <p:nvPr/>
        </p:nvSpPr>
        <p:spPr>
          <a:xfrm>
            <a:off x="281178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CPE 26"/>
          <p:cNvSpPr/>
          <p:nvPr/>
        </p:nvSpPr>
        <p:spPr>
          <a:xfrm>
            <a:off x="299466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PE 27"/>
          <p:cNvSpPr/>
          <p:nvPr/>
        </p:nvSpPr>
        <p:spPr>
          <a:xfrm>
            <a:off x="317754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PE 28"/>
          <p:cNvSpPr/>
          <p:nvPr/>
        </p:nvSpPr>
        <p:spPr>
          <a:xfrm>
            <a:off x="336042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CPE 29"/>
          <p:cNvSpPr/>
          <p:nvPr/>
        </p:nvSpPr>
        <p:spPr>
          <a:xfrm>
            <a:off x="3543300" y="3032760"/>
            <a:ext cx="160020" cy="160020"/>
          </a:xfrm>
          <a:prstGeom prst="rect">
            <a:avLst/>
          </a:prstGeom>
          <a:solidFill>
            <a:srgbClr val="197BA3"/>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PE 30"/>
          <p:cNvSpPr/>
          <p:nvPr/>
        </p:nvSpPr>
        <p:spPr>
          <a:xfrm>
            <a:off x="372618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CPE 31"/>
          <p:cNvSpPr/>
          <p:nvPr/>
        </p:nvSpPr>
        <p:spPr>
          <a:xfrm>
            <a:off x="390906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CPE 32"/>
          <p:cNvSpPr/>
          <p:nvPr/>
        </p:nvSpPr>
        <p:spPr>
          <a:xfrm>
            <a:off x="262890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CPE 33"/>
          <p:cNvSpPr/>
          <p:nvPr/>
        </p:nvSpPr>
        <p:spPr>
          <a:xfrm>
            <a:off x="281178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CPE 34"/>
          <p:cNvSpPr/>
          <p:nvPr/>
        </p:nvSpPr>
        <p:spPr>
          <a:xfrm>
            <a:off x="299466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CPE 35"/>
          <p:cNvSpPr/>
          <p:nvPr/>
        </p:nvSpPr>
        <p:spPr>
          <a:xfrm>
            <a:off x="317754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PE 36"/>
          <p:cNvSpPr/>
          <p:nvPr/>
        </p:nvSpPr>
        <p:spPr>
          <a:xfrm>
            <a:off x="336042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CPE 37"/>
          <p:cNvSpPr/>
          <p:nvPr/>
        </p:nvSpPr>
        <p:spPr>
          <a:xfrm>
            <a:off x="354330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CPE 38"/>
          <p:cNvSpPr/>
          <p:nvPr/>
        </p:nvSpPr>
        <p:spPr>
          <a:xfrm>
            <a:off x="372618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CPE 39"/>
          <p:cNvSpPr/>
          <p:nvPr/>
        </p:nvSpPr>
        <p:spPr>
          <a:xfrm>
            <a:off x="390906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CPE 40"/>
          <p:cNvSpPr/>
          <p:nvPr/>
        </p:nvSpPr>
        <p:spPr>
          <a:xfrm>
            <a:off x="262890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CPE 41"/>
          <p:cNvSpPr/>
          <p:nvPr/>
        </p:nvSpPr>
        <p:spPr>
          <a:xfrm>
            <a:off x="281178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CPE 42"/>
          <p:cNvSpPr/>
          <p:nvPr/>
        </p:nvSpPr>
        <p:spPr>
          <a:xfrm>
            <a:off x="299466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CPE 43"/>
          <p:cNvSpPr/>
          <p:nvPr/>
        </p:nvSpPr>
        <p:spPr>
          <a:xfrm>
            <a:off x="317754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CPE 44"/>
          <p:cNvSpPr/>
          <p:nvPr/>
        </p:nvSpPr>
        <p:spPr>
          <a:xfrm>
            <a:off x="336042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CPE 45"/>
          <p:cNvSpPr/>
          <p:nvPr/>
        </p:nvSpPr>
        <p:spPr>
          <a:xfrm>
            <a:off x="354330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CPE 46"/>
          <p:cNvSpPr/>
          <p:nvPr/>
        </p:nvSpPr>
        <p:spPr>
          <a:xfrm>
            <a:off x="372618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CPE 47"/>
          <p:cNvSpPr/>
          <p:nvPr/>
        </p:nvSpPr>
        <p:spPr>
          <a:xfrm>
            <a:off x="390906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CPE 48"/>
          <p:cNvSpPr/>
          <p:nvPr/>
        </p:nvSpPr>
        <p:spPr>
          <a:xfrm>
            <a:off x="262890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CPE 49"/>
          <p:cNvSpPr/>
          <p:nvPr/>
        </p:nvSpPr>
        <p:spPr>
          <a:xfrm>
            <a:off x="281178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CPE 50"/>
          <p:cNvSpPr/>
          <p:nvPr/>
        </p:nvSpPr>
        <p:spPr>
          <a:xfrm>
            <a:off x="299466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CPE 51"/>
          <p:cNvSpPr/>
          <p:nvPr/>
        </p:nvSpPr>
        <p:spPr>
          <a:xfrm>
            <a:off x="317754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CPE 52"/>
          <p:cNvSpPr/>
          <p:nvPr/>
        </p:nvSpPr>
        <p:spPr>
          <a:xfrm>
            <a:off x="336042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CPE 53"/>
          <p:cNvSpPr/>
          <p:nvPr/>
        </p:nvSpPr>
        <p:spPr>
          <a:xfrm>
            <a:off x="354330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CPE 54"/>
          <p:cNvSpPr/>
          <p:nvPr/>
        </p:nvSpPr>
        <p:spPr>
          <a:xfrm>
            <a:off x="372618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CPE 55"/>
          <p:cNvSpPr/>
          <p:nvPr/>
        </p:nvSpPr>
        <p:spPr>
          <a:xfrm>
            <a:off x="390906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CPE 56"/>
          <p:cNvSpPr/>
          <p:nvPr/>
        </p:nvSpPr>
        <p:spPr>
          <a:xfrm>
            <a:off x="262890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CPE 57"/>
          <p:cNvSpPr/>
          <p:nvPr/>
        </p:nvSpPr>
        <p:spPr>
          <a:xfrm>
            <a:off x="281178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CPE 58"/>
          <p:cNvSpPr/>
          <p:nvPr/>
        </p:nvSpPr>
        <p:spPr>
          <a:xfrm>
            <a:off x="299466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CPE 59"/>
          <p:cNvSpPr/>
          <p:nvPr/>
        </p:nvSpPr>
        <p:spPr>
          <a:xfrm>
            <a:off x="317754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CPE 60"/>
          <p:cNvSpPr/>
          <p:nvPr/>
        </p:nvSpPr>
        <p:spPr>
          <a:xfrm>
            <a:off x="336042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CPE 61"/>
          <p:cNvSpPr/>
          <p:nvPr/>
        </p:nvSpPr>
        <p:spPr>
          <a:xfrm>
            <a:off x="354330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CPE 62"/>
          <p:cNvSpPr/>
          <p:nvPr/>
        </p:nvSpPr>
        <p:spPr>
          <a:xfrm>
            <a:off x="372618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CPE 63"/>
          <p:cNvSpPr/>
          <p:nvPr/>
        </p:nvSpPr>
        <p:spPr>
          <a:xfrm>
            <a:off x="390906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CPE array range"/>
          <p:cNvSpPr txBox="1"/>
          <p:nvPr/>
        </p:nvSpPr>
        <p:spPr>
          <a:xfrm>
            <a:off x="2545080" y="4008120"/>
            <a:ext cx="163830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CPE₀ … CPE₆₃</a:t>
            </a:r>
          </a:p>
        </p:txBody>
      </p:sp>
      <p:cxnSp>
        <p:nvCxnSpPr>
          <p:cNvPr id="134" name="Array expansion top / segment 0"/>
          <p:cNvCxnSpPr/>
          <p:nvPr/>
        </p:nvCxnSpPr>
        <p:spPr>
          <a:xfrm flipV="1">
            <a:off x="4084320" y="2164080"/>
            <a:ext cx="342900" cy="320040"/>
          </a:xfrm>
          <a:prstGeom prst="line">
            <a:avLst/>
          </a:prstGeom>
          <a:ln w="9906">
            <a:solidFill>
              <a:srgbClr val="61727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5" name="Array expansion bottom / segment 0"/>
          <p:cNvCxnSpPr/>
          <p:nvPr/>
        </p:nvCxnSpPr>
        <p:spPr>
          <a:xfrm>
            <a:off x="4084320" y="3924300"/>
            <a:ext cx="342900" cy="266699"/>
          </a:xfrm>
          <a:prstGeom prst="line">
            <a:avLst/>
          </a:prstGeom>
          <a:ln w="9906">
            <a:solidFill>
              <a:srgbClr val="61727A"/>
            </a:solidFill>
            <a:prstDash val="dash"/>
          </a:ln>
          <a:effectLst/>
        </p:spPr>
        <p:style>
          <a:lnRef idx="2">
            <a:schemeClr val="accent1"/>
          </a:lnRef>
          <a:fillRef idx="0">
            <a:schemeClr val="accent1"/>
          </a:fillRef>
          <a:effectRef idx="1">
            <a:schemeClr val="accent1"/>
          </a:effectRef>
          <a:fontRef idx="minor">
            <a:schemeClr val="tx1"/>
          </a:fontRef>
        </p:style>
      </p:cxnSp>
      <p:sp>
        <p:nvSpPr>
          <p:cNvPr id="136" name="Reusable CPE components"/>
          <p:cNvSpPr/>
          <p:nvPr/>
        </p:nvSpPr>
        <p:spPr>
          <a:xfrm>
            <a:off x="4434840" y="2156460"/>
            <a:ext cx="7383779" cy="2042160"/>
          </a:xfrm>
          <a:prstGeom prst="roundRect">
            <a:avLst>
              <a:gd name="adj" fmla="val 4477"/>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usable CPE components / heading"/>
          <p:cNvSpPr txBox="1"/>
          <p:nvPr/>
        </p:nvSpPr>
        <p:spPr>
          <a:xfrm>
            <a:off x="4549140" y="2232660"/>
            <a:ext cx="715518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CPE processing components</a:t>
            </a:r>
          </a:p>
        </p:txBody>
      </p:sp>
      <p:sp>
        <p:nvSpPr>
          <p:cNvPr id="138" name="Kernel selection note"/>
          <p:cNvSpPr txBox="1"/>
          <p:nvPr/>
        </p:nvSpPr>
        <p:spPr>
          <a:xfrm>
            <a:off x="8473440" y="2240280"/>
            <a:ext cx="3208020" cy="198120"/>
          </a:xfrm>
          <a:prstGeom prst="rect">
            <a:avLst/>
          </a:prstGeom>
          <a:noFill/>
        </p:spPr>
        <p:txBody>
          <a:bodyPr wrap="none" lIns="0" rIns="0" tIns="0" bIns="0" anchor="ctr">
            <a:noAutofit/>
          </a:bodyPr>
          <a:lstStyle/>
          <a:p>
            <a:pPr algn="r">
              <a:lnSpc>
                <a:spcPts val="1209"/>
              </a:lnSpc>
              <a:spcBef>
                <a:spcPts val="0"/>
              </a:spcBef>
              <a:spcAft>
                <a:spcPts val="0"/>
              </a:spcAft>
            </a:pPr>
            <a:r>
              <a:rPr sz="1080" b="0" i="0">
                <a:solidFill>
                  <a:srgbClr val="57834A"/>
                </a:solidFill>
                <a:latin typeface="Arial"/>
              </a:rPr>
              <a:t>Selected per pipeline / operator</a:t>
            </a:r>
          </a:p>
        </p:txBody>
      </p:sp>
      <p:sp>
        <p:nvSpPr>
          <p:cNvPr id="139" name="BAM read heading"/>
          <p:cNvSpPr txBox="1"/>
          <p:nvPr/>
        </p:nvSpPr>
        <p:spPr>
          <a:xfrm>
            <a:off x="4594860" y="2430780"/>
            <a:ext cx="3337560" cy="198120"/>
          </a:xfrm>
          <a:prstGeom prst="rect">
            <a:avLst/>
          </a:prstGeom>
          <a:noFill/>
        </p:spPr>
        <p:txBody>
          <a:bodyPr wrap="none" lIns="0" rIns="0" tIns="0" bIns="0" anchor="ctr">
            <a:noAutofit/>
          </a:bodyPr>
          <a:lstStyle/>
          <a:p>
            <a:pPr algn="l">
              <a:lnSpc>
                <a:spcPts val="1344"/>
              </a:lnSpc>
              <a:spcBef>
                <a:spcPts val="0"/>
              </a:spcBef>
              <a:spcAft>
                <a:spcPts val="0"/>
              </a:spcAft>
            </a:pPr>
            <a:r>
              <a:rPr sz="1200" b="1" i="0">
                <a:solidFill>
                  <a:srgbClr val="172C36"/>
                </a:solidFill>
                <a:latin typeface="Arial"/>
              </a:rPr>
              <a:t>BAM read</a:t>
            </a:r>
          </a:p>
        </p:txBody>
      </p:sp>
      <p:grpSp>
        <p:nvGrpSpPr>
          <p:cNvPr id="142" name="BAM read Decode [editable group]"/>
          <p:cNvGrpSpPr/>
          <p:nvPr/>
        </p:nvGrpSpPr>
        <p:grpSpPr>
          <a:xfrm>
            <a:off x="4594860" y="2720340"/>
            <a:ext cx="960120" cy="358140"/>
            <a:chOff x="4594860" y="2720340"/>
            <a:chExt cx="960120" cy="358140"/>
          </a:xfrm>
        </p:grpSpPr>
        <p:sp>
          <p:nvSpPr>
            <p:cNvPr id="140" name="BAM read Decode"/>
            <p:cNvSpPr/>
            <p:nvPr/>
          </p:nvSpPr>
          <p:spPr>
            <a:xfrm>
              <a:off x="4594860" y="2720340"/>
              <a:ext cx="96012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BAM read Decode / label"/>
            <p:cNvSpPr txBox="1"/>
            <p:nvPr/>
          </p:nvSpPr>
          <p:spPr>
            <a:xfrm>
              <a:off x="4640580" y="2743200"/>
              <a:ext cx="86868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Decode</a:t>
              </a:r>
            </a:p>
          </p:txBody>
        </p:sp>
      </p:grpSp>
      <p:cxnSp>
        <p:nvCxnSpPr>
          <p:cNvPr id="143" name="BAM read stage 0 / segment 0"/>
          <p:cNvCxnSpPr/>
          <p:nvPr/>
        </p:nvCxnSpPr>
        <p:spPr>
          <a:xfrm>
            <a:off x="555498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46" name="BAM read Parse [editable group]"/>
          <p:cNvGrpSpPr/>
          <p:nvPr/>
        </p:nvGrpSpPr>
        <p:grpSpPr>
          <a:xfrm>
            <a:off x="5737860" y="2720340"/>
            <a:ext cx="960120" cy="358140"/>
            <a:chOff x="5737860" y="2720340"/>
            <a:chExt cx="960120" cy="358140"/>
          </a:xfrm>
        </p:grpSpPr>
        <p:sp>
          <p:nvSpPr>
            <p:cNvPr id="144" name="BAM read Parse"/>
            <p:cNvSpPr/>
            <p:nvPr/>
          </p:nvSpPr>
          <p:spPr>
            <a:xfrm>
              <a:off x="5737860" y="2720340"/>
              <a:ext cx="96012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BAM read Parse / label"/>
            <p:cNvSpPr txBox="1"/>
            <p:nvPr/>
          </p:nvSpPr>
          <p:spPr>
            <a:xfrm>
              <a:off x="5783580" y="2743200"/>
              <a:ext cx="86868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Parse</a:t>
              </a:r>
            </a:p>
          </p:txBody>
        </p:sp>
      </p:grpSp>
      <p:cxnSp>
        <p:nvCxnSpPr>
          <p:cNvPr id="147" name="BAM read stage 1 / segment 0"/>
          <p:cNvCxnSpPr/>
          <p:nvPr/>
        </p:nvCxnSpPr>
        <p:spPr>
          <a:xfrm>
            <a:off x="669798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50" name="BAM read Record op. [editable group]"/>
          <p:cNvGrpSpPr/>
          <p:nvPr/>
        </p:nvGrpSpPr>
        <p:grpSpPr>
          <a:xfrm>
            <a:off x="6880860" y="2720340"/>
            <a:ext cx="960120" cy="358140"/>
            <a:chOff x="6880860" y="2720340"/>
            <a:chExt cx="960120" cy="358140"/>
          </a:xfrm>
        </p:grpSpPr>
        <p:sp>
          <p:nvSpPr>
            <p:cNvPr id="148" name="BAM read Record op."/>
            <p:cNvSpPr/>
            <p:nvPr/>
          </p:nvSpPr>
          <p:spPr>
            <a:xfrm>
              <a:off x="6880860" y="2720340"/>
              <a:ext cx="960120" cy="358140"/>
            </a:xfrm>
            <a:prstGeom prst="roundRect">
              <a:avLst>
                <a:gd name="adj" fmla="val 17021"/>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BAM read Record op. / label"/>
            <p:cNvSpPr txBox="1"/>
            <p:nvPr/>
          </p:nvSpPr>
          <p:spPr>
            <a:xfrm>
              <a:off x="6926580" y="2743200"/>
              <a:ext cx="86868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Record op.</a:t>
              </a:r>
            </a:p>
          </p:txBody>
        </p:sp>
      </p:grpSp>
      <p:sp>
        <p:nvSpPr>
          <p:cNvPr id="151" name="BAM write heading"/>
          <p:cNvSpPr txBox="1"/>
          <p:nvPr/>
        </p:nvSpPr>
        <p:spPr>
          <a:xfrm>
            <a:off x="8229600" y="2430780"/>
            <a:ext cx="3337560" cy="198120"/>
          </a:xfrm>
          <a:prstGeom prst="rect">
            <a:avLst/>
          </a:prstGeom>
          <a:noFill/>
        </p:spPr>
        <p:txBody>
          <a:bodyPr wrap="none" lIns="0" rIns="0" tIns="0" bIns="0" anchor="ctr">
            <a:noAutofit/>
          </a:bodyPr>
          <a:lstStyle/>
          <a:p>
            <a:pPr algn="l">
              <a:lnSpc>
                <a:spcPts val="1344"/>
              </a:lnSpc>
              <a:spcBef>
                <a:spcPts val="0"/>
              </a:spcBef>
              <a:spcAft>
                <a:spcPts val="0"/>
              </a:spcAft>
            </a:pPr>
            <a:r>
              <a:rPr sz="1200" b="1" i="0">
                <a:solidFill>
                  <a:srgbClr val="172C36"/>
                </a:solidFill>
                <a:latin typeface="Arial"/>
              </a:rPr>
              <a:t>BAM write</a:t>
            </a:r>
          </a:p>
        </p:txBody>
      </p:sp>
      <p:grpSp>
        <p:nvGrpSpPr>
          <p:cNvPr id="154" name="BAM write Serialize [editable group]"/>
          <p:cNvGrpSpPr/>
          <p:nvPr/>
        </p:nvGrpSpPr>
        <p:grpSpPr>
          <a:xfrm>
            <a:off x="8229600" y="2720340"/>
            <a:ext cx="1463040" cy="358140"/>
            <a:chOff x="8229600" y="2720340"/>
            <a:chExt cx="1463040" cy="358140"/>
          </a:xfrm>
        </p:grpSpPr>
        <p:sp>
          <p:nvSpPr>
            <p:cNvPr id="152" name="BAM write Serialize"/>
            <p:cNvSpPr/>
            <p:nvPr/>
          </p:nvSpPr>
          <p:spPr>
            <a:xfrm>
              <a:off x="8229600" y="272034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BAM write Serialize / label"/>
            <p:cNvSpPr txBox="1"/>
            <p:nvPr/>
          </p:nvSpPr>
          <p:spPr>
            <a:xfrm>
              <a:off x="8275320" y="274320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Serialize</a:t>
              </a:r>
            </a:p>
          </p:txBody>
        </p:sp>
      </p:grpSp>
      <p:cxnSp>
        <p:nvCxnSpPr>
          <p:cNvPr id="155" name="BAM write stage 0 / segment 0"/>
          <p:cNvCxnSpPr/>
          <p:nvPr/>
        </p:nvCxnSpPr>
        <p:spPr>
          <a:xfrm>
            <a:off x="969264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58" name="BAM write Compress [editable group]"/>
          <p:cNvGrpSpPr/>
          <p:nvPr/>
        </p:nvGrpSpPr>
        <p:grpSpPr>
          <a:xfrm>
            <a:off x="9875520" y="2720340"/>
            <a:ext cx="1463040" cy="358140"/>
            <a:chOff x="9875520" y="2720340"/>
            <a:chExt cx="1463040" cy="358140"/>
          </a:xfrm>
        </p:grpSpPr>
        <p:sp>
          <p:nvSpPr>
            <p:cNvPr id="156" name="BAM write Compress"/>
            <p:cNvSpPr/>
            <p:nvPr/>
          </p:nvSpPr>
          <p:spPr>
            <a:xfrm>
              <a:off x="9875520" y="272034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BAM write Compress / label"/>
            <p:cNvSpPr txBox="1"/>
            <p:nvPr/>
          </p:nvSpPr>
          <p:spPr>
            <a:xfrm>
              <a:off x="9921240" y="274320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Compress</a:t>
              </a:r>
            </a:p>
          </p:txBody>
        </p:sp>
      </p:grpSp>
      <p:sp>
        <p:nvSpPr>
          <p:cNvPr id="159" name="SAM read heading"/>
          <p:cNvSpPr txBox="1"/>
          <p:nvPr/>
        </p:nvSpPr>
        <p:spPr>
          <a:xfrm>
            <a:off x="4594860" y="3253740"/>
            <a:ext cx="3337560" cy="198120"/>
          </a:xfrm>
          <a:prstGeom prst="rect">
            <a:avLst/>
          </a:prstGeom>
          <a:noFill/>
        </p:spPr>
        <p:txBody>
          <a:bodyPr wrap="none" lIns="0" rIns="0" tIns="0" bIns="0" anchor="ctr">
            <a:noAutofit/>
          </a:bodyPr>
          <a:lstStyle/>
          <a:p>
            <a:pPr algn="l">
              <a:lnSpc>
                <a:spcPts val="1344"/>
              </a:lnSpc>
              <a:spcBef>
                <a:spcPts val="0"/>
              </a:spcBef>
              <a:spcAft>
                <a:spcPts val="0"/>
              </a:spcAft>
            </a:pPr>
            <a:r>
              <a:rPr sz="1200" b="1" i="0">
                <a:solidFill>
                  <a:srgbClr val="172C36"/>
                </a:solidFill>
                <a:latin typeface="Arial"/>
              </a:rPr>
              <a:t>SAM read</a:t>
            </a:r>
          </a:p>
        </p:txBody>
      </p:sp>
      <p:grpSp>
        <p:nvGrpSpPr>
          <p:cNvPr id="162" name="SAM read Text chunks [editable group]"/>
          <p:cNvGrpSpPr/>
          <p:nvPr/>
        </p:nvGrpSpPr>
        <p:grpSpPr>
          <a:xfrm>
            <a:off x="4594860" y="3543300"/>
            <a:ext cx="1463040" cy="358140"/>
            <a:chOff x="4594860" y="3543300"/>
            <a:chExt cx="1463040" cy="358140"/>
          </a:xfrm>
        </p:grpSpPr>
        <p:sp>
          <p:nvSpPr>
            <p:cNvPr id="160" name="SAM read Text chunks"/>
            <p:cNvSpPr/>
            <p:nvPr/>
          </p:nvSpPr>
          <p:spPr>
            <a:xfrm>
              <a:off x="4594860" y="3543300"/>
              <a:ext cx="146304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SAM read Text chunks / label"/>
            <p:cNvSpPr txBox="1"/>
            <p:nvPr/>
          </p:nvSpPr>
          <p:spPr>
            <a:xfrm>
              <a:off x="4640580" y="356616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Text chunks</a:t>
              </a:r>
            </a:p>
          </p:txBody>
        </p:sp>
      </p:grpSp>
      <p:cxnSp>
        <p:nvCxnSpPr>
          <p:cNvPr id="163" name="SAM read stage 0 / segment 0"/>
          <p:cNvCxnSpPr/>
          <p:nvPr/>
        </p:nvCxnSpPr>
        <p:spPr>
          <a:xfrm>
            <a:off x="6057900" y="371856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66" name="SAM read Parse [editable group]"/>
          <p:cNvGrpSpPr/>
          <p:nvPr/>
        </p:nvGrpSpPr>
        <p:grpSpPr>
          <a:xfrm>
            <a:off x="6240780" y="3543300"/>
            <a:ext cx="1463040" cy="358140"/>
            <a:chOff x="6240780" y="3543300"/>
            <a:chExt cx="1463040" cy="358140"/>
          </a:xfrm>
        </p:grpSpPr>
        <p:sp>
          <p:nvSpPr>
            <p:cNvPr id="164" name="SAM read Parse"/>
            <p:cNvSpPr/>
            <p:nvPr/>
          </p:nvSpPr>
          <p:spPr>
            <a:xfrm>
              <a:off x="6240780" y="3543300"/>
              <a:ext cx="146304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SAM read Parse / label"/>
            <p:cNvSpPr txBox="1"/>
            <p:nvPr/>
          </p:nvSpPr>
          <p:spPr>
            <a:xfrm>
              <a:off x="6286500" y="356616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Parse</a:t>
              </a:r>
            </a:p>
          </p:txBody>
        </p:sp>
      </p:grpSp>
      <p:sp>
        <p:nvSpPr>
          <p:cNvPr id="167" name="SAM write heading"/>
          <p:cNvSpPr txBox="1"/>
          <p:nvPr/>
        </p:nvSpPr>
        <p:spPr>
          <a:xfrm>
            <a:off x="8229600" y="3253740"/>
            <a:ext cx="3337560" cy="198120"/>
          </a:xfrm>
          <a:prstGeom prst="rect">
            <a:avLst/>
          </a:prstGeom>
          <a:noFill/>
        </p:spPr>
        <p:txBody>
          <a:bodyPr wrap="none" lIns="0" rIns="0" tIns="0" bIns="0" anchor="ctr">
            <a:noAutofit/>
          </a:bodyPr>
          <a:lstStyle/>
          <a:p>
            <a:pPr algn="l">
              <a:lnSpc>
                <a:spcPts val="1344"/>
              </a:lnSpc>
              <a:spcBef>
                <a:spcPts val="0"/>
              </a:spcBef>
              <a:spcAft>
                <a:spcPts val="0"/>
              </a:spcAft>
            </a:pPr>
            <a:r>
              <a:rPr sz="1200" b="1" i="0">
                <a:solidFill>
                  <a:srgbClr val="172C36"/>
                </a:solidFill>
                <a:latin typeface="Arial"/>
              </a:rPr>
              <a:t>SAM write</a:t>
            </a:r>
          </a:p>
        </p:txBody>
      </p:sp>
      <p:grpSp>
        <p:nvGrpSpPr>
          <p:cNvPr id="170" name="SAM write BAM records [editable group]"/>
          <p:cNvGrpSpPr/>
          <p:nvPr/>
        </p:nvGrpSpPr>
        <p:grpSpPr>
          <a:xfrm>
            <a:off x="8229600" y="3543300"/>
            <a:ext cx="1463040" cy="358140"/>
            <a:chOff x="8229600" y="3543300"/>
            <a:chExt cx="1463040" cy="358140"/>
          </a:xfrm>
        </p:grpSpPr>
        <p:sp>
          <p:nvSpPr>
            <p:cNvPr id="168" name="SAM write BAM records"/>
            <p:cNvSpPr/>
            <p:nvPr/>
          </p:nvSpPr>
          <p:spPr>
            <a:xfrm>
              <a:off x="8229600" y="354330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SAM write BAM records / label"/>
            <p:cNvSpPr txBox="1"/>
            <p:nvPr/>
          </p:nvSpPr>
          <p:spPr>
            <a:xfrm>
              <a:off x="8275320" y="356616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records</a:t>
              </a:r>
            </a:p>
          </p:txBody>
        </p:sp>
      </p:grpSp>
      <p:cxnSp>
        <p:nvCxnSpPr>
          <p:cNvPr id="171" name="SAM write stage 0 / segment 0"/>
          <p:cNvCxnSpPr/>
          <p:nvPr/>
        </p:nvCxnSpPr>
        <p:spPr>
          <a:xfrm>
            <a:off x="9692640" y="371856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74" name="SAM write Format [editable group]"/>
          <p:cNvGrpSpPr/>
          <p:nvPr/>
        </p:nvGrpSpPr>
        <p:grpSpPr>
          <a:xfrm>
            <a:off x="9875520" y="3543300"/>
            <a:ext cx="1463040" cy="358140"/>
            <a:chOff x="9875520" y="3543300"/>
            <a:chExt cx="1463040" cy="358140"/>
          </a:xfrm>
        </p:grpSpPr>
        <p:sp>
          <p:nvSpPr>
            <p:cNvPr id="172" name="SAM write Format"/>
            <p:cNvSpPr/>
            <p:nvPr/>
          </p:nvSpPr>
          <p:spPr>
            <a:xfrm>
              <a:off x="9875520" y="354330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SAM write Format / label"/>
            <p:cNvSpPr txBox="1"/>
            <p:nvPr/>
          </p:nvSpPr>
          <p:spPr>
            <a:xfrm>
              <a:off x="9921240" y="356616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Format</a:t>
              </a:r>
            </a:p>
          </p:txBody>
        </p:sp>
      </p:grpSp>
      <p:cxnSp>
        <p:nvCxnSpPr>
          <p:cNvPr id="175" name="Read batches into core group / segment 0"/>
          <p:cNvCxnSpPr/>
          <p:nvPr/>
        </p:nvCxnSpPr>
        <p:spPr>
          <a:xfrm>
            <a:off x="5768340" y="1485900"/>
            <a:ext cx="0" cy="640080"/>
          </a:xfrm>
          <a:prstGeom prst="line">
            <a:avLst/>
          </a:prstGeom>
          <a:ln w="21336">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6" name="Read batch transfer label"/>
          <p:cNvSpPr txBox="1"/>
          <p:nvPr/>
        </p:nvSpPr>
        <p:spPr>
          <a:xfrm>
            <a:off x="5897880" y="1539240"/>
            <a:ext cx="1684020" cy="182880"/>
          </a:xfrm>
          <a:prstGeom prst="rect">
            <a:avLst/>
          </a:prstGeom>
          <a:noFill/>
        </p:spPr>
        <p:txBody>
          <a:bodyPr wrap="none" lIns="0" rIns="0" tIns="0" bIns="0" anchor="ctr">
            <a:noAutofit/>
          </a:bodyPr>
          <a:lstStyle/>
          <a:p>
            <a:pPr algn="l">
              <a:lnSpc>
                <a:spcPts val="1209"/>
              </a:lnSpc>
              <a:spcBef>
                <a:spcPts val="0"/>
              </a:spcBef>
              <a:spcAft>
                <a:spcPts val="0"/>
              </a:spcAft>
            </a:pPr>
            <a:r>
              <a:rPr sz="1080" b="0" i="0">
                <a:solidFill>
                  <a:srgbClr val="197BA3"/>
                </a:solidFill>
                <a:latin typeface="Arial"/>
              </a:rPr>
              <a:t>Batch input</a:t>
            </a:r>
          </a:p>
        </p:txBody>
      </p:sp>
      <p:cxnSp>
        <p:nvCxnSpPr>
          <p:cNvPr id="177" name="Compressed batches to sink / segment 0"/>
          <p:cNvCxnSpPr/>
          <p:nvPr/>
        </p:nvCxnSpPr>
        <p:spPr>
          <a:xfrm flipV="1">
            <a:off x="8968740" y="1485900"/>
            <a:ext cx="0" cy="640080"/>
          </a:xfrm>
          <a:prstGeom prst="line">
            <a:avLst/>
          </a:prstGeom>
          <a:ln w="21336">
            <a:solidFill>
              <a:srgbClr val="B9536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8" name="Write batch transfer label"/>
          <p:cNvSpPr txBox="1"/>
          <p:nvPr/>
        </p:nvSpPr>
        <p:spPr>
          <a:xfrm>
            <a:off x="9090660" y="1539240"/>
            <a:ext cx="1851660" cy="182880"/>
          </a:xfrm>
          <a:prstGeom prst="rect">
            <a:avLst/>
          </a:prstGeom>
          <a:noFill/>
        </p:spPr>
        <p:txBody>
          <a:bodyPr wrap="none" lIns="0" rIns="0" tIns="0" bIns="0" anchor="ctr">
            <a:noAutofit/>
          </a:bodyPr>
          <a:lstStyle/>
          <a:p>
            <a:pPr algn="l">
              <a:lnSpc>
                <a:spcPts val="1209"/>
              </a:lnSpc>
              <a:spcBef>
                <a:spcPts val="0"/>
              </a:spcBef>
              <a:spcAft>
                <a:spcPts val="0"/>
              </a:spcAft>
            </a:pPr>
            <a:r>
              <a:rPr sz="1080" b="0" i="0">
                <a:solidFill>
                  <a:srgbClr val="B95362"/>
                </a:solidFill>
                <a:latin typeface="Arial"/>
              </a:rPr>
              <a:t>Batch output</a:t>
            </a:r>
          </a:p>
        </p:txBody>
      </p:sp>
      <p:sp>
        <p:nvSpPr>
          <p:cNvPr id="179" name="(b) Compose applications at batch boundaries"/>
          <p:cNvSpPr txBox="1"/>
          <p:nvPr/>
        </p:nvSpPr>
        <p:spPr>
          <a:xfrm>
            <a:off x="228600" y="457962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(b) Compose applications at batch boundaries</a:t>
            </a:r>
          </a:p>
        </p:txBody>
      </p:sp>
      <p:sp>
        <p:nvSpPr>
          <p:cNvPr id="180" name="Record counting title"/>
          <p:cNvSpPr txBox="1"/>
          <p:nvPr/>
        </p:nvSpPr>
        <p:spPr>
          <a:xfrm>
            <a:off x="342900" y="4960620"/>
            <a:ext cx="5349240" cy="198120"/>
          </a:xfrm>
          <a:prstGeom prst="rect">
            <a:avLst/>
          </a:prstGeom>
          <a:noFill/>
        </p:spPr>
        <p:txBody>
          <a:bodyPr wrap="none" lIns="0" rIns="0" tIns="0" bIns="0" anchor="ctr">
            <a:noAutofit/>
          </a:bodyPr>
          <a:lstStyle/>
          <a:p>
            <a:pPr algn="l">
              <a:lnSpc>
                <a:spcPts val="1411"/>
              </a:lnSpc>
              <a:spcBef>
                <a:spcPts val="0"/>
              </a:spcBef>
              <a:spcAft>
                <a:spcPts val="0"/>
              </a:spcAft>
            </a:pPr>
            <a:r>
              <a:rPr sz="1260" b="1" i="0">
                <a:solidFill>
                  <a:srgbClr val="172C36"/>
                </a:solidFill>
                <a:latin typeface="Arial"/>
              </a:rPr>
              <a:t>Record counting</a:t>
            </a:r>
          </a:p>
        </p:txBody>
      </p:sp>
      <p:grpSp>
        <p:nvGrpSpPr>
          <p:cNvPr id="183" name="Record counting / BAM read [editable group]"/>
          <p:cNvGrpSpPr/>
          <p:nvPr/>
        </p:nvGrpSpPr>
        <p:grpSpPr>
          <a:xfrm>
            <a:off x="342900" y="5212080"/>
            <a:ext cx="1577340" cy="327660"/>
            <a:chOff x="342900" y="5212080"/>
            <a:chExt cx="1577340" cy="327660"/>
          </a:xfrm>
        </p:grpSpPr>
        <p:sp>
          <p:nvSpPr>
            <p:cNvPr id="181" name="Record counting / BAM read"/>
            <p:cNvSpPr/>
            <p:nvPr/>
          </p:nvSpPr>
          <p:spPr>
            <a:xfrm>
              <a:off x="342900" y="521208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ord counting / BAM read / label"/>
            <p:cNvSpPr txBox="1"/>
            <p:nvPr/>
          </p:nvSpPr>
          <p:spPr>
            <a:xfrm>
              <a:off x="38862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read</a:t>
              </a:r>
            </a:p>
          </p:txBody>
        </p:sp>
      </p:grpSp>
      <p:cxnSp>
        <p:nvCxnSpPr>
          <p:cNvPr id="184" name="Record counting / link 0 / segment 0"/>
          <p:cNvCxnSpPr/>
          <p:nvPr/>
        </p:nvCxnSpPr>
        <p:spPr>
          <a:xfrm>
            <a:off x="192024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87" name="Record counting / Aggregate [editable group]"/>
          <p:cNvGrpSpPr/>
          <p:nvPr/>
        </p:nvGrpSpPr>
        <p:grpSpPr>
          <a:xfrm>
            <a:off x="2148840" y="5212080"/>
            <a:ext cx="1577340" cy="327660"/>
            <a:chOff x="2148840" y="5212080"/>
            <a:chExt cx="1577340" cy="327660"/>
          </a:xfrm>
        </p:grpSpPr>
        <p:sp>
          <p:nvSpPr>
            <p:cNvPr id="185" name="Record counting / Aggregate"/>
            <p:cNvSpPr/>
            <p:nvPr/>
          </p:nvSpPr>
          <p:spPr>
            <a:xfrm>
              <a:off x="2148840" y="521208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ord counting / Aggregate / label"/>
            <p:cNvSpPr txBox="1"/>
            <p:nvPr/>
          </p:nvSpPr>
          <p:spPr>
            <a:xfrm>
              <a:off x="219456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Aggregate</a:t>
              </a:r>
            </a:p>
          </p:txBody>
        </p:sp>
      </p:grpSp>
      <p:cxnSp>
        <p:nvCxnSpPr>
          <p:cNvPr id="188" name="Record counting / link 1 / segment 0"/>
          <p:cNvCxnSpPr/>
          <p:nvPr/>
        </p:nvCxnSpPr>
        <p:spPr>
          <a:xfrm>
            <a:off x="372618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91" name="Record counting / MPI reduce [editable group]"/>
          <p:cNvGrpSpPr/>
          <p:nvPr/>
        </p:nvGrpSpPr>
        <p:grpSpPr>
          <a:xfrm>
            <a:off x="3954780" y="5212080"/>
            <a:ext cx="1577340" cy="327660"/>
            <a:chOff x="3954780" y="5212080"/>
            <a:chExt cx="1577340" cy="327660"/>
          </a:xfrm>
        </p:grpSpPr>
        <p:sp>
          <p:nvSpPr>
            <p:cNvPr id="189" name="Record counting / MPI reduce"/>
            <p:cNvSpPr/>
            <p:nvPr/>
          </p:nvSpPr>
          <p:spPr>
            <a:xfrm>
              <a:off x="3954780" y="5212080"/>
              <a:ext cx="1577340" cy="327660"/>
            </a:xfrm>
            <a:prstGeom prst="roundRect">
              <a:avLst>
                <a:gd name="adj" fmla="val 18604"/>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ord counting / MPI reduce / label"/>
            <p:cNvSpPr txBox="1"/>
            <p:nvPr/>
          </p:nvSpPr>
          <p:spPr>
            <a:xfrm>
              <a:off x="400050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MPI reduce</a:t>
              </a:r>
            </a:p>
          </p:txBody>
        </p:sp>
      </p:grpSp>
      <p:sp>
        <p:nvSpPr>
          <p:cNvPr id="192" name="BAM filtering / rewriting title"/>
          <p:cNvSpPr txBox="1"/>
          <p:nvPr/>
        </p:nvSpPr>
        <p:spPr>
          <a:xfrm>
            <a:off x="6408420" y="4960620"/>
            <a:ext cx="5349240" cy="198120"/>
          </a:xfrm>
          <a:prstGeom prst="rect">
            <a:avLst/>
          </a:prstGeom>
          <a:noFill/>
        </p:spPr>
        <p:txBody>
          <a:bodyPr wrap="none" lIns="0" rIns="0" tIns="0" bIns="0" anchor="ctr">
            <a:noAutofit/>
          </a:bodyPr>
          <a:lstStyle/>
          <a:p>
            <a:pPr algn="l">
              <a:lnSpc>
                <a:spcPts val="1411"/>
              </a:lnSpc>
              <a:spcBef>
                <a:spcPts val="0"/>
              </a:spcBef>
              <a:spcAft>
                <a:spcPts val="0"/>
              </a:spcAft>
            </a:pPr>
            <a:r>
              <a:rPr sz="1260" b="1" i="0">
                <a:solidFill>
                  <a:srgbClr val="172C36"/>
                </a:solidFill>
                <a:latin typeface="Arial"/>
              </a:rPr>
              <a:t>BAM filtering / rewriting</a:t>
            </a:r>
          </a:p>
        </p:txBody>
      </p:sp>
      <p:grpSp>
        <p:nvGrpSpPr>
          <p:cNvPr id="195" name="BAM filtering / rewriting / BAM read + filter [editable group]"/>
          <p:cNvGrpSpPr/>
          <p:nvPr/>
        </p:nvGrpSpPr>
        <p:grpSpPr>
          <a:xfrm>
            <a:off x="6408420" y="5212080"/>
            <a:ext cx="1577340" cy="327660"/>
            <a:chOff x="6408420" y="5212080"/>
            <a:chExt cx="1577340" cy="327660"/>
          </a:xfrm>
        </p:grpSpPr>
        <p:sp>
          <p:nvSpPr>
            <p:cNvPr id="193" name="BAM filtering / rewriting / BAM read + filter"/>
            <p:cNvSpPr/>
            <p:nvPr/>
          </p:nvSpPr>
          <p:spPr>
            <a:xfrm>
              <a:off x="6408420" y="521208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BAM filtering / rewriting / BAM read + filter / label"/>
            <p:cNvSpPr txBox="1"/>
            <p:nvPr/>
          </p:nvSpPr>
          <p:spPr>
            <a:xfrm>
              <a:off x="645414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read + filter</a:t>
              </a:r>
            </a:p>
          </p:txBody>
        </p:sp>
      </p:grpSp>
      <p:cxnSp>
        <p:nvCxnSpPr>
          <p:cNvPr id="196" name="BAM filtering / rewriting / link 0 / segment 0"/>
          <p:cNvCxnSpPr/>
          <p:nvPr/>
        </p:nvCxnSpPr>
        <p:spPr>
          <a:xfrm>
            <a:off x="7985759"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99" name="BAM filtering / rewriting / Packing plan [editable group]"/>
          <p:cNvGrpSpPr/>
          <p:nvPr/>
        </p:nvGrpSpPr>
        <p:grpSpPr>
          <a:xfrm>
            <a:off x="8214359" y="5212080"/>
            <a:ext cx="1577340" cy="327660"/>
            <a:chOff x="8214359" y="5212080"/>
            <a:chExt cx="1577340" cy="327660"/>
          </a:xfrm>
        </p:grpSpPr>
        <p:sp>
          <p:nvSpPr>
            <p:cNvPr id="197" name="BAM filtering / rewriting / Packing plan"/>
            <p:cNvSpPr/>
            <p:nvPr/>
          </p:nvSpPr>
          <p:spPr>
            <a:xfrm>
              <a:off x="8214359" y="521208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BAM filtering / rewriting / Packing plan / label"/>
            <p:cNvSpPr txBox="1"/>
            <p:nvPr/>
          </p:nvSpPr>
          <p:spPr>
            <a:xfrm>
              <a:off x="826008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Packing plan</a:t>
              </a:r>
            </a:p>
          </p:txBody>
        </p:sp>
      </p:grpSp>
      <p:cxnSp>
        <p:nvCxnSpPr>
          <p:cNvPr id="200" name="BAM filtering / rewriting / link 1 / segment 0"/>
          <p:cNvCxnSpPr/>
          <p:nvPr/>
        </p:nvCxnSpPr>
        <p:spPr>
          <a:xfrm>
            <a:off x="979170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03" name="BAM filtering / rewriting / BAM write [editable group]"/>
          <p:cNvGrpSpPr/>
          <p:nvPr/>
        </p:nvGrpSpPr>
        <p:grpSpPr>
          <a:xfrm>
            <a:off x="10020300" y="5212080"/>
            <a:ext cx="1577340" cy="327660"/>
            <a:chOff x="10020300" y="5212080"/>
            <a:chExt cx="1577340" cy="327660"/>
          </a:xfrm>
        </p:grpSpPr>
        <p:sp>
          <p:nvSpPr>
            <p:cNvPr id="201" name="BAM filtering / rewriting / BAM write"/>
            <p:cNvSpPr/>
            <p:nvPr/>
          </p:nvSpPr>
          <p:spPr>
            <a:xfrm>
              <a:off x="10020300" y="521208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BAM filtering / rewriting / BAM write / label"/>
            <p:cNvSpPr txBox="1"/>
            <p:nvPr/>
          </p:nvSpPr>
          <p:spPr>
            <a:xfrm>
              <a:off x="1006602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write</a:t>
              </a:r>
            </a:p>
          </p:txBody>
        </p:sp>
      </p:grpSp>
      <p:sp>
        <p:nvSpPr>
          <p:cNvPr id="204" name="BAM → SAM title"/>
          <p:cNvSpPr txBox="1"/>
          <p:nvPr/>
        </p:nvSpPr>
        <p:spPr>
          <a:xfrm>
            <a:off x="342900" y="5737860"/>
            <a:ext cx="5349240" cy="198120"/>
          </a:xfrm>
          <a:prstGeom prst="rect">
            <a:avLst/>
          </a:prstGeom>
          <a:noFill/>
        </p:spPr>
        <p:txBody>
          <a:bodyPr wrap="none" lIns="0" rIns="0" tIns="0" bIns="0" anchor="ctr">
            <a:noAutofit/>
          </a:bodyPr>
          <a:lstStyle/>
          <a:p>
            <a:pPr algn="l">
              <a:lnSpc>
                <a:spcPts val="1411"/>
              </a:lnSpc>
              <a:spcBef>
                <a:spcPts val="0"/>
              </a:spcBef>
              <a:spcAft>
                <a:spcPts val="0"/>
              </a:spcAft>
            </a:pPr>
            <a:r>
              <a:rPr sz="1260" b="1" i="0">
                <a:solidFill>
                  <a:srgbClr val="172C36"/>
                </a:solidFill>
                <a:latin typeface="Arial"/>
              </a:rPr>
              <a:t>BAM → SAM</a:t>
            </a:r>
          </a:p>
        </p:txBody>
      </p:sp>
      <p:grpSp>
        <p:nvGrpSpPr>
          <p:cNvPr id="207" name="BAM → SAM / BAM read [editable group]"/>
          <p:cNvGrpSpPr/>
          <p:nvPr/>
        </p:nvGrpSpPr>
        <p:grpSpPr>
          <a:xfrm>
            <a:off x="342900" y="5989320"/>
            <a:ext cx="1577340" cy="327660"/>
            <a:chOff x="342900" y="5989320"/>
            <a:chExt cx="1577340" cy="327660"/>
          </a:xfrm>
        </p:grpSpPr>
        <p:sp>
          <p:nvSpPr>
            <p:cNvPr id="205" name="BAM → SAM / BAM read"/>
            <p:cNvSpPr/>
            <p:nvPr/>
          </p:nvSpPr>
          <p:spPr>
            <a:xfrm>
              <a:off x="342900" y="598932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BAM → SAM / BAM read / label"/>
            <p:cNvSpPr txBox="1"/>
            <p:nvPr/>
          </p:nvSpPr>
          <p:spPr>
            <a:xfrm>
              <a:off x="38862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read</a:t>
              </a:r>
            </a:p>
          </p:txBody>
        </p:sp>
      </p:grpSp>
      <p:cxnSp>
        <p:nvCxnSpPr>
          <p:cNvPr id="208" name="BAM → SAM / link 0 / segment 0"/>
          <p:cNvCxnSpPr/>
          <p:nvPr/>
        </p:nvCxnSpPr>
        <p:spPr>
          <a:xfrm>
            <a:off x="192024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11" name="BAM → SAM / Batch handoff [editable group]"/>
          <p:cNvGrpSpPr/>
          <p:nvPr/>
        </p:nvGrpSpPr>
        <p:grpSpPr>
          <a:xfrm>
            <a:off x="2148840" y="5989320"/>
            <a:ext cx="1577340" cy="327660"/>
            <a:chOff x="2148840" y="5989320"/>
            <a:chExt cx="1577340" cy="327660"/>
          </a:xfrm>
        </p:grpSpPr>
        <p:sp>
          <p:nvSpPr>
            <p:cNvPr id="209" name="BAM → SAM / Batch handoff"/>
            <p:cNvSpPr/>
            <p:nvPr/>
          </p:nvSpPr>
          <p:spPr>
            <a:xfrm>
              <a:off x="2148840" y="598932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BAM → SAM / Batch handoff / label"/>
            <p:cNvSpPr txBox="1"/>
            <p:nvPr/>
          </p:nvSpPr>
          <p:spPr>
            <a:xfrm>
              <a:off x="219456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Batch handoff</a:t>
              </a:r>
            </a:p>
          </p:txBody>
        </p:sp>
      </p:grpSp>
      <p:cxnSp>
        <p:nvCxnSpPr>
          <p:cNvPr id="212" name="BAM → SAM / link 1 / segment 0"/>
          <p:cNvCxnSpPr/>
          <p:nvPr/>
        </p:nvCxnSpPr>
        <p:spPr>
          <a:xfrm>
            <a:off x="372618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15" name="BAM → SAM / SAM write [editable group]"/>
          <p:cNvGrpSpPr/>
          <p:nvPr/>
        </p:nvGrpSpPr>
        <p:grpSpPr>
          <a:xfrm>
            <a:off x="3954780" y="5989320"/>
            <a:ext cx="1577340" cy="327660"/>
            <a:chOff x="3954780" y="5989320"/>
            <a:chExt cx="1577340" cy="327660"/>
          </a:xfrm>
        </p:grpSpPr>
        <p:sp>
          <p:nvSpPr>
            <p:cNvPr id="213" name="BAM → SAM / SAM write"/>
            <p:cNvSpPr/>
            <p:nvPr/>
          </p:nvSpPr>
          <p:spPr>
            <a:xfrm>
              <a:off x="3954780" y="598932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BAM → SAM / SAM write / label"/>
            <p:cNvSpPr txBox="1"/>
            <p:nvPr/>
          </p:nvSpPr>
          <p:spPr>
            <a:xfrm>
              <a:off x="400050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SAM write</a:t>
              </a:r>
            </a:p>
          </p:txBody>
        </p:sp>
      </p:grpSp>
      <p:sp>
        <p:nvSpPr>
          <p:cNvPr id="216" name="SAM → BAM title"/>
          <p:cNvSpPr txBox="1"/>
          <p:nvPr/>
        </p:nvSpPr>
        <p:spPr>
          <a:xfrm>
            <a:off x="6408420" y="5737860"/>
            <a:ext cx="5349240" cy="198120"/>
          </a:xfrm>
          <a:prstGeom prst="rect">
            <a:avLst/>
          </a:prstGeom>
          <a:noFill/>
        </p:spPr>
        <p:txBody>
          <a:bodyPr wrap="none" lIns="0" rIns="0" tIns="0" bIns="0" anchor="ctr">
            <a:noAutofit/>
          </a:bodyPr>
          <a:lstStyle/>
          <a:p>
            <a:pPr algn="l">
              <a:lnSpc>
                <a:spcPts val="1411"/>
              </a:lnSpc>
              <a:spcBef>
                <a:spcPts val="0"/>
              </a:spcBef>
              <a:spcAft>
                <a:spcPts val="0"/>
              </a:spcAft>
            </a:pPr>
            <a:r>
              <a:rPr sz="1260" b="1" i="0">
                <a:solidFill>
                  <a:srgbClr val="172C36"/>
                </a:solidFill>
                <a:latin typeface="Arial"/>
              </a:rPr>
              <a:t>SAM → BAM</a:t>
            </a:r>
          </a:p>
        </p:txBody>
      </p:sp>
      <p:grpSp>
        <p:nvGrpSpPr>
          <p:cNvPr id="219" name="SAM → BAM / SAM read [editable group]"/>
          <p:cNvGrpSpPr/>
          <p:nvPr/>
        </p:nvGrpSpPr>
        <p:grpSpPr>
          <a:xfrm>
            <a:off x="6408420" y="5989320"/>
            <a:ext cx="1577340" cy="327660"/>
            <a:chOff x="6408420" y="5989320"/>
            <a:chExt cx="1577340" cy="327660"/>
          </a:xfrm>
        </p:grpSpPr>
        <p:sp>
          <p:nvSpPr>
            <p:cNvPr id="217" name="SAM → BAM / SAM read"/>
            <p:cNvSpPr/>
            <p:nvPr/>
          </p:nvSpPr>
          <p:spPr>
            <a:xfrm>
              <a:off x="6408420" y="598932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SAM → BAM / SAM read / label"/>
            <p:cNvSpPr txBox="1"/>
            <p:nvPr/>
          </p:nvSpPr>
          <p:spPr>
            <a:xfrm>
              <a:off x="645414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SAM read</a:t>
              </a:r>
            </a:p>
          </p:txBody>
        </p:sp>
      </p:grpSp>
      <p:cxnSp>
        <p:nvCxnSpPr>
          <p:cNvPr id="220" name="SAM → BAM / link 0 / segment 0"/>
          <p:cNvCxnSpPr/>
          <p:nvPr/>
        </p:nvCxnSpPr>
        <p:spPr>
          <a:xfrm>
            <a:off x="7985759"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3" name="SAM → BAM / Packing plan [editable group]"/>
          <p:cNvGrpSpPr/>
          <p:nvPr/>
        </p:nvGrpSpPr>
        <p:grpSpPr>
          <a:xfrm>
            <a:off x="8214359" y="5989320"/>
            <a:ext cx="1577340" cy="327660"/>
            <a:chOff x="8214359" y="5989320"/>
            <a:chExt cx="1577340" cy="327660"/>
          </a:xfrm>
        </p:grpSpPr>
        <p:sp>
          <p:nvSpPr>
            <p:cNvPr id="221" name="SAM → BAM / Packing plan"/>
            <p:cNvSpPr/>
            <p:nvPr/>
          </p:nvSpPr>
          <p:spPr>
            <a:xfrm>
              <a:off x="8214359" y="598932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SAM → BAM / Packing plan / label"/>
            <p:cNvSpPr txBox="1"/>
            <p:nvPr/>
          </p:nvSpPr>
          <p:spPr>
            <a:xfrm>
              <a:off x="826008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Packing plan</a:t>
              </a:r>
            </a:p>
          </p:txBody>
        </p:sp>
      </p:grpSp>
      <p:cxnSp>
        <p:nvCxnSpPr>
          <p:cNvPr id="224" name="SAM → BAM / link 1 / segment 0"/>
          <p:cNvCxnSpPr/>
          <p:nvPr/>
        </p:nvCxnSpPr>
        <p:spPr>
          <a:xfrm>
            <a:off x="979170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7" name="SAM → BAM / BAM write [editable group]"/>
          <p:cNvGrpSpPr/>
          <p:nvPr/>
        </p:nvGrpSpPr>
        <p:grpSpPr>
          <a:xfrm>
            <a:off x="10020300" y="5989320"/>
            <a:ext cx="1577340" cy="327660"/>
            <a:chOff x="10020300" y="5989320"/>
            <a:chExt cx="1577340" cy="327660"/>
          </a:xfrm>
        </p:grpSpPr>
        <p:sp>
          <p:nvSpPr>
            <p:cNvPr id="225" name="SAM → BAM / BAM write"/>
            <p:cNvSpPr/>
            <p:nvPr/>
          </p:nvSpPr>
          <p:spPr>
            <a:xfrm>
              <a:off x="10020300" y="598932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SAM → BAM / BAM write / label"/>
            <p:cNvSpPr txBox="1"/>
            <p:nvPr/>
          </p:nvSpPr>
          <p:spPr>
            <a:xfrm>
              <a:off x="1006602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write</a:t>
              </a:r>
            </a:p>
          </p:txBody>
        </p:sp>
      </p:grpSp>
      <p:sp>
        <p:nvSpPr>
          <p:cNvPr id="228" name="Higher level state"/>
          <p:cNvSpPr txBox="1"/>
          <p:nvPr/>
        </p:nvSpPr>
        <p:spPr>
          <a:xfrm>
            <a:off x="281940" y="6545580"/>
            <a:ext cx="11628120" cy="2057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61727A"/>
                </a:solidFill>
                <a:latin typeface="Arial"/>
              </a:rPr>
              <a:t>Sort / collate / fixmate / markdup add ordering, grouping, cross-record state and MPI exchange.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BAM read: reuse buffers, overlap independent work"/>
          <p:cNvSpPr txBox="1"/>
          <p:nvPr/>
        </p:nvSpPr>
        <p:spPr>
          <a:xfrm>
            <a:off x="228600" y="9144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(a) BAM read: reuse buffers, overlap independent work</a:t>
            </a:r>
          </a:p>
        </p:txBody>
      </p:sp>
      <p:sp>
        <p:nvSpPr>
          <p:cNvPr id="3" name="BAM read buffers"/>
          <p:cNvSpPr/>
          <p:nvPr/>
        </p:nvSpPr>
        <p:spPr>
          <a:xfrm>
            <a:off x="228600" y="556260"/>
            <a:ext cx="1981199" cy="2225040"/>
          </a:xfrm>
          <a:prstGeom prst="roundRect">
            <a:avLst>
              <a:gd name="adj" fmla="val 4615"/>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M read buffers / heading"/>
          <p:cNvSpPr txBox="1"/>
          <p:nvPr/>
        </p:nvSpPr>
        <p:spPr>
          <a:xfrm>
            <a:off x="342900" y="632460"/>
            <a:ext cx="175260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Alternating buffers</a:t>
            </a:r>
          </a:p>
        </p:txBody>
      </p:sp>
      <p:grpSp>
        <p:nvGrpSpPr>
          <p:cNvPr id="7" name="BAM read buffer A [editable group]"/>
          <p:cNvGrpSpPr/>
          <p:nvPr/>
        </p:nvGrpSpPr>
        <p:grpSpPr>
          <a:xfrm>
            <a:off x="434340" y="1021080"/>
            <a:ext cx="1562100" cy="388620"/>
            <a:chOff x="434340" y="1021080"/>
            <a:chExt cx="1562100" cy="388620"/>
          </a:xfrm>
        </p:grpSpPr>
        <p:sp>
          <p:nvSpPr>
            <p:cNvPr id="5" name="BAM read buffer A"/>
            <p:cNvSpPr/>
            <p:nvPr/>
          </p:nvSpPr>
          <p:spPr>
            <a:xfrm>
              <a:off x="434340" y="1021080"/>
              <a:ext cx="1562100" cy="3886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M read buffer A / label"/>
            <p:cNvSpPr txBox="1"/>
            <p:nvPr/>
          </p:nvSpPr>
          <p:spPr>
            <a:xfrm>
              <a:off x="480060" y="1043940"/>
              <a:ext cx="1470660" cy="34290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A: batch i</a:t>
              </a:r>
            </a:p>
          </p:txBody>
        </p:sp>
      </p:grpSp>
      <p:grpSp>
        <p:nvGrpSpPr>
          <p:cNvPr id="10" name="BAM read buffer B [editable group]"/>
          <p:cNvGrpSpPr/>
          <p:nvPr/>
        </p:nvGrpSpPr>
        <p:grpSpPr>
          <a:xfrm>
            <a:off x="434340" y="1615440"/>
            <a:ext cx="1562100" cy="388620"/>
            <a:chOff x="434340" y="1615440"/>
            <a:chExt cx="1562100" cy="388620"/>
          </a:xfrm>
        </p:grpSpPr>
        <p:sp>
          <p:nvSpPr>
            <p:cNvPr id="8" name="BAM read buffer B"/>
            <p:cNvSpPr/>
            <p:nvPr/>
          </p:nvSpPr>
          <p:spPr>
            <a:xfrm>
              <a:off x="434340" y="1615440"/>
              <a:ext cx="1562100" cy="3886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M read buffer B / label"/>
            <p:cNvSpPr txBox="1"/>
            <p:nvPr/>
          </p:nvSpPr>
          <p:spPr>
            <a:xfrm>
              <a:off x="480060" y="1638300"/>
              <a:ext cx="1470660" cy="34290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B: batch i+1</a:t>
              </a:r>
            </a:p>
          </p:txBody>
        </p:sp>
      </p:grpSp>
      <p:sp>
        <p:nvSpPr>
          <p:cNvPr id="11" name="BAM read role"/>
          <p:cNvSpPr txBox="1"/>
          <p:nvPr/>
        </p:nvSpPr>
        <p:spPr>
          <a:xfrm>
            <a:off x="350520" y="2171700"/>
            <a:ext cx="1744980" cy="38862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Compressed input</a:t>
            </a:r>
          </a:p>
          <a:p>
            <a:pPr algn="ctr">
              <a:lnSpc>
                <a:spcPts val="1209"/>
              </a:lnSpc>
              <a:spcBef>
                <a:spcPts val="0"/>
              </a:spcBef>
              <a:spcAft>
                <a:spcPts val="0"/>
              </a:spcAft>
            </a:pPr>
            <a:r>
              <a:rPr sz="1080" b="0" i="0">
                <a:solidFill>
                  <a:srgbClr val="172C36"/>
                </a:solidFill>
                <a:latin typeface="Arial"/>
              </a:rPr>
              <a:t>A / B swap after each batch</a:t>
            </a:r>
          </a:p>
        </p:txBody>
      </p:sp>
      <p:cxnSp>
        <p:nvCxnSpPr>
          <p:cNvPr id="12" name="BAM read time axis / segment 0"/>
          <p:cNvCxnSpPr/>
          <p:nvPr/>
        </p:nvCxnSpPr>
        <p:spPr>
          <a:xfrm>
            <a:off x="2994660" y="815340"/>
            <a:ext cx="879348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BAM read time label"/>
          <p:cNvSpPr txBox="1"/>
          <p:nvPr/>
        </p:nvSpPr>
        <p:spPr>
          <a:xfrm>
            <a:off x="9890760" y="533400"/>
            <a:ext cx="1851660" cy="190500"/>
          </a:xfrm>
          <a:prstGeom prst="rect">
            <a:avLst/>
          </a:prstGeom>
          <a:noFill/>
        </p:spPr>
        <p:txBody>
          <a:bodyPr wrap="none" lIns="0" rIns="0" tIns="0" bIns="0" anchor="ctr">
            <a:noAutofit/>
          </a:bodyPr>
          <a:lstStyle/>
          <a:p>
            <a:pPr algn="r">
              <a:lnSpc>
                <a:spcPts val="1209"/>
              </a:lnSpc>
              <a:spcBef>
                <a:spcPts val="0"/>
              </a:spcBef>
              <a:spcAft>
                <a:spcPts val="0"/>
              </a:spcAft>
            </a:pPr>
            <a:r>
              <a:rPr sz="1080" b="0" i="0">
                <a:solidFill>
                  <a:srgbClr val="61727A"/>
                </a:solidFill>
                <a:latin typeface="Arial"/>
              </a:rPr>
              <a:t>Time (schematic)</a:t>
            </a:r>
          </a:p>
        </p:txBody>
      </p:sp>
      <p:sp>
        <p:nvSpPr>
          <p:cNvPr id="14" name="BAM read MPE label"/>
          <p:cNvSpPr txBox="1"/>
          <p:nvPr/>
        </p:nvSpPr>
        <p:spPr>
          <a:xfrm>
            <a:off x="2324100" y="1264920"/>
            <a:ext cx="662940" cy="24384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MPE</a:t>
            </a:r>
          </a:p>
        </p:txBody>
      </p:sp>
      <p:sp>
        <p:nvSpPr>
          <p:cNvPr id="15" name="BAM read CPE label"/>
          <p:cNvSpPr txBox="1"/>
          <p:nvPr/>
        </p:nvSpPr>
        <p:spPr>
          <a:xfrm>
            <a:off x="2270760" y="2141220"/>
            <a:ext cx="731520" cy="24384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CPEs</a:t>
            </a:r>
          </a:p>
        </p:txBody>
      </p:sp>
      <p:sp>
        <p:nvSpPr>
          <p:cNvPr id="16" name="BAM read overlap band 481"/>
          <p:cNvSpPr/>
          <p:nvPr/>
        </p:nvSpPr>
        <p:spPr>
          <a:xfrm>
            <a:off x="3665220" y="101346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M read overlap band 1021"/>
          <p:cNvSpPr/>
          <p:nvPr/>
        </p:nvSpPr>
        <p:spPr>
          <a:xfrm>
            <a:off x="7780020" y="101346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0" name="BAM read task 0 [editable group]"/>
          <p:cNvGrpSpPr/>
          <p:nvPr/>
        </p:nvGrpSpPr>
        <p:grpSpPr>
          <a:xfrm>
            <a:off x="3055620" y="1196340"/>
            <a:ext cx="609600" cy="464820"/>
            <a:chOff x="3055620" y="1196340"/>
            <a:chExt cx="609600" cy="464820"/>
          </a:xfrm>
        </p:grpSpPr>
        <p:sp>
          <p:nvSpPr>
            <p:cNvPr id="18" name="BAM read task 0"/>
            <p:cNvSpPr/>
            <p:nvPr/>
          </p:nvSpPr>
          <p:spPr>
            <a:xfrm>
              <a:off x="3055620" y="119634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M read task 0 / label"/>
            <p:cNvSpPr txBox="1"/>
            <p:nvPr/>
          </p:nvSpPr>
          <p:spPr>
            <a:xfrm>
              <a:off x="3101340" y="1219200"/>
              <a:ext cx="5181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Prep.</a:t>
              </a:r>
            </a:p>
            <a:p>
              <a:pPr algn="ctr">
                <a:lnSpc>
                  <a:spcPts val="1209"/>
                </a:lnSpc>
                <a:spcBef>
                  <a:spcPts val="0"/>
                </a:spcBef>
                <a:spcAft>
                  <a:spcPts val="0"/>
                </a:spcAft>
              </a:pPr>
              <a:r>
                <a:rPr sz="1080" b="0" i="0">
                  <a:solidFill>
                    <a:srgbClr val="172C36"/>
                  </a:solidFill>
                  <a:latin typeface="Arial"/>
                </a:rPr>
                <a:t>i</a:t>
              </a:r>
            </a:p>
          </p:txBody>
        </p:sp>
      </p:grpSp>
      <p:grpSp>
        <p:nvGrpSpPr>
          <p:cNvPr id="23" name="BAM read task 1 [editable group]"/>
          <p:cNvGrpSpPr/>
          <p:nvPr/>
        </p:nvGrpSpPr>
        <p:grpSpPr>
          <a:xfrm>
            <a:off x="3665220" y="1196340"/>
            <a:ext cx="1562100" cy="464820"/>
            <a:chOff x="3665220" y="1196340"/>
            <a:chExt cx="1562100" cy="464820"/>
          </a:xfrm>
        </p:grpSpPr>
        <p:sp>
          <p:nvSpPr>
            <p:cNvPr id="21" name="BAM read task 1"/>
            <p:cNvSpPr/>
            <p:nvPr/>
          </p:nvSpPr>
          <p:spPr>
            <a:xfrm>
              <a:off x="3665220" y="1196340"/>
              <a:ext cx="156210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M read task 1 / label"/>
            <p:cNvSpPr txBox="1"/>
            <p:nvPr/>
          </p:nvSpPr>
          <p:spPr>
            <a:xfrm>
              <a:off x="3710940" y="1219200"/>
              <a:ext cx="14706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Read i+1</a:t>
              </a:r>
            </a:p>
            <a:p>
              <a:pPr algn="ctr">
                <a:lnSpc>
                  <a:spcPts val="1209"/>
                </a:lnSpc>
                <a:spcBef>
                  <a:spcPts val="0"/>
                </a:spcBef>
                <a:spcAft>
                  <a:spcPts val="0"/>
                </a:spcAft>
              </a:pPr>
              <a:r>
                <a:rPr sz="1080" b="0" i="0">
                  <a:solidFill>
                    <a:srgbClr val="172C36"/>
                  </a:solidFill>
                  <a:latin typeface="Arial"/>
                </a:rPr>
                <a:t>→ B</a:t>
              </a:r>
            </a:p>
          </p:txBody>
        </p:sp>
      </p:grpSp>
      <p:grpSp>
        <p:nvGrpSpPr>
          <p:cNvPr id="26" name="BAM read task 2 [editable group]"/>
          <p:cNvGrpSpPr/>
          <p:nvPr/>
        </p:nvGrpSpPr>
        <p:grpSpPr>
          <a:xfrm>
            <a:off x="5227320" y="1196340"/>
            <a:ext cx="701040" cy="464820"/>
            <a:chOff x="5227320" y="1196340"/>
            <a:chExt cx="701040" cy="464820"/>
          </a:xfrm>
        </p:grpSpPr>
        <p:sp>
          <p:nvSpPr>
            <p:cNvPr id="24" name="BAM read task 2"/>
            <p:cNvSpPr/>
            <p:nvPr/>
          </p:nvSpPr>
          <p:spPr>
            <a:xfrm>
              <a:off x="5227320" y="1196340"/>
              <a:ext cx="701040" cy="46482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M read task 2 / label"/>
            <p:cNvSpPr txBox="1"/>
            <p:nvPr/>
          </p:nvSpPr>
          <p:spPr>
            <a:xfrm>
              <a:off x="5273040" y="1219200"/>
              <a:ext cx="60960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Wait</a:t>
              </a:r>
            </a:p>
          </p:txBody>
        </p:sp>
      </p:grpSp>
      <p:grpSp>
        <p:nvGrpSpPr>
          <p:cNvPr id="29" name="BAM read task 3 [editable group]"/>
          <p:cNvGrpSpPr/>
          <p:nvPr/>
        </p:nvGrpSpPr>
        <p:grpSpPr>
          <a:xfrm>
            <a:off x="5928360" y="1196340"/>
            <a:ext cx="1242060" cy="464820"/>
            <a:chOff x="5928360" y="1196340"/>
            <a:chExt cx="1242060" cy="464820"/>
          </a:xfrm>
        </p:grpSpPr>
        <p:sp>
          <p:nvSpPr>
            <p:cNvPr id="27" name="BAM read task 3"/>
            <p:cNvSpPr/>
            <p:nvPr/>
          </p:nvSpPr>
          <p:spPr>
            <a:xfrm>
              <a:off x="5928360" y="1196340"/>
              <a:ext cx="12420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M read task 3 / label"/>
            <p:cNvSpPr txBox="1"/>
            <p:nvPr/>
          </p:nvSpPr>
          <p:spPr>
            <a:xfrm>
              <a:off x="5974080" y="1219200"/>
              <a:ext cx="115062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Post-process</a:t>
              </a:r>
            </a:p>
            <a:p>
              <a:pPr algn="ctr">
                <a:lnSpc>
                  <a:spcPts val="1209"/>
                </a:lnSpc>
                <a:spcBef>
                  <a:spcPts val="0"/>
                </a:spcBef>
                <a:spcAft>
                  <a:spcPts val="0"/>
                </a:spcAft>
              </a:pPr>
              <a:r>
                <a:rPr sz="1080" b="0" i="0">
                  <a:solidFill>
                    <a:srgbClr val="172C36"/>
                  </a:solidFill>
                  <a:latin typeface="Arial"/>
                </a:rPr>
                <a:t>i</a:t>
              </a:r>
            </a:p>
          </p:txBody>
        </p:sp>
      </p:grpSp>
      <p:grpSp>
        <p:nvGrpSpPr>
          <p:cNvPr id="32" name="BAM read task 4 [editable group]"/>
          <p:cNvGrpSpPr/>
          <p:nvPr/>
        </p:nvGrpSpPr>
        <p:grpSpPr>
          <a:xfrm>
            <a:off x="7170420" y="1196340"/>
            <a:ext cx="609600" cy="464820"/>
            <a:chOff x="7170420" y="1196340"/>
            <a:chExt cx="609600" cy="464820"/>
          </a:xfrm>
        </p:grpSpPr>
        <p:sp>
          <p:nvSpPr>
            <p:cNvPr id="30" name="BAM read task 4"/>
            <p:cNvSpPr/>
            <p:nvPr/>
          </p:nvSpPr>
          <p:spPr>
            <a:xfrm>
              <a:off x="7170420" y="119634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M read task 4 / label"/>
            <p:cNvSpPr txBox="1"/>
            <p:nvPr/>
          </p:nvSpPr>
          <p:spPr>
            <a:xfrm>
              <a:off x="7216140" y="1219200"/>
              <a:ext cx="5181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Prep.</a:t>
              </a:r>
            </a:p>
            <a:p>
              <a:pPr algn="ctr">
                <a:lnSpc>
                  <a:spcPts val="1209"/>
                </a:lnSpc>
                <a:spcBef>
                  <a:spcPts val="0"/>
                </a:spcBef>
                <a:spcAft>
                  <a:spcPts val="0"/>
                </a:spcAft>
              </a:pPr>
              <a:r>
                <a:rPr sz="1080" b="0" i="0">
                  <a:solidFill>
                    <a:srgbClr val="172C36"/>
                  </a:solidFill>
                  <a:latin typeface="Arial"/>
                </a:rPr>
                <a:t>i+1</a:t>
              </a:r>
            </a:p>
          </p:txBody>
        </p:sp>
      </p:grpSp>
      <p:grpSp>
        <p:nvGrpSpPr>
          <p:cNvPr id="35" name="BAM read task 5 [editable group]"/>
          <p:cNvGrpSpPr/>
          <p:nvPr/>
        </p:nvGrpSpPr>
        <p:grpSpPr>
          <a:xfrm>
            <a:off x="7780020" y="1196340"/>
            <a:ext cx="1562100" cy="464820"/>
            <a:chOff x="7780020" y="1196340"/>
            <a:chExt cx="1562100" cy="464820"/>
          </a:xfrm>
        </p:grpSpPr>
        <p:sp>
          <p:nvSpPr>
            <p:cNvPr id="33" name="BAM read task 5"/>
            <p:cNvSpPr/>
            <p:nvPr/>
          </p:nvSpPr>
          <p:spPr>
            <a:xfrm>
              <a:off x="7780020" y="1196340"/>
              <a:ext cx="156210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M read task 5 / label"/>
            <p:cNvSpPr txBox="1"/>
            <p:nvPr/>
          </p:nvSpPr>
          <p:spPr>
            <a:xfrm>
              <a:off x="7825740" y="1219200"/>
              <a:ext cx="14706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Read i+2</a:t>
              </a:r>
            </a:p>
            <a:p>
              <a:pPr algn="ctr">
                <a:lnSpc>
                  <a:spcPts val="1209"/>
                </a:lnSpc>
                <a:spcBef>
                  <a:spcPts val="0"/>
                </a:spcBef>
                <a:spcAft>
                  <a:spcPts val="0"/>
                </a:spcAft>
              </a:pPr>
              <a:r>
                <a:rPr sz="1080" b="0" i="0">
                  <a:solidFill>
                    <a:srgbClr val="172C36"/>
                  </a:solidFill>
                  <a:latin typeface="Arial"/>
                </a:rPr>
                <a:t>→ A</a:t>
              </a:r>
            </a:p>
          </p:txBody>
        </p:sp>
      </p:grpSp>
      <p:grpSp>
        <p:nvGrpSpPr>
          <p:cNvPr id="38" name="BAM read task 6 [editable group]"/>
          <p:cNvGrpSpPr/>
          <p:nvPr/>
        </p:nvGrpSpPr>
        <p:grpSpPr>
          <a:xfrm>
            <a:off x="9342120" y="1196340"/>
            <a:ext cx="701040" cy="464820"/>
            <a:chOff x="9342120" y="1196340"/>
            <a:chExt cx="701040" cy="464820"/>
          </a:xfrm>
        </p:grpSpPr>
        <p:sp>
          <p:nvSpPr>
            <p:cNvPr id="36" name="BAM read task 6"/>
            <p:cNvSpPr/>
            <p:nvPr/>
          </p:nvSpPr>
          <p:spPr>
            <a:xfrm>
              <a:off x="9342120" y="1196340"/>
              <a:ext cx="701040" cy="46482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M read task 6 / label"/>
            <p:cNvSpPr txBox="1"/>
            <p:nvPr/>
          </p:nvSpPr>
          <p:spPr>
            <a:xfrm>
              <a:off x="9387840" y="1219200"/>
              <a:ext cx="60960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Wait</a:t>
              </a:r>
            </a:p>
          </p:txBody>
        </p:sp>
      </p:grpSp>
      <p:grpSp>
        <p:nvGrpSpPr>
          <p:cNvPr id="41" name="BAM read task 7 [editable group]"/>
          <p:cNvGrpSpPr/>
          <p:nvPr/>
        </p:nvGrpSpPr>
        <p:grpSpPr>
          <a:xfrm>
            <a:off x="10043160" y="1196340"/>
            <a:ext cx="1699260" cy="464820"/>
            <a:chOff x="10043160" y="1196340"/>
            <a:chExt cx="1699260" cy="464820"/>
          </a:xfrm>
        </p:grpSpPr>
        <p:sp>
          <p:nvSpPr>
            <p:cNvPr id="39" name="BAM read task 7"/>
            <p:cNvSpPr/>
            <p:nvPr/>
          </p:nvSpPr>
          <p:spPr>
            <a:xfrm>
              <a:off x="10043160" y="1196340"/>
              <a:ext cx="16992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M read task 7 / label"/>
            <p:cNvSpPr txBox="1"/>
            <p:nvPr/>
          </p:nvSpPr>
          <p:spPr>
            <a:xfrm>
              <a:off x="10088880" y="1219200"/>
              <a:ext cx="160782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Post-process</a:t>
              </a:r>
            </a:p>
            <a:p>
              <a:pPr algn="ctr">
                <a:lnSpc>
                  <a:spcPts val="1209"/>
                </a:lnSpc>
                <a:spcBef>
                  <a:spcPts val="0"/>
                </a:spcBef>
                <a:spcAft>
                  <a:spcPts val="0"/>
                </a:spcAft>
              </a:pPr>
              <a:r>
                <a:rPr sz="1080" b="0" i="0">
                  <a:solidFill>
                    <a:srgbClr val="172C36"/>
                  </a:solidFill>
                  <a:latin typeface="Arial"/>
                </a:rPr>
                <a:t>i+1</a:t>
              </a:r>
            </a:p>
          </p:txBody>
        </p:sp>
      </p:grpSp>
      <p:grpSp>
        <p:nvGrpSpPr>
          <p:cNvPr id="44" name="BAM read CPE kernel 0 [editable group]"/>
          <p:cNvGrpSpPr/>
          <p:nvPr/>
        </p:nvGrpSpPr>
        <p:grpSpPr>
          <a:xfrm>
            <a:off x="3665220" y="2072640"/>
            <a:ext cx="2263140" cy="472440"/>
            <a:chOff x="3665220" y="2072640"/>
            <a:chExt cx="2263140" cy="472440"/>
          </a:xfrm>
        </p:grpSpPr>
        <p:sp>
          <p:nvSpPr>
            <p:cNvPr id="42" name="BAM read CPE kernel 0"/>
            <p:cNvSpPr/>
            <p:nvPr/>
          </p:nvSpPr>
          <p:spPr>
            <a:xfrm>
              <a:off x="3665220" y="207264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M read CPE kernel 0 / label"/>
            <p:cNvSpPr txBox="1"/>
            <p:nvPr/>
          </p:nvSpPr>
          <p:spPr>
            <a:xfrm>
              <a:off x="3710940" y="2095499"/>
              <a:ext cx="2171700" cy="4267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Decode + parse + op</a:t>
              </a:r>
            </a:p>
            <a:p>
              <a:pPr algn="ctr">
                <a:lnSpc>
                  <a:spcPts val="1344"/>
                </a:lnSpc>
                <a:spcBef>
                  <a:spcPts val="0"/>
                </a:spcBef>
                <a:spcAft>
                  <a:spcPts val="0"/>
                </a:spcAft>
              </a:pPr>
              <a:r>
                <a:rPr sz="1200" b="1" i="0">
                  <a:solidFill>
                    <a:srgbClr val="172C36"/>
                  </a:solidFill>
                  <a:latin typeface="Arial"/>
                </a:rPr>
                <a:t>batch i / A</a:t>
              </a:r>
            </a:p>
          </p:txBody>
        </p:sp>
      </p:grpSp>
      <p:cxnSp>
        <p:nvCxnSpPr>
          <p:cNvPr id="45" name="BAM read launch 0 / segment 0"/>
          <p:cNvCxnSpPr/>
          <p:nvPr/>
        </p:nvCxnSpPr>
        <p:spPr>
          <a:xfrm>
            <a:off x="366522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BAM read launch label 0"/>
          <p:cNvSpPr txBox="1"/>
          <p:nvPr/>
        </p:nvSpPr>
        <p:spPr>
          <a:xfrm>
            <a:off x="3718560" y="1783080"/>
            <a:ext cx="64770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launch</a:t>
            </a:r>
          </a:p>
        </p:txBody>
      </p:sp>
      <p:cxnSp>
        <p:nvCxnSpPr>
          <p:cNvPr id="47" name="BAM read completion 0 / segment 0"/>
          <p:cNvCxnSpPr/>
          <p:nvPr/>
        </p:nvCxnSpPr>
        <p:spPr>
          <a:xfrm flipV="1">
            <a:off x="592836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BAM read completion label 0"/>
          <p:cNvSpPr txBox="1"/>
          <p:nvPr/>
        </p:nvSpPr>
        <p:spPr>
          <a:xfrm>
            <a:off x="5966460" y="1790700"/>
            <a:ext cx="105918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join / validate</a:t>
            </a:r>
          </a:p>
        </p:txBody>
      </p:sp>
      <p:grpSp>
        <p:nvGrpSpPr>
          <p:cNvPr id="51" name="BAM read CPE kernel 1 [editable group]"/>
          <p:cNvGrpSpPr/>
          <p:nvPr/>
        </p:nvGrpSpPr>
        <p:grpSpPr>
          <a:xfrm>
            <a:off x="7780020" y="2072640"/>
            <a:ext cx="2263140" cy="472440"/>
            <a:chOff x="7780020" y="2072640"/>
            <a:chExt cx="2263140" cy="472440"/>
          </a:xfrm>
        </p:grpSpPr>
        <p:sp>
          <p:nvSpPr>
            <p:cNvPr id="49" name="BAM read CPE kernel 1"/>
            <p:cNvSpPr/>
            <p:nvPr/>
          </p:nvSpPr>
          <p:spPr>
            <a:xfrm>
              <a:off x="7780020" y="207264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M read CPE kernel 1 / label"/>
            <p:cNvSpPr txBox="1"/>
            <p:nvPr/>
          </p:nvSpPr>
          <p:spPr>
            <a:xfrm>
              <a:off x="7825740" y="2095499"/>
              <a:ext cx="2171700" cy="4267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Decode + parse + op</a:t>
              </a:r>
            </a:p>
            <a:p>
              <a:pPr algn="ctr">
                <a:lnSpc>
                  <a:spcPts val="1344"/>
                </a:lnSpc>
                <a:spcBef>
                  <a:spcPts val="0"/>
                </a:spcBef>
                <a:spcAft>
                  <a:spcPts val="0"/>
                </a:spcAft>
              </a:pPr>
              <a:r>
                <a:rPr sz="1200" b="1" i="0">
                  <a:solidFill>
                    <a:srgbClr val="172C36"/>
                  </a:solidFill>
                  <a:latin typeface="Arial"/>
                </a:rPr>
                <a:t>batch i+1 / B</a:t>
              </a:r>
            </a:p>
          </p:txBody>
        </p:sp>
      </p:grpSp>
      <p:cxnSp>
        <p:nvCxnSpPr>
          <p:cNvPr id="52" name="BAM read launch 1 / segment 0"/>
          <p:cNvCxnSpPr/>
          <p:nvPr/>
        </p:nvCxnSpPr>
        <p:spPr>
          <a:xfrm>
            <a:off x="778002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BAM read launch label 1"/>
          <p:cNvSpPr txBox="1"/>
          <p:nvPr/>
        </p:nvSpPr>
        <p:spPr>
          <a:xfrm>
            <a:off x="7833360" y="1783080"/>
            <a:ext cx="64770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launch</a:t>
            </a:r>
          </a:p>
        </p:txBody>
      </p:sp>
      <p:cxnSp>
        <p:nvCxnSpPr>
          <p:cNvPr id="54" name="BAM read completion 1 / segment 0"/>
          <p:cNvCxnSpPr/>
          <p:nvPr/>
        </p:nvCxnSpPr>
        <p:spPr>
          <a:xfrm flipV="1">
            <a:off x="1004316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BAM read completion label 1"/>
          <p:cNvSpPr txBox="1"/>
          <p:nvPr/>
        </p:nvSpPr>
        <p:spPr>
          <a:xfrm>
            <a:off x="10081260" y="1790700"/>
            <a:ext cx="105918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join / validate</a:t>
            </a:r>
          </a:p>
        </p:txBody>
      </p:sp>
      <p:cxnSp>
        <p:nvCxnSpPr>
          <p:cNvPr id="56" name="BAM read overlap bracket / segment 0"/>
          <p:cNvCxnSpPr/>
          <p:nvPr/>
        </p:nvCxnSpPr>
        <p:spPr>
          <a:xfrm>
            <a:off x="3665220" y="26289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57" name="BAM read overlap bracket / segment 1"/>
          <p:cNvCxnSpPr/>
          <p:nvPr/>
        </p:nvCxnSpPr>
        <p:spPr>
          <a:xfrm>
            <a:off x="3665220" y="2682240"/>
            <a:ext cx="22631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58" name="BAM read overlap bracket / segment 2"/>
          <p:cNvCxnSpPr/>
          <p:nvPr/>
        </p:nvCxnSpPr>
        <p:spPr>
          <a:xfrm flipV="1">
            <a:off x="5928360" y="26289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59" name="BAM read overlap bracket / label"/>
          <p:cNvSpPr txBox="1"/>
          <p:nvPr/>
        </p:nvSpPr>
        <p:spPr>
          <a:xfrm>
            <a:off x="3665220" y="2727960"/>
            <a:ext cx="2263140" cy="1752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57834A"/>
                </a:solidFill>
                <a:latin typeface="Arial"/>
              </a:rPr>
              <a:t>Input + CPE work</a:t>
            </a:r>
          </a:p>
        </p:txBody>
      </p:sp>
      <p:sp>
        <p:nvSpPr>
          <p:cNvPr id="60" name="BAM read dependency note"/>
          <p:cNvSpPr txBox="1"/>
          <p:nvPr/>
        </p:nvSpPr>
        <p:spPr>
          <a:xfrm>
            <a:off x="6591300" y="2644140"/>
            <a:ext cx="5151120" cy="358140"/>
          </a:xfrm>
          <a:prstGeom prst="rect">
            <a:avLst/>
          </a:prstGeom>
          <a:noFill/>
        </p:spPr>
        <p:txBody>
          <a:bodyPr wrap="none" lIns="0" rIns="0" tIns="0" bIns="0" anchor="ctr">
            <a:noAutofit/>
          </a:bodyPr>
          <a:lstStyle/>
          <a:p>
            <a:pPr algn="r">
              <a:lnSpc>
                <a:spcPts val="1276"/>
              </a:lnSpc>
              <a:spcBef>
                <a:spcPts val="0"/>
              </a:spcBef>
              <a:spcAft>
                <a:spcPts val="0"/>
              </a:spcAft>
            </a:pPr>
            <a:r>
              <a:rPr sz="1140" b="0" i="0">
                <a:solidFill>
                  <a:srgbClr val="61727A"/>
                </a:solidFill>
                <a:latin typeface="Arial"/>
              </a:rPr>
              <a:t>Post-processing begins only after CPE completion.</a:t>
            </a:r>
          </a:p>
        </p:txBody>
      </p:sp>
      <p:sp>
        <p:nvSpPr>
          <p:cNvPr id="61" name="(b) BAM write: reuse buffers, overlap independent work"/>
          <p:cNvSpPr txBox="1"/>
          <p:nvPr/>
        </p:nvSpPr>
        <p:spPr>
          <a:xfrm>
            <a:off x="228600" y="347472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(b) BAM write: reuse buffers, overlap independent work</a:t>
            </a:r>
          </a:p>
        </p:txBody>
      </p:sp>
      <p:sp>
        <p:nvSpPr>
          <p:cNvPr id="62" name="BAM write buffers"/>
          <p:cNvSpPr/>
          <p:nvPr/>
        </p:nvSpPr>
        <p:spPr>
          <a:xfrm>
            <a:off x="228600" y="3939540"/>
            <a:ext cx="1981199" cy="2225040"/>
          </a:xfrm>
          <a:prstGeom prst="roundRect">
            <a:avLst>
              <a:gd name="adj" fmla="val 4615"/>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M write buffers / heading"/>
          <p:cNvSpPr txBox="1"/>
          <p:nvPr/>
        </p:nvSpPr>
        <p:spPr>
          <a:xfrm>
            <a:off x="342900" y="4015740"/>
            <a:ext cx="175260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Alternating buffers</a:t>
            </a:r>
          </a:p>
        </p:txBody>
      </p:sp>
      <p:grpSp>
        <p:nvGrpSpPr>
          <p:cNvPr id="66" name="BAM write buffer A [editable group]"/>
          <p:cNvGrpSpPr/>
          <p:nvPr/>
        </p:nvGrpSpPr>
        <p:grpSpPr>
          <a:xfrm>
            <a:off x="434340" y="4404360"/>
            <a:ext cx="1562100" cy="388620"/>
            <a:chOff x="434340" y="4404360"/>
            <a:chExt cx="1562100" cy="388620"/>
          </a:xfrm>
        </p:grpSpPr>
        <p:sp>
          <p:nvSpPr>
            <p:cNvPr id="64" name="BAM write buffer A"/>
            <p:cNvSpPr/>
            <p:nvPr/>
          </p:nvSpPr>
          <p:spPr>
            <a:xfrm>
              <a:off x="434340" y="4404360"/>
              <a:ext cx="1562100" cy="3886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M write buffer A / label"/>
            <p:cNvSpPr txBox="1"/>
            <p:nvPr/>
          </p:nvSpPr>
          <p:spPr>
            <a:xfrm>
              <a:off x="480060" y="4427220"/>
              <a:ext cx="1470660" cy="34290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A: batch i</a:t>
              </a:r>
            </a:p>
          </p:txBody>
        </p:sp>
      </p:grpSp>
      <p:grpSp>
        <p:nvGrpSpPr>
          <p:cNvPr id="69" name="BAM write buffer B [editable group]"/>
          <p:cNvGrpSpPr/>
          <p:nvPr/>
        </p:nvGrpSpPr>
        <p:grpSpPr>
          <a:xfrm>
            <a:off x="434340" y="4998720"/>
            <a:ext cx="1562100" cy="388620"/>
            <a:chOff x="434340" y="4998720"/>
            <a:chExt cx="1562100" cy="388620"/>
          </a:xfrm>
        </p:grpSpPr>
        <p:sp>
          <p:nvSpPr>
            <p:cNvPr id="67" name="BAM write buffer B"/>
            <p:cNvSpPr/>
            <p:nvPr/>
          </p:nvSpPr>
          <p:spPr>
            <a:xfrm>
              <a:off x="434340" y="4998720"/>
              <a:ext cx="1562100" cy="3886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M write buffer B / label"/>
            <p:cNvSpPr txBox="1"/>
            <p:nvPr/>
          </p:nvSpPr>
          <p:spPr>
            <a:xfrm>
              <a:off x="480060" y="5021580"/>
              <a:ext cx="1470660" cy="34290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B: batch i−1</a:t>
              </a:r>
            </a:p>
          </p:txBody>
        </p:sp>
      </p:grpSp>
      <p:sp>
        <p:nvSpPr>
          <p:cNvPr id="70" name="BAM write role"/>
          <p:cNvSpPr txBox="1"/>
          <p:nvPr/>
        </p:nvSpPr>
        <p:spPr>
          <a:xfrm>
            <a:off x="350520" y="5554980"/>
            <a:ext cx="1744980" cy="38862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Compressed output</a:t>
            </a:r>
          </a:p>
          <a:p>
            <a:pPr algn="ctr">
              <a:lnSpc>
                <a:spcPts val="1209"/>
              </a:lnSpc>
              <a:spcBef>
                <a:spcPts val="0"/>
              </a:spcBef>
              <a:spcAft>
                <a:spcPts val="0"/>
              </a:spcAft>
            </a:pPr>
            <a:r>
              <a:rPr sz="1080" b="0" i="0">
                <a:solidFill>
                  <a:srgbClr val="172C36"/>
                </a:solidFill>
                <a:latin typeface="Arial"/>
              </a:rPr>
              <a:t>Current / pending alternate</a:t>
            </a:r>
          </a:p>
        </p:txBody>
      </p:sp>
      <p:cxnSp>
        <p:nvCxnSpPr>
          <p:cNvPr id="71" name="BAM write time axis / segment 0"/>
          <p:cNvCxnSpPr/>
          <p:nvPr/>
        </p:nvCxnSpPr>
        <p:spPr>
          <a:xfrm>
            <a:off x="2994660" y="4198620"/>
            <a:ext cx="879348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2" name="BAM write time label"/>
          <p:cNvSpPr txBox="1"/>
          <p:nvPr/>
        </p:nvSpPr>
        <p:spPr>
          <a:xfrm>
            <a:off x="9890760" y="3916680"/>
            <a:ext cx="1851660" cy="190500"/>
          </a:xfrm>
          <a:prstGeom prst="rect">
            <a:avLst/>
          </a:prstGeom>
          <a:noFill/>
        </p:spPr>
        <p:txBody>
          <a:bodyPr wrap="none" lIns="0" rIns="0" tIns="0" bIns="0" anchor="ctr">
            <a:noAutofit/>
          </a:bodyPr>
          <a:lstStyle/>
          <a:p>
            <a:pPr algn="r">
              <a:lnSpc>
                <a:spcPts val="1209"/>
              </a:lnSpc>
              <a:spcBef>
                <a:spcPts val="0"/>
              </a:spcBef>
              <a:spcAft>
                <a:spcPts val="0"/>
              </a:spcAft>
            </a:pPr>
            <a:r>
              <a:rPr sz="1080" b="0" i="0">
                <a:solidFill>
                  <a:srgbClr val="61727A"/>
                </a:solidFill>
                <a:latin typeface="Arial"/>
              </a:rPr>
              <a:t>Time (schematic)</a:t>
            </a:r>
          </a:p>
        </p:txBody>
      </p:sp>
      <p:sp>
        <p:nvSpPr>
          <p:cNvPr id="73" name="BAM write MPE label"/>
          <p:cNvSpPr txBox="1"/>
          <p:nvPr/>
        </p:nvSpPr>
        <p:spPr>
          <a:xfrm>
            <a:off x="2324100" y="4648200"/>
            <a:ext cx="662940" cy="24384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MPE</a:t>
            </a:r>
          </a:p>
        </p:txBody>
      </p:sp>
      <p:sp>
        <p:nvSpPr>
          <p:cNvPr id="74" name="BAM write CPE label"/>
          <p:cNvSpPr txBox="1"/>
          <p:nvPr/>
        </p:nvSpPr>
        <p:spPr>
          <a:xfrm>
            <a:off x="2270760" y="5524500"/>
            <a:ext cx="731520" cy="24384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CPEs</a:t>
            </a:r>
          </a:p>
        </p:txBody>
      </p:sp>
      <p:sp>
        <p:nvSpPr>
          <p:cNvPr id="75" name="BAM write overlap band 481"/>
          <p:cNvSpPr/>
          <p:nvPr/>
        </p:nvSpPr>
        <p:spPr>
          <a:xfrm>
            <a:off x="3665220" y="439674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AM write overlap band 1021"/>
          <p:cNvSpPr/>
          <p:nvPr/>
        </p:nvSpPr>
        <p:spPr>
          <a:xfrm>
            <a:off x="7780020" y="439674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9" name="BAM write task 0 [editable group]"/>
          <p:cNvGrpSpPr/>
          <p:nvPr/>
        </p:nvGrpSpPr>
        <p:grpSpPr>
          <a:xfrm>
            <a:off x="3055620" y="4579620"/>
            <a:ext cx="609600" cy="464820"/>
            <a:chOff x="3055620" y="4579620"/>
            <a:chExt cx="609600" cy="464820"/>
          </a:xfrm>
        </p:grpSpPr>
        <p:sp>
          <p:nvSpPr>
            <p:cNvPr id="77" name="BAM write task 0"/>
            <p:cNvSpPr/>
            <p:nvPr/>
          </p:nvSpPr>
          <p:spPr>
            <a:xfrm>
              <a:off x="3055620" y="457962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AM write task 0 / label"/>
            <p:cNvSpPr txBox="1"/>
            <p:nvPr/>
          </p:nvSpPr>
          <p:spPr>
            <a:xfrm>
              <a:off x="3101340" y="4602480"/>
              <a:ext cx="5181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Prep.</a:t>
              </a:r>
            </a:p>
            <a:p>
              <a:pPr algn="ctr">
                <a:lnSpc>
                  <a:spcPts val="1209"/>
                </a:lnSpc>
                <a:spcBef>
                  <a:spcPts val="0"/>
                </a:spcBef>
                <a:spcAft>
                  <a:spcPts val="0"/>
                </a:spcAft>
              </a:pPr>
              <a:r>
                <a:rPr sz="1080" b="0" i="0">
                  <a:solidFill>
                    <a:srgbClr val="172C36"/>
                  </a:solidFill>
                  <a:latin typeface="Arial"/>
                </a:rPr>
                <a:t>i</a:t>
              </a:r>
            </a:p>
          </p:txBody>
        </p:sp>
      </p:grpSp>
      <p:grpSp>
        <p:nvGrpSpPr>
          <p:cNvPr id="82" name="BAM write task 1 [editable group]"/>
          <p:cNvGrpSpPr/>
          <p:nvPr/>
        </p:nvGrpSpPr>
        <p:grpSpPr>
          <a:xfrm>
            <a:off x="3665220" y="4579620"/>
            <a:ext cx="1143000" cy="464820"/>
            <a:chOff x="3665220" y="4579620"/>
            <a:chExt cx="1143000" cy="464820"/>
          </a:xfrm>
        </p:grpSpPr>
        <p:sp>
          <p:nvSpPr>
            <p:cNvPr id="80" name="BAM write task 1"/>
            <p:cNvSpPr/>
            <p:nvPr/>
          </p:nvSpPr>
          <p:spPr>
            <a:xfrm>
              <a:off x="3665220" y="4579620"/>
              <a:ext cx="1143000" cy="46482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AM write task 1 / label"/>
            <p:cNvSpPr txBox="1"/>
            <p:nvPr/>
          </p:nvSpPr>
          <p:spPr>
            <a:xfrm>
              <a:off x="3710940" y="4602480"/>
              <a:ext cx="10515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Write i−1</a:t>
              </a:r>
            </a:p>
            <a:p>
              <a:pPr algn="ctr">
                <a:lnSpc>
                  <a:spcPts val="1209"/>
                </a:lnSpc>
                <a:spcBef>
                  <a:spcPts val="0"/>
                </a:spcBef>
                <a:spcAft>
                  <a:spcPts val="0"/>
                </a:spcAft>
              </a:pPr>
              <a:r>
                <a:rPr sz="1080" b="0" i="0">
                  <a:solidFill>
                    <a:srgbClr val="172C36"/>
                  </a:solidFill>
                  <a:latin typeface="Arial"/>
                </a:rPr>
                <a:t>from B</a:t>
              </a:r>
            </a:p>
          </p:txBody>
        </p:sp>
      </p:grpSp>
      <p:grpSp>
        <p:nvGrpSpPr>
          <p:cNvPr id="85" name="BAM write task 2 [editable group]"/>
          <p:cNvGrpSpPr/>
          <p:nvPr/>
        </p:nvGrpSpPr>
        <p:grpSpPr>
          <a:xfrm>
            <a:off x="4808220" y="4579620"/>
            <a:ext cx="1120140" cy="464820"/>
            <a:chOff x="4808220" y="4579620"/>
            <a:chExt cx="1120140" cy="464820"/>
          </a:xfrm>
        </p:grpSpPr>
        <p:sp>
          <p:nvSpPr>
            <p:cNvPr id="83" name="BAM write task 2"/>
            <p:cNvSpPr/>
            <p:nvPr/>
          </p:nvSpPr>
          <p:spPr>
            <a:xfrm>
              <a:off x="4808220" y="4579620"/>
              <a:ext cx="112014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AM write task 2 / label"/>
            <p:cNvSpPr txBox="1"/>
            <p:nvPr/>
          </p:nvSpPr>
          <p:spPr>
            <a:xfrm>
              <a:off x="4853940" y="4602480"/>
              <a:ext cx="102870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Prefetch</a:t>
              </a:r>
            </a:p>
            <a:p>
              <a:pPr algn="ctr">
                <a:lnSpc>
                  <a:spcPts val="1209"/>
                </a:lnSpc>
                <a:spcBef>
                  <a:spcPts val="0"/>
                </a:spcBef>
                <a:spcAft>
                  <a:spcPts val="0"/>
                </a:spcAft>
              </a:pPr>
              <a:r>
                <a:rPr sz="1080" b="0" i="0">
                  <a:solidFill>
                    <a:srgbClr val="172C36"/>
                  </a:solidFill>
                  <a:latin typeface="Arial"/>
                </a:rPr>
                <a:t>(optional)</a:t>
              </a:r>
            </a:p>
          </p:txBody>
        </p:sp>
      </p:grpSp>
      <p:grpSp>
        <p:nvGrpSpPr>
          <p:cNvPr id="88" name="BAM write task 3 [editable group]"/>
          <p:cNvGrpSpPr/>
          <p:nvPr/>
        </p:nvGrpSpPr>
        <p:grpSpPr>
          <a:xfrm>
            <a:off x="5928360" y="4579620"/>
            <a:ext cx="1242060" cy="464820"/>
            <a:chOff x="5928360" y="4579620"/>
            <a:chExt cx="1242060" cy="464820"/>
          </a:xfrm>
        </p:grpSpPr>
        <p:sp>
          <p:nvSpPr>
            <p:cNvPr id="86" name="BAM write task 3"/>
            <p:cNvSpPr/>
            <p:nvPr/>
          </p:nvSpPr>
          <p:spPr>
            <a:xfrm>
              <a:off x="5928360" y="4579620"/>
              <a:ext cx="12420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AM write task 3 / label"/>
            <p:cNvSpPr txBox="1"/>
            <p:nvPr/>
          </p:nvSpPr>
          <p:spPr>
            <a:xfrm>
              <a:off x="5974080" y="4602480"/>
              <a:ext cx="115062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Join / validate</a:t>
              </a:r>
            </a:p>
            <a:p>
              <a:pPr algn="ctr">
                <a:lnSpc>
                  <a:spcPts val="1209"/>
                </a:lnSpc>
                <a:spcBef>
                  <a:spcPts val="0"/>
                </a:spcBef>
                <a:spcAft>
                  <a:spcPts val="0"/>
                </a:spcAft>
              </a:pPr>
              <a:r>
                <a:rPr sz="1080" b="0" i="0">
                  <a:solidFill>
                    <a:srgbClr val="172C36"/>
                  </a:solidFill>
                  <a:latin typeface="Arial"/>
                </a:rPr>
                <a:t>i</a:t>
              </a:r>
            </a:p>
          </p:txBody>
        </p:sp>
      </p:grpSp>
      <p:grpSp>
        <p:nvGrpSpPr>
          <p:cNvPr id="91" name="BAM write task 4 [editable group]"/>
          <p:cNvGrpSpPr/>
          <p:nvPr/>
        </p:nvGrpSpPr>
        <p:grpSpPr>
          <a:xfrm>
            <a:off x="7170420" y="4579620"/>
            <a:ext cx="609600" cy="464820"/>
            <a:chOff x="7170420" y="4579620"/>
            <a:chExt cx="609600" cy="464820"/>
          </a:xfrm>
        </p:grpSpPr>
        <p:sp>
          <p:nvSpPr>
            <p:cNvPr id="89" name="BAM write task 4"/>
            <p:cNvSpPr/>
            <p:nvPr/>
          </p:nvSpPr>
          <p:spPr>
            <a:xfrm>
              <a:off x="7170420" y="457962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AM write task 4 / label"/>
            <p:cNvSpPr txBox="1"/>
            <p:nvPr/>
          </p:nvSpPr>
          <p:spPr>
            <a:xfrm>
              <a:off x="7216140" y="4602480"/>
              <a:ext cx="5181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Prep.</a:t>
              </a:r>
            </a:p>
            <a:p>
              <a:pPr algn="ctr">
                <a:lnSpc>
                  <a:spcPts val="1209"/>
                </a:lnSpc>
                <a:spcBef>
                  <a:spcPts val="0"/>
                </a:spcBef>
                <a:spcAft>
                  <a:spcPts val="0"/>
                </a:spcAft>
              </a:pPr>
              <a:r>
                <a:rPr sz="1080" b="0" i="0">
                  <a:solidFill>
                    <a:srgbClr val="172C36"/>
                  </a:solidFill>
                  <a:latin typeface="Arial"/>
                </a:rPr>
                <a:t>i+1</a:t>
              </a:r>
            </a:p>
          </p:txBody>
        </p:sp>
      </p:grpSp>
      <p:grpSp>
        <p:nvGrpSpPr>
          <p:cNvPr id="94" name="BAM write task 5 [editable group]"/>
          <p:cNvGrpSpPr/>
          <p:nvPr/>
        </p:nvGrpSpPr>
        <p:grpSpPr>
          <a:xfrm>
            <a:off x="7780020" y="4579620"/>
            <a:ext cx="1143000" cy="464820"/>
            <a:chOff x="7780020" y="4579620"/>
            <a:chExt cx="1143000" cy="464820"/>
          </a:xfrm>
        </p:grpSpPr>
        <p:sp>
          <p:nvSpPr>
            <p:cNvPr id="92" name="BAM write task 5"/>
            <p:cNvSpPr/>
            <p:nvPr/>
          </p:nvSpPr>
          <p:spPr>
            <a:xfrm>
              <a:off x="7780020" y="4579620"/>
              <a:ext cx="1143000" cy="46482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AM write task 5 / label"/>
            <p:cNvSpPr txBox="1"/>
            <p:nvPr/>
          </p:nvSpPr>
          <p:spPr>
            <a:xfrm>
              <a:off x="7825740" y="4602480"/>
              <a:ext cx="10515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Write i</a:t>
              </a:r>
            </a:p>
            <a:p>
              <a:pPr algn="ctr">
                <a:lnSpc>
                  <a:spcPts val="1209"/>
                </a:lnSpc>
                <a:spcBef>
                  <a:spcPts val="0"/>
                </a:spcBef>
                <a:spcAft>
                  <a:spcPts val="0"/>
                </a:spcAft>
              </a:pPr>
              <a:r>
                <a:rPr sz="1080" b="0" i="0">
                  <a:solidFill>
                    <a:srgbClr val="172C36"/>
                  </a:solidFill>
                  <a:latin typeface="Arial"/>
                </a:rPr>
                <a:t>from A</a:t>
              </a:r>
            </a:p>
          </p:txBody>
        </p:sp>
      </p:grpSp>
      <p:grpSp>
        <p:nvGrpSpPr>
          <p:cNvPr id="97" name="BAM write task 6 [editable group]"/>
          <p:cNvGrpSpPr/>
          <p:nvPr/>
        </p:nvGrpSpPr>
        <p:grpSpPr>
          <a:xfrm>
            <a:off x="8923020" y="4579620"/>
            <a:ext cx="1120140" cy="464820"/>
            <a:chOff x="8923020" y="4579620"/>
            <a:chExt cx="1120140" cy="464820"/>
          </a:xfrm>
        </p:grpSpPr>
        <p:sp>
          <p:nvSpPr>
            <p:cNvPr id="95" name="BAM write task 6"/>
            <p:cNvSpPr/>
            <p:nvPr/>
          </p:nvSpPr>
          <p:spPr>
            <a:xfrm>
              <a:off x="8923020" y="4579620"/>
              <a:ext cx="112014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AM write task 6 / label"/>
            <p:cNvSpPr txBox="1"/>
            <p:nvPr/>
          </p:nvSpPr>
          <p:spPr>
            <a:xfrm>
              <a:off x="8968740" y="4602480"/>
              <a:ext cx="102870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Prefetch</a:t>
              </a:r>
            </a:p>
            <a:p>
              <a:pPr algn="ctr">
                <a:lnSpc>
                  <a:spcPts val="1209"/>
                </a:lnSpc>
                <a:spcBef>
                  <a:spcPts val="0"/>
                </a:spcBef>
                <a:spcAft>
                  <a:spcPts val="0"/>
                </a:spcAft>
              </a:pPr>
              <a:r>
                <a:rPr sz="1080" b="0" i="0">
                  <a:solidFill>
                    <a:srgbClr val="172C36"/>
                  </a:solidFill>
                  <a:latin typeface="Arial"/>
                </a:rPr>
                <a:t>(optional)</a:t>
              </a:r>
            </a:p>
          </p:txBody>
        </p:sp>
      </p:grpSp>
      <p:grpSp>
        <p:nvGrpSpPr>
          <p:cNvPr id="100" name="BAM write task 7 [editable group]"/>
          <p:cNvGrpSpPr/>
          <p:nvPr/>
        </p:nvGrpSpPr>
        <p:grpSpPr>
          <a:xfrm>
            <a:off x="10043160" y="4579620"/>
            <a:ext cx="1699260" cy="464820"/>
            <a:chOff x="10043160" y="4579620"/>
            <a:chExt cx="1699260" cy="464820"/>
          </a:xfrm>
        </p:grpSpPr>
        <p:sp>
          <p:nvSpPr>
            <p:cNvPr id="98" name="BAM write task 7"/>
            <p:cNvSpPr/>
            <p:nvPr/>
          </p:nvSpPr>
          <p:spPr>
            <a:xfrm>
              <a:off x="10043160" y="4579620"/>
              <a:ext cx="16992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AM write task 7 / label"/>
            <p:cNvSpPr txBox="1"/>
            <p:nvPr/>
          </p:nvSpPr>
          <p:spPr>
            <a:xfrm>
              <a:off x="10088880" y="4602480"/>
              <a:ext cx="160782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Join / validate</a:t>
              </a:r>
            </a:p>
            <a:p>
              <a:pPr algn="ctr">
                <a:lnSpc>
                  <a:spcPts val="1209"/>
                </a:lnSpc>
                <a:spcBef>
                  <a:spcPts val="0"/>
                </a:spcBef>
                <a:spcAft>
                  <a:spcPts val="0"/>
                </a:spcAft>
              </a:pPr>
              <a:r>
                <a:rPr sz="1080" b="0" i="0">
                  <a:solidFill>
                    <a:srgbClr val="172C36"/>
                  </a:solidFill>
                  <a:latin typeface="Arial"/>
                </a:rPr>
                <a:t>i+1</a:t>
              </a:r>
            </a:p>
          </p:txBody>
        </p:sp>
      </p:grpSp>
      <p:grpSp>
        <p:nvGrpSpPr>
          <p:cNvPr id="103" name="BAM write CPE kernel 0 [editable group]"/>
          <p:cNvGrpSpPr/>
          <p:nvPr/>
        </p:nvGrpSpPr>
        <p:grpSpPr>
          <a:xfrm>
            <a:off x="3665220" y="5455920"/>
            <a:ext cx="2263140" cy="472440"/>
            <a:chOff x="3665220" y="5455920"/>
            <a:chExt cx="2263140" cy="472440"/>
          </a:xfrm>
        </p:grpSpPr>
        <p:sp>
          <p:nvSpPr>
            <p:cNvPr id="101" name="BAM write CPE kernel 0"/>
            <p:cNvSpPr/>
            <p:nvPr/>
          </p:nvSpPr>
          <p:spPr>
            <a:xfrm>
              <a:off x="3665220" y="545592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AM write CPE kernel 0 / label"/>
            <p:cNvSpPr txBox="1"/>
            <p:nvPr/>
          </p:nvSpPr>
          <p:spPr>
            <a:xfrm>
              <a:off x="3710940" y="5478780"/>
              <a:ext cx="2171700" cy="4267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Serialize + compress</a:t>
              </a:r>
            </a:p>
            <a:p>
              <a:pPr algn="ctr">
                <a:lnSpc>
                  <a:spcPts val="1344"/>
                </a:lnSpc>
                <a:spcBef>
                  <a:spcPts val="0"/>
                </a:spcBef>
                <a:spcAft>
                  <a:spcPts val="0"/>
                </a:spcAft>
              </a:pPr>
              <a:r>
                <a:rPr sz="1200" b="1" i="0">
                  <a:solidFill>
                    <a:srgbClr val="172C36"/>
                  </a:solidFill>
                  <a:latin typeface="Arial"/>
                </a:rPr>
                <a:t>batch i / A</a:t>
              </a:r>
            </a:p>
          </p:txBody>
        </p:sp>
      </p:grpSp>
      <p:cxnSp>
        <p:nvCxnSpPr>
          <p:cNvPr id="104" name="BAM write launch 0 / segment 0"/>
          <p:cNvCxnSpPr/>
          <p:nvPr/>
        </p:nvCxnSpPr>
        <p:spPr>
          <a:xfrm>
            <a:off x="366522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5" name="BAM write launch label 0"/>
          <p:cNvSpPr txBox="1"/>
          <p:nvPr/>
        </p:nvSpPr>
        <p:spPr>
          <a:xfrm>
            <a:off x="3718560" y="5166360"/>
            <a:ext cx="64770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launch</a:t>
            </a:r>
          </a:p>
        </p:txBody>
      </p:sp>
      <p:cxnSp>
        <p:nvCxnSpPr>
          <p:cNvPr id="106" name="BAM write completion 0 / segment 0"/>
          <p:cNvCxnSpPr/>
          <p:nvPr/>
        </p:nvCxnSpPr>
        <p:spPr>
          <a:xfrm flipV="1">
            <a:off x="592836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7" name="BAM write completion label 0"/>
          <p:cNvSpPr txBox="1"/>
          <p:nvPr/>
        </p:nvSpPr>
        <p:spPr>
          <a:xfrm>
            <a:off x="5966460" y="5173980"/>
            <a:ext cx="105918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complete</a:t>
            </a:r>
          </a:p>
        </p:txBody>
      </p:sp>
      <p:grpSp>
        <p:nvGrpSpPr>
          <p:cNvPr id="110" name="BAM write CPE kernel 1 [editable group]"/>
          <p:cNvGrpSpPr/>
          <p:nvPr/>
        </p:nvGrpSpPr>
        <p:grpSpPr>
          <a:xfrm>
            <a:off x="7780020" y="5455920"/>
            <a:ext cx="2263140" cy="472440"/>
            <a:chOff x="7780020" y="5455920"/>
            <a:chExt cx="2263140" cy="472440"/>
          </a:xfrm>
        </p:grpSpPr>
        <p:sp>
          <p:nvSpPr>
            <p:cNvPr id="108" name="BAM write CPE kernel 1"/>
            <p:cNvSpPr/>
            <p:nvPr/>
          </p:nvSpPr>
          <p:spPr>
            <a:xfrm>
              <a:off x="7780020" y="545592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AM write CPE kernel 1 / label"/>
            <p:cNvSpPr txBox="1"/>
            <p:nvPr/>
          </p:nvSpPr>
          <p:spPr>
            <a:xfrm>
              <a:off x="7825740" y="5478780"/>
              <a:ext cx="2171700" cy="4267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Serialize + compress</a:t>
              </a:r>
            </a:p>
            <a:p>
              <a:pPr algn="ctr">
                <a:lnSpc>
                  <a:spcPts val="1344"/>
                </a:lnSpc>
                <a:spcBef>
                  <a:spcPts val="0"/>
                </a:spcBef>
                <a:spcAft>
                  <a:spcPts val="0"/>
                </a:spcAft>
              </a:pPr>
              <a:r>
                <a:rPr sz="1200" b="1" i="0">
                  <a:solidFill>
                    <a:srgbClr val="172C36"/>
                  </a:solidFill>
                  <a:latin typeface="Arial"/>
                </a:rPr>
                <a:t>batch i+1 / B</a:t>
              </a:r>
            </a:p>
          </p:txBody>
        </p:sp>
      </p:grpSp>
      <p:cxnSp>
        <p:nvCxnSpPr>
          <p:cNvPr id="111" name="BAM write launch 1 / segment 0"/>
          <p:cNvCxnSpPr/>
          <p:nvPr/>
        </p:nvCxnSpPr>
        <p:spPr>
          <a:xfrm>
            <a:off x="778002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2" name="BAM write launch label 1"/>
          <p:cNvSpPr txBox="1"/>
          <p:nvPr/>
        </p:nvSpPr>
        <p:spPr>
          <a:xfrm>
            <a:off x="7833360" y="5166360"/>
            <a:ext cx="64770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launch</a:t>
            </a:r>
          </a:p>
        </p:txBody>
      </p:sp>
      <p:cxnSp>
        <p:nvCxnSpPr>
          <p:cNvPr id="113" name="BAM write completion 1 / segment 0"/>
          <p:cNvCxnSpPr/>
          <p:nvPr/>
        </p:nvCxnSpPr>
        <p:spPr>
          <a:xfrm flipV="1">
            <a:off x="1004316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4" name="BAM write completion label 1"/>
          <p:cNvSpPr txBox="1"/>
          <p:nvPr/>
        </p:nvSpPr>
        <p:spPr>
          <a:xfrm>
            <a:off x="10081260" y="5173980"/>
            <a:ext cx="105918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complete</a:t>
            </a:r>
          </a:p>
        </p:txBody>
      </p:sp>
      <p:cxnSp>
        <p:nvCxnSpPr>
          <p:cNvPr id="115" name="BAM write overlap bracket / segment 0"/>
          <p:cNvCxnSpPr/>
          <p:nvPr/>
        </p:nvCxnSpPr>
        <p:spPr>
          <a:xfrm>
            <a:off x="3665220" y="601218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16" name="BAM write overlap bracket / segment 1"/>
          <p:cNvCxnSpPr/>
          <p:nvPr/>
        </p:nvCxnSpPr>
        <p:spPr>
          <a:xfrm>
            <a:off x="3665220" y="6065520"/>
            <a:ext cx="22631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17" name="BAM write overlap bracket / segment 2"/>
          <p:cNvCxnSpPr/>
          <p:nvPr/>
        </p:nvCxnSpPr>
        <p:spPr>
          <a:xfrm flipV="1">
            <a:off x="5928360" y="601218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118" name="BAM write overlap bracket / label"/>
          <p:cNvSpPr txBox="1"/>
          <p:nvPr/>
        </p:nvSpPr>
        <p:spPr>
          <a:xfrm>
            <a:off x="3665220" y="6111240"/>
            <a:ext cx="2263140" cy="1752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57834A"/>
                </a:solidFill>
                <a:latin typeface="Arial"/>
              </a:rPr>
              <a:t>Output / prefetch + CPE work</a:t>
            </a:r>
          </a:p>
        </p:txBody>
      </p:sp>
      <p:sp>
        <p:nvSpPr>
          <p:cNvPr id="119" name="BAM write dependency note"/>
          <p:cNvSpPr txBox="1"/>
          <p:nvPr/>
        </p:nvSpPr>
        <p:spPr>
          <a:xfrm>
            <a:off x="6591300" y="6027420"/>
            <a:ext cx="5151120" cy="358140"/>
          </a:xfrm>
          <a:prstGeom prst="rect">
            <a:avLst/>
          </a:prstGeom>
          <a:noFill/>
        </p:spPr>
        <p:txBody>
          <a:bodyPr wrap="none" lIns="0" rIns="0" tIns="0" bIns="0" anchor="ctr">
            <a:noAutofit/>
          </a:bodyPr>
          <a:lstStyle/>
          <a:p>
            <a:pPr algn="r">
              <a:lnSpc>
                <a:spcPts val="1276"/>
              </a:lnSpc>
              <a:spcBef>
                <a:spcPts val="0"/>
              </a:spcBef>
              <a:spcAft>
                <a:spcPts val="0"/>
              </a:spcAft>
            </a:pPr>
            <a:r>
              <a:rPr sz="1140" b="0" i="0">
                <a:solidFill>
                  <a:srgbClr val="61727A"/>
                </a:solidFill>
                <a:latin typeface="Arial"/>
              </a:rPr>
              <a:t>Already packed BGZF payloads need compression only.</a:t>
            </a:r>
          </a:p>
        </p:txBody>
      </p:sp>
      <p:sp>
        <p:nvSpPr>
          <p:cNvPr id="120" name="Timeline scope"/>
          <p:cNvSpPr txBox="1"/>
          <p:nvPr/>
        </p:nvSpPr>
        <p:spPr>
          <a:xfrm>
            <a:off x="228600" y="6598920"/>
            <a:ext cx="11696700" cy="2057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61727A"/>
                </a:solidFill>
                <a:latin typeface="Arial"/>
              </a:rPr>
              <a:t>Each panel is a separate schedule. A core group executes one CPE kernel at a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Shared distributed reordering: six MPI ranks"/>
          <p:cNvSpPr txBox="1"/>
          <p:nvPr/>
        </p:nvSpPr>
        <p:spPr>
          <a:xfrm>
            <a:off x="228600" y="9144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(a) Shared distributed reordering: six MPI ranks</a:t>
            </a:r>
          </a:p>
        </p:txBody>
      </p:sp>
      <p:sp>
        <p:nvSpPr>
          <p:cNvPr id="3" name="Shared six-rank processing region"/>
          <p:cNvSpPr/>
          <p:nvPr/>
        </p:nvSpPr>
        <p:spPr>
          <a:xfrm>
            <a:off x="213360" y="434340"/>
            <a:ext cx="11765280" cy="3276600"/>
          </a:xfrm>
          <a:prstGeom prst="roundRect">
            <a:avLst>
              <a:gd name="adj" fmla="val 1860"/>
            </a:avLst>
          </a:prstGeom>
          <a:solidFill>
            <a:srgbClr val="FFFFFF"/>
          </a:solidFill>
          <a:ln w="13716">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ad / extract / band"/>
          <p:cNvSpPr/>
          <p:nvPr/>
        </p:nvSpPr>
        <p:spPr>
          <a:xfrm>
            <a:off x="358140" y="556260"/>
            <a:ext cx="2209800" cy="434340"/>
          </a:xfrm>
          <a:prstGeom prst="rect">
            <a:avLst/>
          </a:prstGeom>
          <a:solidFill>
            <a:srgbClr val="DFEED2"/>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ad / extract / title"/>
          <p:cNvSpPr txBox="1"/>
          <p:nvPr/>
        </p:nvSpPr>
        <p:spPr>
          <a:xfrm>
            <a:off x="403860" y="586740"/>
            <a:ext cx="2118360" cy="1981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Read / extract</a:t>
            </a:r>
          </a:p>
        </p:txBody>
      </p:sp>
      <p:sp>
        <p:nvSpPr>
          <p:cNvPr id="6" name="Read / extract / subtitle"/>
          <p:cNvSpPr txBox="1"/>
          <p:nvPr/>
        </p:nvSpPr>
        <p:spPr>
          <a:xfrm>
            <a:off x="403860" y="792480"/>
            <a:ext cx="2118360" cy="17526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CPE</a:t>
            </a:r>
          </a:p>
        </p:txBody>
      </p:sp>
      <p:sp>
        <p:nvSpPr>
          <p:cNvPr id="7" name="Local ordering / band"/>
          <p:cNvSpPr/>
          <p:nvPr/>
        </p:nvSpPr>
        <p:spPr>
          <a:xfrm>
            <a:off x="2819400" y="556260"/>
            <a:ext cx="1935480" cy="434340"/>
          </a:xfrm>
          <a:prstGeom prst="rect">
            <a:avLst/>
          </a:prstGeom>
          <a:solidFill>
            <a:srgbClr val="FFF7CE"/>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cal ordering / title"/>
          <p:cNvSpPr txBox="1"/>
          <p:nvPr/>
        </p:nvSpPr>
        <p:spPr>
          <a:xfrm>
            <a:off x="2865120" y="586740"/>
            <a:ext cx="1844040" cy="1981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Local ordering</a:t>
            </a:r>
          </a:p>
        </p:txBody>
      </p:sp>
      <p:sp>
        <p:nvSpPr>
          <p:cNvPr id="9" name="Local ordering / subtitle"/>
          <p:cNvSpPr txBox="1"/>
          <p:nvPr/>
        </p:nvSpPr>
        <p:spPr>
          <a:xfrm>
            <a:off x="2865120" y="792480"/>
            <a:ext cx="1844040" cy="17526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MPE</a:t>
            </a:r>
          </a:p>
        </p:txBody>
      </p:sp>
      <p:sp>
        <p:nvSpPr>
          <p:cNvPr id="10" name="Redistribute / band"/>
          <p:cNvSpPr/>
          <p:nvPr/>
        </p:nvSpPr>
        <p:spPr>
          <a:xfrm>
            <a:off x="4953000" y="556260"/>
            <a:ext cx="1371600" cy="434340"/>
          </a:xfrm>
          <a:prstGeom prst="rect">
            <a:avLst/>
          </a:prstGeom>
          <a:solidFill>
            <a:srgbClr val="D5EDF8"/>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distribute / title"/>
          <p:cNvSpPr txBox="1"/>
          <p:nvPr/>
        </p:nvSpPr>
        <p:spPr>
          <a:xfrm>
            <a:off x="4998720" y="586740"/>
            <a:ext cx="1280160" cy="1981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Redistribute</a:t>
            </a:r>
          </a:p>
        </p:txBody>
      </p:sp>
      <p:sp>
        <p:nvSpPr>
          <p:cNvPr id="12" name="Redistribute / subtitle"/>
          <p:cNvSpPr txBox="1"/>
          <p:nvPr/>
        </p:nvSpPr>
        <p:spPr>
          <a:xfrm>
            <a:off x="4998720" y="792480"/>
            <a:ext cx="1280160" cy="17526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by owner</a:t>
            </a:r>
          </a:p>
        </p:txBody>
      </p:sp>
      <p:sp>
        <p:nvSpPr>
          <p:cNvPr id="13" name="Received segments / band"/>
          <p:cNvSpPr/>
          <p:nvPr/>
        </p:nvSpPr>
        <p:spPr>
          <a:xfrm>
            <a:off x="6499860" y="556260"/>
            <a:ext cx="2270760" cy="434340"/>
          </a:xfrm>
          <a:prstGeom prst="rect">
            <a:avLst/>
          </a:prstGeom>
          <a:solidFill>
            <a:srgbClr val="D5EDF8"/>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eived segments / title"/>
          <p:cNvSpPr txBox="1"/>
          <p:nvPr/>
        </p:nvSpPr>
        <p:spPr>
          <a:xfrm>
            <a:off x="6545580" y="586740"/>
            <a:ext cx="2179320" cy="1981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Received segments</a:t>
            </a:r>
          </a:p>
        </p:txBody>
      </p:sp>
      <p:sp>
        <p:nvSpPr>
          <p:cNvPr id="15" name="Received segments / subtitle"/>
          <p:cNvSpPr txBox="1"/>
          <p:nvPr/>
        </p:nvSpPr>
        <p:spPr>
          <a:xfrm>
            <a:off x="6545580" y="792480"/>
            <a:ext cx="2179320" cy="17526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ordered within each segment</a:t>
            </a:r>
          </a:p>
        </p:txBody>
      </p:sp>
      <p:sp>
        <p:nvSpPr>
          <p:cNvPr id="16" name="Merge / BGZF output / band"/>
          <p:cNvSpPr/>
          <p:nvPr/>
        </p:nvSpPr>
        <p:spPr>
          <a:xfrm>
            <a:off x="9227820" y="556260"/>
            <a:ext cx="2598420" cy="434340"/>
          </a:xfrm>
          <a:prstGeom prst="rect">
            <a:avLst/>
          </a:prstGeom>
          <a:solidFill>
            <a:srgbClr val="DFEED2"/>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erge / BGZF output / title"/>
          <p:cNvSpPr txBox="1"/>
          <p:nvPr/>
        </p:nvSpPr>
        <p:spPr>
          <a:xfrm>
            <a:off x="9273540" y="586740"/>
            <a:ext cx="2506980" cy="1981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Merge / BGZF output</a:t>
            </a:r>
          </a:p>
        </p:txBody>
      </p:sp>
      <p:sp>
        <p:nvSpPr>
          <p:cNvPr id="18" name="Merge / BGZF output / subtitle"/>
          <p:cNvSpPr txBox="1"/>
          <p:nvPr/>
        </p:nvSpPr>
        <p:spPr>
          <a:xfrm>
            <a:off x="9273540" y="792480"/>
            <a:ext cx="2506980" cy="17526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MPE / CPE</a:t>
            </a:r>
          </a:p>
        </p:txBody>
      </p:sp>
      <p:sp>
        <p:nvSpPr>
          <p:cNvPr id="19" name="Source segment heading 0"/>
          <p:cNvSpPr txBox="1"/>
          <p:nvPr/>
        </p:nvSpPr>
        <p:spPr>
          <a:xfrm>
            <a:off x="6789420" y="1036320"/>
            <a:ext cx="259080" cy="16764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61727A"/>
                </a:solidFill>
                <a:latin typeface="Arial"/>
              </a:rPr>
              <a:t>s0</a:t>
            </a:r>
          </a:p>
        </p:txBody>
      </p:sp>
      <p:sp>
        <p:nvSpPr>
          <p:cNvPr id="20" name="Source segment heading 1"/>
          <p:cNvSpPr txBox="1"/>
          <p:nvPr/>
        </p:nvSpPr>
        <p:spPr>
          <a:xfrm>
            <a:off x="7109460" y="1036320"/>
            <a:ext cx="259080" cy="16764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61727A"/>
                </a:solidFill>
                <a:latin typeface="Arial"/>
              </a:rPr>
              <a:t>s1</a:t>
            </a:r>
          </a:p>
        </p:txBody>
      </p:sp>
      <p:sp>
        <p:nvSpPr>
          <p:cNvPr id="21" name="Source segment heading 2"/>
          <p:cNvSpPr txBox="1"/>
          <p:nvPr/>
        </p:nvSpPr>
        <p:spPr>
          <a:xfrm>
            <a:off x="7429500" y="1036320"/>
            <a:ext cx="259080" cy="16764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61727A"/>
                </a:solidFill>
                <a:latin typeface="Arial"/>
              </a:rPr>
              <a:t>s2</a:t>
            </a:r>
          </a:p>
        </p:txBody>
      </p:sp>
      <p:sp>
        <p:nvSpPr>
          <p:cNvPr id="22" name="Source segment heading 3"/>
          <p:cNvSpPr txBox="1"/>
          <p:nvPr/>
        </p:nvSpPr>
        <p:spPr>
          <a:xfrm>
            <a:off x="7749540" y="1036320"/>
            <a:ext cx="259080" cy="16764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61727A"/>
                </a:solidFill>
                <a:latin typeface="Arial"/>
              </a:rPr>
              <a:t>s3</a:t>
            </a:r>
          </a:p>
        </p:txBody>
      </p:sp>
      <p:sp>
        <p:nvSpPr>
          <p:cNvPr id="23" name="Source segment heading 4"/>
          <p:cNvSpPr txBox="1"/>
          <p:nvPr/>
        </p:nvSpPr>
        <p:spPr>
          <a:xfrm>
            <a:off x="8069579" y="1036320"/>
            <a:ext cx="259080" cy="16764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61727A"/>
                </a:solidFill>
                <a:latin typeface="Arial"/>
              </a:rPr>
              <a:t>s4</a:t>
            </a:r>
          </a:p>
        </p:txBody>
      </p:sp>
      <p:sp>
        <p:nvSpPr>
          <p:cNvPr id="24" name="Source segment heading 5"/>
          <p:cNvSpPr txBox="1"/>
          <p:nvPr/>
        </p:nvSpPr>
        <p:spPr>
          <a:xfrm>
            <a:off x="8389620" y="1036320"/>
            <a:ext cx="259080" cy="16764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61727A"/>
                </a:solidFill>
                <a:latin typeface="Arial"/>
              </a:rPr>
              <a:t>s5</a:t>
            </a:r>
          </a:p>
        </p:txBody>
      </p:sp>
      <p:sp>
        <p:nvSpPr>
          <p:cNvPr id="25" name="Source rank 0"/>
          <p:cNvSpPr txBox="1"/>
          <p:nvPr/>
        </p:nvSpPr>
        <p:spPr>
          <a:xfrm>
            <a:off x="358140" y="125730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r0</a:t>
            </a:r>
          </a:p>
        </p:txBody>
      </p:sp>
      <p:grpSp>
        <p:nvGrpSpPr>
          <p:cNvPr id="28" name="Unordered rank 0 / 0 [editable group]"/>
          <p:cNvGrpSpPr/>
          <p:nvPr/>
        </p:nvGrpSpPr>
        <p:grpSpPr>
          <a:xfrm>
            <a:off x="723900" y="1264920"/>
            <a:ext cx="259080" cy="213360"/>
            <a:chOff x="723900" y="1264920"/>
            <a:chExt cx="259080" cy="213360"/>
          </a:xfrm>
        </p:grpSpPr>
        <p:sp>
          <p:nvSpPr>
            <p:cNvPr id="26" name="Unordered rank 0 / 0"/>
            <p:cNvSpPr/>
            <p:nvPr/>
          </p:nvSpPr>
          <p:spPr>
            <a:xfrm>
              <a:off x="723900" y="12649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Unordered rank 0 / 0 / label"/>
            <p:cNvSpPr txBox="1"/>
            <p:nvPr/>
          </p:nvSpPr>
          <p:spPr>
            <a:xfrm>
              <a:off x="76962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grpSp>
        <p:nvGrpSpPr>
          <p:cNvPr id="31" name="Unordered rank 0 / 1 [editable group]"/>
          <p:cNvGrpSpPr/>
          <p:nvPr/>
        </p:nvGrpSpPr>
        <p:grpSpPr>
          <a:xfrm>
            <a:off x="1013460" y="1264920"/>
            <a:ext cx="259080" cy="213360"/>
            <a:chOff x="1013460" y="1264920"/>
            <a:chExt cx="259080" cy="213360"/>
          </a:xfrm>
        </p:grpSpPr>
        <p:sp>
          <p:nvSpPr>
            <p:cNvPr id="29" name="Unordered rank 0 / 1"/>
            <p:cNvSpPr/>
            <p:nvPr/>
          </p:nvSpPr>
          <p:spPr>
            <a:xfrm>
              <a:off x="1013460" y="12649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Unordered rank 0 / 1 / label"/>
            <p:cNvSpPr txBox="1"/>
            <p:nvPr/>
          </p:nvSpPr>
          <p:spPr>
            <a:xfrm>
              <a:off x="105918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grpSp>
        <p:nvGrpSpPr>
          <p:cNvPr id="34" name="Unordered rank 0 / 2 [editable group]"/>
          <p:cNvGrpSpPr/>
          <p:nvPr/>
        </p:nvGrpSpPr>
        <p:grpSpPr>
          <a:xfrm>
            <a:off x="1303020" y="1264920"/>
            <a:ext cx="259080" cy="213360"/>
            <a:chOff x="1303020" y="1264920"/>
            <a:chExt cx="259080" cy="213360"/>
          </a:xfrm>
        </p:grpSpPr>
        <p:sp>
          <p:nvSpPr>
            <p:cNvPr id="32" name="Unordered rank 0 / 2"/>
            <p:cNvSpPr/>
            <p:nvPr/>
          </p:nvSpPr>
          <p:spPr>
            <a:xfrm>
              <a:off x="1303020" y="12649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Unordered rank 0 / 2 / label"/>
            <p:cNvSpPr txBox="1"/>
            <p:nvPr/>
          </p:nvSpPr>
          <p:spPr>
            <a:xfrm>
              <a:off x="134874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grpSp>
        <p:nvGrpSpPr>
          <p:cNvPr id="37" name="Unordered rank 0 / 3 [editable group]"/>
          <p:cNvGrpSpPr/>
          <p:nvPr/>
        </p:nvGrpSpPr>
        <p:grpSpPr>
          <a:xfrm>
            <a:off x="1592580" y="1264920"/>
            <a:ext cx="259080" cy="213360"/>
            <a:chOff x="1592580" y="1264920"/>
            <a:chExt cx="259080" cy="213360"/>
          </a:xfrm>
        </p:grpSpPr>
        <p:sp>
          <p:nvSpPr>
            <p:cNvPr id="35" name="Unordered rank 0 / 3"/>
            <p:cNvSpPr/>
            <p:nvPr/>
          </p:nvSpPr>
          <p:spPr>
            <a:xfrm>
              <a:off x="1592580" y="12649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Unordered rank 0 / 3 / label"/>
            <p:cNvSpPr txBox="1"/>
            <p:nvPr/>
          </p:nvSpPr>
          <p:spPr>
            <a:xfrm>
              <a:off x="163830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40" name="Unordered rank 0 / 4 [editable group]"/>
          <p:cNvGrpSpPr/>
          <p:nvPr/>
        </p:nvGrpSpPr>
        <p:grpSpPr>
          <a:xfrm>
            <a:off x="1882139" y="1264920"/>
            <a:ext cx="259080" cy="213360"/>
            <a:chOff x="1882139" y="1264920"/>
            <a:chExt cx="259080" cy="213360"/>
          </a:xfrm>
        </p:grpSpPr>
        <p:sp>
          <p:nvSpPr>
            <p:cNvPr id="38" name="Unordered rank 0 / 4"/>
            <p:cNvSpPr/>
            <p:nvPr/>
          </p:nvSpPr>
          <p:spPr>
            <a:xfrm>
              <a:off x="1882139" y="12649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Unordered rank 0 / 4 / label"/>
            <p:cNvSpPr txBox="1"/>
            <p:nvPr/>
          </p:nvSpPr>
          <p:spPr>
            <a:xfrm>
              <a:off x="192786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grpSp>
        <p:nvGrpSpPr>
          <p:cNvPr id="43" name="Unordered rank 0 / 5 [editable group]"/>
          <p:cNvGrpSpPr/>
          <p:nvPr/>
        </p:nvGrpSpPr>
        <p:grpSpPr>
          <a:xfrm>
            <a:off x="2171700" y="1264920"/>
            <a:ext cx="259080" cy="213360"/>
            <a:chOff x="2171700" y="1264920"/>
            <a:chExt cx="259080" cy="213360"/>
          </a:xfrm>
        </p:grpSpPr>
        <p:sp>
          <p:nvSpPr>
            <p:cNvPr id="41" name="Unordered rank 0 / 5"/>
            <p:cNvSpPr/>
            <p:nvPr/>
          </p:nvSpPr>
          <p:spPr>
            <a:xfrm>
              <a:off x="2171700" y="12649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Unordered rank 0 / 5 / label"/>
            <p:cNvSpPr txBox="1"/>
            <p:nvPr/>
          </p:nvSpPr>
          <p:spPr>
            <a:xfrm>
              <a:off x="221742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cxnSp>
        <p:nvCxnSpPr>
          <p:cNvPr id="44" name="Local ordering rank 0 / segment 0"/>
          <p:cNvCxnSpPr/>
          <p:nvPr/>
        </p:nvCxnSpPr>
        <p:spPr>
          <a:xfrm>
            <a:off x="2476500" y="137160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7" name="Owner-ordered rank 0 / 0 [editable group]"/>
          <p:cNvGrpSpPr/>
          <p:nvPr/>
        </p:nvGrpSpPr>
        <p:grpSpPr>
          <a:xfrm>
            <a:off x="2895600" y="1264920"/>
            <a:ext cx="259080" cy="213360"/>
            <a:chOff x="2895600" y="1264920"/>
            <a:chExt cx="259080" cy="213360"/>
          </a:xfrm>
        </p:grpSpPr>
        <p:sp>
          <p:nvSpPr>
            <p:cNvPr id="45" name="Owner-ordered rank 0 / 0"/>
            <p:cNvSpPr/>
            <p:nvPr/>
          </p:nvSpPr>
          <p:spPr>
            <a:xfrm>
              <a:off x="2895600" y="12649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wner-ordered rank 0 / 0 / label"/>
            <p:cNvSpPr txBox="1"/>
            <p:nvPr/>
          </p:nvSpPr>
          <p:spPr>
            <a:xfrm>
              <a:off x="294132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50" name="Owner-ordered rank 0 / 1 [editable group]"/>
          <p:cNvGrpSpPr/>
          <p:nvPr/>
        </p:nvGrpSpPr>
        <p:grpSpPr>
          <a:xfrm>
            <a:off x="3185160" y="1264920"/>
            <a:ext cx="259080" cy="213360"/>
            <a:chOff x="3185160" y="1264920"/>
            <a:chExt cx="259080" cy="213360"/>
          </a:xfrm>
        </p:grpSpPr>
        <p:sp>
          <p:nvSpPr>
            <p:cNvPr id="48" name="Owner-ordered rank 0 / 1"/>
            <p:cNvSpPr/>
            <p:nvPr/>
          </p:nvSpPr>
          <p:spPr>
            <a:xfrm>
              <a:off x="3185160" y="12649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wner-ordered rank 0 / 1 / label"/>
            <p:cNvSpPr txBox="1"/>
            <p:nvPr/>
          </p:nvSpPr>
          <p:spPr>
            <a:xfrm>
              <a:off x="323088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grpSp>
        <p:nvGrpSpPr>
          <p:cNvPr id="53" name="Owner-ordered rank 0 / 2 [editable group]"/>
          <p:cNvGrpSpPr/>
          <p:nvPr/>
        </p:nvGrpSpPr>
        <p:grpSpPr>
          <a:xfrm>
            <a:off x="3474720" y="1264920"/>
            <a:ext cx="259080" cy="213360"/>
            <a:chOff x="3474720" y="1264920"/>
            <a:chExt cx="259080" cy="213360"/>
          </a:xfrm>
        </p:grpSpPr>
        <p:sp>
          <p:nvSpPr>
            <p:cNvPr id="51" name="Owner-ordered rank 0 / 2"/>
            <p:cNvSpPr/>
            <p:nvPr/>
          </p:nvSpPr>
          <p:spPr>
            <a:xfrm>
              <a:off x="3474720" y="12649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wner-ordered rank 0 / 2 / label"/>
            <p:cNvSpPr txBox="1"/>
            <p:nvPr/>
          </p:nvSpPr>
          <p:spPr>
            <a:xfrm>
              <a:off x="352044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grpSp>
        <p:nvGrpSpPr>
          <p:cNvPr id="56" name="Owner-ordered rank 0 / 3 [editable group]"/>
          <p:cNvGrpSpPr/>
          <p:nvPr/>
        </p:nvGrpSpPr>
        <p:grpSpPr>
          <a:xfrm>
            <a:off x="3764279" y="1264920"/>
            <a:ext cx="259080" cy="213360"/>
            <a:chOff x="3764279" y="1264920"/>
            <a:chExt cx="259080" cy="213360"/>
          </a:xfrm>
        </p:grpSpPr>
        <p:sp>
          <p:nvSpPr>
            <p:cNvPr id="54" name="Owner-ordered rank 0 / 3"/>
            <p:cNvSpPr/>
            <p:nvPr/>
          </p:nvSpPr>
          <p:spPr>
            <a:xfrm>
              <a:off x="3764279" y="12649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wner-ordered rank 0 / 3 / label"/>
            <p:cNvSpPr txBox="1"/>
            <p:nvPr/>
          </p:nvSpPr>
          <p:spPr>
            <a:xfrm>
              <a:off x="381000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grpSp>
        <p:nvGrpSpPr>
          <p:cNvPr id="59" name="Owner-ordered rank 0 / 4 [editable group]"/>
          <p:cNvGrpSpPr/>
          <p:nvPr/>
        </p:nvGrpSpPr>
        <p:grpSpPr>
          <a:xfrm>
            <a:off x="4053840" y="1264920"/>
            <a:ext cx="259080" cy="213360"/>
            <a:chOff x="4053840" y="1264920"/>
            <a:chExt cx="259080" cy="213360"/>
          </a:xfrm>
        </p:grpSpPr>
        <p:sp>
          <p:nvSpPr>
            <p:cNvPr id="57" name="Owner-ordered rank 0 / 4"/>
            <p:cNvSpPr/>
            <p:nvPr/>
          </p:nvSpPr>
          <p:spPr>
            <a:xfrm>
              <a:off x="4053840" y="12649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wner-ordered rank 0 / 4 / label"/>
            <p:cNvSpPr txBox="1"/>
            <p:nvPr/>
          </p:nvSpPr>
          <p:spPr>
            <a:xfrm>
              <a:off x="409956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grpSp>
        <p:nvGrpSpPr>
          <p:cNvPr id="62" name="Owner-ordered rank 0 / 5 [editable group]"/>
          <p:cNvGrpSpPr/>
          <p:nvPr/>
        </p:nvGrpSpPr>
        <p:grpSpPr>
          <a:xfrm>
            <a:off x="4343400" y="1264920"/>
            <a:ext cx="259080" cy="213360"/>
            <a:chOff x="4343400" y="1264920"/>
            <a:chExt cx="259080" cy="213360"/>
          </a:xfrm>
        </p:grpSpPr>
        <p:sp>
          <p:nvSpPr>
            <p:cNvPr id="60" name="Owner-ordered rank 0 / 5"/>
            <p:cNvSpPr/>
            <p:nvPr/>
          </p:nvSpPr>
          <p:spPr>
            <a:xfrm>
              <a:off x="4343400" y="12649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wner-ordered rank 0 / 5 / label"/>
            <p:cNvSpPr txBox="1"/>
            <p:nvPr/>
          </p:nvSpPr>
          <p:spPr>
            <a:xfrm>
              <a:off x="4389120" y="12877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sp>
        <p:nvSpPr>
          <p:cNvPr id="63" name="Destination rank 0"/>
          <p:cNvSpPr txBox="1"/>
          <p:nvPr/>
        </p:nvSpPr>
        <p:spPr>
          <a:xfrm>
            <a:off x="6438900" y="125730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r0</a:t>
            </a:r>
          </a:p>
        </p:txBody>
      </p:sp>
      <p:sp>
        <p:nvSpPr>
          <p:cNvPr id="64" name="Rank 0 segment from source 0"/>
          <p:cNvSpPr/>
          <p:nvPr/>
        </p:nvSpPr>
        <p:spPr>
          <a:xfrm>
            <a:off x="678942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Rank 0 segment from source 0 / records 0 / segment 0"/>
          <p:cNvCxnSpPr/>
          <p:nvPr/>
        </p:nvCxnSpPr>
        <p:spPr>
          <a:xfrm>
            <a:off x="683514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6" name="Rank 0 segment from source 0 / records 1 / segment 0"/>
          <p:cNvCxnSpPr/>
          <p:nvPr/>
        </p:nvCxnSpPr>
        <p:spPr>
          <a:xfrm>
            <a:off x="683514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67" name="Rank 0 segment from source 1"/>
          <p:cNvSpPr/>
          <p:nvPr/>
        </p:nvSpPr>
        <p:spPr>
          <a:xfrm>
            <a:off x="710946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Rank 0 segment from source 1 / records 0 / segment 0"/>
          <p:cNvCxnSpPr/>
          <p:nvPr/>
        </p:nvCxnSpPr>
        <p:spPr>
          <a:xfrm>
            <a:off x="715518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9" name="Rank 0 segment from source 1 / records 1 / segment 0"/>
          <p:cNvCxnSpPr/>
          <p:nvPr/>
        </p:nvCxnSpPr>
        <p:spPr>
          <a:xfrm>
            <a:off x="715518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0" name="Rank 0 segment from source 2"/>
          <p:cNvSpPr/>
          <p:nvPr/>
        </p:nvSpPr>
        <p:spPr>
          <a:xfrm>
            <a:off x="742950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Rank 0 segment from source 2 / records 0 / segment 0"/>
          <p:cNvCxnSpPr/>
          <p:nvPr/>
        </p:nvCxnSpPr>
        <p:spPr>
          <a:xfrm>
            <a:off x="7475220" y="13335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2" name="Rank 0 segment from source 2 / records 1 / segment 0"/>
          <p:cNvCxnSpPr/>
          <p:nvPr/>
        </p:nvCxnSpPr>
        <p:spPr>
          <a:xfrm>
            <a:off x="7475220" y="14020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3" name="Rank 0 segment from source 3"/>
          <p:cNvSpPr/>
          <p:nvPr/>
        </p:nvSpPr>
        <p:spPr>
          <a:xfrm>
            <a:off x="774954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Rank 0 segment from source 3 / records 0 / segment 0"/>
          <p:cNvCxnSpPr/>
          <p:nvPr/>
        </p:nvCxnSpPr>
        <p:spPr>
          <a:xfrm>
            <a:off x="779526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5" name="Rank 0 segment from source 3 / records 1 / segment 0"/>
          <p:cNvCxnSpPr/>
          <p:nvPr/>
        </p:nvCxnSpPr>
        <p:spPr>
          <a:xfrm>
            <a:off x="779526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6" name="Rank 0 segment from source 4"/>
          <p:cNvSpPr/>
          <p:nvPr/>
        </p:nvSpPr>
        <p:spPr>
          <a:xfrm>
            <a:off x="8069579"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Rank 0 segment from source 4 / records 0 / segment 0"/>
          <p:cNvCxnSpPr/>
          <p:nvPr/>
        </p:nvCxnSpPr>
        <p:spPr>
          <a:xfrm>
            <a:off x="811530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8" name="Rank 0 segment from source 4 / records 1 / segment 0"/>
          <p:cNvCxnSpPr/>
          <p:nvPr/>
        </p:nvCxnSpPr>
        <p:spPr>
          <a:xfrm>
            <a:off x="811530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9" name="Rank 0 segment from source 5"/>
          <p:cNvSpPr/>
          <p:nvPr/>
        </p:nvSpPr>
        <p:spPr>
          <a:xfrm>
            <a:off x="838962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Rank 0 segment from source 5 / records 0 / segment 0"/>
          <p:cNvCxnSpPr/>
          <p:nvPr/>
        </p:nvCxnSpPr>
        <p:spPr>
          <a:xfrm>
            <a:off x="843534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81" name="Rank 0 segment from source 5 / records 1 / segment 0"/>
          <p:cNvCxnSpPr/>
          <p:nvPr/>
        </p:nvCxnSpPr>
        <p:spPr>
          <a:xfrm>
            <a:off x="843534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82" name="Merge rank 0 / segment 0"/>
          <p:cNvCxnSpPr/>
          <p:nvPr/>
        </p:nvCxnSpPr>
        <p:spPr>
          <a:xfrm>
            <a:off x="8709660" y="137160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3" name="Rank 0 merged record group 0"/>
          <p:cNvSpPr/>
          <p:nvPr/>
        </p:nvSpPr>
        <p:spPr>
          <a:xfrm>
            <a:off x="933450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ank 0 merged record group 1"/>
          <p:cNvSpPr/>
          <p:nvPr/>
        </p:nvSpPr>
        <p:spPr>
          <a:xfrm>
            <a:off x="955548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ank 0 merged record group 2"/>
          <p:cNvSpPr/>
          <p:nvPr/>
        </p:nvSpPr>
        <p:spPr>
          <a:xfrm>
            <a:off x="977646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ank 0 merged record group 3"/>
          <p:cNvSpPr/>
          <p:nvPr/>
        </p:nvSpPr>
        <p:spPr>
          <a:xfrm>
            <a:off x="999744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ank 0 merged record group 4"/>
          <p:cNvSpPr/>
          <p:nvPr/>
        </p:nvSpPr>
        <p:spPr>
          <a:xfrm>
            <a:off x="1021842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ank 0 merged record group 5"/>
          <p:cNvSpPr/>
          <p:nvPr/>
        </p:nvSpPr>
        <p:spPr>
          <a:xfrm>
            <a:off x="1043940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mpress rank 0 / segment 0"/>
          <p:cNvCxnSpPr/>
          <p:nvPr/>
        </p:nvCxnSpPr>
        <p:spPr>
          <a:xfrm>
            <a:off x="10721340" y="137160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92" name="Rank body 0 [editable group]"/>
          <p:cNvGrpSpPr/>
          <p:nvPr/>
        </p:nvGrpSpPr>
        <p:grpSpPr>
          <a:xfrm>
            <a:off x="11079480" y="1264920"/>
            <a:ext cx="647700" cy="213360"/>
            <a:chOff x="11079480" y="1264920"/>
            <a:chExt cx="647700" cy="213360"/>
          </a:xfrm>
        </p:grpSpPr>
        <p:sp>
          <p:nvSpPr>
            <p:cNvPr id="90" name="Rank body 0"/>
            <p:cNvSpPr/>
            <p:nvPr/>
          </p:nvSpPr>
          <p:spPr>
            <a:xfrm>
              <a:off x="11079480" y="126492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ank body 0 / label"/>
            <p:cNvSpPr txBox="1"/>
            <p:nvPr/>
          </p:nvSpPr>
          <p:spPr>
            <a:xfrm>
              <a:off x="11125200" y="1287780"/>
              <a:ext cx="556260" cy="16764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body 0</a:t>
              </a:r>
            </a:p>
          </p:txBody>
        </p:sp>
      </p:grpSp>
      <p:sp>
        <p:nvSpPr>
          <p:cNvPr id="93" name="Source rank 1"/>
          <p:cNvSpPr txBox="1"/>
          <p:nvPr/>
        </p:nvSpPr>
        <p:spPr>
          <a:xfrm>
            <a:off x="358140" y="158496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r1</a:t>
            </a:r>
          </a:p>
        </p:txBody>
      </p:sp>
      <p:grpSp>
        <p:nvGrpSpPr>
          <p:cNvPr id="96" name="Unordered rank 1 / 0 [editable group]"/>
          <p:cNvGrpSpPr/>
          <p:nvPr/>
        </p:nvGrpSpPr>
        <p:grpSpPr>
          <a:xfrm>
            <a:off x="723900" y="1592580"/>
            <a:ext cx="259080" cy="213360"/>
            <a:chOff x="723900" y="1592580"/>
            <a:chExt cx="259080" cy="213360"/>
          </a:xfrm>
        </p:grpSpPr>
        <p:sp>
          <p:nvSpPr>
            <p:cNvPr id="94" name="Unordered rank 1 / 0"/>
            <p:cNvSpPr/>
            <p:nvPr/>
          </p:nvSpPr>
          <p:spPr>
            <a:xfrm>
              <a:off x="723900" y="159258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Unordered rank 1 / 0 / label"/>
            <p:cNvSpPr txBox="1"/>
            <p:nvPr/>
          </p:nvSpPr>
          <p:spPr>
            <a:xfrm>
              <a:off x="76962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grpSp>
        <p:nvGrpSpPr>
          <p:cNvPr id="99" name="Unordered rank 1 / 1 [editable group]"/>
          <p:cNvGrpSpPr/>
          <p:nvPr/>
        </p:nvGrpSpPr>
        <p:grpSpPr>
          <a:xfrm>
            <a:off x="1013460" y="1592580"/>
            <a:ext cx="259080" cy="213360"/>
            <a:chOff x="1013460" y="1592580"/>
            <a:chExt cx="259080" cy="213360"/>
          </a:xfrm>
        </p:grpSpPr>
        <p:sp>
          <p:nvSpPr>
            <p:cNvPr id="97" name="Unordered rank 1 / 1"/>
            <p:cNvSpPr/>
            <p:nvPr/>
          </p:nvSpPr>
          <p:spPr>
            <a:xfrm>
              <a:off x="1013460" y="159258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Unordered rank 1 / 1 / label"/>
            <p:cNvSpPr txBox="1"/>
            <p:nvPr/>
          </p:nvSpPr>
          <p:spPr>
            <a:xfrm>
              <a:off x="105918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grpSp>
        <p:nvGrpSpPr>
          <p:cNvPr id="102" name="Unordered rank 1 / 2 [editable group]"/>
          <p:cNvGrpSpPr/>
          <p:nvPr/>
        </p:nvGrpSpPr>
        <p:grpSpPr>
          <a:xfrm>
            <a:off x="1303020" y="1592580"/>
            <a:ext cx="259080" cy="213360"/>
            <a:chOff x="1303020" y="1592580"/>
            <a:chExt cx="259080" cy="213360"/>
          </a:xfrm>
        </p:grpSpPr>
        <p:sp>
          <p:nvSpPr>
            <p:cNvPr id="100" name="Unordered rank 1 / 2"/>
            <p:cNvSpPr/>
            <p:nvPr/>
          </p:nvSpPr>
          <p:spPr>
            <a:xfrm>
              <a:off x="1303020" y="159258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Unordered rank 1 / 2 / label"/>
            <p:cNvSpPr txBox="1"/>
            <p:nvPr/>
          </p:nvSpPr>
          <p:spPr>
            <a:xfrm>
              <a:off x="134874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grpSp>
        <p:nvGrpSpPr>
          <p:cNvPr id="105" name="Unordered rank 1 / 3 [editable group]"/>
          <p:cNvGrpSpPr/>
          <p:nvPr/>
        </p:nvGrpSpPr>
        <p:grpSpPr>
          <a:xfrm>
            <a:off x="1592580" y="1592580"/>
            <a:ext cx="259080" cy="213360"/>
            <a:chOff x="1592580" y="1592580"/>
            <a:chExt cx="259080" cy="213360"/>
          </a:xfrm>
        </p:grpSpPr>
        <p:sp>
          <p:nvSpPr>
            <p:cNvPr id="103" name="Unordered rank 1 / 3"/>
            <p:cNvSpPr/>
            <p:nvPr/>
          </p:nvSpPr>
          <p:spPr>
            <a:xfrm>
              <a:off x="1592580" y="159258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Unordered rank 1 / 3 / label"/>
            <p:cNvSpPr txBox="1"/>
            <p:nvPr/>
          </p:nvSpPr>
          <p:spPr>
            <a:xfrm>
              <a:off x="163830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grpSp>
        <p:nvGrpSpPr>
          <p:cNvPr id="108" name="Unordered rank 1 / 4 [editable group]"/>
          <p:cNvGrpSpPr/>
          <p:nvPr/>
        </p:nvGrpSpPr>
        <p:grpSpPr>
          <a:xfrm>
            <a:off x="1882139" y="1592580"/>
            <a:ext cx="259080" cy="213360"/>
            <a:chOff x="1882139" y="1592580"/>
            <a:chExt cx="259080" cy="213360"/>
          </a:xfrm>
        </p:grpSpPr>
        <p:sp>
          <p:nvSpPr>
            <p:cNvPr id="106" name="Unordered rank 1 / 4"/>
            <p:cNvSpPr/>
            <p:nvPr/>
          </p:nvSpPr>
          <p:spPr>
            <a:xfrm>
              <a:off x="1882139" y="159258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Unordered rank 1 / 4 / label"/>
            <p:cNvSpPr txBox="1"/>
            <p:nvPr/>
          </p:nvSpPr>
          <p:spPr>
            <a:xfrm>
              <a:off x="192786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111" name="Unordered rank 1 / 5 [editable group]"/>
          <p:cNvGrpSpPr/>
          <p:nvPr/>
        </p:nvGrpSpPr>
        <p:grpSpPr>
          <a:xfrm>
            <a:off x="2171700" y="1592580"/>
            <a:ext cx="259080" cy="213360"/>
            <a:chOff x="2171700" y="1592580"/>
            <a:chExt cx="259080" cy="213360"/>
          </a:xfrm>
        </p:grpSpPr>
        <p:sp>
          <p:nvSpPr>
            <p:cNvPr id="109" name="Unordered rank 1 / 5"/>
            <p:cNvSpPr/>
            <p:nvPr/>
          </p:nvSpPr>
          <p:spPr>
            <a:xfrm>
              <a:off x="2171700" y="159258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Unordered rank 1 / 5 / label"/>
            <p:cNvSpPr txBox="1"/>
            <p:nvPr/>
          </p:nvSpPr>
          <p:spPr>
            <a:xfrm>
              <a:off x="221742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cxnSp>
        <p:nvCxnSpPr>
          <p:cNvPr id="112" name="Local ordering rank 1 / segment 0"/>
          <p:cNvCxnSpPr/>
          <p:nvPr/>
        </p:nvCxnSpPr>
        <p:spPr>
          <a:xfrm>
            <a:off x="2476500" y="169926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5" name="Owner-ordered rank 1 / 0 [editable group]"/>
          <p:cNvGrpSpPr/>
          <p:nvPr/>
        </p:nvGrpSpPr>
        <p:grpSpPr>
          <a:xfrm>
            <a:off x="2895600" y="1592580"/>
            <a:ext cx="259080" cy="213360"/>
            <a:chOff x="2895600" y="1592580"/>
            <a:chExt cx="259080" cy="213360"/>
          </a:xfrm>
        </p:grpSpPr>
        <p:sp>
          <p:nvSpPr>
            <p:cNvPr id="113" name="Owner-ordered rank 1 / 0"/>
            <p:cNvSpPr/>
            <p:nvPr/>
          </p:nvSpPr>
          <p:spPr>
            <a:xfrm>
              <a:off x="2895600" y="159258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wner-ordered rank 1 / 0 / label"/>
            <p:cNvSpPr txBox="1"/>
            <p:nvPr/>
          </p:nvSpPr>
          <p:spPr>
            <a:xfrm>
              <a:off x="294132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118" name="Owner-ordered rank 1 / 1 [editable group]"/>
          <p:cNvGrpSpPr/>
          <p:nvPr/>
        </p:nvGrpSpPr>
        <p:grpSpPr>
          <a:xfrm>
            <a:off x="3185160" y="1592580"/>
            <a:ext cx="259080" cy="213360"/>
            <a:chOff x="3185160" y="1592580"/>
            <a:chExt cx="259080" cy="213360"/>
          </a:xfrm>
        </p:grpSpPr>
        <p:sp>
          <p:nvSpPr>
            <p:cNvPr id="116" name="Owner-ordered rank 1 / 1"/>
            <p:cNvSpPr/>
            <p:nvPr/>
          </p:nvSpPr>
          <p:spPr>
            <a:xfrm>
              <a:off x="3185160" y="159258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wner-ordered rank 1 / 1 / label"/>
            <p:cNvSpPr txBox="1"/>
            <p:nvPr/>
          </p:nvSpPr>
          <p:spPr>
            <a:xfrm>
              <a:off x="323088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grpSp>
        <p:nvGrpSpPr>
          <p:cNvPr id="121" name="Owner-ordered rank 1 / 2 [editable group]"/>
          <p:cNvGrpSpPr/>
          <p:nvPr/>
        </p:nvGrpSpPr>
        <p:grpSpPr>
          <a:xfrm>
            <a:off x="3474720" y="1592580"/>
            <a:ext cx="259080" cy="213360"/>
            <a:chOff x="3474720" y="1592580"/>
            <a:chExt cx="259080" cy="213360"/>
          </a:xfrm>
        </p:grpSpPr>
        <p:sp>
          <p:nvSpPr>
            <p:cNvPr id="119" name="Owner-ordered rank 1 / 2"/>
            <p:cNvSpPr/>
            <p:nvPr/>
          </p:nvSpPr>
          <p:spPr>
            <a:xfrm>
              <a:off x="3474720" y="159258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wner-ordered rank 1 / 2 / label"/>
            <p:cNvSpPr txBox="1"/>
            <p:nvPr/>
          </p:nvSpPr>
          <p:spPr>
            <a:xfrm>
              <a:off x="352044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grpSp>
        <p:nvGrpSpPr>
          <p:cNvPr id="124" name="Owner-ordered rank 1 / 3 [editable group]"/>
          <p:cNvGrpSpPr/>
          <p:nvPr/>
        </p:nvGrpSpPr>
        <p:grpSpPr>
          <a:xfrm>
            <a:off x="3764279" y="1592580"/>
            <a:ext cx="259080" cy="213360"/>
            <a:chOff x="3764279" y="1592580"/>
            <a:chExt cx="259080" cy="213360"/>
          </a:xfrm>
        </p:grpSpPr>
        <p:sp>
          <p:nvSpPr>
            <p:cNvPr id="122" name="Owner-ordered rank 1 / 3"/>
            <p:cNvSpPr/>
            <p:nvPr/>
          </p:nvSpPr>
          <p:spPr>
            <a:xfrm>
              <a:off x="3764279" y="159258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wner-ordered rank 1 / 3 / label"/>
            <p:cNvSpPr txBox="1"/>
            <p:nvPr/>
          </p:nvSpPr>
          <p:spPr>
            <a:xfrm>
              <a:off x="381000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grpSp>
        <p:nvGrpSpPr>
          <p:cNvPr id="127" name="Owner-ordered rank 1 / 4 [editable group]"/>
          <p:cNvGrpSpPr/>
          <p:nvPr/>
        </p:nvGrpSpPr>
        <p:grpSpPr>
          <a:xfrm>
            <a:off x="4053840" y="1592580"/>
            <a:ext cx="259080" cy="213360"/>
            <a:chOff x="4053840" y="1592580"/>
            <a:chExt cx="259080" cy="213360"/>
          </a:xfrm>
        </p:grpSpPr>
        <p:sp>
          <p:nvSpPr>
            <p:cNvPr id="125" name="Owner-ordered rank 1 / 4"/>
            <p:cNvSpPr/>
            <p:nvPr/>
          </p:nvSpPr>
          <p:spPr>
            <a:xfrm>
              <a:off x="4053840" y="159258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wner-ordered rank 1 / 4 / label"/>
            <p:cNvSpPr txBox="1"/>
            <p:nvPr/>
          </p:nvSpPr>
          <p:spPr>
            <a:xfrm>
              <a:off x="409956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grpSp>
        <p:nvGrpSpPr>
          <p:cNvPr id="130" name="Owner-ordered rank 1 / 5 [editable group]"/>
          <p:cNvGrpSpPr/>
          <p:nvPr/>
        </p:nvGrpSpPr>
        <p:grpSpPr>
          <a:xfrm>
            <a:off x="4343400" y="1592580"/>
            <a:ext cx="259080" cy="213360"/>
            <a:chOff x="4343400" y="1592580"/>
            <a:chExt cx="259080" cy="213360"/>
          </a:xfrm>
        </p:grpSpPr>
        <p:sp>
          <p:nvSpPr>
            <p:cNvPr id="128" name="Owner-ordered rank 1 / 5"/>
            <p:cNvSpPr/>
            <p:nvPr/>
          </p:nvSpPr>
          <p:spPr>
            <a:xfrm>
              <a:off x="4343400" y="159258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wner-ordered rank 1 / 5 / label"/>
            <p:cNvSpPr txBox="1"/>
            <p:nvPr/>
          </p:nvSpPr>
          <p:spPr>
            <a:xfrm>
              <a:off x="4389120" y="161544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sp>
        <p:nvSpPr>
          <p:cNvPr id="131" name="Destination rank 1"/>
          <p:cNvSpPr txBox="1"/>
          <p:nvPr/>
        </p:nvSpPr>
        <p:spPr>
          <a:xfrm>
            <a:off x="6438900" y="158496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r1</a:t>
            </a:r>
          </a:p>
        </p:txBody>
      </p:sp>
      <p:sp>
        <p:nvSpPr>
          <p:cNvPr id="132" name="Rank 1 segment from source 0"/>
          <p:cNvSpPr/>
          <p:nvPr/>
        </p:nvSpPr>
        <p:spPr>
          <a:xfrm>
            <a:off x="678942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Rank 1 segment from source 0 / records 0 / segment 0"/>
          <p:cNvCxnSpPr/>
          <p:nvPr/>
        </p:nvCxnSpPr>
        <p:spPr>
          <a:xfrm>
            <a:off x="683514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34" name="Rank 1 segment from source 0 / records 1 / segment 0"/>
          <p:cNvCxnSpPr/>
          <p:nvPr/>
        </p:nvCxnSpPr>
        <p:spPr>
          <a:xfrm>
            <a:off x="683514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5" name="Rank 1 segment from source 1"/>
          <p:cNvSpPr/>
          <p:nvPr/>
        </p:nvSpPr>
        <p:spPr>
          <a:xfrm>
            <a:off x="7109460" y="159258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Rank 1 segment from source 1 / records 0 / segment 0"/>
          <p:cNvCxnSpPr/>
          <p:nvPr/>
        </p:nvCxnSpPr>
        <p:spPr>
          <a:xfrm>
            <a:off x="715518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37" name="Rank 1 segment from source 1 / records 1 / segment 0"/>
          <p:cNvCxnSpPr/>
          <p:nvPr/>
        </p:nvCxnSpPr>
        <p:spPr>
          <a:xfrm>
            <a:off x="715518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8" name="Rank 1 segment from source 2"/>
          <p:cNvSpPr/>
          <p:nvPr/>
        </p:nvSpPr>
        <p:spPr>
          <a:xfrm>
            <a:off x="742950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9" name="Rank 1 segment from source 2 / records 0 / segment 0"/>
          <p:cNvCxnSpPr/>
          <p:nvPr/>
        </p:nvCxnSpPr>
        <p:spPr>
          <a:xfrm>
            <a:off x="7475220" y="166116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0" name="Rank 1 segment from source 2 / records 1 / segment 0"/>
          <p:cNvCxnSpPr/>
          <p:nvPr/>
        </p:nvCxnSpPr>
        <p:spPr>
          <a:xfrm>
            <a:off x="7475220" y="172974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1" name="Rank 1 segment from source 3"/>
          <p:cNvSpPr/>
          <p:nvPr/>
        </p:nvSpPr>
        <p:spPr>
          <a:xfrm>
            <a:off x="774954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Rank 1 segment from source 3 / records 0 / segment 0"/>
          <p:cNvCxnSpPr/>
          <p:nvPr/>
        </p:nvCxnSpPr>
        <p:spPr>
          <a:xfrm>
            <a:off x="779526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3" name="Rank 1 segment from source 3 / records 1 / segment 0"/>
          <p:cNvCxnSpPr/>
          <p:nvPr/>
        </p:nvCxnSpPr>
        <p:spPr>
          <a:xfrm>
            <a:off x="779526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4" name="Rank 1 segment from source 4"/>
          <p:cNvSpPr/>
          <p:nvPr/>
        </p:nvSpPr>
        <p:spPr>
          <a:xfrm>
            <a:off x="8069579"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5" name="Rank 1 segment from source 4 / records 0 / segment 0"/>
          <p:cNvCxnSpPr/>
          <p:nvPr/>
        </p:nvCxnSpPr>
        <p:spPr>
          <a:xfrm>
            <a:off x="811530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6" name="Rank 1 segment from source 4 / records 1 / segment 0"/>
          <p:cNvCxnSpPr/>
          <p:nvPr/>
        </p:nvCxnSpPr>
        <p:spPr>
          <a:xfrm>
            <a:off x="811530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7" name="Rank 1 segment from source 5"/>
          <p:cNvSpPr/>
          <p:nvPr/>
        </p:nvSpPr>
        <p:spPr>
          <a:xfrm>
            <a:off x="838962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8" name="Rank 1 segment from source 5 / records 0 / segment 0"/>
          <p:cNvCxnSpPr/>
          <p:nvPr/>
        </p:nvCxnSpPr>
        <p:spPr>
          <a:xfrm>
            <a:off x="843534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9" name="Rank 1 segment from source 5 / records 1 / segment 0"/>
          <p:cNvCxnSpPr/>
          <p:nvPr/>
        </p:nvCxnSpPr>
        <p:spPr>
          <a:xfrm>
            <a:off x="843534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50" name="Merge rank 1 / segment 0"/>
          <p:cNvCxnSpPr/>
          <p:nvPr/>
        </p:nvCxnSpPr>
        <p:spPr>
          <a:xfrm>
            <a:off x="8709660" y="169926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1" name="Rank 1 merged record group 0"/>
          <p:cNvSpPr/>
          <p:nvPr/>
        </p:nvSpPr>
        <p:spPr>
          <a:xfrm>
            <a:off x="933450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ank 1 merged record group 1"/>
          <p:cNvSpPr/>
          <p:nvPr/>
        </p:nvSpPr>
        <p:spPr>
          <a:xfrm>
            <a:off x="955548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ank 1 merged record group 2"/>
          <p:cNvSpPr/>
          <p:nvPr/>
        </p:nvSpPr>
        <p:spPr>
          <a:xfrm>
            <a:off x="977646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ank 1 merged record group 3"/>
          <p:cNvSpPr/>
          <p:nvPr/>
        </p:nvSpPr>
        <p:spPr>
          <a:xfrm>
            <a:off x="999744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ank 1 merged record group 4"/>
          <p:cNvSpPr/>
          <p:nvPr/>
        </p:nvSpPr>
        <p:spPr>
          <a:xfrm>
            <a:off x="1021842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ank 1 merged record group 5"/>
          <p:cNvSpPr/>
          <p:nvPr/>
        </p:nvSpPr>
        <p:spPr>
          <a:xfrm>
            <a:off x="1043940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7" name="Compress rank 1 / segment 0"/>
          <p:cNvCxnSpPr/>
          <p:nvPr/>
        </p:nvCxnSpPr>
        <p:spPr>
          <a:xfrm>
            <a:off x="10721340" y="169926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60" name="Rank body 1 [editable group]"/>
          <p:cNvGrpSpPr/>
          <p:nvPr/>
        </p:nvGrpSpPr>
        <p:grpSpPr>
          <a:xfrm>
            <a:off x="11079480" y="1592580"/>
            <a:ext cx="647700" cy="213360"/>
            <a:chOff x="11079480" y="1592580"/>
            <a:chExt cx="647700" cy="213360"/>
          </a:xfrm>
        </p:grpSpPr>
        <p:sp>
          <p:nvSpPr>
            <p:cNvPr id="158" name="Rank body 1"/>
            <p:cNvSpPr/>
            <p:nvPr/>
          </p:nvSpPr>
          <p:spPr>
            <a:xfrm>
              <a:off x="11079480" y="159258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ank body 1 / label"/>
            <p:cNvSpPr txBox="1"/>
            <p:nvPr/>
          </p:nvSpPr>
          <p:spPr>
            <a:xfrm>
              <a:off x="11125200" y="1615440"/>
              <a:ext cx="556260" cy="16764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body 1</a:t>
              </a:r>
            </a:p>
          </p:txBody>
        </p:sp>
      </p:grpSp>
      <p:sp>
        <p:nvSpPr>
          <p:cNvPr id="161" name="Source rank 2"/>
          <p:cNvSpPr txBox="1"/>
          <p:nvPr/>
        </p:nvSpPr>
        <p:spPr>
          <a:xfrm>
            <a:off x="358140" y="191262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r2</a:t>
            </a:r>
          </a:p>
        </p:txBody>
      </p:sp>
      <p:grpSp>
        <p:nvGrpSpPr>
          <p:cNvPr id="164" name="Unordered rank 2 / 0 [editable group]"/>
          <p:cNvGrpSpPr/>
          <p:nvPr/>
        </p:nvGrpSpPr>
        <p:grpSpPr>
          <a:xfrm>
            <a:off x="723900" y="1920240"/>
            <a:ext cx="259080" cy="213360"/>
            <a:chOff x="723900" y="1920240"/>
            <a:chExt cx="259080" cy="213360"/>
          </a:xfrm>
        </p:grpSpPr>
        <p:sp>
          <p:nvSpPr>
            <p:cNvPr id="162" name="Unordered rank 2 / 0"/>
            <p:cNvSpPr/>
            <p:nvPr/>
          </p:nvSpPr>
          <p:spPr>
            <a:xfrm>
              <a:off x="723900" y="192024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Unordered rank 2 / 0 / label"/>
            <p:cNvSpPr txBox="1"/>
            <p:nvPr/>
          </p:nvSpPr>
          <p:spPr>
            <a:xfrm>
              <a:off x="76962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grpSp>
        <p:nvGrpSpPr>
          <p:cNvPr id="167" name="Unordered rank 2 / 1 [editable group]"/>
          <p:cNvGrpSpPr/>
          <p:nvPr/>
        </p:nvGrpSpPr>
        <p:grpSpPr>
          <a:xfrm>
            <a:off x="1013460" y="1920240"/>
            <a:ext cx="259080" cy="213360"/>
            <a:chOff x="1013460" y="1920240"/>
            <a:chExt cx="259080" cy="213360"/>
          </a:xfrm>
        </p:grpSpPr>
        <p:sp>
          <p:nvSpPr>
            <p:cNvPr id="165" name="Unordered rank 2 / 1"/>
            <p:cNvSpPr/>
            <p:nvPr/>
          </p:nvSpPr>
          <p:spPr>
            <a:xfrm>
              <a:off x="1013460" y="192024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Unordered rank 2 / 1 / label"/>
            <p:cNvSpPr txBox="1"/>
            <p:nvPr/>
          </p:nvSpPr>
          <p:spPr>
            <a:xfrm>
              <a:off x="105918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170" name="Unordered rank 2 / 2 [editable group]"/>
          <p:cNvGrpSpPr/>
          <p:nvPr/>
        </p:nvGrpSpPr>
        <p:grpSpPr>
          <a:xfrm>
            <a:off x="1303020" y="1920240"/>
            <a:ext cx="259080" cy="213360"/>
            <a:chOff x="1303020" y="1920240"/>
            <a:chExt cx="259080" cy="213360"/>
          </a:xfrm>
        </p:grpSpPr>
        <p:sp>
          <p:nvSpPr>
            <p:cNvPr id="168" name="Unordered rank 2 / 2"/>
            <p:cNvSpPr/>
            <p:nvPr/>
          </p:nvSpPr>
          <p:spPr>
            <a:xfrm>
              <a:off x="1303020" y="192024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Unordered rank 2 / 2 / label"/>
            <p:cNvSpPr txBox="1"/>
            <p:nvPr/>
          </p:nvSpPr>
          <p:spPr>
            <a:xfrm>
              <a:off x="134874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grpSp>
        <p:nvGrpSpPr>
          <p:cNvPr id="173" name="Unordered rank 2 / 3 [editable group]"/>
          <p:cNvGrpSpPr/>
          <p:nvPr/>
        </p:nvGrpSpPr>
        <p:grpSpPr>
          <a:xfrm>
            <a:off x="1592580" y="1920240"/>
            <a:ext cx="259080" cy="213360"/>
            <a:chOff x="1592580" y="1920240"/>
            <a:chExt cx="259080" cy="213360"/>
          </a:xfrm>
        </p:grpSpPr>
        <p:sp>
          <p:nvSpPr>
            <p:cNvPr id="171" name="Unordered rank 2 / 3"/>
            <p:cNvSpPr/>
            <p:nvPr/>
          </p:nvSpPr>
          <p:spPr>
            <a:xfrm>
              <a:off x="1592580" y="192024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Unordered rank 2 / 3 / label"/>
            <p:cNvSpPr txBox="1"/>
            <p:nvPr/>
          </p:nvSpPr>
          <p:spPr>
            <a:xfrm>
              <a:off x="163830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grpSp>
        <p:nvGrpSpPr>
          <p:cNvPr id="176" name="Unordered rank 2 / 4 [editable group]"/>
          <p:cNvGrpSpPr/>
          <p:nvPr/>
        </p:nvGrpSpPr>
        <p:grpSpPr>
          <a:xfrm>
            <a:off x="1882139" y="1920240"/>
            <a:ext cx="259080" cy="213360"/>
            <a:chOff x="1882139" y="1920240"/>
            <a:chExt cx="259080" cy="213360"/>
          </a:xfrm>
        </p:grpSpPr>
        <p:sp>
          <p:nvSpPr>
            <p:cNvPr id="174" name="Unordered rank 2 / 4"/>
            <p:cNvSpPr/>
            <p:nvPr/>
          </p:nvSpPr>
          <p:spPr>
            <a:xfrm>
              <a:off x="1882139" y="192024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Unordered rank 2 / 4 / label"/>
            <p:cNvSpPr txBox="1"/>
            <p:nvPr/>
          </p:nvSpPr>
          <p:spPr>
            <a:xfrm>
              <a:off x="192786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grpSp>
        <p:nvGrpSpPr>
          <p:cNvPr id="179" name="Unordered rank 2 / 5 [editable group]"/>
          <p:cNvGrpSpPr/>
          <p:nvPr/>
        </p:nvGrpSpPr>
        <p:grpSpPr>
          <a:xfrm>
            <a:off x="2171700" y="1920240"/>
            <a:ext cx="259080" cy="213360"/>
            <a:chOff x="2171700" y="1920240"/>
            <a:chExt cx="259080" cy="213360"/>
          </a:xfrm>
        </p:grpSpPr>
        <p:sp>
          <p:nvSpPr>
            <p:cNvPr id="177" name="Unordered rank 2 / 5"/>
            <p:cNvSpPr/>
            <p:nvPr/>
          </p:nvSpPr>
          <p:spPr>
            <a:xfrm>
              <a:off x="2171700" y="192024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Unordered rank 2 / 5 / label"/>
            <p:cNvSpPr txBox="1"/>
            <p:nvPr/>
          </p:nvSpPr>
          <p:spPr>
            <a:xfrm>
              <a:off x="221742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cxnSp>
        <p:nvCxnSpPr>
          <p:cNvPr id="180" name="Local ordering rank 2 / segment 0"/>
          <p:cNvCxnSpPr/>
          <p:nvPr/>
        </p:nvCxnSpPr>
        <p:spPr>
          <a:xfrm>
            <a:off x="2476500" y="202692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83" name="Owner-ordered rank 2 / 0 [editable group]"/>
          <p:cNvGrpSpPr/>
          <p:nvPr/>
        </p:nvGrpSpPr>
        <p:grpSpPr>
          <a:xfrm>
            <a:off x="2895600" y="1920240"/>
            <a:ext cx="259080" cy="213360"/>
            <a:chOff x="2895600" y="1920240"/>
            <a:chExt cx="259080" cy="213360"/>
          </a:xfrm>
        </p:grpSpPr>
        <p:sp>
          <p:nvSpPr>
            <p:cNvPr id="181" name="Owner-ordered rank 2 / 0"/>
            <p:cNvSpPr/>
            <p:nvPr/>
          </p:nvSpPr>
          <p:spPr>
            <a:xfrm>
              <a:off x="2895600" y="192024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wner-ordered rank 2 / 0 / label"/>
            <p:cNvSpPr txBox="1"/>
            <p:nvPr/>
          </p:nvSpPr>
          <p:spPr>
            <a:xfrm>
              <a:off x="294132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186" name="Owner-ordered rank 2 / 1 [editable group]"/>
          <p:cNvGrpSpPr/>
          <p:nvPr/>
        </p:nvGrpSpPr>
        <p:grpSpPr>
          <a:xfrm>
            <a:off x="3185160" y="1920240"/>
            <a:ext cx="259080" cy="213360"/>
            <a:chOff x="3185160" y="1920240"/>
            <a:chExt cx="259080" cy="213360"/>
          </a:xfrm>
        </p:grpSpPr>
        <p:sp>
          <p:nvSpPr>
            <p:cNvPr id="184" name="Owner-ordered rank 2 / 1"/>
            <p:cNvSpPr/>
            <p:nvPr/>
          </p:nvSpPr>
          <p:spPr>
            <a:xfrm>
              <a:off x="3185160" y="192024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wner-ordered rank 2 / 1 / label"/>
            <p:cNvSpPr txBox="1"/>
            <p:nvPr/>
          </p:nvSpPr>
          <p:spPr>
            <a:xfrm>
              <a:off x="323088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grpSp>
        <p:nvGrpSpPr>
          <p:cNvPr id="189" name="Owner-ordered rank 2 / 2 [editable group]"/>
          <p:cNvGrpSpPr/>
          <p:nvPr/>
        </p:nvGrpSpPr>
        <p:grpSpPr>
          <a:xfrm>
            <a:off x="3474720" y="1920240"/>
            <a:ext cx="259080" cy="213360"/>
            <a:chOff x="3474720" y="1920240"/>
            <a:chExt cx="259080" cy="213360"/>
          </a:xfrm>
        </p:grpSpPr>
        <p:sp>
          <p:nvSpPr>
            <p:cNvPr id="187" name="Owner-ordered rank 2 / 2"/>
            <p:cNvSpPr/>
            <p:nvPr/>
          </p:nvSpPr>
          <p:spPr>
            <a:xfrm>
              <a:off x="3474720" y="192024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wner-ordered rank 2 / 2 / label"/>
            <p:cNvSpPr txBox="1"/>
            <p:nvPr/>
          </p:nvSpPr>
          <p:spPr>
            <a:xfrm>
              <a:off x="352044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grpSp>
        <p:nvGrpSpPr>
          <p:cNvPr id="192" name="Owner-ordered rank 2 / 3 [editable group]"/>
          <p:cNvGrpSpPr/>
          <p:nvPr/>
        </p:nvGrpSpPr>
        <p:grpSpPr>
          <a:xfrm>
            <a:off x="3764279" y="1920240"/>
            <a:ext cx="259080" cy="213360"/>
            <a:chOff x="3764279" y="1920240"/>
            <a:chExt cx="259080" cy="213360"/>
          </a:xfrm>
        </p:grpSpPr>
        <p:sp>
          <p:nvSpPr>
            <p:cNvPr id="190" name="Owner-ordered rank 2 / 3"/>
            <p:cNvSpPr/>
            <p:nvPr/>
          </p:nvSpPr>
          <p:spPr>
            <a:xfrm>
              <a:off x="3764279" y="192024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wner-ordered rank 2 / 3 / label"/>
            <p:cNvSpPr txBox="1"/>
            <p:nvPr/>
          </p:nvSpPr>
          <p:spPr>
            <a:xfrm>
              <a:off x="381000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grpSp>
        <p:nvGrpSpPr>
          <p:cNvPr id="195" name="Owner-ordered rank 2 / 4 [editable group]"/>
          <p:cNvGrpSpPr/>
          <p:nvPr/>
        </p:nvGrpSpPr>
        <p:grpSpPr>
          <a:xfrm>
            <a:off x="4053840" y="1920240"/>
            <a:ext cx="259080" cy="213360"/>
            <a:chOff x="4053840" y="1920240"/>
            <a:chExt cx="259080" cy="213360"/>
          </a:xfrm>
        </p:grpSpPr>
        <p:sp>
          <p:nvSpPr>
            <p:cNvPr id="193" name="Owner-ordered rank 2 / 4"/>
            <p:cNvSpPr/>
            <p:nvPr/>
          </p:nvSpPr>
          <p:spPr>
            <a:xfrm>
              <a:off x="4053840" y="192024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wner-ordered rank 2 / 4 / label"/>
            <p:cNvSpPr txBox="1"/>
            <p:nvPr/>
          </p:nvSpPr>
          <p:spPr>
            <a:xfrm>
              <a:off x="409956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grpSp>
        <p:nvGrpSpPr>
          <p:cNvPr id="198" name="Owner-ordered rank 2 / 5 [editable group]"/>
          <p:cNvGrpSpPr/>
          <p:nvPr/>
        </p:nvGrpSpPr>
        <p:grpSpPr>
          <a:xfrm>
            <a:off x="4343400" y="1920240"/>
            <a:ext cx="259080" cy="213360"/>
            <a:chOff x="4343400" y="1920240"/>
            <a:chExt cx="259080" cy="213360"/>
          </a:xfrm>
        </p:grpSpPr>
        <p:sp>
          <p:nvSpPr>
            <p:cNvPr id="196" name="Owner-ordered rank 2 / 5"/>
            <p:cNvSpPr/>
            <p:nvPr/>
          </p:nvSpPr>
          <p:spPr>
            <a:xfrm>
              <a:off x="4343400" y="192024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wner-ordered rank 2 / 5 / label"/>
            <p:cNvSpPr txBox="1"/>
            <p:nvPr/>
          </p:nvSpPr>
          <p:spPr>
            <a:xfrm>
              <a:off x="4389120" y="194310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sp>
        <p:nvSpPr>
          <p:cNvPr id="199" name="Destination rank 2"/>
          <p:cNvSpPr txBox="1"/>
          <p:nvPr/>
        </p:nvSpPr>
        <p:spPr>
          <a:xfrm>
            <a:off x="6438900" y="191262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r2</a:t>
            </a:r>
          </a:p>
        </p:txBody>
      </p:sp>
      <p:sp>
        <p:nvSpPr>
          <p:cNvPr id="200" name="Rank 2 segment from source 0"/>
          <p:cNvSpPr/>
          <p:nvPr/>
        </p:nvSpPr>
        <p:spPr>
          <a:xfrm>
            <a:off x="678942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1" name="Rank 2 segment from source 0 / records 0 / segment 0"/>
          <p:cNvCxnSpPr/>
          <p:nvPr/>
        </p:nvCxnSpPr>
        <p:spPr>
          <a:xfrm>
            <a:off x="683514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2" name="Rank 2 segment from source 0 / records 1 / segment 0"/>
          <p:cNvCxnSpPr/>
          <p:nvPr/>
        </p:nvCxnSpPr>
        <p:spPr>
          <a:xfrm>
            <a:off x="683514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3" name="Rank 2 segment from source 1"/>
          <p:cNvSpPr/>
          <p:nvPr/>
        </p:nvSpPr>
        <p:spPr>
          <a:xfrm>
            <a:off x="710946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4" name="Rank 2 segment from source 1 / records 0 / segment 0"/>
          <p:cNvCxnSpPr/>
          <p:nvPr/>
        </p:nvCxnSpPr>
        <p:spPr>
          <a:xfrm>
            <a:off x="715518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5" name="Rank 2 segment from source 1 / records 1 / segment 0"/>
          <p:cNvCxnSpPr/>
          <p:nvPr/>
        </p:nvCxnSpPr>
        <p:spPr>
          <a:xfrm>
            <a:off x="715518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6" name="Rank 2 segment from source 2"/>
          <p:cNvSpPr/>
          <p:nvPr/>
        </p:nvSpPr>
        <p:spPr>
          <a:xfrm>
            <a:off x="7429500" y="192024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7" name="Rank 2 segment from source 2 / records 0 / segment 0"/>
          <p:cNvCxnSpPr/>
          <p:nvPr/>
        </p:nvCxnSpPr>
        <p:spPr>
          <a:xfrm>
            <a:off x="7475220" y="1988819"/>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8" name="Rank 2 segment from source 2 / records 1 / segment 0"/>
          <p:cNvCxnSpPr/>
          <p:nvPr/>
        </p:nvCxnSpPr>
        <p:spPr>
          <a:xfrm>
            <a:off x="7475220" y="20574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9" name="Rank 2 segment from source 3"/>
          <p:cNvSpPr/>
          <p:nvPr/>
        </p:nvSpPr>
        <p:spPr>
          <a:xfrm>
            <a:off x="774954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0" name="Rank 2 segment from source 3 / records 0 / segment 0"/>
          <p:cNvCxnSpPr/>
          <p:nvPr/>
        </p:nvCxnSpPr>
        <p:spPr>
          <a:xfrm>
            <a:off x="779526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1" name="Rank 2 segment from source 3 / records 1 / segment 0"/>
          <p:cNvCxnSpPr/>
          <p:nvPr/>
        </p:nvCxnSpPr>
        <p:spPr>
          <a:xfrm>
            <a:off x="779526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2" name="Rank 2 segment from source 4"/>
          <p:cNvSpPr/>
          <p:nvPr/>
        </p:nvSpPr>
        <p:spPr>
          <a:xfrm>
            <a:off x="8069579"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3" name="Rank 2 segment from source 4 / records 0 / segment 0"/>
          <p:cNvCxnSpPr/>
          <p:nvPr/>
        </p:nvCxnSpPr>
        <p:spPr>
          <a:xfrm>
            <a:off x="811530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4" name="Rank 2 segment from source 4 / records 1 / segment 0"/>
          <p:cNvCxnSpPr/>
          <p:nvPr/>
        </p:nvCxnSpPr>
        <p:spPr>
          <a:xfrm>
            <a:off x="811530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5" name="Rank 2 segment from source 5"/>
          <p:cNvSpPr/>
          <p:nvPr/>
        </p:nvSpPr>
        <p:spPr>
          <a:xfrm>
            <a:off x="838962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6" name="Rank 2 segment from source 5 / records 0 / segment 0"/>
          <p:cNvCxnSpPr/>
          <p:nvPr/>
        </p:nvCxnSpPr>
        <p:spPr>
          <a:xfrm>
            <a:off x="843534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7" name="Rank 2 segment from source 5 / records 1 / segment 0"/>
          <p:cNvCxnSpPr/>
          <p:nvPr/>
        </p:nvCxnSpPr>
        <p:spPr>
          <a:xfrm>
            <a:off x="843534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8" name="Merge rank 2 / segment 0"/>
          <p:cNvCxnSpPr/>
          <p:nvPr/>
        </p:nvCxnSpPr>
        <p:spPr>
          <a:xfrm>
            <a:off x="8709660" y="202692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9" name="Rank 2 merged record group 0"/>
          <p:cNvSpPr/>
          <p:nvPr/>
        </p:nvSpPr>
        <p:spPr>
          <a:xfrm>
            <a:off x="933450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ank 2 merged record group 1"/>
          <p:cNvSpPr/>
          <p:nvPr/>
        </p:nvSpPr>
        <p:spPr>
          <a:xfrm>
            <a:off x="955548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ank 2 merged record group 2"/>
          <p:cNvSpPr/>
          <p:nvPr/>
        </p:nvSpPr>
        <p:spPr>
          <a:xfrm>
            <a:off x="977646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ank 2 merged record group 3"/>
          <p:cNvSpPr/>
          <p:nvPr/>
        </p:nvSpPr>
        <p:spPr>
          <a:xfrm>
            <a:off x="999744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ank 2 merged record group 4"/>
          <p:cNvSpPr/>
          <p:nvPr/>
        </p:nvSpPr>
        <p:spPr>
          <a:xfrm>
            <a:off x="1021842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ank 2 merged record group 5"/>
          <p:cNvSpPr/>
          <p:nvPr/>
        </p:nvSpPr>
        <p:spPr>
          <a:xfrm>
            <a:off x="1043940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5" name="Compress rank 2 / segment 0"/>
          <p:cNvCxnSpPr/>
          <p:nvPr/>
        </p:nvCxnSpPr>
        <p:spPr>
          <a:xfrm>
            <a:off x="10721340" y="202692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8" name="Rank body 2 [editable group]"/>
          <p:cNvGrpSpPr/>
          <p:nvPr/>
        </p:nvGrpSpPr>
        <p:grpSpPr>
          <a:xfrm>
            <a:off x="11079480" y="1920240"/>
            <a:ext cx="647700" cy="213360"/>
            <a:chOff x="11079480" y="1920240"/>
            <a:chExt cx="647700" cy="213360"/>
          </a:xfrm>
        </p:grpSpPr>
        <p:sp>
          <p:nvSpPr>
            <p:cNvPr id="226" name="Rank body 2"/>
            <p:cNvSpPr/>
            <p:nvPr/>
          </p:nvSpPr>
          <p:spPr>
            <a:xfrm>
              <a:off x="11079480" y="192024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ank body 2 / label"/>
            <p:cNvSpPr txBox="1"/>
            <p:nvPr/>
          </p:nvSpPr>
          <p:spPr>
            <a:xfrm>
              <a:off x="11125200" y="1943100"/>
              <a:ext cx="556260" cy="16764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body 2</a:t>
              </a:r>
            </a:p>
          </p:txBody>
        </p:sp>
      </p:grpSp>
      <p:sp>
        <p:nvSpPr>
          <p:cNvPr id="229" name="Source rank 3"/>
          <p:cNvSpPr txBox="1"/>
          <p:nvPr/>
        </p:nvSpPr>
        <p:spPr>
          <a:xfrm>
            <a:off x="358140" y="224028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r3</a:t>
            </a:r>
          </a:p>
        </p:txBody>
      </p:sp>
      <p:grpSp>
        <p:nvGrpSpPr>
          <p:cNvPr id="232" name="Unordered rank 3 / 0 [editable group]"/>
          <p:cNvGrpSpPr/>
          <p:nvPr/>
        </p:nvGrpSpPr>
        <p:grpSpPr>
          <a:xfrm>
            <a:off x="723900" y="2247900"/>
            <a:ext cx="259080" cy="213360"/>
            <a:chOff x="723900" y="2247900"/>
            <a:chExt cx="259080" cy="213360"/>
          </a:xfrm>
        </p:grpSpPr>
        <p:sp>
          <p:nvSpPr>
            <p:cNvPr id="230" name="Unordered rank 3 / 0"/>
            <p:cNvSpPr/>
            <p:nvPr/>
          </p:nvSpPr>
          <p:spPr>
            <a:xfrm>
              <a:off x="723900" y="224790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Unordered rank 3 / 0 / label"/>
            <p:cNvSpPr txBox="1"/>
            <p:nvPr/>
          </p:nvSpPr>
          <p:spPr>
            <a:xfrm>
              <a:off x="76962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grpSp>
        <p:nvGrpSpPr>
          <p:cNvPr id="235" name="Unordered rank 3 / 1 [editable group]"/>
          <p:cNvGrpSpPr/>
          <p:nvPr/>
        </p:nvGrpSpPr>
        <p:grpSpPr>
          <a:xfrm>
            <a:off x="1013460" y="2247900"/>
            <a:ext cx="259080" cy="213360"/>
            <a:chOff x="1013460" y="2247900"/>
            <a:chExt cx="259080" cy="213360"/>
          </a:xfrm>
        </p:grpSpPr>
        <p:sp>
          <p:nvSpPr>
            <p:cNvPr id="233" name="Unordered rank 3 / 1"/>
            <p:cNvSpPr/>
            <p:nvPr/>
          </p:nvSpPr>
          <p:spPr>
            <a:xfrm>
              <a:off x="1013460" y="224790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Unordered rank 3 / 1 / label"/>
            <p:cNvSpPr txBox="1"/>
            <p:nvPr/>
          </p:nvSpPr>
          <p:spPr>
            <a:xfrm>
              <a:off x="105918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grpSp>
        <p:nvGrpSpPr>
          <p:cNvPr id="238" name="Unordered rank 3 / 2 [editable group]"/>
          <p:cNvGrpSpPr/>
          <p:nvPr/>
        </p:nvGrpSpPr>
        <p:grpSpPr>
          <a:xfrm>
            <a:off x="1303020" y="2247900"/>
            <a:ext cx="259080" cy="213360"/>
            <a:chOff x="1303020" y="2247900"/>
            <a:chExt cx="259080" cy="213360"/>
          </a:xfrm>
        </p:grpSpPr>
        <p:sp>
          <p:nvSpPr>
            <p:cNvPr id="236" name="Unordered rank 3 / 2"/>
            <p:cNvSpPr/>
            <p:nvPr/>
          </p:nvSpPr>
          <p:spPr>
            <a:xfrm>
              <a:off x="1303020" y="224790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Unordered rank 3 / 2 / label"/>
            <p:cNvSpPr txBox="1"/>
            <p:nvPr/>
          </p:nvSpPr>
          <p:spPr>
            <a:xfrm>
              <a:off x="134874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241" name="Unordered rank 3 / 3 [editable group]"/>
          <p:cNvGrpSpPr/>
          <p:nvPr/>
        </p:nvGrpSpPr>
        <p:grpSpPr>
          <a:xfrm>
            <a:off x="1592580" y="2247900"/>
            <a:ext cx="259080" cy="213360"/>
            <a:chOff x="1592580" y="2247900"/>
            <a:chExt cx="259080" cy="213360"/>
          </a:xfrm>
        </p:grpSpPr>
        <p:sp>
          <p:nvSpPr>
            <p:cNvPr id="239" name="Unordered rank 3 / 3"/>
            <p:cNvSpPr/>
            <p:nvPr/>
          </p:nvSpPr>
          <p:spPr>
            <a:xfrm>
              <a:off x="1592580" y="224790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Unordered rank 3 / 3 / label"/>
            <p:cNvSpPr txBox="1"/>
            <p:nvPr/>
          </p:nvSpPr>
          <p:spPr>
            <a:xfrm>
              <a:off x="163830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grpSp>
        <p:nvGrpSpPr>
          <p:cNvPr id="244" name="Unordered rank 3 / 4 [editable group]"/>
          <p:cNvGrpSpPr/>
          <p:nvPr/>
        </p:nvGrpSpPr>
        <p:grpSpPr>
          <a:xfrm>
            <a:off x="1882139" y="2247900"/>
            <a:ext cx="259080" cy="213360"/>
            <a:chOff x="1882139" y="2247900"/>
            <a:chExt cx="259080" cy="213360"/>
          </a:xfrm>
        </p:grpSpPr>
        <p:sp>
          <p:nvSpPr>
            <p:cNvPr id="242" name="Unordered rank 3 / 4"/>
            <p:cNvSpPr/>
            <p:nvPr/>
          </p:nvSpPr>
          <p:spPr>
            <a:xfrm>
              <a:off x="1882139" y="224790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Unordered rank 3 / 4 / label"/>
            <p:cNvSpPr txBox="1"/>
            <p:nvPr/>
          </p:nvSpPr>
          <p:spPr>
            <a:xfrm>
              <a:off x="192786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grpSp>
        <p:nvGrpSpPr>
          <p:cNvPr id="247" name="Unordered rank 3 / 5 [editable group]"/>
          <p:cNvGrpSpPr/>
          <p:nvPr/>
        </p:nvGrpSpPr>
        <p:grpSpPr>
          <a:xfrm>
            <a:off x="2171700" y="2247900"/>
            <a:ext cx="259080" cy="213360"/>
            <a:chOff x="2171700" y="2247900"/>
            <a:chExt cx="259080" cy="213360"/>
          </a:xfrm>
        </p:grpSpPr>
        <p:sp>
          <p:nvSpPr>
            <p:cNvPr id="245" name="Unordered rank 3 / 5"/>
            <p:cNvSpPr/>
            <p:nvPr/>
          </p:nvSpPr>
          <p:spPr>
            <a:xfrm>
              <a:off x="2171700" y="224790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Unordered rank 3 / 5 / label"/>
            <p:cNvSpPr txBox="1"/>
            <p:nvPr/>
          </p:nvSpPr>
          <p:spPr>
            <a:xfrm>
              <a:off x="221742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cxnSp>
        <p:nvCxnSpPr>
          <p:cNvPr id="248" name="Local ordering rank 3 / segment 0"/>
          <p:cNvCxnSpPr/>
          <p:nvPr/>
        </p:nvCxnSpPr>
        <p:spPr>
          <a:xfrm>
            <a:off x="2476500" y="235458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51" name="Owner-ordered rank 3 / 0 [editable group]"/>
          <p:cNvGrpSpPr/>
          <p:nvPr/>
        </p:nvGrpSpPr>
        <p:grpSpPr>
          <a:xfrm>
            <a:off x="2895600" y="2247900"/>
            <a:ext cx="259080" cy="213360"/>
            <a:chOff x="2895600" y="2247900"/>
            <a:chExt cx="259080" cy="213360"/>
          </a:xfrm>
        </p:grpSpPr>
        <p:sp>
          <p:nvSpPr>
            <p:cNvPr id="249" name="Owner-ordered rank 3 / 0"/>
            <p:cNvSpPr/>
            <p:nvPr/>
          </p:nvSpPr>
          <p:spPr>
            <a:xfrm>
              <a:off x="2895600" y="224790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wner-ordered rank 3 / 0 / label"/>
            <p:cNvSpPr txBox="1"/>
            <p:nvPr/>
          </p:nvSpPr>
          <p:spPr>
            <a:xfrm>
              <a:off x="294132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254" name="Owner-ordered rank 3 / 1 [editable group]"/>
          <p:cNvGrpSpPr/>
          <p:nvPr/>
        </p:nvGrpSpPr>
        <p:grpSpPr>
          <a:xfrm>
            <a:off x="3185160" y="2247900"/>
            <a:ext cx="259080" cy="213360"/>
            <a:chOff x="3185160" y="2247900"/>
            <a:chExt cx="259080" cy="213360"/>
          </a:xfrm>
        </p:grpSpPr>
        <p:sp>
          <p:nvSpPr>
            <p:cNvPr id="252" name="Owner-ordered rank 3 / 1"/>
            <p:cNvSpPr/>
            <p:nvPr/>
          </p:nvSpPr>
          <p:spPr>
            <a:xfrm>
              <a:off x="3185160" y="224790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wner-ordered rank 3 / 1 / label"/>
            <p:cNvSpPr txBox="1"/>
            <p:nvPr/>
          </p:nvSpPr>
          <p:spPr>
            <a:xfrm>
              <a:off x="323088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grpSp>
        <p:nvGrpSpPr>
          <p:cNvPr id="257" name="Owner-ordered rank 3 / 2 [editable group]"/>
          <p:cNvGrpSpPr/>
          <p:nvPr/>
        </p:nvGrpSpPr>
        <p:grpSpPr>
          <a:xfrm>
            <a:off x="3474720" y="2247900"/>
            <a:ext cx="259080" cy="213360"/>
            <a:chOff x="3474720" y="2247900"/>
            <a:chExt cx="259080" cy="213360"/>
          </a:xfrm>
        </p:grpSpPr>
        <p:sp>
          <p:nvSpPr>
            <p:cNvPr id="255" name="Owner-ordered rank 3 / 2"/>
            <p:cNvSpPr/>
            <p:nvPr/>
          </p:nvSpPr>
          <p:spPr>
            <a:xfrm>
              <a:off x="3474720" y="224790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wner-ordered rank 3 / 2 / label"/>
            <p:cNvSpPr txBox="1"/>
            <p:nvPr/>
          </p:nvSpPr>
          <p:spPr>
            <a:xfrm>
              <a:off x="352044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grpSp>
        <p:nvGrpSpPr>
          <p:cNvPr id="260" name="Owner-ordered rank 3 / 3 [editable group]"/>
          <p:cNvGrpSpPr/>
          <p:nvPr/>
        </p:nvGrpSpPr>
        <p:grpSpPr>
          <a:xfrm>
            <a:off x="3764279" y="2247900"/>
            <a:ext cx="259080" cy="213360"/>
            <a:chOff x="3764279" y="2247900"/>
            <a:chExt cx="259080" cy="213360"/>
          </a:xfrm>
        </p:grpSpPr>
        <p:sp>
          <p:nvSpPr>
            <p:cNvPr id="258" name="Owner-ordered rank 3 / 3"/>
            <p:cNvSpPr/>
            <p:nvPr/>
          </p:nvSpPr>
          <p:spPr>
            <a:xfrm>
              <a:off x="3764279" y="224790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wner-ordered rank 3 / 3 / label"/>
            <p:cNvSpPr txBox="1"/>
            <p:nvPr/>
          </p:nvSpPr>
          <p:spPr>
            <a:xfrm>
              <a:off x="381000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grpSp>
        <p:nvGrpSpPr>
          <p:cNvPr id="263" name="Owner-ordered rank 3 / 4 [editable group]"/>
          <p:cNvGrpSpPr/>
          <p:nvPr/>
        </p:nvGrpSpPr>
        <p:grpSpPr>
          <a:xfrm>
            <a:off x="4053840" y="2247900"/>
            <a:ext cx="259080" cy="213360"/>
            <a:chOff x="4053840" y="2247900"/>
            <a:chExt cx="259080" cy="213360"/>
          </a:xfrm>
        </p:grpSpPr>
        <p:sp>
          <p:nvSpPr>
            <p:cNvPr id="261" name="Owner-ordered rank 3 / 4"/>
            <p:cNvSpPr/>
            <p:nvPr/>
          </p:nvSpPr>
          <p:spPr>
            <a:xfrm>
              <a:off x="4053840" y="224790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wner-ordered rank 3 / 4 / label"/>
            <p:cNvSpPr txBox="1"/>
            <p:nvPr/>
          </p:nvSpPr>
          <p:spPr>
            <a:xfrm>
              <a:off x="409956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grpSp>
        <p:nvGrpSpPr>
          <p:cNvPr id="266" name="Owner-ordered rank 3 / 5 [editable group]"/>
          <p:cNvGrpSpPr/>
          <p:nvPr/>
        </p:nvGrpSpPr>
        <p:grpSpPr>
          <a:xfrm>
            <a:off x="4343400" y="2247900"/>
            <a:ext cx="259080" cy="213360"/>
            <a:chOff x="4343400" y="2247900"/>
            <a:chExt cx="259080" cy="213360"/>
          </a:xfrm>
        </p:grpSpPr>
        <p:sp>
          <p:nvSpPr>
            <p:cNvPr id="264" name="Owner-ordered rank 3 / 5"/>
            <p:cNvSpPr/>
            <p:nvPr/>
          </p:nvSpPr>
          <p:spPr>
            <a:xfrm>
              <a:off x="4343400" y="224790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Owner-ordered rank 3 / 5 / label"/>
            <p:cNvSpPr txBox="1"/>
            <p:nvPr/>
          </p:nvSpPr>
          <p:spPr>
            <a:xfrm>
              <a:off x="4389120" y="227076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sp>
        <p:nvSpPr>
          <p:cNvPr id="267" name="Destination rank 3"/>
          <p:cNvSpPr txBox="1"/>
          <p:nvPr/>
        </p:nvSpPr>
        <p:spPr>
          <a:xfrm>
            <a:off x="6438900" y="224028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r3</a:t>
            </a:r>
          </a:p>
        </p:txBody>
      </p:sp>
      <p:sp>
        <p:nvSpPr>
          <p:cNvPr id="268" name="Rank 3 segment from source 0"/>
          <p:cNvSpPr/>
          <p:nvPr/>
        </p:nvSpPr>
        <p:spPr>
          <a:xfrm>
            <a:off x="678942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9" name="Rank 3 segment from source 0 / records 0 / segment 0"/>
          <p:cNvCxnSpPr/>
          <p:nvPr/>
        </p:nvCxnSpPr>
        <p:spPr>
          <a:xfrm>
            <a:off x="683514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0" name="Rank 3 segment from source 0 / records 1 / segment 0"/>
          <p:cNvCxnSpPr/>
          <p:nvPr/>
        </p:nvCxnSpPr>
        <p:spPr>
          <a:xfrm>
            <a:off x="683514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1" name="Rank 3 segment from source 1"/>
          <p:cNvSpPr/>
          <p:nvPr/>
        </p:nvSpPr>
        <p:spPr>
          <a:xfrm>
            <a:off x="710946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 name="Rank 3 segment from source 1 / records 0 / segment 0"/>
          <p:cNvCxnSpPr/>
          <p:nvPr/>
        </p:nvCxnSpPr>
        <p:spPr>
          <a:xfrm>
            <a:off x="715518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3" name="Rank 3 segment from source 1 / records 1 / segment 0"/>
          <p:cNvCxnSpPr/>
          <p:nvPr/>
        </p:nvCxnSpPr>
        <p:spPr>
          <a:xfrm>
            <a:off x="715518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4" name="Rank 3 segment from source 2"/>
          <p:cNvSpPr/>
          <p:nvPr/>
        </p:nvSpPr>
        <p:spPr>
          <a:xfrm>
            <a:off x="742950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 name="Rank 3 segment from source 2 / records 0 / segment 0"/>
          <p:cNvCxnSpPr/>
          <p:nvPr/>
        </p:nvCxnSpPr>
        <p:spPr>
          <a:xfrm>
            <a:off x="7475220" y="23164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6" name="Rank 3 segment from source 2 / records 1 / segment 0"/>
          <p:cNvCxnSpPr/>
          <p:nvPr/>
        </p:nvCxnSpPr>
        <p:spPr>
          <a:xfrm>
            <a:off x="7475220" y="238506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7" name="Rank 3 segment from source 3"/>
          <p:cNvSpPr/>
          <p:nvPr/>
        </p:nvSpPr>
        <p:spPr>
          <a:xfrm>
            <a:off x="7749540" y="2247900"/>
            <a:ext cx="259080" cy="213360"/>
          </a:xfrm>
          <a:prstGeom prst="rect">
            <a:avLst/>
          </a:prstGeom>
          <a:solidFill>
            <a:srgbClr val="FAD9BF"/>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8" name="Rank 3 segment from source 3 / records 0 / segment 0"/>
          <p:cNvCxnSpPr/>
          <p:nvPr/>
        </p:nvCxnSpPr>
        <p:spPr>
          <a:xfrm>
            <a:off x="779526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9" name="Rank 3 segment from source 3 / records 1 / segment 0"/>
          <p:cNvCxnSpPr/>
          <p:nvPr/>
        </p:nvCxnSpPr>
        <p:spPr>
          <a:xfrm>
            <a:off x="779526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80" name="Rank 3 segment from source 4"/>
          <p:cNvSpPr/>
          <p:nvPr/>
        </p:nvSpPr>
        <p:spPr>
          <a:xfrm>
            <a:off x="8069579"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1" name="Rank 3 segment from source 4 / records 0 / segment 0"/>
          <p:cNvCxnSpPr/>
          <p:nvPr/>
        </p:nvCxnSpPr>
        <p:spPr>
          <a:xfrm>
            <a:off x="811530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2" name="Rank 3 segment from source 4 / records 1 / segment 0"/>
          <p:cNvCxnSpPr/>
          <p:nvPr/>
        </p:nvCxnSpPr>
        <p:spPr>
          <a:xfrm>
            <a:off x="811530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83" name="Rank 3 segment from source 5"/>
          <p:cNvSpPr/>
          <p:nvPr/>
        </p:nvSpPr>
        <p:spPr>
          <a:xfrm>
            <a:off x="838962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4" name="Rank 3 segment from source 5 / records 0 / segment 0"/>
          <p:cNvCxnSpPr/>
          <p:nvPr/>
        </p:nvCxnSpPr>
        <p:spPr>
          <a:xfrm>
            <a:off x="843534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5" name="Rank 3 segment from source 5 / records 1 / segment 0"/>
          <p:cNvCxnSpPr/>
          <p:nvPr/>
        </p:nvCxnSpPr>
        <p:spPr>
          <a:xfrm>
            <a:off x="843534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6" name="Merge rank 3 / segment 0"/>
          <p:cNvCxnSpPr/>
          <p:nvPr/>
        </p:nvCxnSpPr>
        <p:spPr>
          <a:xfrm>
            <a:off x="8709660" y="235458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7" name="Rank 3 merged record group 0"/>
          <p:cNvSpPr/>
          <p:nvPr/>
        </p:nvSpPr>
        <p:spPr>
          <a:xfrm>
            <a:off x="933450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ank 3 merged record group 1"/>
          <p:cNvSpPr/>
          <p:nvPr/>
        </p:nvSpPr>
        <p:spPr>
          <a:xfrm>
            <a:off x="955548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ank 3 merged record group 2"/>
          <p:cNvSpPr/>
          <p:nvPr/>
        </p:nvSpPr>
        <p:spPr>
          <a:xfrm>
            <a:off x="977646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ank 3 merged record group 3"/>
          <p:cNvSpPr/>
          <p:nvPr/>
        </p:nvSpPr>
        <p:spPr>
          <a:xfrm>
            <a:off x="999744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ank 3 merged record group 4"/>
          <p:cNvSpPr/>
          <p:nvPr/>
        </p:nvSpPr>
        <p:spPr>
          <a:xfrm>
            <a:off x="1021842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ank 3 merged record group 5"/>
          <p:cNvSpPr/>
          <p:nvPr/>
        </p:nvSpPr>
        <p:spPr>
          <a:xfrm>
            <a:off x="1043940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3" name="Compress rank 3 / segment 0"/>
          <p:cNvCxnSpPr/>
          <p:nvPr/>
        </p:nvCxnSpPr>
        <p:spPr>
          <a:xfrm>
            <a:off x="10721340" y="235458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96" name="Rank body 3 [editable group]"/>
          <p:cNvGrpSpPr/>
          <p:nvPr/>
        </p:nvGrpSpPr>
        <p:grpSpPr>
          <a:xfrm>
            <a:off x="11079480" y="2247900"/>
            <a:ext cx="647700" cy="213360"/>
            <a:chOff x="11079480" y="2247900"/>
            <a:chExt cx="647700" cy="213360"/>
          </a:xfrm>
        </p:grpSpPr>
        <p:sp>
          <p:nvSpPr>
            <p:cNvPr id="294" name="Rank body 3"/>
            <p:cNvSpPr/>
            <p:nvPr/>
          </p:nvSpPr>
          <p:spPr>
            <a:xfrm>
              <a:off x="11079480" y="224790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ank body 3 / label"/>
            <p:cNvSpPr txBox="1"/>
            <p:nvPr/>
          </p:nvSpPr>
          <p:spPr>
            <a:xfrm>
              <a:off x="11125200" y="2270760"/>
              <a:ext cx="556260" cy="16764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body 3</a:t>
              </a:r>
            </a:p>
          </p:txBody>
        </p:sp>
      </p:grpSp>
      <p:sp>
        <p:nvSpPr>
          <p:cNvPr id="297" name="Source rank 4"/>
          <p:cNvSpPr txBox="1"/>
          <p:nvPr/>
        </p:nvSpPr>
        <p:spPr>
          <a:xfrm>
            <a:off x="358140" y="256794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r4</a:t>
            </a:r>
          </a:p>
        </p:txBody>
      </p:sp>
      <p:grpSp>
        <p:nvGrpSpPr>
          <p:cNvPr id="300" name="Unordered rank 4 / 0 [editable group]"/>
          <p:cNvGrpSpPr/>
          <p:nvPr/>
        </p:nvGrpSpPr>
        <p:grpSpPr>
          <a:xfrm>
            <a:off x="723900" y="2575560"/>
            <a:ext cx="259080" cy="213360"/>
            <a:chOff x="723900" y="2575560"/>
            <a:chExt cx="259080" cy="213360"/>
          </a:xfrm>
        </p:grpSpPr>
        <p:sp>
          <p:nvSpPr>
            <p:cNvPr id="298" name="Unordered rank 4 / 0"/>
            <p:cNvSpPr/>
            <p:nvPr/>
          </p:nvSpPr>
          <p:spPr>
            <a:xfrm>
              <a:off x="723900" y="257556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Unordered rank 4 / 0 / label"/>
            <p:cNvSpPr txBox="1"/>
            <p:nvPr/>
          </p:nvSpPr>
          <p:spPr>
            <a:xfrm>
              <a:off x="76962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grpSp>
        <p:nvGrpSpPr>
          <p:cNvPr id="303" name="Unordered rank 4 / 1 [editable group]"/>
          <p:cNvGrpSpPr/>
          <p:nvPr/>
        </p:nvGrpSpPr>
        <p:grpSpPr>
          <a:xfrm>
            <a:off x="1013460" y="2575560"/>
            <a:ext cx="259080" cy="213360"/>
            <a:chOff x="1013460" y="2575560"/>
            <a:chExt cx="259080" cy="213360"/>
          </a:xfrm>
        </p:grpSpPr>
        <p:sp>
          <p:nvSpPr>
            <p:cNvPr id="301" name="Unordered rank 4 / 1"/>
            <p:cNvSpPr/>
            <p:nvPr/>
          </p:nvSpPr>
          <p:spPr>
            <a:xfrm>
              <a:off x="1013460" y="257556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Unordered rank 4 / 1 / label"/>
            <p:cNvSpPr txBox="1"/>
            <p:nvPr/>
          </p:nvSpPr>
          <p:spPr>
            <a:xfrm>
              <a:off x="105918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grpSp>
        <p:nvGrpSpPr>
          <p:cNvPr id="306" name="Unordered rank 4 / 2 [editable group]"/>
          <p:cNvGrpSpPr/>
          <p:nvPr/>
        </p:nvGrpSpPr>
        <p:grpSpPr>
          <a:xfrm>
            <a:off x="1303020" y="2575560"/>
            <a:ext cx="259080" cy="213360"/>
            <a:chOff x="1303020" y="2575560"/>
            <a:chExt cx="259080" cy="213360"/>
          </a:xfrm>
        </p:grpSpPr>
        <p:sp>
          <p:nvSpPr>
            <p:cNvPr id="304" name="Unordered rank 4 / 2"/>
            <p:cNvSpPr/>
            <p:nvPr/>
          </p:nvSpPr>
          <p:spPr>
            <a:xfrm>
              <a:off x="1303020" y="257556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Unordered rank 4 / 2 / label"/>
            <p:cNvSpPr txBox="1"/>
            <p:nvPr/>
          </p:nvSpPr>
          <p:spPr>
            <a:xfrm>
              <a:off x="134874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grpSp>
        <p:nvGrpSpPr>
          <p:cNvPr id="309" name="Unordered rank 4 / 3 [editable group]"/>
          <p:cNvGrpSpPr/>
          <p:nvPr/>
        </p:nvGrpSpPr>
        <p:grpSpPr>
          <a:xfrm>
            <a:off x="1592580" y="2575560"/>
            <a:ext cx="259080" cy="213360"/>
            <a:chOff x="1592580" y="2575560"/>
            <a:chExt cx="259080" cy="213360"/>
          </a:xfrm>
        </p:grpSpPr>
        <p:sp>
          <p:nvSpPr>
            <p:cNvPr id="307" name="Unordered rank 4 / 3"/>
            <p:cNvSpPr/>
            <p:nvPr/>
          </p:nvSpPr>
          <p:spPr>
            <a:xfrm>
              <a:off x="1592580" y="257556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Unordered rank 4 / 3 / label"/>
            <p:cNvSpPr txBox="1"/>
            <p:nvPr/>
          </p:nvSpPr>
          <p:spPr>
            <a:xfrm>
              <a:off x="163830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grpSp>
        <p:nvGrpSpPr>
          <p:cNvPr id="312" name="Unordered rank 4 / 4 [editable group]"/>
          <p:cNvGrpSpPr/>
          <p:nvPr/>
        </p:nvGrpSpPr>
        <p:grpSpPr>
          <a:xfrm>
            <a:off x="1882139" y="2575560"/>
            <a:ext cx="259080" cy="213360"/>
            <a:chOff x="1882139" y="2575560"/>
            <a:chExt cx="259080" cy="213360"/>
          </a:xfrm>
        </p:grpSpPr>
        <p:sp>
          <p:nvSpPr>
            <p:cNvPr id="310" name="Unordered rank 4 / 4"/>
            <p:cNvSpPr/>
            <p:nvPr/>
          </p:nvSpPr>
          <p:spPr>
            <a:xfrm>
              <a:off x="1882139" y="257556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Unordered rank 4 / 4 / label"/>
            <p:cNvSpPr txBox="1"/>
            <p:nvPr/>
          </p:nvSpPr>
          <p:spPr>
            <a:xfrm>
              <a:off x="192786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315" name="Unordered rank 4 / 5 [editable group]"/>
          <p:cNvGrpSpPr/>
          <p:nvPr/>
        </p:nvGrpSpPr>
        <p:grpSpPr>
          <a:xfrm>
            <a:off x="2171700" y="2575560"/>
            <a:ext cx="259080" cy="213360"/>
            <a:chOff x="2171700" y="2575560"/>
            <a:chExt cx="259080" cy="213360"/>
          </a:xfrm>
        </p:grpSpPr>
        <p:sp>
          <p:nvSpPr>
            <p:cNvPr id="313" name="Unordered rank 4 / 5"/>
            <p:cNvSpPr/>
            <p:nvPr/>
          </p:nvSpPr>
          <p:spPr>
            <a:xfrm>
              <a:off x="2171700" y="257556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Unordered rank 4 / 5 / label"/>
            <p:cNvSpPr txBox="1"/>
            <p:nvPr/>
          </p:nvSpPr>
          <p:spPr>
            <a:xfrm>
              <a:off x="221742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cxnSp>
        <p:nvCxnSpPr>
          <p:cNvPr id="316" name="Local ordering rank 4 / segment 0"/>
          <p:cNvCxnSpPr/>
          <p:nvPr/>
        </p:nvCxnSpPr>
        <p:spPr>
          <a:xfrm>
            <a:off x="2476500" y="268224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19" name="Owner-ordered rank 4 / 0 [editable group]"/>
          <p:cNvGrpSpPr/>
          <p:nvPr/>
        </p:nvGrpSpPr>
        <p:grpSpPr>
          <a:xfrm>
            <a:off x="2895600" y="2575560"/>
            <a:ext cx="259080" cy="213360"/>
            <a:chOff x="2895600" y="2575560"/>
            <a:chExt cx="259080" cy="213360"/>
          </a:xfrm>
        </p:grpSpPr>
        <p:sp>
          <p:nvSpPr>
            <p:cNvPr id="317" name="Owner-ordered rank 4 / 0"/>
            <p:cNvSpPr/>
            <p:nvPr/>
          </p:nvSpPr>
          <p:spPr>
            <a:xfrm>
              <a:off x="2895600" y="257556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wner-ordered rank 4 / 0 / label"/>
            <p:cNvSpPr txBox="1"/>
            <p:nvPr/>
          </p:nvSpPr>
          <p:spPr>
            <a:xfrm>
              <a:off x="294132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322" name="Owner-ordered rank 4 / 1 [editable group]"/>
          <p:cNvGrpSpPr/>
          <p:nvPr/>
        </p:nvGrpSpPr>
        <p:grpSpPr>
          <a:xfrm>
            <a:off x="3185160" y="2575560"/>
            <a:ext cx="259080" cy="213360"/>
            <a:chOff x="3185160" y="2575560"/>
            <a:chExt cx="259080" cy="213360"/>
          </a:xfrm>
        </p:grpSpPr>
        <p:sp>
          <p:nvSpPr>
            <p:cNvPr id="320" name="Owner-ordered rank 4 / 1"/>
            <p:cNvSpPr/>
            <p:nvPr/>
          </p:nvSpPr>
          <p:spPr>
            <a:xfrm>
              <a:off x="3185160" y="257556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wner-ordered rank 4 / 1 / label"/>
            <p:cNvSpPr txBox="1"/>
            <p:nvPr/>
          </p:nvSpPr>
          <p:spPr>
            <a:xfrm>
              <a:off x="323088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grpSp>
        <p:nvGrpSpPr>
          <p:cNvPr id="325" name="Owner-ordered rank 4 / 2 [editable group]"/>
          <p:cNvGrpSpPr/>
          <p:nvPr/>
        </p:nvGrpSpPr>
        <p:grpSpPr>
          <a:xfrm>
            <a:off x="3474720" y="2575560"/>
            <a:ext cx="259080" cy="213360"/>
            <a:chOff x="3474720" y="2575560"/>
            <a:chExt cx="259080" cy="213360"/>
          </a:xfrm>
        </p:grpSpPr>
        <p:sp>
          <p:nvSpPr>
            <p:cNvPr id="323" name="Owner-ordered rank 4 / 2"/>
            <p:cNvSpPr/>
            <p:nvPr/>
          </p:nvSpPr>
          <p:spPr>
            <a:xfrm>
              <a:off x="3474720" y="257556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wner-ordered rank 4 / 2 / label"/>
            <p:cNvSpPr txBox="1"/>
            <p:nvPr/>
          </p:nvSpPr>
          <p:spPr>
            <a:xfrm>
              <a:off x="352044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grpSp>
        <p:nvGrpSpPr>
          <p:cNvPr id="328" name="Owner-ordered rank 4 / 3 [editable group]"/>
          <p:cNvGrpSpPr/>
          <p:nvPr/>
        </p:nvGrpSpPr>
        <p:grpSpPr>
          <a:xfrm>
            <a:off x="3764279" y="2575560"/>
            <a:ext cx="259080" cy="213360"/>
            <a:chOff x="3764279" y="2575560"/>
            <a:chExt cx="259080" cy="213360"/>
          </a:xfrm>
        </p:grpSpPr>
        <p:sp>
          <p:nvSpPr>
            <p:cNvPr id="326" name="Owner-ordered rank 4 / 3"/>
            <p:cNvSpPr/>
            <p:nvPr/>
          </p:nvSpPr>
          <p:spPr>
            <a:xfrm>
              <a:off x="3764279" y="257556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wner-ordered rank 4 / 3 / label"/>
            <p:cNvSpPr txBox="1"/>
            <p:nvPr/>
          </p:nvSpPr>
          <p:spPr>
            <a:xfrm>
              <a:off x="381000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grpSp>
        <p:nvGrpSpPr>
          <p:cNvPr id="331" name="Owner-ordered rank 4 / 4 [editable group]"/>
          <p:cNvGrpSpPr/>
          <p:nvPr/>
        </p:nvGrpSpPr>
        <p:grpSpPr>
          <a:xfrm>
            <a:off x="4053840" y="2575560"/>
            <a:ext cx="259080" cy="213360"/>
            <a:chOff x="4053840" y="2575560"/>
            <a:chExt cx="259080" cy="213360"/>
          </a:xfrm>
        </p:grpSpPr>
        <p:sp>
          <p:nvSpPr>
            <p:cNvPr id="329" name="Owner-ordered rank 4 / 4"/>
            <p:cNvSpPr/>
            <p:nvPr/>
          </p:nvSpPr>
          <p:spPr>
            <a:xfrm>
              <a:off x="4053840" y="257556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wner-ordered rank 4 / 4 / label"/>
            <p:cNvSpPr txBox="1"/>
            <p:nvPr/>
          </p:nvSpPr>
          <p:spPr>
            <a:xfrm>
              <a:off x="409956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grpSp>
        <p:nvGrpSpPr>
          <p:cNvPr id="334" name="Owner-ordered rank 4 / 5 [editable group]"/>
          <p:cNvGrpSpPr/>
          <p:nvPr/>
        </p:nvGrpSpPr>
        <p:grpSpPr>
          <a:xfrm>
            <a:off x="4343400" y="2575560"/>
            <a:ext cx="259080" cy="213360"/>
            <a:chOff x="4343400" y="2575560"/>
            <a:chExt cx="259080" cy="213360"/>
          </a:xfrm>
        </p:grpSpPr>
        <p:sp>
          <p:nvSpPr>
            <p:cNvPr id="332" name="Owner-ordered rank 4 / 5"/>
            <p:cNvSpPr/>
            <p:nvPr/>
          </p:nvSpPr>
          <p:spPr>
            <a:xfrm>
              <a:off x="4343400" y="257556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wner-ordered rank 4 / 5 / label"/>
            <p:cNvSpPr txBox="1"/>
            <p:nvPr/>
          </p:nvSpPr>
          <p:spPr>
            <a:xfrm>
              <a:off x="4389120" y="259842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sp>
        <p:nvSpPr>
          <p:cNvPr id="335" name="Destination rank 4"/>
          <p:cNvSpPr txBox="1"/>
          <p:nvPr/>
        </p:nvSpPr>
        <p:spPr>
          <a:xfrm>
            <a:off x="6438900" y="256794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r4</a:t>
            </a:r>
          </a:p>
        </p:txBody>
      </p:sp>
      <p:sp>
        <p:nvSpPr>
          <p:cNvPr id="336" name="Rank 4 segment from source 0"/>
          <p:cNvSpPr/>
          <p:nvPr/>
        </p:nvSpPr>
        <p:spPr>
          <a:xfrm>
            <a:off x="678942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7" name="Rank 4 segment from source 0 / records 0 / segment 0"/>
          <p:cNvCxnSpPr/>
          <p:nvPr/>
        </p:nvCxnSpPr>
        <p:spPr>
          <a:xfrm>
            <a:off x="683514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38" name="Rank 4 segment from source 0 / records 1 / segment 0"/>
          <p:cNvCxnSpPr/>
          <p:nvPr/>
        </p:nvCxnSpPr>
        <p:spPr>
          <a:xfrm>
            <a:off x="683514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39" name="Rank 4 segment from source 1"/>
          <p:cNvSpPr/>
          <p:nvPr/>
        </p:nvSpPr>
        <p:spPr>
          <a:xfrm>
            <a:off x="710946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0" name="Rank 4 segment from source 1 / records 0 / segment 0"/>
          <p:cNvCxnSpPr/>
          <p:nvPr/>
        </p:nvCxnSpPr>
        <p:spPr>
          <a:xfrm>
            <a:off x="715518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1" name="Rank 4 segment from source 1 / records 1 / segment 0"/>
          <p:cNvCxnSpPr/>
          <p:nvPr/>
        </p:nvCxnSpPr>
        <p:spPr>
          <a:xfrm>
            <a:off x="715518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2" name="Rank 4 segment from source 2"/>
          <p:cNvSpPr/>
          <p:nvPr/>
        </p:nvSpPr>
        <p:spPr>
          <a:xfrm>
            <a:off x="742950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3" name="Rank 4 segment from source 2 / records 0 / segment 0"/>
          <p:cNvCxnSpPr/>
          <p:nvPr/>
        </p:nvCxnSpPr>
        <p:spPr>
          <a:xfrm>
            <a:off x="7475220" y="264414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4" name="Rank 4 segment from source 2 / records 1 / segment 0"/>
          <p:cNvCxnSpPr/>
          <p:nvPr/>
        </p:nvCxnSpPr>
        <p:spPr>
          <a:xfrm>
            <a:off x="7475220" y="271272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5" name="Rank 4 segment from source 3"/>
          <p:cNvSpPr/>
          <p:nvPr/>
        </p:nvSpPr>
        <p:spPr>
          <a:xfrm>
            <a:off x="774954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6" name="Rank 4 segment from source 3 / records 0 / segment 0"/>
          <p:cNvCxnSpPr/>
          <p:nvPr/>
        </p:nvCxnSpPr>
        <p:spPr>
          <a:xfrm>
            <a:off x="779526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7" name="Rank 4 segment from source 3 / records 1 / segment 0"/>
          <p:cNvCxnSpPr/>
          <p:nvPr/>
        </p:nvCxnSpPr>
        <p:spPr>
          <a:xfrm>
            <a:off x="779526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8" name="Rank 4 segment from source 4"/>
          <p:cNvSpPr/>
          <p:nvPr/>
        </p:nvSpPr>
        <p:spPr>
          <a:xfrm>
            <a:off x="8069579" y="257556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9" name="Rank 4 segment from source 4 / records 0 / segment 0"/>
          <p:cNvCxnSpPr/>
          <p:nvPr/>
        </p:nvCxnSpPr>
        <p:spPr>
          <a:xfrm>
            <a:off x="811530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0" name="Rank 4 segment from source 4 / records 1 / segment 0"/>
          <p:cNvCxnSpPr/>
          <p:nvPr/>
        </p:nvCxnSpPr>
        <p:spPr>
          <a:xfrm>
            <a:off x="811530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51" name="Rank 4 segment from source 5"/>
          <p:cNvSpPr/>
          <p:nvPr/>
        </p:nvSpPr>
        <p:spPr>
          <a:xfrm>
            <a:off x="838962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2" name="Rank 4 segment from source 5 / records 0 / segment 0"/>
          <p:cNvCxnSpPr/>
          <p:nvPr/>
        </p:nvCxnSpPr>
        <p:spPr>
          <a:xfrm>
            <a:off x="843534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3" name="Rank 4 segment from source 5 / records 1 / segment 0"/>
          <p:cNvCxnSpPr/>
          <p:nvPr/>
        </p:nvCxnSpPr>
        <p:spPr>
          <a:xfrm>
            <a:off x="843534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4" name="Merge rank 4 / segment 0"/>
          <p:cNvCxnSpPr/>
          <p:nvPr/>
        </p:nvCxnSpPr>
        <p:spPr>
          <a:xfrm>
            <a:off x="8709660" y="268224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5" name="Rank 4 merged record group 0"/>
          <p:cNvSpPr/>
          <p:nvPr/>
        </p:nvSpPr>
        <p:spPr>
          <a:xfrm>
            <a:off x="933450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ank 4 merged record group 1"/>
          <p:cNvSpPr/>
          <p:nvPr/>
        </p:nvSpPr>
        <p:spPr>
          <a:xfrm>
            <a:off x="955548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ank 4 merged record group 2"/>
          <p:cNvSpPr/>
          <p:nvPr/>
        </p:nvSpPr>
        <p:spPr>
          <a:xfrm>
            <a:off x="977646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ank 4 merged record group 3"/>
          <p:cNvSpPr/>
          <p:nvPr/>
        </p:nvSpPr>
        <p:spPr>
          <a:xfrm>
            <a:off x="999744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ank 4 merged record group 4"/>
          <p:cNvSpPr/>
          <p:nvPr/>
        </p:nvSpPr>
        <p:spPr>
          <a:xfrm>
            <a:off x="1021842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ank 4 merged record group 5"/>
          <p:cNvSpPr/>
          <p:nvPr/>
        </p:nvSpPr>
        <p:spPr>
          <a:xfrm>
            <a:off x="1043940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1" name="Compress rank 4 / segment 0"/>
          <p:cNvCxnSpPr/>
          <p:nvPr/>
        </p:nvCxnSpPr>
        <p:spPr>
          <a:xfrm>
            <a:off x="10721340" y="268224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64" name="Rank body 4 [editable group]"/>
          <p:cNvGrpSpPr/>
          <p:nvPr/>
        </p:nvGrpSpPr>
        <p:grpSpPr>
          <a:xfrm>
            <a:off x="11079480" y="2575560"/>
            <a:ext cx="647700" cy="213360"/>
            <a:chOff x="11079480" y="2575560"/>
            <a:chExt cx="647700" cy="213360"/>
          </a:xfrm>
        </p:grpSpPr>
        <p:sp>
          <p:nvSpPr>
            <p:cNvPr id="362" name="Rank body 4"/>
            <p:cNvSpPr/>
            <p:nvPr/>
          </p:nvSpPr>
          <p:spPr>
            <a:xfrm>
              <a:off x="11079480" y="257556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ank body 4 / label"/>
            <p:cNvSpPr txBox="1"/>
            <p:nvPr/>
          </p:nvSpPr>
          <p:spPr>
            <a:xfrm>
              <a:off x="11125200" y="2598420"/>
              <a:ext cx="556260" cy="16764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body 4</a:t>
              </a:r>
            </a:p>
          </p:txBody>
        </p:sp>
      </p:grpSp>
      <p:sp>
        <p:nvSpPr>
          <p:cNvPr id="365" name="Source rank 5"/>
          <p:cNvSpPr txBox="1"/>
          <p:nvPr/>
        </p:nvSpPr>
        <p:spPr>
          <a:xfrm>
            <a:off x="358140" y="289560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r5</a:t>
            </a:r>
          </a:p>
        </p:txBody>
      </p:sp>
      <p:grpSp>
        <p:nvGrpSpPr>
          <p:cNvPr id="368" name="Unordered rank 5 / 0 [editable group]"/>
          <p:cNvGrpSpPr/>
          <p:nvPr/>
        </p:nvGrpSpPr>
        <p:grpSpPr>
          <a:xfrm>
            <a:off x="723900" y="2903220"/>
            <a:ext cx="259080" cy="213360"/>
            <a:chOff x="723900" y="2903220"/>
            <a:chExt cx="259080" cy="213360"/>
          </a:xfrm>
        </p:grpSpPr>
        <p:sp>
          <p:nvSpPr>
            <p:cNvPr id="366" name="Unordered rank 5 / 0"/>
            <p:cNvSpPr/>
            <p:nvPr/>
          </p:nvSpPr>
          <p:spPr>
            <a:xfrm>
              <a:off x="723900" y="29032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Unordered rank 5 / 0 / label"/>
            <p:cNvSpPr txBox="1"/>
            <p:nvPr/>
          </p:nvSpPr>
          <p:spPr>
            <a:xfrm>
              <a:off x="76962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371" name="Unordered rank 5 / 1 [editable group]"/>
          <p:cNvGrpSpPr/>
          <p:nvPr/>
        </p:nvGrpSpPr>
        <p:grpSpPr>
          <a:xfrm>
            <a:off x="1013460" y="2903220"/>
            <a:ext cx="259080" cy="213360"/>
            <a:chOff x="1013460" y="2903220"/>
            <a:chExt cx="259080" cy="213360"/>
          </a:xfrm>
        </p:grpSpPr>
        <p:sp>
          <p:nvSpPr>
            <p:cNvPr id="369" name="Unordered rank 5 / 1"/>
            <p:cNvSpPr/>
            <p:nvPr/>
          </p:nvSpPr>
          <p:spPr>
            <a:xfrm>
              <a:off x="1013460" y="29032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Unordered rank 5 / 1 / label"/>
            <p:cNvSpPr txBox="1"/>
            <p:nvPr/>
          </p:nvSpPr>
          <p:spPr>
            <a:xfrm>
              <a:off x="105918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grpSp>
        <p:nvGrpSpPr>
          <p:cNvPr id="374" name="Unordered rank 5 / 2 [editable group]"/>
          <p:cNvGrpSpPr/>
          <p:nvPr/>
        </p:nvGrpSpPr>
        <p:grpSpPr>
          <a:xfrm>
            <a:off x="1303020" y="2903220"/>
            <a:ext cx="259080" cy="213360"/>
            <a:chOff x="1303020" y="2903220"/>
            <a:chExt cx="259080" cy="213360"/>
          </a:xfrm>
        </p:grpSpPr>
        <p:sp>
          <p:nvSpPr>
            <p:cNvPr id="372" name="Unordered rank 5 / 2"/>
            <p:cNvSpPr/>
            <p:nvPr/>
          </p:nvSpPr>
          <p:spPr>
            <a:xfrm>
              <a:off x="1303020" y="29032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Unordered rank 5 / 2 / label"/>
            <p:cNvSpPr txBox="1"/>
            <p:nvPr/>
          </p:nvSpPr>
          <p:spPr>
            <a:xfrm>
              <a:off x="134874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grpSp>
        <p:nvGrpSpPr>
          <p:cNvPr id="377" name="Unordered rank 5 / 3 [editable group]"/>
          <p:cNvGrpSpPr/>
          <p:nvPr/>
        </p:nvGrpSpPr>
        <p:grpSpPr>
          <a:xfrm>
            <a:off x="1592580" y="2903220"/>
            <a:ext cx="259080" cy="213360"/>
            <a:chOff x="1592580" y="2903220"/>
            <a:chExt cx="259080" cy="213360"/>
          </a:xfrm>
        </p:grpSpPr>
        <p:sp>
          <p:nvSpPr>
            <p:cNvPr id="375" name="Unordered rank 5 / 3"/>
            <p:cNvSpPr/>
            <p:nvPr/>
          </p:nvSpPr>
          <p:spPr>
            <a:xfrm>
              <a:off x="1592580" y="29032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Unordered rank 5 / 3 / label"/>
            <p:cNvSpPr txBox="1"/>
            <p:nvPr/>
          </p:nvSpPr>
          <p:spPr>
            <a:xfrm>
              <a:off x="163830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grpSp>
        <p:nvGrpSpPr>
          <p:cNvPr id="380" name="Unordered rank 5 / 4 [editable group]"/>
          <p:cNvGrpSpPr/>
          <p:nvPr/>
        </p:nvGrpSpPr>
        <p:grpSpPr>
          <a:xfrm>
            <a:off x="1882139" y="2903220"/>
            <a:ext cx="259080" cy="213360"/>
            <a:chOff x="1882139" y="2903220"/>
            <a:chExt cx="259080" cy="213360"/>
          </a:xfrm>
        </p:grpSpPr>
        <p:sp>
          <p:nvSpPr>
            <p:cNvPr id="378" name="Unordered rank 5 / 4"/>
            <p:cNvSpPr/>
            <p:nvPr/>
          </p:nvSpPr>
          <p:spPr>
            <a:xfrm>
              <a:off x="1882139" y="29032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Unordered rank 5 / 4 / label"/>
            <p:cNvSpPr txBox="1"/>
            <p:nvPr/>
          </p:nvSpPr>
          <p:spPr>
            <a:xfrm>
              <a:off x="192786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grpSp>
        <p:nvGrpSpPr>
          <p:cNvPr id="383" name="Unordered rank 5 / 5 [editable group]"/>
          <p:cNvGrpSpPr/>
          <p:nvPr/>
        </p:nvGrpSpPr>
        <p:grpSpPr>
          <a:xfrm>
            <a:off x="2171700" y="2903220"/>
            <a:ext cx="259080" cy="213360"/>
            <a:chOff x="2171700" y="2903220"/>
            <a:chExt cx="259080" cy="213360"/>
          </a:xfrm>
        </p:grpSpPr>
        <p:sp>
          <p:nvSpPr>
            <p:cNvPr id="381" name="Unordered rank 5 / 5"/>
            <p:cNvSpPr/>
            <p:nvPr/>
          </p:nvSpPr>
          <p:spPr>
            <a:xfrm>
              <a:off x="2171700" y="29032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Unordered rank 5 / 5 / label"/>
            <p:cNvSpPr txBox="1"/>
            <p:nvPr/>
          </p:nvSpPr>
          <p:spPr>
            <a:xfrm>
              <a:off x="221742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cxnSp>
        <p:nvCxnSpPr>
          <p:cNvPr id="384" name="Local ordering rank 5 / segment 0"/>
          <p:cNvCxnSpPr/>
          <p:nvPr/>
        </p:nvCxnSpPr>
        <p:spPr>
          <a:xfrm>
            <a:off x="2476500" y="300990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87" name="Owner-ordered rank 5 / 0 [editable group]"/>
          <p:cNvGrpSpPr/>
          <p:nvPr/>
        </p:nvGrpSpPr>
        <p:grpSpPr>
          <a:xfrm>
            <a:off x="2895600" y="2903220"/>
            <a:ext cx="259080" cy="213360"/>
            <a:chOff x="2895600" y="2903220"/>
            <a:chExt cx="259080" cy="213360"/>
          </a:xfrm>
        </p:grpSpPr>
        <p:sp>
          <p:nvSpPr>
            <p:cNvPr id="385" name="Owner-ordered rank 5 / 0"/>
            <p:cNvSpPr/>
            <p:nvPr/>
          </p:nvSpPr>
          <p:spPr>
            <a:xfrm>
              <a:off x="2895600" y="29032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wner-ordered rank 5 / 0 / label"/>
            <p:cNvSpPr txBox="1"/>
            <p:nvPr/>
          </p:nvSpPr>
          <p:spPr>
            <a:xfrm>
              <a:off x="294132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a:t>
              </a:r>
            </a:p>
          </p:txBody>
        </p:sp>
      </p:grpSp>
      <p:grpSp>
        <p:nvGrpSpPr>
          <p:cNvPr id="390" name="Owner-ordered rank 5 / 1 [editable group]"/>
          <p:cNvGrpSpPr/>
          <p:nvPr/>
        </p:nvGrpSpPr>
        <p:grpSpPr>
          <a:xfrm>
            <a:off x="3185160" y="2903220"/>
            <a:ext cx="259080" cy="213360"/>
            <a:chOff x="3185160" y="2903220"/>
            <a:chExt cx="259080" cy="213360"/>
          </a:xfrm>
        </p:grpSpPr>
        <p:sp>
          <p:nvSpPr>
            <p:cNvPr id="388" name="Owner-ordered rank 5 / 1"/>
            <p:cNvSpPr/>
            <p:nvPr/>
          </p:nvSpPr>
          <p:spPr>
            <a:xfrm>
              <a:off x="3185160" y="29032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wner-ordered rank 5 / 1 / label"/>
            <p:cNvSpPr txBox="1"/>
            <p:nvPr/>
          </p:nvSpPr>
          <p:spPr>
            <a:xfrm>
              <a:off x="323088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a:t>
              </a:r>
            </a:p>
          </p:txBody>
        </p:sp>
      </p:grpSp>
      <p:grpSp>
        <p:nvGrpSpPr>
          <p:cNvPr id="393" name="Owner-ordered rank 5 / 2 [editable group]"/>
          <p:cNvGrpSpPr/>
          <p:nvPr/>
        </p:nvGrpSpPr>
        <p:grpSpPr>
          <a:xfrm>
            <a:off x="3474720" y="2903220"/>
            <a:ext cx="259080" cy="213360"/>
            <a:chOff x="3474720" y="2903220"/>
            <a:chExt cx="259080" cy="213360"/>
          </a:xfrm>
        </p:grpSpPr>
        <p:sp>
          <p:nvSpPr>
            <p:cNvPr id="391" name="Owner-ordered rank 5 / 2"/>
            <p:cNvSpPr/>
            <p:nvPr/>
          </p:nvSpPr>
          <p:spPr>
            <a:xfrm>
              <a:off x="3474720" y="29032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wner-ordered rank 5 / 2 / label"/>
            <p:cNvSpPr txBox="1"/>
            <p:nvPr/>
          </p:nvSpPr>
          <p:spPr>
            <a:xfrm>
              <a:off x="352044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a:t>
              </a:r>
            </a:p>
          </p:txBody>
        </p:sp>
      </p:grpSp>
      <p:grpSp>
        <p:nvGrpSpPr>
          <p:cNvPr id="396" name="Owner-ordered rank 5 / 3 [editable group]"/>
          <p:cNvGrpSpPr/>
          <p:nvPr/>
        </p:nvGrpSpPr>
        <p:grpSpPr>
          <a:xfrm>
            <a:off x="3764279" y="2903220"/>
            <a:ext cx="259080" cy="213360"/>
            <a:chOff x="3764279" y="2903220"/>
            <a:chExt cx="259080" cy="213360"/>
          </a:xfrm>
        </p:grpSpPr>
        <p:sp>
          <p:nvSpPr>
            <p:cNvPr id="394" name="Owner-ordered rank 5 / 3"/>
            <p:cNvSpPr/>
            <p:nvPr/>
          </p:nvSpPr>
          <p:spPr>
            <a:xfrm>
              <a:off x="3764279" y="29032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wner-ordered rank 5 / 3 / label"/>
            <p:cNvSpPr txBox="1"/>
            <p:nvPr/>
          </p:nvSpPr>
          <p:spPr>
            <a:xfrm>
              <a:off x="381000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a:t>
              </a:r>
            </a:p>
          </p:txBody>
        </p:sp>
      </p:grpSp>
      <p:grpSp>
        <p:nvGrpSpPr>
          <p:cNvPr id="399" name="Owner-ordered rank 5 / 4 [editable group]"/>
          <p:cNvGrpSpPr/>
          <p:nvPr/>
        </p:nvGrpSpPr>
        <p:grpSpPr>
          <a:xfrm>
            <a:off x="4053840" y="2903220"/>
            <a:ext cx="259080" cy="213360"/>
            <a:chOff x="4053840" y="2903220"/>
            <a:chExt cx="259080" cy="213360"/>
          </a:xfrm>
        </p:grpSpPr>
        <p:sp>
          <p:nvSpPr>
            <p:cNvPr id="397" name="Owner-ordered rank 5 / 4"/>
            <p:cNvSpPr/>
            <p:nvPr/>
          </p:nvSpPr>
          <p:spPr>
            <a:xfrm>
              <a:off x="4053840" y="29032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wner-ordered rank 5 / 4 / label"/>
            <p:cNvSpPr txBox="1"/>
            <p:nvPr/>
          </p:nvSpPr>
          <p:spPr>
            <a:xfrm>
              <a:off x="409956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a:t>
              </a:r>
            </a:p>
          </p:txBody>
        </p:sp>
      </p:grpSp>
      <p:grpSp>
        <p:nvGrpSpPr>
          <p:cNvPr id="402" name="Owner-ordered rank 5 / 5 [editable group]"/>
          <p:cNvGrpSpPr/>
          <p:nvPr/>
        </p:nvGrpSpPr>
        <p:grpSpPr>
          <a:xfrm>
            <a:off x="4343400" y="2903220"/>
            <a:ext cx="259080" cy="213360"/>
            <a:chOff x="4343400" y="2903220"/>
            <a:chExt cx="259080" cy="213360"/>
          </a:xfrm>
        </p:grpSpPr>
        <p:sp>
          <p:nvSpPr>
            <p:cNvPr id="400" name="Owner-ordered rank 5 / 5"/>
            <p:cNvSpPr/>
            <p:nvPr/>
          </p:nvSpPr>
          <p:spPr>
            <a:xfrm>
              <a:off x="4343400" y="29032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wner-ordered rank 5 / 5 / label"/>
            <p:cNvSpPr txBox="1"/>
            <p:nvPr/>
          </p:nvSpPr>
          <p:spPr>
            <a:xfrm>
              <a:off x="4389120" y="2926080"/>
              <a:ext cx="167640" cy="1676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a:t>
              </a:r>
            </a:p>
          </p:txBody>
        </p:sp>
      </p:grpSp>
      <p:sp>
        <p:nvSpPr>
          <p:cNvPr id="403" name="Destination rank 5"/>
          <p:cNvSpPr txBox="1"/>
          <p:nvPr/>
        </p:nvSpPr>
        <p:spPr>
          <a:xfrm>
            <a:off x="6438900" y="2895600"/>
            <a:ext cx="312420" cy="2362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r5</a:t>
            </a:r>
          </a:p>
        </p:txBody>
      </p:sp>
      <p:sp>
        <p:nvSpPr>
          <p:cNvPr id="404" name="Rank 5 segment from source 0"/>
          <p:cNvSpPr/>
          <p:nvPr/>
        </p:nvSpPr>
        <p:spPr>
          <a:xfrm>
            <a:off x="678942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5" name="Rank 5 segment from source 0 / records 0 / segment 0"/>
          <p:cNvCxnSpPr/>
          <p:nvPr/>
        </p:nvCxnSpPr>
        <p:spPr>
          <a:xfrm>
            <a:off x="683514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06" name="Rank 5 segment from source 0 / records 1 / segment 0"/>
          <p:cNvCxnSpPr/>
          <p:nvPr/>
        </p:nvCxnSpPr>
        <p:spPr>
          <a:xfrm>
            <a:off x="683514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07" name="Rank 5 segment from source 1"/>
          <p:cNvSpPr/>
          <p:nvPr/>
        </p:nvSpPr>
        <p:spPr>
          <a:xfrm>
            <a:off x="710946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8" name="Rank 5 segment from source 1 / records 0 / segment 0"/>
          <p:cNvCxnSpPr/>
          <p:nvPr/>
        </p:nvCxnSpPr>
        <p:spPr>
          <a:xfrm>
            <a:off x="715518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09" name="Rank 5 segment from source 1 / records 1 / segment 0"/>
          <p:cNvCxnSpPr/>
          <p:nvPr/>
        </p:nvCxnSpPr>
        <p:spPr>
          <a:xfrm>
            <a:off x="715518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0" name="Rank 5 segment from source 2"/>
          <p:cNvSpPr/>
          <p:nvPr/>
        </p:nvSpPr>
        <p:spPr>
          <a:xfrm>
            <a:off x="742950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1" name="Rank 5 segment from source 2 / records 0 / segment 0"/>
          <p:cNvCxnSpPr/>
          <p:nvPr/>
        </p:nvCxnSpPr>
        <p:spPr>
          <a:xfrm>
            <a:off x="7475220" y="29718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2" name="Rank 5 segment from source 2 / records 1 / segment 0"/>
          <p:cNvCxnSpPr/>
          <p:nvPr/>
        </p:nvCxnSpPr>
        <p:spPr>
          <a:xfrm>
            <a:off x="7475220" y="30403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3" name="Rank 5 segment from source 3"/>
          <p:cNvSpPr/>
          <p:nvPr/>
        </p:nvSpPr>
        <p:spPr>
          <a:xfrm>
            <a:off x="774954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4" name="Rank 5 segment from source 3 / records 0 / segment 0"/>
          <p:cNvCxnSpPr/>
          <p:nvPr/>
        </p:nvCxnSpPr>
        <p:spPr>
          <a:xfrm>
            <a:off x="779526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5" name="Rank 5 segment from source 3 / records 1 / segment 0"/>
          <p:cNvCxnSpPr/>
          <p:nvPr/>
        </p:nvCxnSpPr>
        <p:spPr>
          <a:xfrm>
            <a:off x="779526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6" name="Rank 5 segment from source 4"/>
          <p:cNvSpPr/>
          <p:nvPr/>
        </p:nvSpPr>
        <p:spPr>
          <a:xfrm>
            <a:off x="8069579"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7" name="Rank 5 segment from source 4 / records 0 / segment 0"/>
          <p:cNvCxnSpPr/>
          <p:nvPr/>
        </p:nvCxnSpPr>
        <p:spPr>
          <a:xfrm>
            <a:off x="811530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8" name="Rank 5 segment from source 4 / records 1 / segment 0"/>
          <p:cNvCxnSpPr/>
          <p:nvPr/>
        </p:nvCxnSpPr>
        <p:spPr>
          <a:xfrm>
            <a:off x="811530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9" name="Rank 5 segment from source 5"/>
          <p:cNvSpPr/>
          <p:nvPr/>
        </p:nvSpPr>
        <p:spPr>
          <a:xfrm>
            <a:off x="8389620" y="29032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0" name="Rank 5 segment from source 5 / records 0 / segment 0"/>
          <p:cNvCxnSpPr/>
          <p:nvPr/>
        </p:nvCxnSpPr>
        <p:spPr>
          <a:xfrm>
            <a:off x="843534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21" name="Rank 5 segment from source 5 / records 1 / segment 0"/>
          <p:cNvCxnSpPr/>
          <p:nvPr/>
        </p:nvCxnSpPr>
        <p:spPr>
          <a:xfrm>
            <a:off x="843534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22" name="Merge rank 5 / segment 0"/>
          <p:cNvCxnSpPr/>
          <p:nvPr/>
        </p:nvCxnSpPr>
        <p:spPr>
          <a:xfrm>
            <a:off x="8709660" y="300990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3" name="Rank 5 merged record group 0"/>
          <p:cNvSpPr/>
          <p:nvPr/>
        </p:nvSpPr>
        <p:spPr>
          <a:xfrm>
            <a:off x="933450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Rank 5 merged record group 1"/>
          <p:cNvSpPr/>
          <p:nvPr/>
        </p:nvSpPr>
        <p:spPr>
          <a:xfrm>
            <a:off x="955548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Rank 5 merged record group 2"/>
          <p:cNvSpPr/>
          <p:nvPr/>
        </p:nvSpPr>
        <p:spPr>
          <a:xfrm>
            <a:off x="977646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Rank 5 merged record group 3"/>
          <p:cNvSpPr/>
          <p:nvPr/>
        </p:nvSpPr>
        <p:spPr>
          <a:xfrm>
            <a:off x="999744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Rank 5 merged record group 4"/>
          <p:cNvSpPr/>
          <p:nvPr/>
        </p:nvSpPr>
        <p:spPr>
          <a:xfrm>
            <a:off x="1021842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Rank 5 merged record group 5"/>
          <p:cNvSpPr/>
          <p:nvPr/>
        </p:nvSpPr>
        <p:spPr>
          <a:xfrm>
            <a:off x="1043940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9" name="Compress rank 5 / segment 0"/>
          <p:cNvCxnSpPr/>
          <p:nvPr/>
        </p:nvCxnSpPr>
        <p:spPr>
          <a:xfrm>
            <a:off x="10721340" y="300990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32" name="Rank body 5 [editable group]"/>
          <p:cNvGrpSpPr/>
          <p:nvPr/>
        </p:nvGrpSpPr>
        <p:grpSpPr>
          <a:xfrm>
            <a:off x="11079480" y="2903220"/>
            <a:ext cx="647700" cy="213360"/>
            <a:chOff x="11079480" y="2903220"/>
            <a:chExt cx="647700" cy="213360"/>
          </a:xfrm>
        </p:grpSpPr>
        <p:sp>
          <p:nvSpPr>
            <p:cNvPr id="430" name="Rank body 5"/>
            <p:cNvSpPr/>
            <p:nvPr/>
          </p:nvSpPr>
          <p:spPr>
            <a:xfrm>
              <a:off x="11079480" y="290322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Rank body 5 / label"/>
            <p:cNvSpPr txBox="1"/>
            <p:nvPr/>
          </p:nvSpPr>
          <p:spPr>
            <a:xfrm>
              <a:off x="11125200" y="2926080"/>
              <a:ext cx="556260" cy="16764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body 5</a:t>
              </a:r>
            </a:p>
          </p:txBody>
        </p:sp>
      </p:grpSp>
      <p:cxnSp>
        <p:nvCxnSpPr>
          <p:cNvPr id="433" name="All sender ranks bracket / segment 0"/>
          <p:cNvCxnSpPr/>
          <p:nvPr/>
        </p:nvCxnSpPr>
        <p:spPr>
          <a:xfrm>
            <a:off x="4777740" y="121920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4" name="All sender ranks bracket / segment 1"/>
          <p:cNvCxnSpPr/>
          <p:nvPr/>
        </p:nvCxnSpPr>
        <p:spPr>
          <a:xfrm>
            <a:off x="4861560" y="1219200"/>
            <a:ext cx="0" cy="193548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5" name="All sender ranks bracket / segment 2"/>
          <p:cNvCxnSpPr/>
          <p:nvPr/>
        </p:nvCxnSpPr>
        <p:spPr>
          <a:xfrm flipH="1">
            <a:off x="4777740" y="315468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6" name="All receiver ranks bracket / segment 0"/>
          <p:cNvCxnSpPr/>
          <p:nvPr/>
        </p:nvCxnSpPr>
        <p:spPr>
          <a:xfrm flipH="1">
            <a:off x="6294120" y="121920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7" name="All receiver ranks bracket / segment 1"/>
          <p:cNvCxnSpPr/>
          <p:nvPr/>
        </p:nvCxnSpPr>
        <p:spPr>
          <a:xfrm>
            <a:off x="6294120" y="1219200"/>
            <a:ext cx="0" cy="193548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8" name="All receiver ranks bracket / segment 2"/>
          <p:cNvCxnSpPr/>
          <p:nvPr/>
        </p:nvCxnSpPr>
        <p:spPr>
          <a:xfrm>
            <a:off x="6294120" y="315468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39" name="Chunked exchange caption"/>
          <p:cNvSpPr txBox="1"/>
          <p:nvPr/>
        </p:nvSpPr>
        <p:spPr>
          <a:xfrm>
            <a:off x="4945380" y="1440180"/>
            <a:ext cx="1264920" cy="594360"/>
          </a:xfrm>
          <a:prstGeom prst="rect">
            <a:avLst/>
          </a:prstGeom>
          <a:noFill/>
        </p:spPr>
        <p:txBody>
          <a:bodyPr wrap="none" lIns="0" rIns="0" tIns="0" bIns="0" anchor="ctr">
            <a:noAutofit/>
          </a:bodyPr>
          <a:lstStyle/>
          <a:p>
            <a:pPr algn="ctr">
              <a:lnSpc>
                <a:spcPts val="1411"/>
              </a:lnSpc>
              <a:spcBef>
                <a:spcPts val="0"/>
              </a:spcBef>
              <a:spcAft>
                <a:spcPts val="0"/>
              </a:spcAft>
            </a:pPr>
            <a:r>
              <a:rPr sz="1260" b="1" i="0">
                <a:solidFill>
                  <a:srgbClr val="172C36"/>
                </a:solidFill>
                <a:latin typeface="Arial"/>
              </a:rPr>
              <a:t>Chunked</a:t>
            </a:r>
          </a:p>
          <a:p>
            <a:pPr algn="ctr">
              <a:lnSpc>
                <a:spcPts val="1411"/>
              </a:lnSpc>
              <a:spcBef>
                <a:spcPts val="0"/>
              </a:spcBef>
              <a:spcAft>
                <a:spcPts val="0"/>
              </a:spcAft>
            </a:pPr>
            <a:r>
              <a:rPr sz="1260" b="1" i="0">
                <a:solidFill>
                  <a:srgbClr val="172C36"/>
                </a:solidFill>
                <a:latin typeface="Arial"/>
              </a:rPr>
              <a:t>peer-to-peer</a:t>
            </a:r>
          </a:p>
          <a:p>
            <a:pPr algn="ctr">
              <a:lnSpc>
                <a:spcPts val="1411"/>
              </a:lnSpc>
              <a:spcBef>
                <a:spcPts val="0"/>
              </a:spcBef>
              <a:spcAft>
                <a:spcPts val="0"/>
              </a:spcAft>
            </a:pPr>
            <a:r>
              <a:rPr sz="1260" b="1" i="0">
                <a:solidFill>
                  <a:srgbClr val="172C36"/>
                </a:solidFill>
                <a:latin typeface="Arial"/>
              </a:rPr>
              <a:t>exchange</a:t>
            </a:r>
          </a:p>
        </p:txBody>
      </p:sp>
      <p:cxnSp>
        <p:nvCxnSpPr>
          <p:cNvPr id="440" name="Distributed transpose / segment 0"/>
          <p:cNvCxnSpPr/>
          <p:nvPr/>
        </p:nvCxnSpPr>
        <p:spPr>
          <a:xfrm>
            <a:off x="4861560" y="2156460"/>
            <a:ext cx="1432560" cy="0"/>
          </a:xfrm>
          <a:prstGeom prst="line">
            <a:avLst/>
          </a:prstGeom>
          <a:ln w="32004">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1" name="Self-owned local path / segment 0"/>
          <p:cNvCxnSpPr/>
          <p:nvPr/>
        </p:nvCxnSpPr>
        <p:spPr>
          <a:xfrm>
            <a:off x="5166360" y="2385060"/>
            <a:ext cx="0" cy="137160"/>
          </a:xfrm>
          <a:prstGeom prst="line">
            <a:avLst/>
          </a:prstGeom>
          <a:ln w="13716">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42" name="Self-owned local path / segment 1"/>
          <p:cNvCxnSpPr/>
          <p:nvPr/>
        </p:nvCxnSpPr>
        <p:spPr>
          <a:xfrm>
            <a:off x="5166360" y="2522220"/>
            <a:ext cx="876300" cy="0"/>
          </a:xfrm>
          <a:prstGeom prst="line">
            <a:avLst/>
          </a:prstGeom>
          <a:ln w="13716">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43" name="Self-owned local path / segment 2"/>
          <p:cNvCxnSpPr/>
          <p:nvPr/>
        </p:nvCxnSpPr>
        <p:spPr>
          <a:xfrm flipV="1">
            <a:off x="6042660" y="2385060"/>
            <a:ext cx="0" cy="13716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4" name="Self-owned local caption"/>
          <p:cNvSpPr txBox="1"/>
          <p:nvPr/>
        </p:nvSpPr>
        <p:spPr>
          <a:xfrm>
            <a:off x="4953000" y="2628900"/>
            <a:ext cx="1295400" cy="37338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Self-owned:</a:t>
            </a:r>
          </a:p>
          <a:p>
            <a:pPr algn="ctr">
              <a:lnSpc>
                <a:spcPts val="1276"/>
              </a:lnSpc>
              <a:spcBef>
                <a:spcPts val="0"/>
              </a:spcBef>
              <a:spcAft>
                <a:spcPts val="0"/>
              </a:spcAft>
            </a:pPr>
            <a:r>
              <a:rPr sz="1140" b="0" i="0">
                <a:solidFill>
                  <a:srgbClr val="172C36"/>
                </a:solidFill>
                <a:latin typeface="Arial"/>
              </a:rPr>
              <a:t>keep local</a:t>
            </a:r>
          </a:p>
        </p:txBody>
      </p:sp>
      <p:sp>
        <p:nvSpPr>
          <p:cNvPr id="445" name="Destination color legend"/>
          <p:cNvSpPr txBox="1"/>
          <p:nvPr/>
        </p:nvSpPr>
        <p:spPr>
          <a:xfrm>
            <a:off x="373380" y="3375660"/>
            <a:ext cx="4328160" cy="190500"/>
          </a:xfrm>
          <a:prstGeom prst="rect">
            <a:avLst/>
          </a:prstGeom>
          <a:noFill/>
        </p:spPr>
        <p:txBody>
          <a:bodyPr wrap="none" lIns="0" rIns="0" tIns="0" bIns="0" anchor="ctr">
            <a:noAutofit/>
          </a:bodyPr>
          <a:lstStyle/>
          <a:p>
            <a:pPr algn="l">
              <a:lnSpc>
                <a:spcPts val="1276"/>
              </a:lnSpc>
              <a:spcBef>
                <a:spcPts val="0"/>
              </a:spcBef>
              <a:spcAft>
                <a:spcPts val="0"/>
              </a:spcAft>
            </a:pPr>
            <a:r>
              <a:rPr sz="1140" b="0" i="0">
                <a:solidFill>
                  <a:srgbClr val="172C36"/>
                </a:solidFill>
                <a:latin typeface="Arial"/>
              </a:rPr>
              <a:t>Cell color / number: destination rank</a:t>
            </a:r>
          </a:p>
        </p:txBody>
      </p:sp>
      <p:sp>
        <p:nvSpPr>
          <p:cNvPr id="446" name="Source and local segment legend"/>
          <p:cNvSpPr txBox="1"/>
          <p:nvPr/>
        </p:nvSpPr>
        <p:spPr>
          <a:xfrm>
            <a:off x="5090160" y="3291840"/>
            <a:ext cx="3688080" cy="35814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s0 ... s5: source ranks</a:t>
            </a:r>
          </a:p>
          <a:p>
            <a:pPr algn="ctr">
              <a:lnSpc>
                <a:spcPts val="1142"/>
              </a:lnSpc>
              <a:spcBef>
                <a:spcPts val="0"/>
              </a:spcBef>
              <a:spcAft>
                <a:spcPts val="0"/>
              </a:spcAft>
            </a:pPr>
            <a:r>
              <a:rPr sz="1019" b="0" i="0">
                <a:solidFill>
                  <a:srgbClr val="172C36"/>
                </a:solidFill>
                <a:latin typeface="Arial"/>
              </a:rPr>
              <a:t>Bold segment outline: self-owned data</a:t>
            </a:r>
          </a:p>
        </p:txBody>
      </p:sp>
      <p:sp>
        <p:nvSpPr>
          <p:cNvPr id="447" name="Output body clarification"/>
          <p:cNvSpPr txBox="1"/>
          <p:nvPr/>
        </p:nvSpPr>
        <p:spPr>
          <a:xfrm>
            <a:off x="9235440" y="3375660"/>
            <a:ext cx="2583180" cy="1905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One compressed body per rank</a:t>
            </a:r>
          </a:p>
        </p:txBody>
      </p:sp>
      <p:sp>
        <p:nvSpPr>
          <p:cNvPr id="448" name="Partition policy inset"/>
          <p:cNvSpPr/>
          <p:nvPr/>
        </p:nvSpPr>
        <p:spPr>
          <a:xfrm>
            <a:off x="213360" y="3901440"/>
            <a:ext cx="4693920" cy="2842260"/>
          </a:xfrm>
          <a:prstGeom prst="roundRect">
            <a:avLst>
              <a:gd name="adj" fmla="val 3217"/>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Partition policy inset / heading"/>
          <p:cNvSpPr txBox="1"/>
          <p:nvPr/>
        </p:nvSpPr>
        <p:spPr>
          <a:xfrm>
            <a:off x="327660" y="3977639"/>
            <a:ext cx="446532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(b) Different partitioning policies</a:t>
            </a:r>
          </a:p>
        </p:txBody>
      </p:sp>
      <p:sp>
        <p:nvSpPr>
          <p:cNvPr id="450" name="Sort policy title"/>
          <p:cNvSpPr txBox="1"/>
          <p:nvPr/>
        </p:nvSpPr>
        <p:spPr>
          <a:xfrm>
            <a:off x="373380" y="4335780"/>
            <a:ext cx="762000" cy="213360"/>
          </a:xfrm>
          <a:prstGeom prst="rect">
            <a:avLst/>
          </a:prstGeom>
          <a:noFill/>
        </p:spPr>
        <p:txBody>
          <a:bodyPr wrap="none" lIns="0" rIns="0" tIns="0" bIns="0" anchor="ctr">
            <a:noAutofit/>
          </a:bodyPr>
          <a:lstStyle/>
          <a:p>
            <a:pPr algn="l">
              <a:lnSpc>
                <a:spcPts val="1545"/>
              </a:lnSpc>
              <a:spcBef>
                <a:spcPts val="0"/>
              </a:spcBef>
              <a:spcAft>
                <a:spcPts val="0"/>
              </a:spcAft>
            </a:pPr>
            <a:r>
              <a:rPr sz="1380" b="1" i="0">
                <a:solidFill>
                  <a:srgbClr val="197BA3"/>
                </a:solidFill>
                <a:latin typeface="Arial"/>
              </a:rPr>
              <a:t>Sort</a:t>
            </a:r>
          </a:p>
        </p:txBody>
      </p:sp>
      <p:sp>
        <p:nvSpPr>
          <p:cNvPr id="451" name="Sort policy summary"/>
          <p:cNvSpPr txBox="1"/>
          <p:nvPr/>
        </p:nvSpPr>
        <p:spPr>
          <a:xfrm>
            <a:off x="1424940" y="4335780"/>
            <a:ext cx="3307080" cy="21336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Samples → 5 splitters → 6 ranges</a:t>
            </a:r>
          </a:p>
        </p:txBody>
      </p:sp>
      <p:grpSp>
        <p:nvGrpSpPr>
          <p:cNvPr id="454" name="Coordinate owner range 0 [editable group]"/>
          <p:cNvGrpSpPr/>
          <p:nvPr/>
        </p:nvGrpSpPr>
        <p:grpSpPr>
          <a:xfrm>
            <a:off x="434340" y="4831080"/>
            <a:ext cx="701040" cy="266700"/>
            <a:chOff x="434340" y="4831080"/>
            <a:chExt cx="701040" cy="266700"/>
          </a:xfrm>
        </p:grpSpPr>
        <p:sp>
          <p:nvSpPr>
            <p:cNvPr id="452" name="Coordinate owner range 0"/>
            <p:cNvSpPr/>
            <p:nvPr/>
          </p:nvSpPr>
          <p:spPr>
            <a:xfrm>
              <a:off x="434340" y="4831080"/>
              <a:ext cx="701040" cy="26670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Coordinate owner range 0 / label"/>
            <p:cNvSpPr txBox="1"/>
            <p:nvPr/>
          </p:nvSpPr>
          <p:spPr>
            <a:xfrm>
              <a:off x="480060" y="4853940"/>
              <a:ext cx="609600" cy="22098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r0</a:t>
              </a:r>
            </a:p>
          </p:txBody>
        </p:sp>
      </p:grpSp>
      <p:grpSp>
        <p:nvGrpSpPr>
          <p:cNvPr id="457" name="Coordinate owner range 1 [editable group]"/>
          <p:cNvGrpSpPr/>
          <p:nvPr/>
        </p:nvGrpSpPr>
        <p:grpSpPr>
          <a:xfrm>
            <a:off x="1135380" y="4831080"/>
            <a:ext cx="701040" cy="266700"/>
            <a:chOff x="1135380" y="4831080"/>
            <a:chExt cx="701040" cy="266700"/>
          </a:xfrm>
        </p:grpSpPr>
        <p:sp>
          <p:nvSpPr>
            <p:cNvPr id="455" name="Coordinate owner range 1"/>
            <p:cNvSpPr/>
            <p:nvPr/>
          </p:nvSpPr>
          <p:spPr>
            <a:xfrm>
              <a:off x="1135380" y="4831080"/>
              <a:ext cx="701040" cy="26670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Coordinate owner range 1 / label"/>
            <p:cNvSpPr txBox="1"/>
            <p:nvPr/>
          </p:nvSpPr>
          <p:spPr>
            <a:xfrm>
              <a:off x="1181100" y="4853940"/>
              <a:ext cx="609600" cy="22098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r1</a:t>
              </a:r>
            </a:p>
          </p:txBody>
        </p:sp>
      </p:grpSp>
      <p:cxnSp>
        <p:nvCxnSpPr>
          <p:cNvPr id="458" name="Splitter tick 1 / segment 0"/>
          <p:cNvCxnSpPr/>
          <p:nvPr/>
        </p:nvCxnSpPr>
        <p:spPr>
          <a:xfrm>
            <a:off x="113538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59" name="Splitter label 1"/>
          <p:cNvSpPr txBox="1"/>
          <p:nvPr/>
        </p:nvSpPr>
        <p:spPr>
          <a:xfrm>
            <a:off x="967740" y="4572000"/>
            <a:ext cx="335280" cy="1905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s1</a:t>
            </a:r>
          </a:p>
        </p:txBody>
      </p:sp>
      <p:grpSp>
        <p:nvGrpSpPr>
          <p:cNvPr id="462" name="Coordinate owner range 2 [editable group]"/>
          <p:cNvGrpSpPr/>
          <p:nvPr/>
        </p:nvGrpSpPr>
        <p:grpSpPr>
          <a:xfrm>
            <a:off x="1836420" y="4831080"/>
            <a:ext cx="701040" cy="266700"/>
            <a:chOff x="1836420" y="4831080"/>
            <a:chExt cx="701040" cy="266700"/>
          </a:xfrm>
        </p:grpSpPr>
        <p:sp>
          <p:nvSpPr>
            <p:cNvPr id="460" name="Coordinate owner range 2"/>
            <p:cNvSpPr/>
            <p:nvPr/>
          </p:nvSpPr>
          <p:spPr>
            <a:xfrm>
              <a:off x="1836420" y="4831080"/>
              <a:ext cx="701040" cy="26670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Coordinate owner range 2 / label"/>
            <p:cNvSpPr txBox="1"/>
            <p:nvPr/>
          </p:nvSpPr>
          <p:spPr>
            <a:xfrm>
              <a:off x="1882139" y="4853940"/>
              <a:ext cx="609600" cy="22098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r2</a:t>
              </a:r>
            </a:p>
          </p:txBody>
        </p:sp>
      </p:grpSp>
      <p:cxnSp>
        <p:nvCxnSpPr>
          <p:cNvPr id="463" name="Splitter tick 2 / segment 0"/>
          <p:cNvCxnSpPr/>
          <p:nvPr/>
        </p:nvCxnSpPr>
        <p:spPr>
          <a:xfrm>
            <a:off x="183642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64" name="Splitter label 2"/>
          <p:cNvSpPr txBox="1"/>
          <p:nvPr/>
        </p:nvSpPr>
        <p:spPr>
          <a:xfrm>
            <a:off x="1668780" y="4572000"/>
            <a:ext cx="335280" cy="1905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s2</a:t>
            </a:r>
          </a:p>
        </p:txBody>
      </p:sp>
      <p:grpSp>
        <p:nvGrpSpPr>
          <p:cNvPr id="467" name="Coordinate owner range 3 [editable group]"/>
          <p:cNvGrpSpPr/>
          <p:nvPr/>
        </p:nvGrpSpPr>
        <p:grpSpPr>
          <a:xfrm>
            <a:off x="2537460" y="4831080"/>
            <a:ext cx="701040" cy="266700"/>
            <a:chOff x="2537460" y="4831080"/>
            <a:chExt cx="701040" cy="266700"/>
          </a:xfrm>
        </p:grpSpPr>
        <p:sp>
          <p:nvSpPr>
            <p:cNvPr id="465" name="Coordinate owner range 3"/>
            <p:cNvSpPr/>
            <p:nvPr/>
          </p:nvSpPr>
          <p:spPr>
            <a:xfrm>
              <a:off x="2537460" y="4831080"/>
              <a:ext cx="701040" cy="26670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Coordinate owner range 3 / label"/>
            <p:cNvSpPr txBox="1"/>
            <p:nvPr/>
          </p:nvSpPr>
          <p:spPr>
            <a:xfrm>
              <a:off x="2583180" y="4853940"/>
              <a:ext cx="609600" cy="22098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r3</a:t>
              </a:r>
            </a:p>
          </p:txBody>
        </p:sp>
      </p:grpSp>
      <p:cxnSp>
        <p:nvCxnSpPr>
          <p:cNvPr id="468" name="Splitter tick 3 / segment 0"/>
          <p:cNvCxnSpPr/>
          <p:nvPr/>
        </p:nvCxnSpPr>
        <p:spPr>
          <a:xfrm>
            <a:off x="253746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69" name="Splitter label 3"/>
          <p:cNvSpPr txBox="1"/>
          <p:nvPr/>
        </p:nvSpPr>
        <p:spPr>
          <a:xfrm>
            <a:off x="2369820" y="4572000"/>
            <a:ext cx="335280" cy="1905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s3</a:t>
            </a:r>
          </a:p>
        </p:txBody>
      </p:sp>
      <p:grpSp>
        <p:nvGrpSpPr>
          <p:cNvPr id="472" name="Coordinate owner range 4 [editable group]"/>
          <p:cNvGrpSpPr/>
          <p:nvPr/>
        </p:nvGrpSpPr>
        <p:grpSpPr>
          <a:xfrm>
            <a:off x="3238500" y="4831080"/>
            <a:ext cx="701040" cy="266700"/>
            <a:chOff x="3238500" y="4831080"/>
            <a:chExt cx="701040" cy="266700"/>
          </a:xfrm>
        </p:grpSpPr>
        <p:sp>
          <p:nvSpPr>
            <p:cNvPr id="470" name="Coordinate owner range 4"/>
            <p:cNvSpPr/>
            <p:nvPr/>
          </p:nvSpPr>
          <p:spPr>
            <a:xfrm>
              <a:off x="3238500" y="4831080"/>
              <a:ext cx="701040" cy="26670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Coordinate owner range 4 / label"/>
            <p:cNvSpPr txBox="1"/>
            <p:nvPr/>
          </p:nvSpPr>
          <p:spPr>
            <a:xfrm>
              <a:off x="3284220" y="4853940"/>
              <a:ext cx="609600" cy="22098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r4</a:t>
              </a:r>
            </a:p>
          </p:txBody>
        </p:sp>
      </p:grpSp>
      <p:cxnSp>
        <p:nvCxnSpPr>
          <p:cNvPr id="473" name="Splitter tick 4 / segment 0"/>
          <p:cNvCxnSpPr/>
          <p:nvPr/>
        </p:nvCxnSpPr>
        <p:spPr>
          <a:xfrm>
            <a:off x="323850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4" name="Splitter label 4"/>
          <p:cNvSpPr txBox="1"/>
          <p:nvPr/>
        </p:nvSpPr>
        <p:spPr>
          <a:xfrm>
            <a:off x="3070860" y="4572000"/>
            <a:ext cx="335280" cy="1905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s4</a:t>
            </a:r>
          </a:p>
        </p:txBody>
      </p:sp>
      <p:grpSp>
        <p:nvGrpSpPr>
          <p:cNvPr id="477" name="Coordinate owner range 5 [editable group]"/>
          <p:cNvGrpSpPr/>
          <p:nvPr/>
        </p:nvGrpSpPr>
        <p:grpSpPr>
          <a:xfrm>
            <a:off x="3939540" y="4831080"/>
            <a:ext cx="701040" cy="266700"/>
            <a:chOff x="3939540" y="4831080"/>
            <a:chExt cx="701040" cy="266700"/>
          </a:xfrm>
        </p:grpSpPr>
        <p:sp>
          <p:nvSpPr>
            <p:cNvPr id="475" name="Coordinate owner range 5"/>
            <p:cNvSpPr/>
            <p:nvPr/>
          </p:nvSpPr>
          <p:spPr>
            <a:xfrm>
              <a:off x="3939540" y="4831080"/>
              <a:ext cx="701040" cy="26670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Coordinate owner range 5 / label"/>
            <p:cNvSpPr txBox="1"/>
            <p:nvPr/>
          </p:nvSpPr>
          <p:spPr>
            <a:xfrm>
              <a:off x="3985260" y="4853940"/>
              <a:ext cx="609600" cy="22098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r5</a:t>
              </a:r>
            </a:p>
          </p:txBody>
        </p:sp>
      </p:grpSp>
      <p:cxnSp>
        <p:nvCxnSpPr>
          <p:cNvPr id="478" name="Splitter tick 5 / segment 0"/>
          <p:cNvCxnSpPr/>
          <p:nvPr/>
        </p:nvCxnSpPr>
        <p:spPr>
          <a:xfrm>
            <a:off x="393954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9" name="Splitter label 5"/>
          <p:cNvSpPr txBox="1"/>
          <p:nvPr/>
        </p:nvSpPr>
        <p:spPr>
          <a:xfrm>
            <a:off x="3771900" y="4572000"/>
            <a:ext cx="335280" cy="1905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s5</a:t>
            </a:r>
          </a:p>
        </p:txBody>
      </p:sp>
      <p:sp>
        <p:nvSpPr>
          <p:cNvPr id="480" name="Sort coordinate order"/>
          <p:cNvSpPr txBox="1"/>
          <p:nvPr/>
        </p:nvSpPr>
        <p:spPr>
          <a:xfrm>
            <a:off x="396240" y="5166360"/>
            <a:ext cx="4274820" cy="19050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97BA3"/>
                </a:solidFill>
                <a:latin typeface="Arial"/>
              </a:rPr>
              <a:t>Global coordinate order</a:t>
            </a:r>
          </a:p>
        </p:txBody>
      </p:sp>
      <p:cxnSp>
        <p:nvCxnSpPr>
          <p:cNvPr id="481" name="Increasing coordinate axis / segment 0"/>
          <p:cNvCxnSpPr/>
          <p:nvPr/>
        </p:nvCxnSpPr>
        <p:spPr>
          <a:xfrm>
            <a:off x="640080" y="5425440"/>
            <a:ext cx="3787140" cy="0"/>
          </a:xfrm>
          <a:prstGeom prst="line">
            <a:avLst/>
          </a:prstGeom>
          <a:ln w="12192">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2" name="Collate policy title"/>
          <p:cNvSpPr txBox="1"/>
          <p:nvPr/>
        </p:nvSpPr>
        <p:spPr>
          <a:xfrm>
            <a:off x="373380" y="5570220"/>
            <a:ext cx="914400" cy="213360"/>
          </a:xfrm>
          <a:prstGeom prst="rect">
            <a:avLst/>
          </a:prstGeom>
          <a:noFill/>
        </p:spPr>
        <p:txBody>
          <a:bodyPr wrap="none" lIns="0" rIns="0" tIns="0" bIns="0" anchor="ctr">
            <a:noAutofit/>
          </a:bodyPr>
          <a:lstStyle/>
          <a:p>
            <a:pPr algn="l">
              <a:lnSpc>
                <a:spcPts val="1545"/>
              </a:lnSpc>
              <a:spcBef>
                <a:spcPts val="0"/>
              </a:spcBef>
              <a:spcAft>
                <a:spcPts val="0"/>
              </a:spcAft>
            </a:pPr>
            <a:r>
              <a:rPr sz="1380" b="1" i="0">
                <a:solidFill>
                  <a:srgbClr val="57834A"/>
                </a:solidFill>
                <a:latin typeface="Arial"/>
              </a:rPr>
              <a:t>Collate</a:t>
            </a:r>
          </a:p>
        </p:txBody>
      </p:sp>
      <p:sp>
        <p:nvSpPr>
          <p:cNvPr id="483" name="Collate mapping formula"/>
          <p:cNvSpPr txBox="1"/>
          <p:nvPr/>
        </p:nvSpPr>
        <p:spPr>
          <a:xfrm>
            <a:off x="1447800" y="5570220"/>
            <a:ext cx="3276600" cy="21336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QNAME → hash / bin → owner</a:t>
            </a:r>
          </a:p>
        </p:txBody>
      </p:sp>
      <p:sp>
        <p:nvSpPr>
          <p:cNvPr id="484" name="Bin range 0"/>
          <p:cNvSpPr txBox="1"/>
          <p:nvPr/>
        </p:nvSpPr>
        <p:spPr>
          <a:xfrm>
            <a:off x="434340" y="5836920"/>
            <a:ext cx="70104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0–10</a:t>
            </a:r>
          </a:p>
        </p:txBody>
      </p:sp>
      <p:grpSp>
        <p:nvGrpSpPr>
          <p:cNvPr id="487" name="Collate owner range 0 [editable group]"/>
          <p:cNvGrpSpPr/>
          <p:nvPr/>
        </p:nvGrpSpPr>
        <p:grpSpPr>
          <a:xfrm>
            <a:off x="434340" y="6050280"/>
            <a:ext cx="701040" cy="243840"/>
            <a:chOff x="434340" y="6050280"/>
            <a:chExt cx="701040" cy="243840"/>
          </a:xfrm>
        </p:grpSpPr>
        <p:sp>
          <p:nvSpPr>
            <p:cNvPr id="485" name="Collate owner range 0"/>
            <p:cNvSpPr/>
            <p:nvPr/>
          </p:nvSpPr>
          <p:spPr>
            <a:xfrm>
              <a:off x="434340" y="6050280"/>
              <a:ext cx="701040" cy="24384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Collate owner range 0 / label"/>
            <p:cNvSpPr txBox="1"/>
            <p:nvPr/>
          </p:nvSpPr>
          <p:spPr>
            <a:xfrm>
              <a:off x="480060" y="6073140"/>
              <a:ext cx="609600" cy="1981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r0</a:t>
              </a:r>
            </a:p>
          </p:txBody>
        </p:sp>
      </p:grpSp>
      <p:sp>
        <p:nvSpPr>
          <p:cNvPr id="488" name="Bin range 1"/>
          <p:cNvSpPr txBox="1"/>
          <p:nvPr/>
        </p:nvSpPr>
        <p:spPr>
          <a:xfrm>
            <a:off x="1135380" y="5836920"/>
            <a:ext cx="70104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11–21</a:t>
            </a:r>
          </a:p>
        </p:txBody>
      </p:sp>
      <p:grpSp>
        <p:nvGrpSpPr>
          <p:cNvPr id="491" name="Collate owner range 1 [editable group]"/>
          <p:cNvGrpSpPr/>
          <p:nvPr/>
        </p:nvGrpSpPr>
        <p:grpSpPr>
          <a:xfrm>
            <a:off x="1135380" y="6050280"/>
            <a:ext cx="701040" cy="243840"/>
            <a:chOff x="1135380" y="6050280"/>
            <a:chExt cx="701040" cy="243840"/>
          </a:xfrm>
        </p:grpSpPr>
        <p:sp>
          <p:nvSpPr>
            <p:cNvPr id="489" name="Collate owner range 1"/>
            <p:cNvSpPr/>
            <p:nvPr/>
          </p:nvSpPr>
          <p:spPr>
            <a:xfrm>
              <a:off x="1135380" y="6050280"/>
              <a:ext cx="701040" cy="24384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Collate owner range 1 / label"/>
            <p:cNvSpPr txBox="1"/>
            <p:nvPr/>
          </p:nvSpPr>
          <p:spPr>
            <a:xfrm>
              <a:off x="1181100" y="6073140"/>
              <a:ext cx="609600" cy="1981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r1</a:t>
              </a:r>
            </a:p>
          </p:txBody>
        </p:sp>
      </p:grpSp>
      <p:sp>
        <p:nvSpPr>
          <p:cNvPr id="492" name="Bin range 2"/>
          <p:cNvSpPr txBox="1"/>
          <p:nvPr/>
        </p:nvSpPr>
        <p:spPr>
          <a:xfrm>
            <a:off x="1836420" y="5836920"/>
            <a:ext cx="70104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22–32</a:t>
            </a:r>
          </a:p>
        </p:txBody>
      </p:sp>
      <p:grpSp>
        <p:nvGrpSpPr>
          <p:cNvPr id="495" name="Collate owner range 2 [editable group]"/>
          <p:cNvGrpSpPr/>
          <p:nvPr/>
        </p:nvGrpSpPr>
        <p:grpSpPr>
          <a:xfrm>
            <a:off x="1836420" y="6050280"/>
            <a:ext cx="701040" cy="243840"/>
            <a:chOff x="1836420" y="6050280"/>
            <a:chExt cx="701040" cy="243840"/>
          </a:xfrm>
        </p:grpSpPr>
        <p:sp>
          <p:nvSpPr>
            <p:cNvPr id="493" name="Collate owner range 2"/>
            <p:cNvSpPr/>
            <p:nvPr/>
          </p:nvSpPr>
          <p:spPr>
            <a:xfrm>
              <a:off x="1836420" y="6050280"/>
              <a:ext cx="701040" cy="24384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Collate owner range 2 / label"/>
            <p:cNvSpPr txBox="1"/>
            <p:nvPr/>
          </p:nvSpPr>
          <p:spPr>
            <a:xfrm>
              <a:off x="1882139" y="6073140"/>
              <a:ext cx="609600" cy="1981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r2</a:t>
              </a:r>
            </a:p>
          </p:txBody>
        </p:sp>
      </p:grpSp>
      <p:sp>
        <p:nvSpPr>
          <p:cNvPr id="496" name="Bin range 3"/>
          <p:cNvSpPr txBox="1"/>
          <p:nvPr/>
        </p:nvSpPr>
        <p:spPr>
          <a:xfrm>
            <a:off x="2537460" y="5836920"/>
            <a:ext cx="70104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33–43</a:t>
            </a:r>
          </a:p>
        </p:txBody>
      </p:sp>
      <p:grpSp>
        <p:nvGrpSpPr>
          <p:cNvPr id="499" name="Collate owner range 3 [editable group]"/>
          <p:cNvGrpSpPr/>
          <p:nvPr/>
        </p:nvGrpSpPr>
        <p:grpSpPr>
          <a:xfrm>
            <a:off x="2537460" y="6050280"/>
            <a:ext cx="701040" cy="243840"/>
            <a:chOff x="2537460" y="6050280"/>
            <a:chExt cx="701040" cy="243840"/>
          </a:xfrm>
        </p:grpSpPr>
        <p:sp>
          <p:nvSpPr>
            <p:cNvPr id="497" name="Collate owner range 3"/>
            <p:cNvSpPr/>
            <p:nvPr/>
          </p:nvSpPr>
          <p:spPr>
            <a:xfrm>
              <a:off x="2537460" y="6050280"/>
              <a:ext cx="701040" cy="24384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Collate owner range 3 / label"/>
            <p:cNvSpPr txBox="1"/>
            <p:nvPr/>
          </p:nvSpPr>
          <p:spPr>
            <a:xfrm>
              <a:off x="2583180" y="6073140"/>
              <a:ext cx="609600" cy="1981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r3</a:t>
              </a:r>
            </a:p>
          </p:txBody>
        </p:sp>
      </p:grpSp>
      <p:sp>
        <p:nvSpPr>
          <p:cNvPr id="500" name="Bin range 4"/>
          <p:cNvSpPr txBox="1"/>
          <p:nvPr/>
        </p:nvSpPr>
        <p:spPr>
          <a:xfrm>
            <a:off x="3238500" y="5836920"/>
            <a:ext cx="70104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44–54</a:t>
            </a:r>
          </a:p>
        </p:txBody>
      </p:sp>
      <p:grpSp>
        <p:nvGrpSpPr>
          <p:cNvPr id="503" name="Collate owner range 4 [editable group]"/>
          <p:cNvGrpSpPr/>
          <p:nvPr/>
        </p:nvGrpSpPr>
        <p:grpSpPr>
          <a:xfrm>
            <a:off x="3238500" y="6050280"/>
            <a:ext cx="701040" cy="243840"/>
            <a:chOff x="3238500" y="6050280"/>
            <a:chExt cx="701040" cy="243840"/>
          </a:xfrm>
        </p:grpSpPr>
        <p:sp>
          <p:nvSpPr>
            <p:cNvPr id="501" name="Collate owner range 4"/>
            <p:cNvSpPr/>
            <p:nvPr/>
          </p:nvSpPr>
          <p:spPr>
            <a:xfrm>
              <a:off x="3238500" y="6050280"/>
              <a:ext cx="701040" cy="24384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Collate owner range 4 / label"/>
            <p:cNvSpPr txBox="1"/>
            <p:nvPr/>
          </p:nvSpPr>
          <p:spPr>
            <a:xfrm>
              <a:off x="3284220" y="6073140"/>
              <a:ext cx="609600" cy="1981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r4</a:t>
              </a:r>
            </a:p>
          </p:txBody>
        </p:sp>
      </p:grpSp>
      <p:sp>
        <p:nvSpPr>
          <p:cNvPr id="504" name="Bin range 5"/>
          <p:cNvSpPr txBox="1"/>
          <p:nvPr/>
        </p:nvSpPr>
        <p:spPr>
          <a:xfrm>
            <a:off x="3939540" y="5836920"/>
            <a:ext cx="70104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55–65</a:t>
            </a:r>
          </a:p>
        </p:txBody>
      </p:sp>
      <p:grpSp>
        <p:nvGrpSpPr>
          <p:cNvPr id="507" name="Collate owner range 5 [editable group]"/>
          <p:cNvGrpSpPr/>
          <p:nvPr/>
        </p:nvGrpSpPr>
        <p:grpSpPr>
          <a:xfrm>
            <a:off x="3939540" y="6050280"/>
            <a:ext cx="701040" cy="243840"/>
            <a:chOff x="3939540" y="6050280"/>
            <a:chExt cx="701040" cy="243840"/>
          </a:xfrm>
        </p:grpSpPr>
        <p:sp>
          <p:nvSpPr>
            <p:cNvPr id="505" name="Collate owner range 5"/>
            <p:cNvSpPr/>
            <p:nvPr/>
          </p:nvSpPr>
          <p:spPr>
            <a:xfrm>
              <a:off x="3939540" y="6050280"/>
              <a:ext cx="701040" cy="24384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Collate owner range 5 / label"/>
            <p:cNvSpPr txBox="1"/>
            <p:nvPr/>
          </p:nvSpPr>
          <p:spPr>
            <a:xfrm>
              <a:off x="3985260" y="6073140"/>
              <a:ext cx="609600" cy="1981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r5</a:t>
              </a:r>
            </a:p>
          </p:txBody>
        </p:sp>
      </p:grpSp>
      <p:sp>
        <p:nvSpPr>
          <p:cNvPr id="508" name="Collate group semantics"/>
          <p:cNvSpPr txBox="1"/>
          <p:nvPr/>
        </p:nvSpPr>
        <p:spPr>
          <a:xfrm>
            <a:off x="381000" y="6362700"/>
            <a:ext cx="4366260" cy="3429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57834A"/>
                </a:solidFill>
                <a:latin typeface="Arial"/>
              </a:rPr>
              <a:t>Example: 66 bins; same-QNAME groups are contiguous</a:t>
            </a:r>
          </a:p>
          <a:p>
            <a:pPr algn="ctr">
              <a:lnSpc>
                <a:spcPts val="1209"/>
              </a:lnSpc>
              <a:spcBef>
                <a:spcPts val="0"/>
              </a:spcBef>
              <a:spcAft>
                <a:spcPts val="0"/>
              </a:spcAft>
            </a:pPr>
            <a:r>
              <a:rPr sz="1080" b="0" i="0">
                <a:solidFill>
                  <a:srgbClr val="57834A"/>
                </a:solidFill>
                <a:latin typeface="Arial"/>
              </a:rPr>
              <a:t>No global QNAME ordering</a:t>
            </a:r>
          </a:p>
        </p:txBody>
      </p:sp>
      <p:sp>
        <p:nvSpPr>
          <p:cNvPr id="509" name="Memory strategy inset"/>
          <p:cNvSpPr/>
          <p:nvPr/>
        </p:nvSpPr>
        <p:spPr>
          <a:xfrm>
            <a:off x="5059680" y="3901440"/>
            <a:ext cx="6918960" cy="2842260"/>
          </a:xfrm>
          <a:prstGeom prst="roundRect">
            <a:avLst>
              <a:gd name="adj" fmla="val 3217"/>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Memory strategy inset / heading"/>
          <p:cNvSpPr txBox="1"/>
          <p:nvPr/>
        </p:nvSpPr>
        <p:spPr>
          <a:xfrm>
            <a:off x="5173980" y="3977639"/>
            <a:ext cx="669036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(c) Per-rank memory and external-memory modes</a:t>
            </a:r>
          </a:p>
        </p:txBody>
      </p:sp>
      <p:sp>
        <p:nvSpPr>
          <p:cNvPr id="511" name="Memory mode title"/>
          <p:cNvSpPr txBox="1"/>
          <p:nvPr/>
        </p:nvSpPr>
        <p:spPr>
          <a:xfrm>
            <a:off x="5212080" y="4343400"/>
            <a:ext cx="853440" cy="373380"/>
          </a:xfrm>
          <a:prstGeom prst="rect">
            <a:avLst/>
          </a:prstGeom>
          <a:noFill/>
        </p:spPr>
        <p:txBody>
          <a:bodyPr wrap="none" lIns="0" rIns="0" tIns="0" bIns="0" anchor="ctr">
            <a:noAutofit/>
          </a:bodyPr>
          <a:lstStyle/>
          <a:p>
            <a:pPr algn="ctr">
              <a:lnSpc>
                <a:spcPts val="1411"/>
              </a:lnSpc>
              <a:spcBef>
                <a:spcPts val="0"/>
              </a:spcBef>
              <a:spcAft>
                <a:spcPts val="0"/>
              </a:spcAft>
            </a:pPr>
            <a:r>
              <a:rPr sz="1260" b="1" i="0">
                <a:solidFill>
                  <a:srgbClr val="197BA3"/>
                </a:solidFill>
                <a:latin typeface="Arial"/>
              </a:rPr>
              <a:t>Memory</a:t>
            </a:r>
          </a:p>
          <a:p>
            <a:pPr algn="ctr">
              <a:lnSpc>
                <a:spcPts val="1411"/>
              </a:lnSpc>
              <a:spcBef>
                <a:spcPts val="0"/>
              </a:spcBef>
              <a:spcAft>
                <a:spcPts val="0"/>
              </a:spcAft>
            </a:pPr>
            <a:r>
              <a:rPr sz="1260" b="1" i="0">
                <a:solidFill>
                  <a:srgbClr val="197BA3"/>
                </a:solidFill>
                <a:latin typeface="Arial"/>
              </a:rPr>
              <a:t>mode</a:t>
            </a:r>
          </a:p>
        </p:txBody>
      </p:sp>
      <p:grpSp>
        <p:nvGrpSpPr>
          <p:cNvPr id="514" name="Memory Ordered data&#10;in RAM [editable group]"/>
          <p:cNvGrpSpPr/>
          <p:nvPr/>
        </p:nvGrpSpPr>
        <p:grpSpPr>
          <a:xfrm>
            <a:off x="6187440" y="4305300"/>
            <a:ext cx="1424940" cy="502920"/>
            <a:chOff x="6187440" y="4305300"/>
            <a:chExt cx="1424940" cy="502920"/>
          </a:xfrm>
        </p:grpSpPr>
        <p:sp>
          <p:nvSpPr>
            <p:cNvPr id="512" name="Memory Ordered data&#10;in RAM"/>
            <p:cNvSpPr/>
            <p:nvPr/>
          </p:nvSpPr>
          <p:spPr>
            <a:xfrm>
              <a:off x="6187440" y="4305300"/>
              <a:ext cx="1424940" cy="5029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Memory Ordered data&#10;in RAM / label"/>
            <p:cNvSpPr txBox="1"/>
            <p:nvPr/>
          </p:nvSpPr>
          <p:spPr>
            <a:xfrm>
              <a:off x="6233160" y="4328160"/>
              <a:ext cx="1333500" cy="45720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Ordered data</a:t>
              </a:r>
            </a:p>
            <a:p>
              <a:pPr algn="ctr">
                <a:lnSpc>
                  <a:spcPts val="1276"/>
                </a:lnSpc>
                <a:spcBef>
                  <a:spcPts val="0"/>
                </a:spcBef>
                <a:spcAft>
                  <a:spcPts val="0"/>
                </a:spcAft>
              </a:pPr>
              <a:r>
                <a:rPr sz="1140" b="0" i="0">
                  <a:solidFill>
                    <a:srgbClr val="172C36"/>
                  </a:solidFill>
                  <a:latin typeface="Arial"/>
                </a:rPr>
                <a:t>in RAM</a:t>
              </a:r>
            </a:p>
          </p:txBody>
        </p:sp>
      </p:grpSp>
      <p:grpSp>
        <p:nvGrpSpPr>
          <p:cNvPr id="517" name="Memory Received segments&#10;in RAM [editable group]"/>
          <p:cNvGrpSpPr/>
          <p:nvPr/>
        </p:nvGrpSpPr>
        <p:grpSpPr>
          <a:xfrm>
            <a:off x="7962900" y="4305300"/>
            <a:ext cx="1424940" cy="502920"/>
            <a:chOff x="7962900" y="4305300"/>
            <a:chExt cx="1424940" cy="502920"/>
          </a:xfrm>
        </p:grpSpPr>
        <p:sp>
          <p:nvSpPr>
            <p:cNvPr id="515" name="Memory Received segments&#10;in RAM"/>
            <p:cNvSpPr/>
            <p:nvPr/>
          </p:nvSpPr>
          <p:spPr>
            <a:xfrm>
              <a:off x="7962900" y="4305300"/>
              <a:ext cx="1424940" cy="5029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Memory Received segments&#10;in RAM / label"/>
            <p:cNvSpPr txBox="1"/>
            <p:nvPr/>
          </p:nvSpPr>
          <p:spPr>
            <a:xfrm>
              <a:off x="8008620" y="4328160"/>
              <a:ext cx="1333500" cy="45720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Received segments</a:t>
              </a:r>
            </a:p>
            <a:p>
              <a:pPr algn="ctr">
                <a:lnSpc>
                  <a:spcPts val="1276"/>
                </a:lnSpc>
                <a:spcBef>
                  <a:spcPts val="0"/>
                </a:spcBef>
                <a:spcAft>
                  <a:spcPts val="0"/>
                </a:spcAft>
              </a:pPr>
              <a:r>
                <a:rPr sz="1140" b="0" i="0">
                  <a:solidFill>
                    <a:srgbClr val="172C36"/>
                  </a:solidFill>
                  <a:latin typeface="Arial"/>
                </a:rPr>
                <a:t>in RAM</a:t>
              </a:r>
            </a:p>
          </p:txBody>
        </p:sp>
      </p:grpSp>
      <p:grpSp>
        <p:nvGrpSpPr>
          <p:cNvPr id="520" name="Memory Final merge&#10;+ BGZF compression [editable group]"/>
          <p:cNvGrpSpPr/>
          <p:nvPr/>
        </p:nvGrpSpPr>
        <p:grpSpPr>
          <a:xfrm>
            <a:off x="9738360" y="4305300"/>
            <a:ext cx="2049780" cy="502920"/>
            <a:chOff x="9738360" y="4305300"/>
            <a:chExt cx="2049780" cy="502920"/>
          </a:xfrm>
        </p:grpSpPr>
        <p:sp>
          <p:nvSpPr>
            <p:cNvPr id="518" name="Memory Final merge&#10;+ BGZF compression"/>
            <p:cNvSpPr/>
            <p:nvPr/>
          </p:nvSpPr>
          <p:spPr>
            <a:xfrm>
              <a:off x="9738360" y="4305300"/>
              <a:ext cx="2049780" cy="5029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Memory Final merge&#10;+ BGZF compression / label"/>
            <p:cNvSpPr txBox="1"/>
            <p:nvPr/>
          </p:nvSpPr>
          <p:spPr>
            <a:xfrm>
              <a:off x="9784080" y="4328160"/>
              <a:ext cx="1958340" cy="45720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Final merge</a:t>
              </a:r>
            </a:p>
            <a:p>
              <a:pPr algn="ctr">
                <a:lnSpc>
                  <a:spcPts val="1276"/>
                </a:lnSpc>
                <a:spcBef>
                  <a:spcPts val="0"/>
                </a:spcBef>
                <a:spcAft>
                  <a:spcPts val="0"/>
                </a:spcAft>
              </a:pPr>
              <a:r>
                <a:rPr sz="1140" b="0" i="0">
                  <a:solidFill>
                    <a:srgbClr val="172C36"/>
                  </a:solidFill>
                  <a:latin typeface="Arial"/>
                </a:rPr>
                <a:t>+ BGZF compression</a:t>
              </a:r>
            </a:p>
          </p:txBody>
        </p:sp>
      </p:grpSp>
      <p:cxnSp>
        <p:nvCxnSpPr>
          <p:cNvPr id="521" name="Memory owner exchange / segment 0"/>
          <p:cNvCxnSpPr/>
          <p:nvPr/>
        </p:nvCxnSpPr>
        <p:spPr>
          <a:xfrm>
            <a:off x="7612379" y="4564380"/>
            <a:ext cx="350521"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2" name="Memory merge input / segment 0"/>
          <p:cNvCxnSpPr/>
          <p:nvPr/>
        </p:nvCxnSpPr>
        <p:spPr>
          <a:xfrm>
            <a:off x="9387840" y="4564380"/>
            <a:ext cx="3505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3" name="Separate storage strategies / segment 0"/>
          <p:cNvCxnSpPr/>
          <p:nvPr/>
        </p:nvCxnSpPr>
        <p:spPr>
          <a:xfrm>
            <a:off x="5204460" y="4953000"/>
            <a:ext cx="6614160" cy="0"/>
          </a:xfrm>
          <a:prstGeom prst="line">
            <a:avLst/>
          </a:prstGeom>
          <a:ln w="9906">
            <a:solidFill>
              <a:srgbClr val="A9B8BD"/>
            </a:solidFill>
            <a:prstDash val="dash"/>
          </a:ln>
          <a:effectLst/>
        </p:spPr>
        <p:style>
          <a:lnRef idx="2">
            <a:schemeClr val="accent1"/>
          </a:lnRef>
          <a:fillRef idx="0">
            <a:schemeClr val="accent1"/>
          </a:fillRef>
          <a:effectRef idx="1">
            <a:schemeClr val="accent1"/>
          </a:effectRef>
          <a:fontRef idx="minor">
            <a:schemeClr val="tx1"/>
          </a:fontRef>
        </p:style>
      </p:cxnSp>
      <p:sp>
        <p:nvSpPr>
          <p:cNvPr id="524" name="External mode title"/>
          <p:cNvSpPr txBox="1"/>
          <p:nvPr/>
        </p:nvSpPr>
        <p:spPr>
          <a:xfrm>
            <a:off x="5212080" y="5052060"/>
            <a:ext cx="1516380" cy="205740"/>
          </a:xfrm>
          <a:prstGeom prst="rect">
            <a:avLst/>
          </a:prstGeom>
          <a:noFill/>
        </p:spPr>
        <p:txBody>
          <a:bodyPr wrap="none" lIns="0" rIns="0" tIns="0" bIns="0" anchor="ctr">
            <a:noAutofit/>
          </a:bodyPr>
          <a:lstStyle/>
          <a:p>
            <a:pPr algn="l">
              <a:lnSpc>
                <a:spcPts val="1411"/>
              </a:lnSpc>
              <a:spcBef>
                <a:spcPts val="0"/>
              </a:spcBef>
              <a:spcAft>
                <a:spcPts val="0"/>
              </a:spcAft>
            </a:pPr>
            <a:r>
              <a:rPr sz="1260" b="1" i="0">
                <a:solidFill>
                  <a:srgbClr val="9A7625"/>
                </a:solidFill>
                <a:latin typeface="Arial"/>
              </a:rPr>
              <a:t>External mode</a:t>
            </a:r>
          </a:p>
        </p:txBody>
      </p:sp>
      <p:sp>
        <p:nvSpPr>
          <p:cNvPr id="525" name="External budget description"/>
          <p:cNvSpPr txBox="1"/>
          <p:nvPr/>
        </p:nvSpPr>
        <p:spPr>
          <a:xfrm>
            <a:off x="7040880" y="5052060"/>
            <a:ext cx="4732020" cy="205740"/>
          </a:xfrm>
          <a:prstGeom prst="rect">
            <a:avLst/>
          </a:prstGeom>
          <a:noFill/>
        </p:spPr>
        <p:txBody>
          <a:bodyPr wrap="none" lIns="0" rIns="0" tIns="0" bIns="0" anchor="ctr">
            <a:noAutofit/>
          </a:bodyPr>
          <a:lstStyle/>
          <a:p>
            <a:pPr algn="r">
              <a:lnSpc>
                <a:spcPts val="1209"/>
              </a:lnSpc>
              <a:spcBef>
                <a:spcPts val="0"/>
              </a:spcBef>
              <a:spcAft>
                <a:spcPts val="0"/>
              </a:spcAft>
            </a:pPr>
            <a:r>
              <a:rPr sz="1080" b="0" i="0">
                <a:solidFill>
                  <a:srgbClr val="61727A"/>
                </a:solidFill>
                <a:latin typeface="Arial"/>
              </a:rPr>
              <a:t>Bounded working set; F = merge fan-in</a:t>
            </a:r>
          </a:p>
        </p:txBody>
      </p:sp>
      <p:grpSp>
        <p:nvGrpSpPr>
          <p:cNvPr id="528" name="Bounded run generation [editable group]"/>
          <p:cNvGrpSpPr/>
          <p:nvPr/>
        </p:nvGrpSpPr>
        <p:grpSpPr>
          <a:xfrm>
            <a:off x="5288280" y="5600700"/>
            <a:ext cx="1051560" cy="457200"/>
            <a:chOff x="5288280" y="5600700"/>
            <a:chExt cx="1051560" cy="457200"/>
          </a:xfrm>
        </p:grpSpPr>
        <p:sp>
          <p:nvSpPr>
            <p:cNvPr id="526" name="Bounded run generation"/>
            <p:cNvSpPr/>
            <p:nvPr/>
          </p:nvSpPr>
          <p:spPr>
            <a:xfrm>
              <a:off x="5288280" y="5600700"/>
              <a:ext cx="1051560" cy="45720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Bounded run generation / label"/>
            <p:cNvSpPr txBox="1"/>
            <p:nvPr/>
          </p:nvSpPr>
          <p:spPr>
            <a:xfrm>
              <a:off x="5334000" y="5623560"/>
              <a:ext cx="960120" cy="41148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Fill arena</a:t>
              </a:r>
            </a:p>
            <a:p>
              <a:pPr algn="ctr">
                <a:lnSpc>
                  <a:spcPts val="1276"/>
                </a:lnSpc>
                <a:spcBef>
                  <a:spcPts val="0"/>
                </a:spcBef>
                <a:spcAft>
                  <a:spcPts val="0"/>
                </a:spcAft>
              </a:pPr>
              <a:r>
                <a:rPr sz="1140" b="0" i="0">
                  <a:solidFill>
                    <a:srgbClr val="172C36"/>
                  </a:solidFill>
                  <a:latin typeface="Arial"/>
                </a:rPr>
                <a:t>+ local sort</a:t>
              </a:r>
            </a:p>
          </p:txBody>
        </p:sp>
      </p:grpSp>
      <p:sp>
        <p:nvSpPr>
          <p:cNvPr id="529" name="Temporary local runs / file 2"/>
          <p:cNvSpPr/>
          <p:nvPr/>
        </p:nvSpPr>
        <p:spPr>
          <a:xfrm>
            <a:off x="6697980" y="5539740"/>
            <a:ext cx="403860" cy="434340"/>
          </a:xfrm>
          <a:prstGeom prst="foldedCorner">
            <a:avLst/>
          </a:prstGeom>
          <a:solidFill>
            <a:srgbClr val="FFFFFF"/>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Temporary local runs / file 1"/>
          <p:cNvSpPr/>
          <p:nvPr/>
        </p:nvSpPr>
        <p:spPr>
          <a:xfrm>
            <a:off x="6652260" y="5577840"/>
            <a:ext cx="403860" cy="434340"/>
          </a:xfrm>
          <a:prstGeom prst="foldedCorner">
            <a:avLst/>
          </a:prstGeom>
          <a:solidFill>
            <a:srgbClr val="FFFFFF"/>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mporary local runs / file 0"/>
          <p:cNvSpPr/>
          <p:nvPr/>
        </p:nvSpPr>
        <p:spPr>
          <a:xfrm>
            <a:off x="6606540" y="5615940"/>
            <a:ext cx="403860" cy="434340"/>
          </a:xfrm>
          <a:prstGeom prst="foldedCorner">
            <a:avLst/>
          </a:prstGeom>
          <a:solidFill>
            <a:srgbClr val="E8E1F2"/>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Temporary local runs / description"/>
          <p:cNvSpPr txBox="1"/>
          <p:nvPr/>
        </p:nvSpPr>
        <p:spPr>
          <a:xfrm>
            <a:off x="6309360" y="5318760"/>
            <a:ext cx="1120140" cy="182880"/>
          </a:xfrm>
          <a:prstGeom prst="rect">
            <a:avLst/>
          </a:prstGeom>
          <a:noFill/>
        </p:spPr>
        <p:txBody>
          <a:bodyPr wrap="none" lIns="0" rIns="0" tIns="0" bIns="0" anchor="ctr">
            <a:noAutofit/>
          </a:bodyPr>
          <a:lstStyle/>
          <a:p>
            <a:pPr algn="ctr">
              <a:lnSpc>
                <a:spcPts val="1142"/>
              </a:lnSpc>
              <a:spcBef>
                <a:spcPts val="0"/>
              </a:spcBef>
              <a:spcAft>
                <a:spcPts val="0"/>
              </a:spcAft>
            </a:pPr>
            <a:r>
              <a:rPr sz="1019" b="1" i="0">
                <a:solidFill>
                  <a:srgbClr val="172C36"/>
                </a:solidFill>
                <a:latin typeface="Arial"/>
              </a:rPr>
              <a:t>Temp. runs</a:t>
            </a:r>
          </a:p>
        </p:txBody>
      </p:sp>
      <p:cxnSp>
        <p:nvCxnSpPr>
          <p:cNvPr id="533" name="Temporary local runs / data 0 / segment 0"/>
          <p:cNvCxnSpPr/>
          <p:nvPr/>
        </p:nvCxnSpPr>
        <p:spPr>
          <a:xfrm>
            <a:off x="6675120" y="57150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534" name="Temporary local runs / data 1 / segment 0"/>
          <p:cNvCxnSpPr/>
          <p:nvPr/>
        </p:nvCxnSpPr>
        <p:spPr>
          <a:xfrm>
            <a:off x="6675120" y="57912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535" name="Temporary local runs / data 2 / segment 0"/>
          <p:cNvCxnSpPr/>
          <p:nvPr/>
        </p:nvCxnSpPr>
        <p:spPr>
          <a:xfrm>
            <a:off x="6675120" y="58674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grpSp>
        <p:nvGrpSpPr>
          <p:cNvPr id="538" name="Bounded external exchange [editable group]"/>
          <p:cNvGrpSpPr/>
          <p:nvPr/>
        </p:nvGrpSpPr>
        <p:grpSpPr>
          <a:xfrm>
            <a:off x="7292340" y="5600700"/>
            <a:ext cx="1082040" cy="457200"/>
            <a:chOff x="7292340" y="5600700"/>
            <a:chExt cx="1082040" cy="457200"/>
          </a:xfrm>
        </p:grpSpPr>
        <p:sp>
          <p:nvSpPr>
            <p:cNvPr id="536" name="Bounded external exchange"/>
            <p:cNvSpPr/>
            <p:nvPr/>
          </p:nvSpPr>
          <p:spPr>
            <a:xfrm>
              <a:off x="7292340" y="5600700"/>
              <a:ext cx="1082040" cy="45720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Bounded external exchange / label"/>
            <p:cNvSpPr txBox="1"/>
            <p:nvPr/>
          </p:nvSpPr>
          <p:spPr>
            <a:xfrm>
              <a:off x="7338060" y="5623560"/>
              <a:ext cx="990599" cy="41148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Chunked</a:t>
              </a:r>
            </a:p>
            <a:p>
              <a:pPr algn="ctr">
                <a:lnSpc>
                  <a:spcPts val="1276"/>
                </a:lnSpc>
                <a:spcBef>
                  <a:spcPts val="0"/>
                </a:spcBef>
                <a:spcAft>
                  <a:spcPts val="0"/>
                </a:spcAft>
              </a:pPr>
              <a:r>
                <a:rPr sz="1140" b="0" i="0">
                  <a:solidFill>
                    <a:srgbClr val="172C36"/>
                  </a:solidFill>
                  <a:latin typeface="Arial"/>
                </a:rPr>
                <a:t>exchange</a:t>
              </a:r>
            </a:p>
          </p:txBody>
        </p:sp>
      </p:grpSp>
      <p:sp>
        <p:nvSpPr>
          <p:cNvPr id="539" name="Temporary received segments / file 2"/>
          <p:cNvSpPr/>
          <p:nvPr/>
        </p:nvSpPr>
        <p:spPr>
          <a:xfrm>
            <a:off x="8732520" y="5539740"/>
            <a:ext cx="403860" cy="434340"/>
          </a:xfrm>
          <a:prstGeom prst="foldedCorner">
            <a:avLst/>
          </a:prstGeom>
          <a:solidFill>
            <a:srgbClr val="FFFFFF"/>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mporary received segments / file 1"/>
          <p:cNvSpPr/>
          <p:nvPr/>
        </p:nvSpPr>
        <p:spPr>
          <a:xfrm>
            <a:off x="8686800" y="5577840"/>
            <a:ext cx="403860" cy="434340"/>
          </a:xfrm>
          <a:prstGeom prst="foldedCorner">
            <a:avLst/>
          </a:prstGeom>
          <a:solidFill>
            <a:srgbClr val="FFFFFF"/>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Temporary received segments / file 0"/>
          <p:cNvSpPr/>
          <p:nvPr/>
        </p:nvSpPr>
        <p:spPr>
          <a:xfrm>
            <a:off x="8641080" y="5615940"/>
            <a:ext cx="403860" cy="434340"/>
          </a:xfrm>
          <a:prstGeom prst="foldedCorner">
            <a:avLst/>
          </a:prstGeom>
          <a:solidFill>
            <a:srgbClr val="E8E1F2"/>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mporary received segments / description"/>
          <p:cNvSpPr txBox="1"/>
          <p:nvPr/>
        </p:nvSpPr>
        <p:spPr>
          <a:xfrm>
            <a:off x="8343900" y="5318760"/>
            <a:ext cx="1120140" cy="182880"/>
          </a:xfrm>
          <a:prstGeom prst="rect">
            <a:avLst/>
          </a:prstGeom>
          <a:noFill/>
        </p:spPr>
        <p:txBody>
          <a:bodyPr wrap="none" lIns="0" rIns="0" tIns="0" bIns="0" anchor="ctr">
            <a:noAutofit/>
          </a:bodyPr>
          <a:lstStyle/>
          <a:p>
            <a:pPr algn="ctr">
              <a:lnSpc>
                <a:spcPts val="1142"/>
              </a:lnSpc>
              <a:spcBef>
                <a:spcPts val="0"/>
              </a:spcBef>
              <a:spcAft>
                <a:spcPts val="0"/>
              </a:spcAft>
            </a:pPr>
            <a:r>
              <a:rPr sz="1019" b="1" i="0">
                <a:solidFill>
                  <a:srgbClr val="172C36"/>
                </a:solidFill>
                <a:latin typeface="Arial"/>
              </a:rPr>
              <a:t>Temp. segments</a:t>
            </a:r>
          </a:p>
        </p:txBody>
      </p:sp>
      <p:cxnSp>
        <p:nvCxnSpPr>
          <p:cNvPr id="543" name="Temporary received segments / data 0 / segment 0"/>
          <p:cNvCxnSpPr/>
          <p:nvPr/>
        </p:nvCxnSpPr>
        <p:spPr>
          <a:xfrm>
            <a:off x="8709660" y="57150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544" name="Temporary received segments / data 1 / segment 0"/>
          <p:cNvCxnSpPr/>
          <p:nvPr/>
        </p:nvCxnSpPr>
        <p:spPr>
          <a:xfrm>
            <a:off x="8709660" y="57912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545" name="Temporary received segments / data 2 / segment 0"/>
          <p:cNvCxnSpPr/>
          <p:nvPr/>
        </p:nvCxnSpPr>
        <p:spPr>
          <a:xfrm>
            <a:off x="8709660" y="58674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grpSp>
        <p:nvGrpSpPr>
          <p:cNvPr id="548" name="Bounded multiway merging [editable group]"/>
          <p:cNvGrpSpPr/>
          <p:nvPr/>
        </p:nvGrpSpPr>
        <p:grpSpPr>
          <a:xfrm>
            <a:off x="9326880" y="5600700"/>
            <a:ext cx="1325880" cy="457200"/>
            <a:chOff x="9326880" y="5600700"/>
            <a:chExt cx="1325880" cy="457200"/>
          </a:xfrm>
        </p:grpSpPr>
        <p:sp>
          <p:nvSpPr>
            <p:cNvPr id="546" name="Bounded multiway merging"/>
            <p:cNvSpPr/>
            <p:nvPr/>
          </p:nvSpPr>
          <p:spPr>
            <a:xfrm>
              <a:off x="9326880" y="5600700"/>
              <a:ext cx="1325880" cy="45720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Bounded multiway merging / label"/>
            <p:cNvSpPr txBox="1"/>
            <p:nvPr/>
          </p:nvSpPr>
          <p:spPr>
            <a:xfrm>
              <a:off x="9372600" y="5623560"/>
              <a:ext cx="1234440" cy="41148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Bounded</a:t>
              </a:r>
            </a:p>
            <a:p>
              <a:pPr algn="ctr">
                <a:lnSpc>
                  <a:spcPts val="1344"/>
                </a:lnSpc>
                <a:spcBef>
                  <a:spcPts val="0"/>
                </a:spcBef>
                <a:spcAft>
                  <a:spcPts val="0"/>
                </a:spcAft>
              </a:pPr>
              <a:r>
                <a:rPr sz="1200" b="0" i="0">
                  <a:solidFill>
                    <a:srgbClr val="172C36"/>
                  </a:solidFill>
                  <a:latin typeface="Arial"/>
                </a:rPr>
                <a:t>F-way merge</a:t>
              </a:r>
            </a:p>
          </p:txBody>
        </p:sp>
      </p:grpSp>
      <p:grpSp>
        <p:nvGrpSpPr>
          <p:cNvPr id="551" name="Final external BGZF output [editable group]"/>
          <p:cNvGrpSpPr/>
          <p:nvPr/>
        </p:nvGrpSpPr>
        <p:grpSpPr>
          <a:xfrm>
            <a:off x="10919460" y="5600700"/>
            <a:ext cx="861060" cy="457200"/>
            <a:chOff x="10919460" y="5600700"/>
            <a:chExt cx="861060" cy="457200"/>
          </a:xfrm>
        </p:grpSpPr>
        <p:sp>
          <p:nvSpPr>
            <p:cNvPr id="549" name="Final external BGZF output"/>
            <p:cNvSpPr/>
            <p:nvPr/>
          </p:nvSpPr>
          <p:spPr>
            <a:xfrm>
              <a:off x="10919460" y="5600700"/>
              <a:ext cx="861060" cy="45720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Final external BGZF output / label"/>
            <p:cNvSpPr txBox="1"/>
            <p:nvPr/>
          </p:nvSpPr>
          <p:spPr>
            <a:xfrm>
              <a:off x="10965180" y="5623560"/>
              <a:ext cx="769620" cy="41148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BGZF</a:t>
              </a:r>
            </a:p>
            <a:p>
              <a:pPr algn="ctr">
                <a:lnSpc>
                  <a:spcPts val="1344"/>
                </a:lnSpc>
                <a:spcBef>
                  <a:spcPts val="0"/>
                </a:spcBef>
                <a:spcAft>
                  <a:spcPts val="0"/>
                </a:spcAft>
              </a:pPr>
              <a:r>
                <a:rPr sz="1200" b="0" i="0">
                  <a:solidFill>
                    <a:srgbClr val="172C36"/>
                  </a:solidFill>
                  <a:latin typeface="Arial"/>
                </a:rPr>
                <a:t>output</a:t>
              </a:r>
            </a:p>
          </p:txBody>
        </p:sp>
      </p:grpSp>
      <p:cxnSp>
        <p:nvCxnSpPr>
          <p:cNvPr id="552" name="Spill local runs / segment 0"/>
          <p:cNvCxnSpPr/>
          <p:nvPr/>
        </p:nvCxnSpPr>
        <p:spPr>
          <a:xfrm>
            <a:off x="6339840" y="5829300"/>
            <a:ext cx="2362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3" name="Load runs / segment 0"/>
          <p:cNvCxnSpPr/>
          <p:nvPr/>
        </p:nvCxnSpPr>
        <p:spPr>
          <a:xfrm>
            <a:off x="7101840" y="5829300"/>
            <a:ext cx="1600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4" name="Store received segments / segment 0"/>
          <p:cNvCxnSpPr/>
          <p:nvPr/>
        </p:nvCxnSpPr>
        <p:spPr>
          <a:xfrm>
            <a:off x="8374380" y="5829300"/>
            <a:ext cx="2362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5" name="Read segments / segment 0"/>
          <p:cNvCxnSpPr/>
          <p:nvPr/>
        </p:nvCxnSpPr>
        <p:spPr>
          <a:xfrm>
            <a:off x="9136380" y="5829300"/>
            <a:ext cx="1600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6" name="Final merged output / segment 0"/>
          <p:cNvCxnSpPr/>
          <p:nvPr/>
        </p:nvCxnSpPr>
        <p:spPr>
          <a:xfrm>
            <a:off x="10652760" y="5829300"/>
            <a:ext cx="2362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7" name="Repeated bounded run generation / segment 0"/>
          <p:cNvCxnSpPr/>
          <p:nvPr/>
        </p:nvCxnSpPr>
        <p:spPr>
          <a:xfrm>
            <a:off x="6797040" y="6050280"/>
            <a:ext cx="0" cy="167640"/>
          </a:xfrm>
          <a:prstGeom prst="line">
            <a:avLst/>
          </a:prstGeom>
          <a:ln w="12954">
            <a:solidFill>
              <a:srgbClr val="9A7625"/>
            </a:solidFill>
          </a:ln>
          <a:effectLst/>
        </p:spPr>
        <p:style>
          <a:lnRef idx="2">
            <a:schemeClr val="accent1"/>
          </a:lnRef>
          <a:fillRef idx="0">
            <a:schemeClr val="accent1"/>
          </a:fillRef>
          <a:effectRef idx="1">
            <a:schemeClr val="accent1"/>
          </a:effectRef>
          <a:fontRef idx="minor">
            <a:schemeClr val="tx1"/>
          </a:fontRef>
        </p:style>
      </p:cxnSp>
      <p:cxnSp>
        <p:nvCxnSpPr>
          <p:cNvPr id="558" name="Repeated bounded run generation / segment 1"/>
          <p:cNvCxnSpPr/>
          <p:nvPr/>
        </p:nvCxnSpPr>
        <p:spPr>
          <a:xfrm flipH="1">
            <a:off x="5814060" y="6217920"/>
            <a:ext cx="982980" cy="0"/>
          </a:xfrm>
          <a:prstGeom prst="line">
            <a:avLst/>
          </a:prstGeom>
          <a:ln w="12954">
            <a:solidFill>
              <a:srgbClr val="9A7625"/>
            </a:solidFill>
          </a:ln>
          <a:effectLst/>
        </p:spPr>
        <p:style>
          <a:lnRef idx="2">
            <a:schemeClr val="accent1"/>
          </a:lnRef>
          <a:fillRef idx="0">
            <a:schemeClr val="accent1"/>
          </a:fillRef>
          <a:effectRef idx="1">
            <a:schemeClr val="accent1"/>
          </a:effectRef>
          <a:fontRef idx="minor">
            <a:schemeClr val="tx1"/>
          </a:fontRef>
        </p:style>
      </p:cxnSp>
      <p:cxnSp>
        <p:nvCxnSpPr>
          <p:cNvPr id="559" name="Repeated bounded run generation / segment 2"/>
          <p:cNvCxnSpPr/>
          <p:nvPr/>
        </p:nvCxnSpPr>
        <p:spPr>
          <a:xfrm flipV="1">
            <a:off x="5814060" y="6080760"/>
            <a:ext cx="0" cy="137160"/>
          </a:xfrm>
          <a:prstGeom prst="line">
            <a:avLst/>
          </a:prstGeom>
          <a:ln w="12954">
            <a:solidFill>
              <a:srgbClr val="9A762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0" name="Repeat run generation caption"/>
          <p:cNvSpPr txBox="1"/>
          <p:nvPr/>
        </p:nvSpPr>
        <p:spPr>
          <a:xfrm>
            <a:off x="5303520" y="6324600"/>
            <a:ext cx="1973580" cy="18288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9A7625"/>
                </a:solidFill>
                <a:latin typeface="Arial"/>
              </a:rPr>
              <a:t>Repeat for each input chunk</a:t>
            </a:r>
          </a:p>
        </p:txBody>
      </p:sp>
      <p:cxnSp>
        <p:nvCxnSpPr>
          <p:cNvPr id="561" name="Additional intermediate merge passes / segment 0"/>
          <p:cNvCxnSpPr/>
          <p:nvPr/>
        </p:nvCxnSpPr>
        <p:spPr>
          <a:xfrm>
            <a:off x="9989820" y="6057900"/>
            <a:ext cx="0" cy="160020"/>
          </a:xfrm>
          <a:prstGeom prst="line">
            <a:avLst/>
          </a:prstGeom>
          <a:ln w="12954">
            <a:solidFill>
              <a:srgbClr val="9A7625"/>
            </a:solidFill>
          </a:ln>
          <a:effectLst/>
        </p:spPr>
        <p:style>
          <a:lnRef idx="2">
            <a:schemeClr val="accent1"/>
          </a:lnRef>
          <a:fillRef idx="0">
            <a:schemeClr val="accent1"/>
          </a:fillRef>
          <a:effectRef idx="1">
            <a:schemeClr val="accent1"/>
          </a:effectRef>
          <a:fontRef idx="minor">
            <a:schemeClr val="tx1"/>
          </a:fontRef>
        </p:style>
      </p:cxnSp>
      <p:cxnSp>
        <p:nvCxnSpPr>
          <p:cNvPr id="562" name="Additional intermediate merge passes / segment 1"/>
          <p:cNvCxnSpPr/>
          <p:nvPr/>
        </p:nvCxnSpPr>
        <p:spPr>
          <a:xfrm flipH="1">
            <a:off x="8839200" y="6217920"/>
            <a:ext cx="1150620" cy="0"/>
          </a:xfrm>
          <a:prstGeom prst="line">
            <a:avLst/>
          </a:prstGeom>
          <a:ln w="12954">
            <a:solidFill>
              <a:srgbClr val="9A7625"/>
            </a:solidFill>
          </a:ln>
          <a:effectLst/>
        </p:spPr>
        <p:style>
          <a:lnRef idx="2">
            <a:schemeClr val="accent1"/>
          </a:lnRef>
          <a:fillRef idx="0">
            <a:schemeClr val="accent1"/>
          </a:fillRef>
          <a:effectRef idx="1">
            <a:schemeClr val="accent1"/>
          </a:effectRef>
          <a:fontRef idx="minor">
            <a:schemeClr val="tx1"/>
          </a:fontRef>
        </p:style>
      </p:cxnSp>
      <p:cxnSp>
        <p:nvCxnSpPr>
          <p:cNvPr id="563" name="Additional intermediate merge passes / segment 2"/>
          <p:cNvCxnSpPr/>
          <p:nvPr/>
        </p:nvCxnSpPr>
        <p:spPr>
          <a:xfrm flipV="1">
            <a:off x="8839200" y="6073140"/>
            <a:ext cx="0" cy="144780"/>
          </a:xfrm>
          <a:prstGeom prst="line">
            <a:avLst/>
          </a:prstGeom>
          <a:ln w="12954">
            <a:solidFill>
              <a:srgbClr val="9A762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4" name="Additional merge passes caption"/>
          <p:cNvSpPr txBox="1"/>
          <p:nvPr/>
        </p:nvSpPr>
        <p:spPr>
          <a:xfrm>
            <a:off x="8183879" y="6324600"/>
            <a:ext cx="2621280" cy="18288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9A7625"/>
                </a:solidFill>
                <a:latin typeface="Arial"/>
              </a:rPr>
              <a:t>Intermediate passes if segments &gt; F</a:t>
            </a:r>
          </a:p>
        </p:txBody>
      </p:sp>
      <p:sp>
        <p:nvSpPr>
          <p:cNvPr id="565" name="Final pass annotation"/>
          <p:cNvSpPr txBox="1"/>
          <p:nvPr/>
        </p:nvSpPr>
        <p:spPr>
          <a:xfrm>
            <a:off x="10675620" y="5356860"/>
            <a:ext cx="1112520" cy="17526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57834A"/>
                </a:solidFill>
                <a:latin typeface="Arial"/>
              </a:rPr>
              <a:t>Final pass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Pre-resolve rank boundaries before the main stream"/>
          <p:cNvSpPr txBox="1"/>
          <p:nvPr/>
        </p:nvSpPr>
        <p:spPr>
          <a:xfrm>
            <a:off x="228600" y="9144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(a) Pre-resolve rank boundaries before the main stream</a:t>
            </a:r>
          </a:p>
        </p:txBody>
      </p:sp>
      <p:sp>
        <p:nvSpPr>
          <p:cNvPr id="3" name="Boundary probe region"/>
          <p:cNvSpPr/>
          <p:nvPr/>
        </p:nvSpPr>
        <p:spPr>
          <a:xfrm>
            <a:off x="220980" y="457200"/>
            <a:ext cx="4632960" cy="2468880"/>
          </a:xfrm>
          <a:prstGeom prst="roundRect">
            <a:avLst>
              <a:gd name="adj" fmla="val 3703"/>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undary probe region / heading"/>
          <p:cNvSpPr txBox="1"/>
          <p:nvPr/>
        </p:nvSpPr>
        <p:spPr>
          <a:xfrm>
            <a:off x="335280" y="533400"/>
            <a:ext cx="440436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Probe head / tail BGZF blocks</a:t>
            </a:r>
          </a:p>
        </p:txBody>
      </p:sp>
      <p:sp>
        <p:nvSpPr>
          <p:cNvPr id="5" name="Left probe rank"/>
          <p:cNvSpPr txBox="1"/>
          <p:nvPr/>
        </p:nvSpPr>
        <p:spPr>
          <a:xfrm>
            <a:off x="441960" y="899160"/>
            <a:ext cx="1866899" cy="1905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Rank r−1: tail</a:t>
            </a:r>
          </a:p>
        </p:txBody>
      </p:sp>
      <p:sp>
        <p:nvSpPr>
          <p:cNvPr id="6" name="Right probe rank"/>
          <p:cNvSpPr txBox="1"/>
          <p:nvPr/>
        </p:nvSpPr>
        <p:spPr>
          <a:xfrm>
            <a:off x="2667000" y="899160"/>
            <a:ext cx="1882139" cy="1905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Rank r: head</a:t>
            </a:r>
          </a:p>
        </p:txBody>
      </p:sp>
      <p:sp>
        <p:nvSpPr>
          <p:cNvPr id="7" name="Left BGZF blocks / 0"/>
          <p:cNvSpPr/>
          <p:nvPr/>
        </p:nvSpPr>
        <p:spPr>
          <a:xfrm>
            <a:off x="42672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Left BGZF blocks / divider 0 / segment 0"/>
          <p:cNvCxnSpPr/>
          <p:nvPr/>
        </p:nvCxnSpPr>
        <p:spPr>
          <a:xfrm>
            <a:off x="5090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9" name="Left BGZF blocks / 1"/>
          <p:cNvSpPr/>
          <p:nvPr/>
        </p:nvSpPr>
        <p:spPr>
          <a:xfrm>
            <a:off x="75438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Left BGZF blocks / divider 1 / segment 0"/>
          <p:cNvCxnSpPr/>
          <p:nvPr/>
        </p:nvCxnSpPr>
        <p:spPr>
          <a:xfrm>
            <a:off x="836675"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1" name="Left BGZF blocks / 2"/>
          <p:cNvSpPr/>
          <p:nvPr/>
        </p:nvSpPr>
        <p:spPr>
          <a:xfrm>
            <a:off x="108204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Left BGZF blocks / divider 2 / segment 0"/>
          <p:cNvCxnSpPr/>
          <p:nvPr/>
        </p:nvCxnSpPr>
        <p:spPr>
          <a:xfrm>
            <a:off x="116433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 name="Left BGZF blocks / 3"/>
          <p:cNvSpPr/>
          <p:nvPr/>
        </p:nvSpPr>
        <p:spPr>
          <a:xfrm>
            <a:off x="140970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Left BGZF blocks / divider 3 / segment 0"/>
          <p:cNvCxnSpPr/>
          <p:nvPr/>
        </p:nvCxnSpPr>
        <p:spPr>
          <a:xfrm>
            <a:off x="14919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5" name="Left BGZF blocks / 4"/>
          <p:cNvSpPr/>
          <p:nvPr/>
        </p:nvSpPr>
        <p:spPr>
          <a:xfrm>
            <a:off x="173736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Left BGZF blocks / divider 4 / segment 0"/>
          <p:cNvCxnSpPr/>
          <p:nvPr/>
        </p:nvCxnSpPr>
        <p:spPr>
          <a:xfrm>
            <a:off x="181965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7" name="Left BGZF blocks / 5"/>
          <p:cNvSpPr/>
          <p:nvPr/>
        </p:nvSpPr>
        <p:spPr>
          <a:xfrm>
            <a:off x="206502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Left BGZF blocks / divider 5 / segment 0"/>
          <p:cNvCxnSpPr/>
          <p:nvPr/>
        </p:nvCxnSpPr>
        <p:spPr>
          <a:xfrm>
            <a:off x="21473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9" name="Right BGZF blocks / 0"/>
          <p:cNvSpPr/>
          <p:nvPr/>
        </p:nvSpPr>
        <p:spPr>
          <a:xfrm>
            <a:off x="266700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Right BGZF blocks / divider 0 / segment 0"/>
          <p:cNvCxnSpPr/>
          <p:nvPr/>
        </p:nvCxnSpPr>
        <p:spPr>
          <a:xfrm>
            <a:off x="27492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 name="Right BGZF blocks / 1"/>
          <p:cNvSpPr/>
          <p:nvPr/>
        </p:nvSpPr>
        <p:spPr>
          <a:xfrm>
            <a:off x="299466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Right BGZF blocks / divider 1 / segment 0"/>
          <p:cNvCxnSpPr/>
          <p:nvPr/>
        </p:nvCxnSpPr>
        <p:spPr>
          <a:xfrm>
            <a:off x="307695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3" name="Right BGZF blocks / 2"/>
          <p:cNvSpPr/>
          <p:nvPr/>
        </p:nvSpPr>
        <p:spPr>
          <a:xfrm>
            <a:off x="332232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Right BGZF blocks / divider 2 / segment 0"/>
          <p:cNvCxnSpPr/>
          <p:nvPr/>
        </p:nvCxnSpPr>
        <p:spPr>
          <a:xfrm>
            <a:off x="34046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5" name="Right BGZF blocks / 3"/>
          <p:cNvSpPr/>
          <p:nvPr/>
        </p:nvSpPr>
        <p:spPr>
          <a:xfrm>
            <a:off x="364998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Right BGZF blocks / divider 3 / segment 0"/>
          <p:cNvCxnSpPr/>
          <p:nvPr/>
        </p:nvCxnSpPr>
        <p:spPr>
          <a:xfrm>
            <a:off x="373227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 name="Right BGZF blocks / 4"/>
          <p:cNvSpPr/>
          <p:nvPr/>
        </p:nvSpPr>
        <p:spPr>
          <a:xfrm>
            <a:off x="3977639"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Right BGZF blocks / divider 4 / segment 0"/>
          <p:cNvCxnSpPr/>
          <p:nvPr/>
        </p:nvCxnSpPr>
        <p:spPr>
          <a:xfrm>
            <a:off x="4059935"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9" name="Right BGZF blocks / 5"/>
          <p:cNvSpPr/>
          <p:nvPr/>
        </p:nvSpPr>
        <p:spPr>
          <a:xfrm>
            <a:off x="430530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Right BGZF blocks / divider 5 / segment 0"/>
          <p:cNvCxnSpPr/>
          <p:nvPr/>
        </p:nvCxnSpPr>
        <p:spPr>
          <a:xfrm>
            <a:off x="43875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1" name="Rank partition cut / segment 0"/>
          <p:cNvCxnSpPr/>
          <p:nvPr/>
        </p:nvCxnSpPr>
        <p:spPr>
          <a:xfrm>
            <a:off x="2514600" y="1097280"/>
            <a:ext cx="0" cy="998219"/>
          </a:xfrm>
          <a:prstGeom prst="line">
            <a:avLst/>
          </a:prstGeom>
          <a:ln w="12954">
            <a:solidFill>
              <a:srgbClr val="17394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2" name="Coordinate progress axis / segment 0"/>
          <p:cNvCxnSpPr/>
          <p:nvPr/>
        </p:nvCxnSpPr>
        <p:spPr>
          <a:xfrm>
            <a:off x="495299" y="1981199"/>
            <a:ext cx="4099561"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ordinate tick b−L / segment 0"/>
          <p:cNvCxnSpPr/>
          <p:nvPr/>
        </p:nvCxnSpPr>
        <p:spPr>
          <a:xfrm>
            <a:off x="172974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4" name="Coordinate label b−L"/>
          <p:cNvSpPr txBox="1"/>
          <p:nvPr/>
        </p:nvSpPr>
        <p:spPr>
          <a:xfrm>
            <a:off x="1447800" y="2072640"/>
            <a:ext cx="563880" cy="19050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b−L</a:t>
            </a:r>
          </a:p>
        </p:txBody>
      </p:sp>
      <p:cxnSp>
        <p:nvCxnSpPr>
          <p:cNvPr id="35" name="Coordinate tick b / segment 0"/>
          <p:cNvCxnSpPr/>
          <p:nvPr/>
        </p:nvCxnSpPr>
        <p:spPr>
          <a:xfrm>
            <a:off x="251460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6" name="Coordinate label b"/>
          <p:cNvSpPr txBox="1"/>
          <p:nvPr/>
        </p:nvSpPr>
        <p:spPr>
          <a:xfrm>
            <a:off x="2232660" y="2072640"/>
            <a:ext cx="563880" cy="19050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t>
            </a:r>
          </a:p>
        </p:txBody>
      </p:sp>
      <p:cxnSp>
        <p:nvCxnSpPr>
          <p:cNvPr id="37" name="Coordinate tick b+L / segment 0"/>
          <p:cNvCxnSpPr/>
          <p:nvPr/>
        </p:nvCxnSpPr>
        <p:spPr>
          <a:xfrm>
            <a:off x="346710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8" name="Coordinate label b+L"/>
          <p:cNvSpPr txBox="1"/>
          <p:nvPr/>
        </p:nvSpPr>
        <p:spPr>
          <a:xfrm>
            <a:off x="3185160" y="2072640"/>
            <a:ext cx="563880" cy="19050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b+L</a:t>
            </a:r>
          </a:p>
        </p:txBody>
      </p:sp>
      <p:cxnSp>
        <p:nvCxnSpPr>
          <p:cNvPr id="39" name="Probe halo extent / segment 0"/>
          <p:cNvCxnSpPr/>
          <p:nvPr/>
        </p:nvCxnSpPr>
        <p:spPr>
          <a:xfrm flipV="1">
            <a:off x="1676400" y="17907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40" name="Probe halo extent / segment 1"/>
          <p:cNvCxnSpPr/>
          <p:nvPr/>
        </p:nvCxnSpPr>
        <p:spPr>
          <a:xfrm>
            <a:off x="1676400" y="1790700"/>
            <a:ext cx="186690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41" name="Probe halo extent / segment 2"/>
          <p:cNvCxnSpPr/>
          <p:nvPr/>
        </p:nvCxnSpPr>
        <p:spPr>
          <a:xfrm>
            <a:off x="3543300" y="17907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42" name="Probe halo extent / label"/>
          <p:cNvSpPr txBox="1"/>
          <p:nvPr/>
        </p:nvSpPr>
        <p:spPr>
          <a:xfrm>
            <a:off x="1676400" y="1577340"/>
            <a:ext cx="1866899" cy="1752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57834A"/>
                </a:solidFill>
                <a:latin typeface="Arial"/>
              </a:rPr>
              <a:t>Boundary halo</a:t>
            </a:r>
          </a:p>
        </p:txBody>
      </p:sp>
      <p:sp>
        <p:nvSpPr>
          <p:cNvPr id="43" name="Probe extraction note"/>
          <p:cNvSpPr txBox="1"/>
          <p:nvPr/>
        </p:nvSpPr>
        <p:spPr>
          <a:xfrm>
            <a:off x="457200" y="2415540"/>
            <a:ext cx="4145280" cy="35052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CPE decoding + candidate extraction</a:t>
            </a:r>
          </a:p>
          <a:p>
            <a:pPr algn="ctr">
              <a:lnSpc>
                <a:spcPts val="1209"/>
              </a:lnSpc>
              <a:spcBef>
                <a:spcPts val="0"/>
              </a:spcBef>
              <a:spcAft>
                <a:spcPts val="0"/>
              </a:spcAft>
            </a:pPr>
            <a:r>
              <a:rPr sz="1080" b="0" i="0">
                <a:solidFill>
                  <a:srgbClr val="172C36"/>
                </a:solidFill>
                <a:latin typeface="Arial"/>
              </a:rPr>
              <a:t>Exchange candidate metadata, not full BAM records</a:t>
            </a:r>
          </a:p>
        </p:txBody>
      </p:sp>
      <p:cxnSp>
        <p:nvCxnSpPr>
          <p:cNvPr id="44" name="Probe to collective coverage / segment 0"/>
          <p:cNvCxnSpPr/>
          <p:nvPr/>
        </p:nvCxnSpPr>
        <p:spPr>
          <a:xfrm>
            <a:off x="4853940" y="1661160"/>
            <a:ext cx="3733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All ranks covered diamond"/>
          <p:cNvSpPr/>
          <p:nvPr/>
        </p:nvSpPr>
        <p:spPr>
          <a:xfrm>
            <a:off x="5234940" y="1234440"/>
            <a:ext cx="1264920" cy="853440"/>
          </a:xfrm>
          <a:prstGeom prst="diamond">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verage check text"/>
          <p:cNvSpPr txBox="1"/>
          <p:nvPr/>
        </p:nvSpPr>
        <p:spPr>
          <a:xfrm>
            <a:off x="5387340" y="1424940"/>
            <a:ext cx="960120" cy="48006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Covered</a:t>
            </a:r>
          </a:p>
          <a:p>
            <a:pPr algn="ctr">
              <a:lnSpc>
                <a:spcPts val="1276"/>
              </a:lnSpc>
              <a:spcBef>
                <a:spcPts val="0"/>
              </a:spcBef>
              <a:spcAft>
                <a:spcPts val="0"/>
              </a:spcAft>
            </a:pPr>
            <a:r>
              <a:rPr sz="1140" b="1" i="0">
                <a:solidFill>
                  <a:srgbClr val="172C36"/>
                </a:solidFill>
                <a:latin typeface="Arial"/>
              </a:rPr>
              <a:t>on all ranks?</a:t>
            </a:r>
          </a:p>
        </p:txBody>
      </p:sp>
      <p:cxnSp>
        <p:nvCxnSpPr>
          <p:cNvPr id="47" name="Covered to owner resolution / segment 0"/>
          <p:cNvCxnSpPr/>
          <p:nvPr/>
        </p:nvCxnSpPr>
        <p:spPr>
          <a:xfrm>
            <a:off x="6499860" y="1661160"/>
            <a:ext cx="38862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Coverage yes"/>
          <p:cNvSpPr txBox="1"/>
          <p:nvPr/>
        </p:nvSpPr>
        <p:spPr>
          <a:xfrm>
            <a:off x="6522720" y="1348740"/>
            <a:ext cx="365760" cy="1905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57834A"/>
                </a:solidFill>
                <a:latin typeface="Arial"/>
              </a:rPr>
              <a:t>Yes</a:t>
            </a:r>
          </a:p>
        </p:txBody>
      </p:sp>
      <p:sp>
        <p:nvSpPr>
          <p:cNvPr id="49" name="Boundary owner resolution"/>
          <p:cNvSpPr/>
          <p:nvPr/>
        </p:nvSpPr>
        <p:spPr>
          <a:xfrm>
            <a:off x="6918960" y="701040"/>
            <a:ext cx="2446020" cy="1889760"/>
          </a:xfrm>
          <a:prstGeom prst="roundRect">
            <a:avLst>
              <a:gd name="adj" fmla="val 4838"/>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undary owner resolution / heading"/>
          <p:cNvSpPr txBox="1"/>
          <p:nvPr/>
        </p:nvSpPr>
        <p:spPr>
          <a:xfrm>
            <a:off x="7033260" y="777240"/>
            <a:ext cx="221742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Coordinate owner</a:t>
            </a:r>
          </a:p>
        </p:txBody>
      </p:sp>
      <p:grpSp>
        <p:nvGrpSpPr>
          <p:cNvPr id="53" name="Left candidate [editable group]"/>
          <p:cNvGrpSpPr/>
          <p:nvPr/>
        </p:nvGrpSpPr>
        <p:grpSpPr>
          <a:xfrm>
            <a:off x="7078980" y="1150620"/>
            <a:ext cx="2110740" cy="381000"/>
            <a:chOff x="7078980" y="1150620"/>
            <a:chExt cx="2110740" cy="381000"/>
          </a:xfrm>
        </p:grpSpPr>
        <p:sp>
          <p:nvSpPr>
            <p:cNvPr id="51" name="Left candidate"/>
            <p:cNvSpPr/>
            <p:nvPr/>
          </p:nvSpPr>
          <p:spPr>
            <a:xfrm>
              <a:off x="7078980" y="1150620"/>
              <a:ext cx="2110740" cy="38100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eft candidate / label"/>
            <p:cNvSpPr txBox="1"/>
            <p:nvPr/>
          </p:nvSpPr>
          <p:spPr>
            <a:xfrm>
              <a:off x="7124700" y="1173480"/>
              <a:ext cx="2019300" cy="33528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r−1: key k  |  score 70</a:t>
              </a:r>
            </a:p>
          </p:txBody>
        </p:sp>
      </p:grpSp>
      <p:grpSp>
        <p:nvGrpSpPr>
          <p:cNvPr id="56" name="Right candidate [editable group]"/>
          <p:cNvGrpSpPr/>
          <p:nvPr/>
        </p:nvGrpSpPr>
        <p:grpSpPr>
          <a:xfrm>
            <a:off x="7078980" y="1638300"/>
            <a:ext cx="2110740" cy="381000"/>
            <a:chOff x="7078980" y="1638300"/>
            <a:chExt cx="2110740" cy="381000"/>
          </a:xfrm>
        </p:grpSpPr>
        <p:sp>
          <p:nvSpPr>
            <p:cNvPr id="54" name="Right candidate"/>
            <p:cNvSpPr/>
            <p:nvPr/>
          </p:nvSpPr>
          <p:spPr>
            <a:xfrm>
              <a:off x="7078980" y="1638300"/>
              <a:ext cx="2110740" cy="38100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ight candidate / label"/>
            <p:cNvSpPr txBox="1"/>
            <p:nvPr/>
          </p:nvSpPr>
          <p:spPr>
            <a:xfrm>
              <a:off x="7124700" y="1661160"/>
              <a:ext cx="2019300" cy="33528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r: key k  |  score 60</a:t>
              </a:r>
            </a:p>
          </p:txBody>
        </p:sp>
      </p:grpSp>
      <p:sp>
        <p:nvSpPr>
          <p:cNvPr id="57" name="Resolve same duplicate key"/>
          <p:cNvSpPr txBox="1"/>
          <p:nvPr/>
        </p:nvSpPr>
        <p:spPr>
          <a:xfrm>
            <a:off x="7086600" y="2194560"/>
            <a:ext cx="2103120" cy="22098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Same key → select winner</a:t>
            </a:r>
          </a:p>
        </p:txBody>
      </p:sp>
      <p:cxnSp>
        <p:nvCxnSpPr>
          <p:cNvPr id="58" name="Return boundary decisions / segment 0"/>
          <p:cNvCxnSpPr/>
          <p:nvPr/>
        </p:nvCxnSpPr>
        <p:spPr>
          <a:xfrm>
            <a:off x="9364980" y="1661160"/>
            <a:ext cx="4191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9" name="Return label"/>
          <p:cNvSpPr txBox="1"/>
          <p:nvPr/>
        </p:nvSpPr>
        <p:spPr>
          <a:xfrm>
            <a:off x="9403080" y="1348740"/>
            <a:ext cx="403860" cy="19050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172C36"/>
                </a:solidFill>
                <a:latin typeface="Arial"/>
              </a:rPr>
              <a:t>Return</a:t>
            </a:r>
          </a:p>
        </p:txBody>
      </p:sp>
      <p:sp>
        <p:nvSpPr>
          <p:cNvPr id="60" name="Boundary decisions"/>
          <p:cNvSpPr/>
          <p:nvPr/>
        </p:nvSpPr>
        <p:spPr>
          <a:xfrm>
            <a:off x="9806940" y="701040"/>
            <a:ext cx="2164080" cy="1889760"/>
          </a:xfrm>
          <a:prstGeom prst="roundRect">
            <a:avLst>
              <a:gd name="adj" fmla="val 4838"/>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undary decisions / heading"/>
          <p:cNvSpPr txBox="1"/>
          <p:nvPr/>
        </p:nvSpPr>
        <p:spPr>
          <a:xfrm>
            <a:off x="9921240" y="777240"/>
            <a:ext cx="193548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Cached decisions Hᵣ</a:t>
            </a:r>
          </a:p>
        </p:txBody>
      </p:sp>
      <p:grpSp>
        <p:nvGrpSpPr>
          <p:cNvPr id="64" name="Pre resolved keep [editable group]"/>
          <p:cNvGrpSpPr/>
          <p:nvPr/>
        </p:nvGrpSpPr>
        <p:grpSpPr>
          <a:xfrm>
            <a:off x="9966960" y="1150620"/>
            <a:ext cx="1836420" cy="381000"/>
            <a:chOff x="9966960" y="1150620"/>
            <a:chExt cx="1836420" cy="381000"/>
          </a:xfrm>
        </p:grpSpPr>
        <p:sp>
          <p:nvSpPr>
            <p:cNvPr id="62" name="Pre resolved keep"/>
            <p:cNvSpPr/>
            <p:nvPr/>
          </p:nvSpPr>
          <p:spPr>
            <a:xfrm>
              <a:off x="9966960" y="1150620"/>
              <a:ext cx="1836420" cy="38100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re resolved keep / label"/>
            <p:cNvSpPr txBox="1"/>
            <p:nvPr/>
          </p:nvSpPr>
          <p:spPr>
            <a:xfrm>
              <a:off x="10012680" y="1173480"/>
              <a:ext cx="1744980" cy="335280"/>
            </a:xfrm>
            <a:prstGeom prst="rect">
              <a:avLst/>
            </a:prstGeom>
            <a:noFill/>
          </p:spPr>
          <p:txBody>
            <a:bodyPr wrap="none" lIns="0" rIns="0" tIns="0" bIns="0" anchor="ctr">
              <a:noAutofit/>
            </a:bodyPr>
            <a:lstStyle/>
            <a:p>
              <a:pPr algn="ctr">
                <a:lnSpc>
                  <a:spcPts val="1411"/>
                </a:lnSpc>
                <a:spcBef>
                  <a:spcPts val="0"/>
                </a:spcBef>
                <a:spcAft>
                  <a:spcPts val="0"/>
                </a:spcAft>
              </a:pPr>
              <a:r>
                <a:rPr sz="1260" b="1" i="0">
                  <a:solidFill>
                    <a:srgbClr val="172C36"/>
                  </a:solidFill>
                  <a:latin typeface="Arial"/>
                </a:rPr>
                <a:t>r−1   :   KEEP</a:t>
              </a:r>
            </a:p>
          </p:txBody>
        </p:sp>
      </p:grpSp>
      <p:grpSp>
        <p:nvGrpSpPr>
          <p:cNvPr id="67" name="Pre resolved duplicate [editable group]"/>
          <p:cNvGrpSpPr/>
          <p:nvPr/>
        </p:nvGrpSpPr>
        <p:grpSpPr>
          <a:xfrm>
            <a:off x="9966960" y="1638300"/>
            <a:ext cx="1836420" cy="381000"/>
            <a:chOff x="9966960" y="1638300"/>
            <a:chExt cx="1836420" cy="381000"/>
          </a:xfrm>
        </p:grpSpPr>
        <p:sp>
          <p:nvSpPr>
            <p:cNvPr id="65" name="Pre resolved duplicate"/>
            <p:cNvSpPr/>
            <p:nvPr/>
          </p:nvSpPr>
          <p:spPr>
            <a:xfrm>
              <a:off x="9966960" y="1638300"/>
              <a:ext cx="1836420" cy="38100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re resolved duplicate / label"/>
            <p:cNvSpPr txBox="1"/>
            <p:nvPr/>
          </p:nvSpPr>
          <p:spPr>
            <a:xfrm>
              <a:off x="10012680" y="1661160"/>
              <a:ext cx="1744980" cy="335280"/>
            </a:xfrm>
            <a:prstGeom prst="rect">
              <a:avLst/>
            </a:prstGeom>
            <a:noFill/>
          </p:spPr>
          <p:txBody>
            <a:bodyPr wrap="none" lIns="0" rIns="0" tIns="0" bIns="0" anchor="ctr">
              <a:noAutofit/>
            </a:bodyPr>
            <a:lstStyle/>
            <a:p>
              <a:pPr algn="ctr">
                <a:lnSpc>
                  <a:spcPts val="1411"/>
                </a:lnSpc>
                <a:spcBef>
                  <a:spcPts val="0"/>
                </a:spcBef>
                <a:spcAft>
                  <a:spcPts val="0"/>
                </a:spcAft>
              </a:pPr>
              <a:r>
                <a:rPr sz="1260" b="1" i="0">
                  <a:solidFill>
                    <a:srgbClr val="172C36"/>
                  </a:solidFill>
                  <a:latin typeface="Arial"/>
                </a:rPr>
                <a:t>r      :   DUP</a:t>
              </a:r>
            </a:p>
          </p:txBody>
        </p:sp>
      </p:grpSp>
      <p:sp>
        <p:nvSpPr>
          <p:cNvPr id="68" name="Boundary decision indexing"/>
          <p:cNvSpPr txBox="1"/>
          <p:nvPr/>
        </p:nvSpPr>
        <p:spPr>
          <a:xfrm>
            <a:off x="9951720" y="2194560"/>
            <a:ext cx="1859280" cy="2209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By source record ID</a:t>
            </a:r>
          </a:p>
        </p:txBody>
      </p:sp>
      <p:cxnSp>
        <p:nvCxnSpPr>
          <p:cNvPr id="69" name="Coverage failure fallback / segment 0"/>
          <p:cNvCxnSpPr/>
          <p:nvPr/>
        </p:nvCxnSpPr>
        <p:spPr>
          <a:xfrm>
            <a:off x="5867400" y="2087880"/>
            <a:ext cx="0" cy="708660"/>
          </a:xfrm>
          <a:prstGeom prst="line">
            <a:avLst/>
          </a:prstGeom>
          <a:ln w="13716">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0" name="Coverage failure fallback / segment 1"/>
          <p:cNvCxnSpPr/>
          <p:nvPr/>
        </p:nvCxnSpPr>
        <p:spPr>
          <a:xfrm>
            <a:off x="5867400" y="2796540"/>
            <a:ext cx="731520" cy="0"/>
          </a:xfrm>
          <a:prstGeom prst="line">
            <a:avLst/>
          </a:prstGeom>
          <a:ln w="13716">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71" name="Failure label"/>
          <p:cNvSpPr txBox="1"/>
          <p:nvPr/>
        </p:nvSpPr>
        <p:spPr>
          <a:xfrm>
            <a:off x="5882640" y="2194560"/>
            <a:ext cx="518160" cy="1905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9A7625"/>
                </a:solidFill>
                <a:latin typeface="Arial"/>
              </a:rPr>
              <a:t>No</a:t>
            </a:r>
          </a:p>
        </p:txBody>
      </p:sp>
      <p:sp>
        <p:nvSpPr>
          <p:cNvPr id="72" name="Conservative fallback"/>
          <p:cNvSpPr txBox="1"/>
          <p:nvPr/>
        </p:nvSpPr>
        <p:spPr>
          <a:xfrm>
            <a:off x="6682740" y="2644140"/>
            <a:ext cx="5044440" cy="365760"/>
          </a:xfrm>
          <a:prstGeom prst="rect">
            <a:avLst/>
          </a:prstGeom>
          <a:noFill/>
        </p:spPr>
        <p:txBody>
          <a:bodyPr wrap="none" lIns="0" rIns="0" tIns="0" bIns="0" anchor="ctr">
            <a:noAutofit/>
          </a:bodyPr>
          <a:lstStyle/>
          <a:p>
            <a:pPr algn="l">
              <a:lnSpc>
                <a:spcPts val="1276"/>
              </a:lnSpc>
              <a:spcBef>
                <a:spcPts val="0"/>
              </a:spcBef>
              <a:spcAft>
                <a:spcPts val="0"/>
              </a:spcAft>
            </a:pPr>
            <a:r>
              <a:rPr sz="1140" b="0" i="0">
                <a:solidFill>
                  <a:srgbClr val="9A7625"/>
                </a:solidFill>
                <a:latin typeface="Arial"/>
              </a:rPr>
              <a:t>Otherwise: retain boundary candidates</a:t>
            </a:r>
          </a:p>
          <a:p>
            <a:pPr algn="l">
              <a:lnSpc>
                <a:spcPts val="1276"/>
              </a:lnSpc>
              <a:spcBef>
                <a:spcPts val="0"/>
              </a:spcBef>
              <a:spcAft>
                <a:spcPts val="0"/>
              </a:spcAft>
            </a:pPr>
            <a:r>
              <a:rPr sz="1140" b="0" i="0">
                <a:solidFill>
                  <a:srgbClr val="9A7625"/>
                </a:solidFill>
                <a:latin typeface="Arial"/>
              </a:rPr>
              <a:t>in the conservative window</a:t>
            </a:r>
          </a:p>
        </p:txBody>
      </p:sp>
      <p:sp>
        <p:nvSpPr>
          <p:cNvPr id="73" name="(b) Retain decoded blocks; emit only the finalized prefix"/>
          <p:cNvSpPr txBox="1"/>
          <p:nvPr/>
        </p:nvSpPr>
        <p:spPr>
          <a:xfrm>
            <a:off x="228600" y="316992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(b) Retain decoded blocks; emit only the finalized prefix</a:t>
            </a:r>
          </a:p>
        </p:txBody>
      </p:sp>
      <p:sp>
        <p:nvSpPr>
          <p:cNvPr id="74" name="Main read and candidate extraction"/>
          <p:cNvSpPr/>
          <p:nvPr/>
        </p:nvSpPr>
        <p:spPr>
          <a:xfrm>
            <a:off x="228600" y="3886200"/>
            <a:ext cx="2049780" cy="838200"/>
          </a:xfrm>
          <a:prstGeom prst="roundRect">
            <a:avLst>
              <a:gd name="adj" fmla="val 10909"/>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Main read and candidate extraction / heading"/>
          <p:cNvSpPr txBox="1"/>
          <p:nvPr/>
        </p:nvSpPr>
        <p:spPr>
          <a:xfrm>
            <a:off x="342900" y="3962399"/>
            <a:ext cx="182118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BAM read (CPE)</a:t>
            </a:r>
          </a:p>
        </p:txBody>
      </p:sp>
      <p:sp>
        <p:nvSpPr>
          <p:cNvPr id="76" name="Decode extraction text"/>
          <p:cNvSpPr txBox="1"/>
          <p:nvPr/>
        </p:nvSpPr>
        <p:spPr>
          <a:xfrm>
            <a:off x="335280" y="4221480"/>
            <a:ext cx="1828800" cy="41910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Decode + extract</a:t>
            </a:r>
          </a:p>
          <a:p>
            <a:pPr algn="ctr">
              <a:lnSpc>
                <a:spcPts val="1344"/>
              </a:lnSpc>
              <a:spcBef>
                <a:spcPts val="0"/>
              </a:spcBef>
              <a:spcAft>
                <a:spcPts val="0"/>
              </a:spcAft>
            </a:pPr>
            <a:r>
              <a:rPr sz="1200" b="0" i="0">
                <a:solidFill>
                  <a:srgbClr val="172C36"/>
                </a:solidFill>
                <a:latin typeface="Arial"/>
              </a:rPr>
              <a:t>Decoded B / candidates C</a:t>
            </a:r>
          </a:p>
        </p:txBody>
      </p:sp>
      <p:cxnSp>
        <p:nvCxnSpPr>
          <p:cNvPr id="77" name="Local candidate handoff / segment 0"/>
          <p:cNvCxnSpPr/>
          <p:nvPr/>
        </p:nvCxnSpPr>
        <p:spPr>
          <a:xfrm>
            <a:off x="2278380" y="4282440"/>
            <a:ext cx="82296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8" name="Local candidate label"/>
          <p:cNvSpPr txBox="1"/>
          <p:nvPr/>
        </p:nvSpPr>
        <p:spPr>
          <a:xfrm>
            <a:off x="2621280" y="4351020"/>
            <a:ext cx="464820" cy="16764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172C36"/>
                </a:solidFill>
                <a:latin typeface="Arial"/>
              </a:rPr>
              <a:t>Local C</a:t>
            </a:r>
          </a:p>
        </p:txBody>
      </p:sp>
      <p:sp>
        <p:nvSpPr>
          <p:cNvPr id="79" name="Active candidate window"/>
          <p:cNvSpPr/>
          <p:nvPr/>
        </p:nvSpPr>
        <p:spPr>
          <a:xfrm>
            <a:off x="3101340" y="3886200"/>
            <a:ext cx="2865120" cy="838200"/>
          </a:xfrm>
          <a:prstGeom prst="roundRect">
            <a:avLst>
              <a:gd name="adj" fmla="val 10909"/>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ctive candidate window / heading"/>
          <p:cNvSpPr txBox="1"/>
          <p:nvPr/>
        </p:nvSpPr>
        <p:spPr>
          <a:xfrm>
            <a:off x="3215640" y="3962399"/>
            <a:ext cx="263652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Candidate window Wᵣ</a:t>
            </a:r>
          </a:p>
        </p:txBody>
      </p:sp>
      <p:sp>
        <p:nvSpPr>
          <p:cNvPr id="81" name="Owner candidate inputs"/>
          <p:cNvSpPr txBox="1"/>
          <p:nvPr/>
        </p:nvSpPr>
        <p:spPr>
          <a:xfrm>
            <a:off x="3238500" y="4190999"/>
            <a:ext cx="2575560" cy="16764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57834A"/>
                </a:solidFill>
                <a:latin typeface="Arial"/>
              </a:rPr>
              <a:t>Local + received candidates</a:t>
            </a:r>
          </a:p>
        </p:txBody>
      </p:sp>
      <p:grpSp>
        <p:nvGrpSpPr>
          <p:cNvPr id="84" name="Paired window state [editable group]"/>
          <p:cNvGrpSpPr/>
          <p:nvPr/>
        </p:nvGrpSpPr>
        <p:grpSpPr>
          <a:xfrm>
            <a:off x="3238500" y="4404360"/>
            <a:ext cx="1203960" cy="228600"/>
            <a:chOff x="3238500" y="4404360"/>
            <a:chExt cx="1203960" cy="228600"/>
          </a:xfrm>
        </p:grpSpPr>
        <p:sp>
          <p:nvSpPr>
            <p:cNvPr id="82" name="Paired window state"/>
            <p:cNvSpPr/>
            <p:nvPr/>
          </p:nvSpPr>
          <p:spPr>
            <a:xfrm>
              <a:off x="3238500" y="4404360"/>
              <a:ext cx="1203960" cy="22860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aired window state / label"/>
            <p:cNvSpPr txBox="1"/>
            <p:nvPr/>
          </p:nvSpPr>
          <p:spPr>
            <a:xfrm>
              <a:off x="3284220" y="4427220"/>
              <a:ext cx="1112520" cy="18288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Paired keys</a:t>
              </a:r>
            </a:p>
          </p:txBody>
        </p:sp>
      </p:grpSp>
      <p:grpSp>
        <p:nvGrpSpPr>
          <p:cNvPr id="87" name="Single window state [editable group]"/>
          <p:cNvGrpSpPr/>
          <p:nvPr/>
        </p:nvGrpSpPr>
        <p:grpSpPr>
          <a:xfrm>
            <a:off x="4602480" y="4404360"/>
            <a:ext cx="1203960" cy="228600"/>
            <a:chOff x="4602480" y="4404360"/>
            <a:chExt cx="1203960" cy="228600"/>
          </a:xfrm>
        </p:grpSpPr>
        <p:sp>
          <p:nvSpPr>
            <p:cNvPr id="85" name="Single window state"/>
            <p:cNvSpPr/>
            <p:nvPr/>
          </p:nvSpPr>
          <p:spPr>
            <a:xfrm>
              <a:off x="4602480" y="4404360"/>
              <a:ext cx="1203960" cy="22860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ingle window state / label"/>
            <p:cNvSpPr txBox="1"/>
            <p:nvPr/>
          </p:nvSpPr>
          <p:spPr>
            <a:xfrm>
              <a:off x="4648200" y="4427220"/>
              <a:ext cx="1112520" cy="18288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Single keys</a:t>
              </a:r>
            </a:p>
          </p:txBody>
        </p:sp>
      </p:grpSp>
      <p:sp>
        <p:nvSpPr>
          <p:cNvPr id="88" name="Exclude already pre resolved"/>
          <p:cNvSpPr txBox="1"/>
          <p:nvPr/>
        </p:nvSpPr>
        <p:spPr>
          <a:xfrm>
            <a:off x="2727960" y="3413760"/>
            <a:ext cx="345186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61727A"/>
                </a:solidFill>
                <a:latin typeface="Arial"/>
              </a:rPr>
              <a:t>Exclude candidates already resolved by Hᵣ</a:t>
            </a:r>
          </a:p>
        </p:txBody>
      </p:sp>
      <p:sp>
        <p:nvSpPr>
          <p:cNvPr id="89" name="Remote owners"/>
          <p:cNvSpPr/>
          <p:nvPr/>
        </p:nvSpPr>
        <p:spPr>
          <a:xfrm>
            <a:off x="7231380" y="3886200"/>
            <a:ext cx="1958340" cy="838200"/>
          </a:xfrm>
          <a:prstGeom prst="roundRect">
            <a:avLst>
              <a:gd name="adj" fmla="val 10909"/>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mote owners / heading"/>
          <p:cNvSpPr txBox="1"/>
          <p:nvPr/>
        </p:nvSpPr>
        <p:spPr>
          <a:xfrm>
            <a:off x="7345680" y="3962399"/>
            <a:ext cx="172974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Remote owners</a:t>
            </a:r>
          </a:p>
        </p:txBody>
      </p:sp>
      <p:sp>
        <p:nvSpPr>
          <p:cNvPr id="91" name="Remote owner action"/>
          <p:cNvSpPr txBox="1"/>
          <p:nvPr/>
        </p:nvSpPr>
        <p:spPr>
          <a:xfrm>
            <a:off x="7330440" y="4221480"/>
            <a:ext cx="1767840" cy="4038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Resolve remote keys</a:t>
            </a:r>
          </a:p>
          <a:p>
            <a:pPr algn="ctr">
              <a:lnSpc>
                <a:spcPts val="1209"/>
              </a:lnSpc>
              <a:spcBef>
                <a:spcPts val="0"/>
              </a:spcBef>
              <a:spcAft>
                <a:spcPts val="0"/>
              </a:spcAft>
            </a:pPr>
            <a:r>
              <a:rPr sz="1080" b="0" i="0">
                <a:solidFill>
                  <a:srgbClr val="172C36"/>
                </a:solidFill>
                <a:latin typeface="Arial"/>
              </a:rPr>
              <a:t>Return source decisions</a:t>
            </a:r>
          </a:p>
        </p:txBody>
      </p:sp>
      <p:cxnSp>
        <p:nvCxnSpPr>
          <p:cNvPr id="92" name="Remote candidate routing / segment 0"/>
          <p:cNvCxnSpPr/>
          <p:nvPr/>
        </p:nvCxnSpPr>
        <p:spPr>
          <a:xfrm flipV="1">
            <a:off x="2567940" y="3649980"/>
            <a:ext cx="0" cy="632460"/>
          </a:xfrm>
          <a:prstGeom prst="line">
            <a:avLst/>
          </a:prstGeom>
          <a:ln w="13716">
            <a:solidFill>
              <a:srgbClr val="7A6198"/>
            </a:solidFill>
          </a:ln>
          <a:effectLst/>
        </p:spPr>
        <p:style>
          <a:lnRef idx="2">
            <a:schemeClr val="accent1"/>
          </a:lnRef>
          <a:fillRef idx="0">
            <a:schemeClr val="accent1"/>
          </a:fillRef>
          <a:effectRef idx="1">
            <a:schemeClr val="accent1"/>
          </a:effectRef>
          <a:fontRef idx="minor">
            <a:schemeClr val="tx1"/>
          </a:fontRef>
        </p:style>
      </p:cxnSp>
      <p:cxnSp>
        <p:nvCxnSpPr>
          <p:cNvPr id="93" name="Remote candidate routing / segment 1"/>
          <p:cNvCxnSpPr/>
          <p:nvPr/>
        </p:nvCxnSpPr>
        <p:spPr>
          <a:xfrm>
            <a:off x="2567940" y="3649980"/>
            <a:ext cx="5646419" cy="0"/>
          </a:xfrm>
          <a:prstGeom prst="line">
            <a:avLst/>
          </a:prstGeom>
          <a:ln w="13716">
            <a:solidFill>
              <a:srgbClr val="7A6198"/>
            </a:solidFill>
          </a:ln>
          <a:effectLst/>
        </p:spPr>
        <p:style>
          <a:lnRef idx="2">
            <a:schemeClr val="accent1"/>
          </a:lnRef>
          <a:fillRef idx="0">
            <a:schemeClr val="accent1"/>
          </a:fillRef>
          <a:effectRef idx="1">
            <a:schemeClr val="accent1"/>
          </a:effectRef>
          <a:fontRef idx="minor">
            <a:schemeClr val="tx1"/>
          </a:fontRef>
        </p:style>
      </p:cxnSp>
      <p:cxnSp>
        <p:nvCxnSpPr>
          <p:cNvPr id="94" name="Remote candidate routing / segment 2"/>
          <p:cNvCxnSpPr/>
          <p:nvPr/>
        </p:nvCxnSpPr>
        <p:spPr>
          <a:xfrm>
            <a:off x="8214359" y="3649980"/>
            <a:ext cx="0" cy="220980"/>
          </a:xfrm>
          <a:prstGeom prst="line">
            <a:avLst/>
          </a:prstGeom>
          <a:ln w="13716">
            <a:solidFill>
              <a:srgbClr val="7A619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5" name="Remote candidates label"/>
          <p:cNvSpPr txBox="1"/>
          <p:nvPr/>
        </p:nvSpPr>
        <p:spPr>
          <a:xfrm>
            <a:off x="6911340" y="3413760"/>
            <a:ext cx="176784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7A6198"/>
                </a:solidFill>
                <a:latin typeface="Arial"/>
              </a:rPr>
              <a:t>Remote candidates</a:t>
            </a:r>
          </a:p>
        </p:txBody>
      </p:sp>
      <p:cxnSp>
        <p:nvCxnSpPr>
          <p:cNvPr id="96" name="Remote decisions apply / segment 0"/>
          <p:cNvCxnSpPr/>
          <p:nvPr/>
        </p:nvCxnSpPr>
        <p:spPr>
          <a:xfrm>
            <a:off x="8214359" y="4724400"/>
            <a:ext cx="0" cy="411480"/>
          </a:xfrm>
          <a:prstGeom prst="line">
            <a:avLst/>
          </a:prstGeom>
          <a:ln w="13716">
            <a:solidFill>
              <a:srgbClr val="7A61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97" name="Remote decision label"/>
          <p:cNvSpPr txBox="1"/>
          <p:nvPr/>
        </p:nvSpPr>
        <p:spPr>
          <a:xfrm>
            <a:off x="8305800" y="4876800"/>
            <a:ext cx="1615440" cy="18288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7A6198"/>
                </a:solidFill>
                <a:latin typeface="Arial"/>
              </a:rPr>
              <a:t>Returned decisions</a:t>
            </a:r>
          </a:p>
        </p:txBody>
      </p:sp>
      <p:grpSp>
        <p:nvGrpSpPr>
          <p:cNvPr id="100" name="Apply cached H [editable group]"/>
          <p:cNvGrpSpPr/>
          <p:nvPr/>
        </p:nvGrpSpPr>
        <p:grpSpPr>
          <a:xfrm>
            <a:off x="9707880" y="3886200"/>
            <a:ext cx="2255520" cy="762000"/>
            <a:chOff x="9707880" y="3886200"/>
            <a:chExt cx="2255520" cy="762000"/>
          </a:xfrm>
        </p:grpSpPr>
        <p:sp>
          <p:nvSpPr>
            <p:cNvPr id="98" name="Apply cached H"/>
            <p:cNvSpPr/>
            <p:nvPr/>
          </p:nvSpPr>
          <p:spPr>
            <a:xfrm>
              <a:off x="9707880" y="3886200"/>
              <a:ext cx="2255520" cy="762000"/>
            </a:xfrm>
            <a:prstGeom prst="roundRect">
              <a:avLst>
                <a:gd name="adj" fmla="val 8000"/>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pply cached H / label"/>
            <p:cNvSpPr txBox="1"/>
            <p:nvPr/>
          </p:nvSpPr>
          <p:spPr>
            <a:xfrm>
              <a:off x="9753600" y="3909060"/>
              <a:ext cx="2164080" cy="71628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Apply cached Hᵣ</a:t>
              </a:r>
            </a:p>
            <a:p>
              <a:pPr algn="ctr">
                <a:lnSpc>
                  <a:spcPts val="1478"/>
                </a:lnSpc>
                <a:spcBef>
                  <a:spcPts val="0"/>
                </a:spcBef>
                <a:spcAft>
                  <a:spcPts val="0"/>
                </a:spcAft>
              </a:pPr>
              <a:r>
                <a:rPr sz="1320" b="1" i="0">
                  <a:solidFill>
                    <a:srgbClr val="172C36"/>
                  </a:solidFill>
                  <a:latin typeface="Arial"/>
                </a:rPr>
                <a:t>KEEP / DUP</a:t>
              </a:r>
            </a:p>
          </p:txBody>
        </p:sp>
      </p:grpSp>
      <p:sp>
        <p:nvSpPr>
          <p:cNvPr id="101" name="Decoded retention label"/>
          <p:cNvSpPr txBox="1"/>
          <p:nvPr/>
        </p:nvSpPr>
        <p:spPr>
          <a:xfrm>
            <a:off x="754380" y="4876800"/>
            <a:ext cx="1722120" cy="3581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Retain decoded blocks</a:t>
            </a:r>
          </a:p>
          <a:p>
            <a:pPr algn="ctr">
              <a:lnSpc>
                <a:spcPts val="1209"/>
              </a:lnSpc>
              <a:spcBef>
                <a:spcPts val="0"/>
              </a:spcBef>
              <a:spcAft>
                <a:spcPts val="0"/>
              </a:spcAft>
            </a:pPr>
            <a:r>
              <a:rPr sz="1080" b="0" i="0">
                <a:solidFill>
                  <a:srgbClr val="172C36"/>
                </a:solidFill>
                <a:latin typeface="Arial"/>
              </a:rPr>
              <a:t>(provisional KEEP)</a:t>
            </a:r>
          </a:p>
        </p:txBody>
      </p:sp>
      <p:cxnSp>
        <p:nvCxnSpPr>
          <p:cNvPr id="102" name="Decoded block storage path / segment 0"/>
          <p:cNvCxnSpPr/>
          <p:nvPr/>
        </p:nvCxnSpPr>
        <p:spPr>
          <a:xfrm>
            <a:off x="609600" y="4724400"/>
            <a:ext cx="0" cy="708660"/>
          </a:xfrm>
          <a:prstGeom prst="line">
            <a:avLst/>
          </a:prstGeom>
          <a:ln w="16764">
            <a:solidFill>
              <a:srgbClr val="197BA3"/>
            </a:solidFill>
          </a:ln>
          <a:effectLst/>
        </p:spPr>
        <p:style>
          <a:lnRef idx="2">
            <a:schemeClr val="accent1"/>
          </a:lnRef>
          <a:fillRef idx="0">
            <a:schemeClr val="accent1"/>
          </a:fillRef>
          <a:effectRef idx="1">
            <a:schemeClr val="accent1"/>
          </a:effectRef>
          <a:fontRef idx="minor">
            <a:schemeClr val="tx1"/>
          </a:fontRef>
        </p:style>
      </p:cxnSp>
      <p:cxnSp>
        <p:nvCxnSpPr>
          <p:cNvPr id="103" name="Decoded block storage path / segment 1"/>
          <p:cNvCxnSpPr/>
          <p:nvPr/>
        </p:nvCxnSpPr>
        <p:spPr>
          <a:xfrm>
            <a:off x="609600" y="5433060"/>
            <a:ext cx="2034540" cy="0"/>
          </a:xfrm>
          <a:prstGeom prst="line">
            <a:avLst/>
          </a:prstGeom>
          <a:ln w="16764">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4" name="Queue heading"/>
          <p:cNvSpPr txBox="1"/>
          <p:nvPr/>
        </p:nvSpPr>
        <p:spPr>
          <a:xfrm>
            <a:off x="2674620" y="4884420"/>
            <a:ext cx="2827020" cy="213360"/>
          </a:xfrm>
          <a:prstGeom prst="rect">
            <a:avLst/>
          </a:prstGeom>
          <a:noFill/>
        </p:spPr>
        <p:txBody>
          <a:bodyPr wrap="none" lIns="0" rIns="0" tIns="0" bIns="0" anchor="ctr">
            <a:noAutofit/>
          </a:bodyPr>
          <a:lstStyle/>
          <a:p>
            <a:pPr algn="l">
              <a:lnSpc>
                <a:spcPts val="1411"/>
              </a:lnSpc>
              <a:spcBef>
                <a:spcPts val="0"/>
              </a:spcBef>
              <a:spcAft>
                <a:spcPts val="0"/>
              </a:spcAft>
            </a:pPr>
            <a:r>
              <a:rPr sz="1260" b="1" i="0">
                <a:solidFill>
                  <a:srgbClr val="172C36"/>
                </a:solidFill>
                <a:latin typeface="Arial"/>
              </a:rPr>
              <a:t>Pending queue Qᵣ (input order)</a:t>
            </a:r>
          </a:p>
        </p:txBody>
      </p:sp>
      <p:sp>
        <p:nvSpPr>
          <p:cNvPr id="105" name="Queue tail label"/>
          <p:cNvSpPr txBox="1"/>
          <p:nvPr/>
        </p:nvSpPr>
        <p:spPr>
          <a:xfrm>
            <a:off x="11064240" y="4884420"/>
            <a:ext cx="723900" cy="205740"/>
          </a:xfrm>
          <a:prstGeom prst="rect">
            <a:avLst/>
          </a:prstGeom>
          <a:noFill/>
        </p:spPr>
        <p:txBody>
          <a:bodyPr wrap="none" lIns="0" rIns="0" tIns="0" bIns="0" anchor="ctr">
            <a:noAutofit/>
          </a:bodyPr>
          <a:lstStyle/>
          <a:p>
            <a:pPr algn="r">
              <a:lnSpc>
                <a:spcPts val="1209"/>
              </a:lnSpc>
              <a:spcBef>
                <a:spcPts val="0"/>
              </a:spcBef>
              <a:spcAft>
                <a:spcPts val="0"/>
              </a:spcAft>
            </a:pPr>
            <a:r>
              <a:rPr sz="1080" b="0" i="0">
                <a:solidFill>
                  <a:srgbClr val="61727A"/>
                </a:solidFill>
                <a:latin typeface="Arial"/>
              </a:rPr>
              <a:t>Tail</a:t>
            </a:r>
          </a:p>
        </p:txBody>
      </p:sp>
      <p:sp>
        <p:nvSpPr>
          <p:cNvPr id="106" name="Pending queue outline"/>
          <p:cNvSpPr/>
          <p:nvPr/>
        </p:nvSpPr>
        <p:spPr>
          <a:xfrm>
            <a:off x="2644140" y="5181600"/>
            <a:ext cx="9311640" cy="624840"/>
          </a:xfrm>
          <a:prstGeom prst="roundRect">
            <a:avLst>
              <a:gd name="adj" fmla="val 9756"/>
            </a:avLst>
          </a:prstGeom>
          <a:solidFill>
            <a:srgbClr val="FFFFFF"/>
          </a:solidFill>
          <a:ln w="12192">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9" name="Queue block B₀ [editable group]"/>
          <p:cNvGrpSpPr/>
          <p:nvPr/>
        </p:nvGrpSpPr>
        <p:grpSpPr>
          <a:xfrm>
            <a:off x="2766060" y="5288280"/>
            <a:ext cx="2072640" cy="396240"/>
            <a:chOff x="2766060" y="5288280"/>
            <a:chExt cx="2072640" cy="396240"/>
          </a:xfrm>
        </p:grpSpPr>
        <p:sp>
          <p:nvSpPr>
            <p:cNvPr id="107" name="Queue block B₀"/>
            <p:cNvSpPr/>
            <p:nvPr/>
          </p:nvSpPr>
          <p:spPr>
            <a:xfrm>
              <a:off x="2766060" y="5288280"/>
              <a:ext cx="2072640" cy="3962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Queue block B₀ / label"/>
            <p:cNvSpPr txBox="1"/>
            <p:nvPr/>
          </p:nvSpPr>
          <p:spPr>
            <a:xfrm>
              <a:off x="2811780" y="5311140"/>
              <a:ext cx="1981199" cy="3505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B₀   Ready</a:t>
              </a:r>
            </a:p>
          </p:txBody>
        </p:sp>
      </p:grpSp>
      <p:cxnSp>
        <p:nvCxnSpPr>
          <p:cNvPr id="110" name="Queue order 0 / segment 0"/>
          <p:cNvCxnSpPr/>
          <p:nvPr/>
        </p:nvCxnSpPr>
        <p:spPr>
          <a:xfrm>
            <a:off x="4838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3" name="Queue block B₁ [editable group]"/>
          <p:cNvGrpSpPr/>
          <p:nvPr/>
        </p:nvGrpSpPr>
        <p:grpSpPr>
          <a:xfrm>
            <a:off x="5052060" y="5288280"/>
            <a:ext cx="2072640" cy="396240"/>
            <a:chOff x="5052060" y="5288280"/>
            <a:chExt cx="2072640" cy="396240"/>
          </a:xfrm>
        </p:grpSpPr>
        <p:sp>
          <p:nvSpPr>
            <p:cNvPr id="111" name="Queue block B₁"/>
            <p:cNvSpPr/>
            <p:nvPr/>
          </p:nvSpPr>
          <p:spPr>
            <a:xfrm>
              <a:off x="5052060" y="5288280"/>
              <a:ext cx="2072640" cy="3962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Queue block B₁ / label"/>
            <p:cNvSpPr txBox="1"/>
            <p:nvPr/>
          </p:nvSpPr>
          <p:spPr>
            <a:xfrm>
              <a:off x="5097780" y="5311140"/>
              <a:ext cx="1981199" cy="3505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B₁   Ready</a:t>
              </a:r>
            </a:p>
          </p:txBody>
        </p:sp>
      </p:grpSp>
      <p:cxnSp>
        <p:nvCxnSpPr>
          <p:cNvPr id="114" name="Queue order 1 / segment 0"/>
          <p:cNvCxnSpPr/>
          <p:nvPr/>
        </p:nvCxnSpPr>
        <p:spPr>
          <a:xfrm>
            <a:off x="7124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7" name="Queue block B₂ [editable group]"/>
          <p:cNvGrpSpPr/>
          <p:nvPr/>
        </p:nvGrpSpPr>
        <p:grpSpPr>
          <a:xfrm>
            <a:off x="7338060" y="5288280"/>
            <a:ext cx="2072640" cy="396240"/>
            <a:chOff x="7338060" y="5288280"/>
            <a:chExt cx="2072640" cy="396240"/>
          </a:xfrm>
        </p:grpSpPr>
        <p:sp>
          <p:nvSpPr>
            <p:cNvPr id="115" name="Queue block B₂"/>
            <p:cNvSpPr/>
            <p:nvPr/>
          </p:nvSpPr>
          <p:spPr>
            <a:xfrm>
              <a:off x="7338060" y="5288280"/>
              <a:ext cx="2072640" cy="39624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Queue block B₂ / label"/>
            <p:cNvSpPr txBox="1"/>
            <p:nvPr/>
          </p:nvSpPr>
          <p:spPr>
            <a:xfrm>
              <a:off x="7383779" y="5311140"/>
              <a:ext cx="1981199" cy="3505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B₂   Pending</a:t>
              </a:r>
            </a:p>
          </p:txBody>
        </p:sp>
      </p:grpSp>
      <p:cxnSp>
        <p:nvCxnSpPr>
          <p:cNvPr id="118" name="Queue order 2 / segment 0"/>
          <p:cNvCxnSpPr/>
          <p:nvPr/>
        </p:nvCxnSpPr>
        <p:spPr>
          <a:xfrm>
            <a:off x="9410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21" name="Queue block B₃ [editable group]"/>
          <p:cNvGrpSpPr/>
          <p:nvPr/>
        </p:nvGrpSpPr>
        <p:grpSpPr>
          <a:xfrm>
            <a:off x="9624060" y="5288280"/>
            <a:ext cx="2072640" cy="396240"/>
            <a:chOff x="9624060" y="5288280"/>
            <a:chExt cx="2072640" cy="396240"/>
          </a:xfrm>
        </p:grpSpPr>
        <p:sp>
          <p:nvSpPr>
            <p:cNvPr id="119" name="Queue block B₃"/>
            <p:cNvSpPr/>
            <p:nvPr/>
          </p:nvSpPr>
          <p:spPr>
            <a:xfrm>
              <a:off x="9624060" y="5288280"/>
              <a:ext cx="2072640" cy="39624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Queue block B₃ / label"/>
            <p:cNvSpPr txBox="1"/>
            <p:nvPr/>
          </p:nvSpPr>
          <p:spPr>
            <a:xfrm>
              <a:off x="9669780" y="5311140"/>
              <a:ext cx="1981199" cy="3505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B₃   Ready, held</a:t>
              </a:r>
            </a:p>
          </p:txBody>
        </p:sp>
      </p:grpSp>
      <p:cxnSp>
        <p:nvCxnSpPr>
          <p:cNvPr id="122" name="Window decisions apply / segment 0"/>
          <p:cNvCxnSpPr/>
          <p:nvPr/>
        </p:nvCxnSpPr>
        <p:spPr>
          <a:xfrm>
            <a:off x="4411980" y="4724400"/>
            <a:ext cx="0" cy="76200"/>
          </a:xfrm>
          <a:prstGeom prst="line">
            <a:avLst/>
          </a:prstGeom>
          <a:ln w="13716">
            <a:solidFill>
              <a:srgbClr val="57834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3" name="Window decisions apply / segment 1"/>
          <p:cNvCxnSpPr/>
          <p:nvPr/>
        </p:nvCxnSpPr>
        <p:spPr>
          <a:xfrm>
            <a:off x="4411980" y="4800600"/>
            <a:ext cx="1417320" cy="0"/>
          </a:xfrm>
          <a:prstGeom prst="line">
            <a:avLst/>
          </a:prstGeom>
          <a:ln w="13716">
            <a:solidFill>
              <a:srgbClr val="57834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4" name="Window decisions apply / segment 2"/>
          <p:cNvCxnSpPr/>
          <p:nvPr/>
        </p:nvCxnSpPr>
        <p:spPr>
          <a:xfrm>
            <a:off x="5829300" y="4800600"/>
            <a:ext cx="0" cy="335280"/>
          </a:xfrm>
          <a:prstGeom prst="line">
            <a:avLst/>
          </a:prstGeom>
          <a:ln w="13716">
            <a:solidFill>
              <a:srgbClr val="57834A"/>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5" name="Local decisions label"/>
          <p:cNvSpPr txBox="1"/>
          <p:nvPr/>
        </p:nvSpPr>
        <p:spPr>
          <a:xfrm>
            <a:off x="5920740" y="4884420"/>
            <a:ext cx="138684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57834A"/>
                </a:solidFill>
                <a:latin typeface="Arial"/>
              </a:rPr>
              <a:t>Local decisions</a:t>
            </a:r>
          </a:p>
        </p:txBody>
      </p:sp>
      <p:cxnSp>
        <p:nvCxnSpPr>
          <p:cNvPr id="126" name="Cache decisions apply / segment 0"/>
          <p:cNvCxnSpPr/>
          <p:nvPr/>
        </p:nvCxnSpPr>
        <p:spPr>
          <a:xfrm>
            <a:off x="10835640" y="4648200"/>
            <a:ext cx="0" cy="487680"/>
          </a:xfrm>
          <a:prstGeom prst="line">
            <a:avLst/>
          </a:prstGeom>
          <a:ln w="13716">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7" name="Ready output prefix / segment 0"/>
          <p:cNvCxnSpPr/>
          <p:nvPr/>
        </p:nvCxnSpPr>
        <p:spPr>
          <a:xfrm>
            <a:off x="2766060" y="583692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28" name="Ready output prefix / segment 1"/>
          <p:cNvCxnSpPr/>
          <p:nvPr/>
        </p:nvCxnSpPr>
        <p:spPr>
          <a:xfrm>
            <a:off x="2766060" y="5890260"/>
            <a:ext cx="43586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29" name="Ready output prefix / segment 2"/>
          <p:cNvCxnSpPr/>
          <p:nvPr/>
        </p:nvCxnSpPr>
        <p:spPr>
          <a:xfrm flipV="1">
            <a:off x="7124700" y="583692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130" name="Ready output prefix / label"/>
          <p:cNvSpPr txBox="1"/>
          <p:nvPr/>
        </p:nvSpPr>
        <p:spPr>
          <a:xfrm>
            <a:off x="2766060" y="5935980"/>
            <a:ext cx="4358640" cy="1752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57834A"/>
                </a:solidFill>
                <a:latin typeface="Arial"/>
              </a:rPr>
              <a:t>Emit the consecutive ready prefix</a:t>
            </a:r>
          </a:p>
        </p:txBody>
      </p:sp>
      <p:sp>
        <p:nvSpPr>
          <p:cNvPr id="131" name="Queue stop explanation"/>
          <p:cNvSpPr txBox="1"/>
          <p:nvPr/>
        </p:nvSpPr>
        <p:spPr>
          <a:xfrm>
            <a:off x="7322820" y="5913120"/>
            <a:ext cx="4518660" cy="19050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9A7625"/>
                </a:solidFill>
                <a:latin typeface="Arial"/>
              </a:rPr>
              <a:t>Stop at the first unresolved block</a:t>
            </a:r>
          </a:p>
        </p:txBody>
      </p:sp>
      <p:cxnSp>
        <p:nvCxnSpPr>
          <p:cNvPr id="132" name="Ready blocks to output / segment 0"/>
          <p:cNvCxnSpPr/>
          <p:nvPr/>
        </p:nvCxnSpPr>
        <p:spPr>
          <a:xfrm>
            <a:off x="3581400" y="6088380"/>
            <a:ext cx="0" cy="182880"/>
          </a:xfrm>
          <a:prstGeom prst="line">
            <a:avLst/>
          </a:prstGeom>
          <a:ln w="13716">
            <a:solidFill>
              <a:srgbClr val="57834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35" name="Output Patch DUP flags [editable group]"/>
          <p:cNvGrpSpPr/>
          <p:nvPr/>
        </p:nvGrpSpPr>
        <p:grpSpPr>
          <a:xfrm>
            <a:off x="2644140" y="6286500"/>
            <a:ext cx="1882139" cy="373380"/>
            <a:chOff x="2644140" y="6286500"/>
            <a:chExt cx="1882139" cy="373380"/>
          </a:xfrm>
        </p:grpSpPr>
        <p:sp>
          <p:nvSpPr>
            <p:cNvPr id="133" name="Output Patch DUP flags"/>
            <p:cNvSpPr/>
            <p:nvPr/>
          </p:nvSpPr>
          <p:spPr>
            <a:xfrm>
              <a:off x="2644140" y="6286500"/>
              <a:ext cx="1882139" cy="373380"/>
            </a:xfrm>
            <a:prstGeom prst="roundRect">
              <a:avLst>
                <a:gd name="adj" fmla="val 16326"/>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utput Patch DUP flags / label"/>
            <p:cNvSpPr txBox="1"/>
            <p:nvPr/>
          </p:nvSpPr>
          <p:spPr>
            <a:xfrm>
              <a:off x="2689860" y="6309360"/>
              <a:ext cx="1790700" cy="32766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Patch DUP flags</a:t>
              </a:r>
            </a:p>
          </p:txBody>
        </p:sp>
      </p:grpSp>
      <p:grpSp>
        <p:nvGrpSpPr>
          <p:cNvPr id="138" name="Output CPE BGZF compression [editable group]"/>
          <p:cNvGrpSpPr/>
          <p:nvPr/>
        </p:nvGrpSpPr>
        <p:grpSpPr>
          <a:xfrm>
            <a:off x="4823460" y="6286500"/>
            <a:ext cx="2072640" cy="373380"/>
            <a:chOff x="4823460" y="6286500"/>
            <a:chExt cx="2072640" cy="373380"/>
          </a:xfrm>
        </p:grpSpPr>
        <p:sp>
          <p:nvSpPr>
            <p:cNvPr id="136" name="Output CPE BGZF compression"/>
            <p:cNvSpPr/>
            <p:nvPr/>
          </p:nvSpPr>
          <p:spPr>
            <a:xfrm>
              <a:off x="4823460" y="6286500"/>
              <a:ext cx="2072640" cy="373380"/>
            </a:xfrm>
            <a:prstGeom prst="roundRect">
              <a:avLst>
                <a:gd name="adj" fmla="val 16326"/>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utput CPE BGZF compression / label"/>
            <p:cNvSpPr txBox="1"/>
            <p:nvPr/>
          </p:nvSpPr>
          <p:spPr>
            <a:xfrm>
              <a:off x="4869180" y="6309360"/>
              <a:ext cx="1981199" cy="32766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CPE BGZF compression</a:t>
              </a:r>
            </a:p>
          </p:txBody>
        </p:sp>
      </p:grpSp>
      <p:grpSp>
        <p:nvGrpSpPr>
          <p:cNvPr id="141" name="Output Append rank body [editable group]"/>
          <p:cNvGrpSpPr/>
          <p:nvPr/>
        </p:nvGrpSpPr>
        <p:grpSpPr>
          <a:xfrm>
            <a:off x="7193280" y="6286500"/>
            <a:ext cx="2026920" cy="373380"/>
            <a:chOff x="7193280" y="6286500"/>
            <a:chExt cx="2026920" cy="373380"/>
          </a:xfrm>
        </p:grpSpPr>
        <p:sp>
          <p:nvSpPr>
            <p:cNvPr id="139" name="Output Append rank body"/>
            <p:cNvSpPr/>
            <p:nvPr/>
          </p:nvSpPr>
          <p:spPr>
            <a:xfrm>
              <a:off x="7193280" y="6286500"/>
              <a:ext cx="2026920" cy="373380"/>
            </a:xfrm>
            <a:prstGeom prst="roundRect">
              <a:avLst>
                <a:gd name="adj" fmla="val 16326"/>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utput Append rank body / label"/>
            <p:cNvSpPr txBox="1"/>
            <p:nvPr/>
          </p:nvSpPr>
          <p:spPr>
            <a:xfrm>
              <a:off x="7239000" y="6309360"/>
              <a:ext cx="1935480" cy="32766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Append rank body</a:t>
              </a:r>
            </a:p>
          </p:txBody>
        </p:sp>
      </p:grpSp>
      <p:grpSp>
        <p:nvGrpSpPr>
          <p:cNvPr id="144" name="Output Retire / recycle storage [editable group]"/>
          <p:cNvGrpSpPr/>
          <p:nvPr/>
        </p:nvGrpSpPr>
        <p:grpSpPr>
          <a:xfrm>
            <a:off x="9517380" y="6286500"/>
            <a:ext cx="2438400" cy="373380"/>
            <a:chOff x="9517380" y="6286500"/>
            <a:chExt cx="2438400" cy="373380"/>
          </a:xfrm>
        </p:grpSpPr>
        <p:sp>
          <p:nvSpPr>
            <p:cNvPr id="142" name="Output Retire / recycle storage"/>
            <p:cNvSpPr/>
            <p:nvPr/>
          </p:nvSpPr>
          <p:spPr>
            <a:xfrm>
              <a:off x="9517380" y="6286500"/>
              <a:ext cx="2438400" cy="373380"/>
            </a:xfrm>
            <a:prstGeom prst="roundRect">
              <a:avLst>
                <a:gd name="adj" fmla="val 16326"/>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utput Retire / recycle storage / label"/>
            <p:cNvSpPr txBox="1"/>
            <p:nvPr/>
          </p:nvSpPr>
          <p:spPr>
            <a:xfrm>
              <a:off x="9563100" y="6309360"/>
              <a:ext cx="2346960" cy="32766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Retire / recycle storage</a:t>
              </a:r>
            </a:p>
          </p:txBody>
        </p:sp>
      </p:grpSp>
      <p:cxnSp>
        <p:nvCxnSpPr>
          <p:cNvPr id="145" name="Output dependency 594 / segment 0"/>
          <p:cNvCxnSpPr/>
          <p:nvPr/>
        </p:nvCxnSpPr>
        <p:spPr>
          <a:xfrm>
            <a:off x="452628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6" name="Output dependency 905 / segment 0"/>
          <p:cNvCxnSpPr/>
          <p:nvPr/>
        </p:nvCxnSpPr>
        <p:spPr>
          <a:xfrm>
            <a:off x="689610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7" name="Output dependency 1210 / segment 0"/>
          <p:cNvCxnSpPr/>
          <p:nvPr/>
        </p:nvCxnSpPr>
        <p:spPr>
          <a:xfrm>
            <a:off x="922020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8" name="Main stream extra decoding qualifier"/>
          <p:cNvSpPr txBox="1"/>
          <p:nvPr/>
        </p:nvSpPr>
        <p:spPr>
          <a:xfrm>
            <a:off x="259080" y="6286500"/>
            <a:ext cx="2141220" cy="37338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61727A"/>
                </a:solidFill>
                <a:latin typeface="Arial"/>
              </a:rPr>
              <a:t>Boundary probes perform</a:t>
            </a:r>
          </a:p>
          <a:p>
            <a:pPr algn="ctr">
              <a:lnSpc>
                <a:spcPts val="1142"/>
              </a:lnSpc>
              <a:spcBef>
                <a:spcPts val="0"/>
              </a:spcBef>
              <a:spcAft>
                <a:spcPts val="0"/>
              </a:spcAft>
            </a:pPr>
            <a:r>
              <a:rPr sz="1019" b="0" i="0">
                <a:solidFill>
                  <a:srgbClr val="61727A"/>
                </a:solidFill>
                <a:latin typeface="Arial"/>
              </a:rPr>
              <a:t>limited extra decoding.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SWBAM: Method Figures</dc:title>
  <dc:subject>Editable architecture, overlap, reordering and duplicate marking diagrams</dc:subject>
  <dc:creator>SWBAM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