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SWBAM: library architecture and batch-level composition</a:t>
            </a:r>
          </a:p>
          <a:p/>
          <a:p>
            <a:r>
              <a:t>Redrawn using plot.pptx visual vocabulary: memory plane, MPE/CPE array, expanded processing components. Shapes illustrate SWBAM, not ZFP; no reference-paper mechanisms are claimed. One MPI rank uses one active core group (1 MPE + 64 CPEs). Four alternative processing pipelines, not four concurrent kernels. Application composition occurs at batch boundaries on the MPE. The common BAM read operator can emit raw views, counters, parsed records, or algorithm metadata. The optional bam1_t adapter materializes objects on the MPE and is not shown as a CPE stage. The BAM write pipeline also accepts already packed raw payloads (compression-only). Backend labels are for BAM; SAM backend support is not implied by the entire list. Source: swbam-sdk/lib/cpe/swbam_cpe_bam_read_pipeline.cpp, swbam_cpe_bam_write_pipeline.cpp; lib/operators/swbam_bam_transform_operator.cpp; include/swbam/cpe_pipeline.h; overleaf/SWBAM/bare_jrnl_new_sample4.tex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Alternating buffers and MPE-CPE overlap</a:t>
            </a:r>
          </a:p>
          <a:p/>
          <a:p>
            <a:r>
              <a:t>Independent read and write schedules for one active core group; horizontal lengths are schematic, not measured times. Read shows overlap_input=true and prefetch_during_post_process=false. The MPE prefetches next input while the CPE handles current input. Post-processing follows join and validation; it is not overlapped with that read kernel. Write Start launches current compression then FlushPending writes previous output, optional prefetch follows, Complete joins and validates. No simultaneous read/write CPE kernels are implied. Raw payloads skip serialization. Source: swbam-sdk/lib/cpe/swbam_cpe_bam_read_pipeline.cpp RunCpeReadPipeline; swbam-sdk/lib/cpe/swbam_cpe_bam_write_pipeline.cpp CpeWritePipelineSession::{Start,Complete,FlushPending}.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sorting and collation</a:t>
            </a:r>
          </a:p>
          <a:p/>
          <a:p>
            <a:r>
              <a:t>Toy examples on three ranks. Sort numbers denote coordinate keys on one reference; splitters 35/65 avoid equality ambiguity. Each source supplies a sorted segment to each destination. Output is a k-way merge, not a fresh full sort of received records. Colors denote destination ranges. Collate letters are QNAMEs. Example bins: bin(B)=0, bin(A)=2, bin(C)=4, bins=6, ranks=3; owner=floor(bin*ranks/bins), not bin modulo ranks. Actual order is bin/hash/full QNAME/flag/global order; same-QNAME groups are contiguous, global QNAME lexical order is not required. Full QNAME resolves hash ties. Self-owned data remain local. External mode uses algorithmic sorted runs plus bounded exchange/merge; these temporary runs are independent of optional final rank body spooling. Sources: swbam-app/algorithms/sort/swbam_sort_optimized_mpi.cpp; swbam-app/algorithms/collate/swbam_collate_mpi.cpp CollateOwner and CollateMemoryLoserTree.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One-pass markdup: boundary pre-resolution and ordered retirement</a:t>
            </a:r>
          </a:p>
          <a:p/>
          <a:p>
            <a:r>
              <a:t>Panel (a) precedes the main stream: read/decode rank head/tail blocks, extract candidate metadata, allgather starts and collectively verify halo coverage against maximum read length L. When covered, select boundary candidates, route to coordinate owners, resolve groups and return source-local decisions H_r. Coverage failure on any rank disables the fast plan; retain boundary keys conservatively. All edges are schematic; left/right ranks are adjacent coordinate partitions. The example uses a shared duplicate key k with scores 70 and 60 (illustrative), and not full BAM record exchange. Paired/single interactions still follow implementation rules. Panel (b) excludes pre-resolved candidates from ordinary window processing, applies H_r and local/remote decisions to retained decoded blocks. Optimistic KEEP does not imply immediate output: active winners and remote decisions may pin records. Only complete front blocks are emitted. Pending blocks B2/B3 cannot overtake; storage is retired/recycled only after write completion. One-pass refers to the main record stream; edge probes perform additional limited decoding. No universal fixed memory bound for arbitrary coverage/fallback is claimed. Source: swbam-app/algorithms/markdup/swbam_markdup_mpi.cpp MdBuildOnePassBoundaryPlan, MdOnePassPrepareOutput, one-pass capture/output loop; swbam_markdup_stream_mpi.cpp candidate-window expiry and boundary retention.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SWBAM library: data access and batch execution"/>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SWBAM library: data access and batch execution</a:t>
            </a:r>
          </a:p>
        </p:txBody>
      </p:sp>
      <p:sp>
        <p:nvSpPr>
          <p:cNvPr id="3" name="Data access plane"/>
          <p:cNvSpPr/>
          <p:nvPr/>
        </p:nvSpPr>
        <p:spPr>
          <a:xfrm>
            <a:off x="213360" y="434340"/>
            <a:ext cx="11765280" cy="1051560"/>
          </a:xfrm>
          <a:prstGeom prst="rect">
            <a:avLst/>
          </a:prstGeom>
          <a:solidFill>
            <a:srgbClr val="D5EDF8"/>
          </a:solidFill>
          <a:ln w="1524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ata access title"/>
          <p:cNvSpPr txBox="1"/>
          <p:nvPr/>
        </p:nvSpPr>
        <p:spPr>
          <a:xfrm>
            <a:off x="365760" y="586740"/>
            <a:ext cx="1447800" cy="220980"/>
          </a:xfrm>
          <a:prstGeom prst="rect">
            <a:avLst/>
          </a:prstGeom>
          <a:noFill/>
        </p:spPr>
        <p:txBody>
          <a:bodyPr wrap="none" lIns="0" rIns="0" tIns="0" bIns="0" anchor="ctr">
            <a:noAutofit/>
          </a:bodyPr>
          <a:lstStyle/>
          <a:p>
            <a:pPr algn="ctr">
              <a:lnSpc>
                <a:spcPts val="1680"/>
              </a:lnSpc>
              <a:spcBef>
                <a:spcPts val="0"/>
              </a:spcBef>
              <a:spcAft>
                <a:spcPts val="0"/>
              </a:spcAft>
            </a:pPr>
            <a:r>
              <a:rPr sz="1500" b="1" i="0">
                <a:solidFill>
                  <a:srgbClr val="172C36"/>
                </a:solidFill>
                <a:latin typeface="Arial"/>
              </a:rPr>
              <a:t>Data access</a:t>
            </a:r>
          </a:p>
        </p:txBody>
      </p:sp>
      <p:sp>
        <p:nvSpPr>
          <p:cNvPr id="5" name="Input backends"/>
          <p:cNvSpPr txBox="1"/>
          <p:nvPr/>
        </p:nvSpPr>
        <p:spPr>
          <a:xfrm>
            <a:off x="365760" y="876300"/>
            <a:ext cx="1531620" cy="42672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BAM backends</a:t>
            </a:r>
          </a:p>
          <a:p>
            <a:pPr algn="ctr">
              <a:lnSpc>
                <a:spcPts val="1142"/>
              </a:lnSpc>
              <a:spcBef>
                <a:spcPts val="0"/>
              </a:spcBef>
              <a:spcAft>
                <a:spcPts val="0"/>
              </a:spcAft>
            </a:pPr>
            <a:r>
              <a:rPr sz="1019" b="0" i="0">
                <a:solidFill>
                  <a:srgbClr val="172C36"/>
                </a:solidFill>
                <a:latin typeface="Arial"/>
              </a:rPr>
              <a:t>Memory / POSIX / MPI-IO</a:t>
            </a:r>
          </a:p>
        </p:txBody>
      </p:sp>
      <p:grpSp>
        <p:nvGrpSpPr>
          <p:cNvPr id="8" name="BAM input file [editable group]"/>
          <p:cNvGrpSpPr/>
          <p:nvPr/>
        </p:nvGrpSpPr>
        <p:grpSpPr>
          <a:xfrm>
            <a:off x="2095499" y="632460"/>
            <a:ext cx="487680" cy="624840"/>
            <a:chOff x="2095499" y="632460"/>
            <a:chExt cx="487680" cy="624840"/>
          </a:xfrm>
        </p:grpSpPr>
        <p:sp>
          <p:nvSpPr>
            <p:cNvPr id="6" name="BAM input file"/>
            <p:cNvSpPr/>
            <p:nvPr/>
          </p:nvSpPr>
          <p:spPr>
            <a:xfrm>
              <a:off x="2095499" y="632460"/>
              <a:ext cx="487680" cy="624840"/>
            </a:xfrm>
            <a:prstGeom prst="foldedCorner">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M input file / label"/>
            <p:cNvSpPr txBox="1"/>
            <p:nvPr/>
          </p:nvSpPr>
          <p:spPr>
            <a:xfrm>
              <a:off x="2118360" y="832408"/>
              <a:ext cx="441960" cy="281178"/>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BAM</a:t>
              </a:r>
            </a:p>
          </p:txBody>
        </p:sp>
      </p:grpSp>
      <p:cxnSp>
        <p:nvCxnSpPr>
          <p:cNvPr id="9" name="Input to block batches / segment 0"/>
          <p:cNvCxnSpPr/>
          <p:nvPr/>
        </p:nvCxnSpPr>
        <p:spPr>
          <a:xfrm>
            <a:off x="2636520" y="929640"/>
            <a:ext cx="2819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BGZF input blocks / 0"/>
          <p:cNvSpPr/>
          <p:nvPr/>
        </p:nvSpPr>
        <p:spPr>
          <a:xfrm>
            <a:off x="2994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BGZF input blocks / divider 0 / segment 0"/>
          <p:cNvCxnSpPr/>
          <p:nvPr/>
        </p:nvCxnSpPr>
        <p:spPr>
          <a:xfrm>
            <a:off x="3070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2" name="BGZF input blocks / 1"/>
          <p:cNvSpPr/>
          <p:nvPr/>
        </p:nvSpPr>
        <p:spPr>
          <a:xfrm>
            <a:off x="32994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BGZF input blocks / divider 1 / segment 0"/>
          <p:cNvCxnSpPr/>
          <p:nvPr/>
        </p:nvCxnSpPr>
        <p:spPr>
          <a:xfrm>
            <a:off x="33755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4" name="BGZF input blocks / 2"/>
          <p:cNvSpPr/>
          <p:nvPr/>
        </p:nvSpPr>
        <p:spPr>
          <a:xfrm>
            <a:off x="36042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BGZF input blocks / divider 2 / segment 0"/>
          <p:cNvCxnSpPr/>
          <p:nvPr/>
        </p:nvCxnSpPr>
        <p:spPr>
          <a:xfrm>
            <a:off x="36803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6" name="BGZF input blocks / 3"/>
          <p:cNvSpPr/>
          <p:nvPr/>
        </p:nvSpPr>
        <p:spPr>
          <a:xfrm>
            <a:off x="39090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BGZF input blocks / divider 3 / segment 0"/>
          <p:cNvCxnSpPr/>
          <p:nvPr/>
        </p:nvCxnSpPr>
        <p:spPr>
          <a:xfrm>
            <a:off x="39851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8" name="BGZF input blocks / 4"/>
          <p:cNvSpPr/>
          <p:nvPr/>
        </p:nvSpPr>
        <p:spPr>
          <a:xfrm>
            <a:off x="42138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BGZF input blocks / divider 4 / segment 0"/>
          <p:cNvCxnSpPr/>
          <p:nvPr/>
        </p:nvCxnSpPr>
        <p:spPr>
          <a:xfrm>
            <a:off x="42899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0" name="BGZF input blocks / 5"/>
          <p:cNvSpPr/>
          <p:nvPr/>
        </p:nvSpPr>
        <p:spPr>
          <a:xfrm>
            <a:off x="4518660" y="723900"/>
            <a:ext cx="281940" cy="327660"/>
          </a:xfrm>
          <a:prstGeom prst="rect">
            <a:avLst/>
          </a:prstGeom>
          <a:solidFill>
            <a:srgbClr val="D5EDF8"/>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BGZF input blocks / divider 5 / segment 0"/>
          <p:cNvCxnSpPr/>
          <p:nvPr/>
        </p:nvCxnSpPr>
        <p:spPr>
          <a:xfrm>
            <a:off x="4594783" y="72390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22" name="Rank span / segment 0"/>
          <p:cNvCxnSpPr/>
          <p:nvPr/>
        </p:nvCxnSpPr>
        <p:spPr>
          <a:xfrm>
            <a:off x="299466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3" name="Rank span / segment 1"/>
          <p:cNvCxnSpPr/>
          <p:nvPr/>
        </p:nvCxnSpPr>
        <p:spPr>
          <a:xfrm>
            <a:off x="2994660" y="1135380"/>
            <a:ext cx="1805940" cy="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cxnSp>
        <p:nvCxnSpPr>
          <p:cNvPr id="24" name="Rank span / segment 2"/>
          <p:cNvCxnSpPr/>
          <p:nvPr/>
        </p:nvCxnSpPr>
        <p:spPr>
          <a:xfrm flipV="1">
            <a:off x="4800600" y="1082040"/>
            <a:ext cx="0" cy="53340"/>
          </a:xfrm>
          <a:prstGeom prst="line">
            <a:avLst/>
          </a:prstGeom>
          <a:ln w="10668">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25" name="Rank span / label"/>
          <p:cNvSpPr txBox="1"/>
          <p:nvPr/>
        </p:nvSpPr>
        <p:spPr>
          <a:xfrm>
            <a:off x="2994660" y="1181100"/>
            <a:ext cx="18059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61727A"/>
                </a:solidFill>
                <a:latin typeface="Arial"/>
              </a:rPr>
              <a:t>Contiguous rank span</a:t>
            </a:r>
          </a:p>
        </p:txBody>
      </p:sp>
      <p:cxnSp>
        <p:nvCxnSpPr>
          <p:cNvPr id="26" name="Blocks to alternating input / segment 0"/>
          <p:cNvCxnSpPr/>
          <p:nvPr/>
        </p:nvCxnSpPr>
        <p:spPr>
          <a:xfrm>
            <a:off x="4899660" y="929640"/>
            <a:ext cx="3200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Input batch title"/>
          <p:cNvSpPr txBox="1"/>
          <p:nvPr/>
        </p:nvSpPr>
        <p:spPr>
          <a:xfrm>
            <a:off x="5356860" y="533400"/>
            <a:ext cx="19354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Alternating batch buffers</a:t>
            </a:r>
          </a:p>
        </p:txBody>
      </p:sp>
      <p:grpSp>
        <p:nvGrpSpPr>
          <p:cNvPr id="30" name="Input A [editable group]"/>
          <p:cNvGrpSpPr/>
          <p:nvPr/>
        </p:nvGrpSpPr>
        <p:grpSpPr>
          <a:xfrm>
            <a:off x="5349240" y="807720"/>
            <a:ext cx="845820" cy="358140"/>
            <a:chOff x="5349240" y="807720"/>
            <a:chExt cx="845820" cy="358140"/>
          </a:xfrm>
        </p:grpSpPr>
        <p:sp>
          <p:nvSpPr>
            <p:cNvPr id="28" name="Input A"/>
            <p:cNvSpPr/>
            <p:nvPr/>
          </p:nvSpPr>
          <p:spPr>
            <a:xfrm>
              <a:off x="5349240" y="807720"/>
              <a:ext cx="845820" cy="3581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put A / label"/>
            <p:cNvSpPr txBox="1"/>
            <p:nvPr/>
          </p:nvSpPr>
          <p:spPr>
            <a:xfrm>
              <a:off x="5394960" y="830580"/>
              <a:ext cx="754380" cy="31242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a:t>
              </a:r>
            </a:p>
          </p:txBody>
        </p:sp>
      </p:grpSp>
      <p:grpSp>
        <p:nvGrpSpPr>
          <p:cNvPr id="33" name="Input B [editable group]"/>
          <p:cNvGrpSpPr/>
          <p:nvPr/>
        </p:nvGrpSpPr>
        <p:grpSpPr>
          <a:xfrm>
            <a:off x="6316980" y="807720"/>
            <a:ext cx="845820" cy="358140"/>
            <a:chOff x="6316980" y="807720"/>
            <a:chExt cx="845820" cy="358140"/>
          </a:xfrm>
        </p:grpSpPr>
        <p:sp>
          <p:nvSpPr>
            <p:cNvPr id="31" name="Input B"/>
            <p:cNvSpPr/>
            <p:nvPr/>
          </p:nvSpPr>
          <p:spPr>
            <a:xfrm>
              <a:off x="6316980" y="807720"/>
              <a:ext cx="845820" cy="3581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nput B / label"/>
            <p:cNvSpPr txBox="1"/>
            <p:nvPr/>
          </p:nvSpPr>
          <p:spPr>
            <a:xfrm>
              <a:off x="6362700" y="830580"/>
              <a:ext cx="754380" cy="31242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a:t>
              </a:r>
            </a:p>
          </p:txBody>
        </p:sp>
      </p:grpSp>
      <p:sp>
        <p:nvSpPr>
          <p:cNvPr id="34" name="Batch capacity"/>
          <p:cNvSpPr txBox="1"/>
          <p:nvPr/>
        </p:nvSpPr>
        <p:spPr>
          <a:xfrm>
            <a:off x="5349240" y="1211580"/>
            <a:ext cx="1813560" cy="1828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Up to 64 BGZF blocks</a:t>
            </a:r>
          </a:p>
        </p:txBody>
      </p:sp>
      <p:cxnSp>
        <p:nvCxnSpPr>
          <p:cNvPr id="35" name="Separate input and output / segment 0"/>
          <p:cNvCxnSpPr/>
          <p:nvPr/>
        </p:nvCxnSpPr>
        <p:spPr>
          <a:xfrm>
            <a:off x="7467599" y="586740"/>
            <a:ext cx="0" cy="754380"/>
          </a:xfrm>
          <a:prstGeom prst="line">
            <a:avLst/>
          </a:prstGeom>
          <a:ln w="10668">
            <a:solidFill>
              <a:srgbClr val="A9B8BD"/>
            </a:solidFill>
          </a:ln>
          <a:effectLst/>
        </p:spPr>
        <p:style>
          <a:lnRef idx="2">
            <a:schemeClr val="accent1"/>
          </a:lnRef>
          <a:fillRef idx="0">
            <a:schemeClr val="accent1"/>
          </a:fillRef>
          <a:effectRef idx="1">
            <a:schemeClr val="accent1"/>
          </a:effectRef>
          <a:fontRef idx="minor">
            <a:schemeClr val="tx1"/>
          </a:fontRef>
        </p:style>
      </p:cxnSp>
      <p:sp>
        <p:nvSpPr>
          <p:cNvPr id="36" name="Body output title"/>
          <p:cNvSpPr txBox="1"/>
          <p:nvPr/>
        </p:nvSpPr>
        <p:spPr>
          <a:xfrm>
            <a:off x="7650480" y="541020"/>
            <a:ext cx="2011680" cy="19050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Rank body sink</a:t>
            </a:r>
          </a:p>
        </p:txBody>
      </p:sp>
      <p:sp>
        <p:nvSpPr>
          <p:cNvPr id="37" name="Rank output blocks / 0"/>
          <p:cNvSpPr/>
          <p:nvPr/>
        </p:nvSpPr>
        <p:spPr>
          <a:xfrm>
            <a:off x="775715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Rank output blocks / divider 0 / segment 0"/>
          <p:cNvCxnSpPr/>
          <p:nvPr/>
        </p:nvCxnSpPr>
        <p:spPr>
          <a:xfrm>
            <a:off x="783534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39" name="Rank output blocks / 1"/>
          <p:cNvSpPr/>
          <p:nvPr/>
        </p:nvSpPr>
        <p:spPr>
          <a:xfrm>
            <a:off x="806957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Rank output blocks / divider 1 / segment 0"/>
          <p:cNvCxnSpPr/>
          <p:nvPr/>
        </p:nvCxnSpPr>
        <p:spPr>
          <a:xfrm>
            <a:off x="814776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1" name="Rank output blocks / 2"/>
          <p:cNvSpPr/>
          <p:nvPr/>
        </p:nvSpPr>
        <p:spPr>
          <a:xfrm>
            <a:off x="8381999"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Rank output blocks / divider 2 / segment 0"/>
          <p:cNvCxnSpPr/>
          <p:nvPr/>
        </p:nvCxnSpPr>
        <p:spPr>
          <a:xfrm>
            <a:off x="846018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3" name="Rank output blocks / 3"/>
          <p:cNvSpPr/>
          <p:nvPr/>
        </p:nvSpPr>
        <p:spPr>
          <a:xfrm>
            <a:off x="869442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Rank output blocks / divider 3 / segment 0"/>
          <p:cNvCxnSpPr/>
          <p:nvPr/>
        </p:nvCxnSpPr>
        <p:spPr>
          <a:xfrm>
            <a:off x="877260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5" name="Rank output blocks / 4"/>
          <p:cNvSpPr/>
          <p:nvPr/>
        </p:nvSpPr>
        <p:spPr>
          <a:xfrm>
            <a:off x="9006840" y="822960"/>
            <a:ext cx="289560" cy="274320"/>
          </a:xfrm>
          <a:prstGeom prst="rect">
            <a:avLst/>
          </a:prstGeom>
          <a:solidFill>
            <a:srgbClr val="F7DEE1"/>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Rank output blocks / divider 4 / segment 0"/>
          <p:cNvCxnSpPr/>
          <p:nvPr/>
        </p:nvCxnSpPr>
        <p:spPr>
          <a:xfrm>
            <a:off x="9085021" y="822960"/>
            <a:ext cx="0" cy="27432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47" name="Body strategies"/>
          <p:cNvSpPr txBox="1"/>
          <p:nvPr/>
        </p:nvSpPr>
        <p:spPr>
          <a:xfrm>
            <a:off x="7658100" y="1165860"/>
            <a:ext cx="1981199"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Memory / spool</a:t>
            </a:r>
          </a:p>
        </p:txBody>
      </p:sp>
      <p:cxnSp>
        <p:nvCxnSpPr>
          <p:cNvPr id="48" name="Sink to output / segment 0"/>
          <p:cNvCxnSpPr/>
          <p:nvPr/>
        </p:nvCxnSpPr>
        <p:spPr>
          <a:xfrm>
            <a:off x="9723120" y="94488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51" name="Final BAM file [editable group]"/>
          <p:cNvGrpSpPr/>
          <p:nvPr/>
        </p:nvGrpSpPr>
        <p:grpSpPr>
          <a:xfrm>
            <a:off x="10119360" y="678180"/>
            <a:ext cx="510540" cy="586740"/>
            <a:chOff x="10119360" y="678180"/>
            <a:chExt cx="510540" cy="586740"/>
          </a:xfrm>
        </p:grpSpPr>
        <p:sp>
          <p:nvSpPr>
            <p:cNvPr id="49" name="Final BAM file"/>
            <p:cNvSpPr/>
            <p:nvPr/>
          </p:nvSpPr>
          <p:spPr>
            <a:xfrm>
              <a:off x="10119360" y="678180"/>
              <a:ext cx="510540" cy="58674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inal BAM file / label"/>
            <p:cNvSpPr txBox="1"/>
            <p:nvPr/>
          </p:nvSpPr>
          <p:spPr>
            <a:xfrm>
              <a:off x="10142220" y="865936"/>
              <a:ext cx="464820" cy="264033"/>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BAM</a:t>
              </a:r>
            </a:p>
          </p:txBody>
        </p:sp>
      </p:grpSp>
      <p:sp>
        <p:nvSpPr>
          <p:cNvPr id="52" name="Distributed output label"/>
          <p:cNvSpPr txBox="1"/>
          <p:nvPr/>
        </p:nvSpPr>
        <p:spPr>
          <a:xfrm>
            <a:off x="10744200" y="716280"/>
            <a:ext cx="1074420" cy="5105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Distributed</a:t>
            </a:r>
          </a:p>
          <a:p>
            <a:pPr algn="ctr">
              <a:lnSpc>
                <a:spcPts val="1142"/>
              </a:lnSpc>
              <a:spcBef>
                <a:spcPts val="0"/>
              </a:spcBef>
              <a:spcAft>
                <a:spcPts val="0"/>
              </a:spcAft>
            </a:pPr>
            <a:r>
              <a:rPr sz="1019" b="0" i="0">
                <a:solidFill>
                  <a:srgbClr val="172C36"/>
                </a:solidFill>
                <a:latin typeface="Arial"/>
              </a:rPr>
              <a:t>output</a:t>
            </a:r>
          </a:p>
          <a:p>
            <a:pPr algn="ctr">
              <a:lnSpc>
                <a:spcPts val="1142"/>
              </a:lnSpc>
              <a:spcBef>
                <a:spcPts val="0"/>
              </a:spcBef>
              <a:spcAft>
                <a:spcPts val="0"/>
              </a:spcAft>
            </a:pPr>
            <a:r>
              <a:rPr sz="1019" b="0" i="0">
                <a:solidFill>
                  <a:srgbClr val="172C36"/>
                </a:solidFill>
                <a:latin typeface="Arial"/>
              </a:rPr>
              <a:t>Memory / MPI-IO</a:t>
            </a:r>
          </a:p>
        </p:txBody>
      </p:sp>
      <p:sp>
        <p:nvSpPr>
          <p:cNvPr id="53" name="Core group boundary"/>
          <p:cNvSpPr/>
          <p:nvPr/>
        </p:nvSpPr>
        <p:spPr>
          <a:xfrm>
            <a:off x="213360" y="1767840"/>
            <a:ext cx="11765280" cy="2628900"/>
          </a:xfrm>
          <a:prstGeom prst="roundRect">
            <a:avLst>
              <a:gd name="adj" fmla="val 3478"/>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ore group boundary / heading"/>
          <p:cNvSpPr txBox="1"/>
          <p:nvPr/>
        </p:nvSpPr>
        <p:spPr>
          <a:xfrm>
            <a:off x="327660" y="1844040"/>
            <a:ext cx="115366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One MPI rank: 1 MPE + 64 CPEs</a:t>
            </a:r>
          </a:p>
        </p:txBody>
      </p:sp>
      <p:sp>
        <p:nvSpPr>
          <p:cNvPr id="55" name="MPE controller"/>
          <p:cNvSpPr/>
          <p:nvPr/>
        </p:nvSpPr>
        <p:spPr>
          <a:xfrm>
            <a:off x="365760" y="2156460"/>
            <a:ext cx="1882139" cy="2042160"/>
          </a:xfrm>
          <a:prstGeom prst="roundRect">
            <a:avLst>
              <a:gd name="adj" fmla="val 485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MPE controller / heading"/>
          <p:cNvSpPr txBox="1"/>
          <p:nvPr/>
        </p:nvSpPr>
        <p:spPr>
          <a:xfrm>
            <a:off x="480060" y="2232660"/>
            <a:ext cx="165354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MPE</a:t>
            </a:r>
          </a:p>
        </p:txBody>
      </p:sp>
      <p:grpSp>
        <p:nvGrpSpPr>
          <p:cNvPr id="59" name="MPE Prepare batch [editable group]"/>
          <p:cNvGrpSpPr/>
          <p:nvPr/>
        </p:nvGrpSpPr>
        <p:grpSpPr>
          <a:xfrm>
            <a:off x="495299" y="2567940"/>
            <a:ext cx="1623060" cy="335280"/>
            <a:chOff x="495299" y="2567940"/>
            <a:chExt cx="1623060" cy="335280"/>
          </a:xfrm>
        </p:grpSpPr>
        <p:sp>
          <p:nvSpPr>
            <p:cNvPr id="57" name="MPE Prepare batch"/>
            <p:cNvSpPr/>
            <p:nvPr/>
          </p:nvSpPr>
          <p:spPr>
            <a:xfrm>
              <a:off x="495299" y="25679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MPE Prepare batch / label"/>
            <p:cNvSpPr txBox="1"/>
            <p:nvPr/>
          </p:nvSpPr>
          <p:spPr>
            <a:xfrm>
              <a:off x="541020" y="25908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Prepare batch</a:t>
              </a:r>
            </a:p>
          </p:txBody>
        </p:sp>
      </p:grpSp>
      <p:grpSp>
        <p:nvGrpSpPr>
          <p:cNvPr id="62" name="MPE Launch / join [editable group]"/>
          <p:cNvGrpSpPr/>
          <p:nvPr/>
        </p:nvGrpSpPr>
        <p:grpSpPr>
          <a:xfrm>
            <a:off x="495299" y="3025140"/>
            <a:ext cx="1623060" cy="335280"/>
            <a:chOff x="495299" y="3025140"/>
            <a:chExt cx="1623060" cy="335280"/>
          </a:xfrm>
        </p:grpSpPr>
        <p:sp>
          <p:nvSpPr>
            <p:cNvPr id="60" name="MPE Launch / join"/>
            <p:cNvSpPr/>
            <p:nvPr/>
          </p:nvSpPr>
          <p:spPr>
            <a:xfrm>
              <a:off x="495299" y="30251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MPE Launch / join / label"/>
            <p:cNvSpPr txBox="1"/>
            <p:nvPr/>
          </p:nvSpPr>
          <p:spPr>
            <a:xfrm>
              <a:off x="541020" y="30480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Launch / join</a:t>
              </a:r>
            </a:p>
          </p:txBody>
        </p:sp>
      </p:grpSp>
      <p:grpSp>
        <p:nvGrpSpPr>
          <p:cNvPr id="65" name="MPE Batch post-processing [editable group]"/>
          <p:cNvGrpSpPr/>
          <p:nvPr/>
        </p:nvGrpSpPr>
        <p:grpSpPr>
          <a:xfrm>
            <a:off x="495299" y="3482340"/>
            <a:ext cx="1623060" cy="335280"/>
            <a:chOff x="495299" y="3482340"/>
            <a:chExt cx="1623060" cy="335280"/>
          </a:xfrm>
        </p:grpSpPr>
        <p:sp>
          <p:nvSpPr>
            <p:cNvPr id="63" name="MPE Batch post-processing"/>
            <p:cNvSpPr/>
            <p:nvPr/>
          </p:nvSpPr>
          <p:spPr>
            <a:xfrm>
              <a:off x="495299" y="3482340"/>
              <a:ext cx="1623060" cy="335280"/>
            </a:xfrm>
            <a:prstGeom prst="roundRect">
              <a:avLst>
                <a:gd name="adj" fmla="val 18181"/>
              </a:avLst>
            </a:prstGeom>
            <a:solidFill>
              <a:srgbClr val="FFFFFF"/>
            </a:solidFill>
            <a:ln w="12192">
              <a:solidFill>
                <a:srgbClr val="9A76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MPE Batch post-processing / label"/>
            <p:cNvSpPr txBox="1"/>
            <p:nvPr/>
          </p:nvSpPr>
          <p:spPr>
            <a:xfrm>
              <a:off x="541020" y="3505200"/>
              <a:ext cx="1531620" cy="28956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Batch post-processing</a:t>
              </a:r>
            </a:p>
          </p:txBody>
        </p:sp>
      </p:grpSp>
      <p:sp>
        <p:nvSpPr>
          <p:cNvPr id="66" name="Control granularity"/>
          <p:cNvSpPr txBox="1"/>
          <p:nvPr/>
        </p:nvSpPr>
        <p:spPr>
          <a:xfrm>
            <a:off x="502920" y="3916680"/>
            <a:ext cx="16078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9A7625"/>
                </a:solidFill>
                <a:latin typeface="Arial"/>
              </a:rPr>
              <a:t>Once per batch</a:t>
            </a:r>
          </a:p>
        </p:txBody>
      </p:sp>
      <p:cxnSp>
        <p:nvCxnSpPr>
          <p:cNvPr id="67" name="MPE launches core group / segment 0"/>
          <p:cNvCxnSpPr/>
          <p:nvPr/>
        </p:nvCxnSpPr>
        <p:spPr>
          <a:xfrm>
            <a:off x="2247900" y="3086100"/>
            <a:ext cx="2590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CPE array title"/>
          <p:cNvSpPr txBox="1"/>
          <p:nvPr/>
        </p:nvSpPr>
        <p:spPr>
          <a:xfrm>
            <a:off x="2567940" y="2156460"/>
            <a:ext cx="1577340" cy="21336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8 × 8 CPE array</a:t>
            </a:r>
          </a:p>
        </p:txBody>
      </p:sp>
      <p:sp>
        <p:nvSpPr>
          <p:cNvPr id="69" name="CPE 0"/>
          <p:cNvSpPr/>
          <p:nvPr/>
        </p:nvSpPr>
        <p:spPr>
          <a:xfrm>
            <a:off x="26289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PE 1"/>
          <p:cNvSpPr/>
          <p:nvPr/>
        </p:nvSpPr>
        <p:spPr>
          <a:xfrm>
            <a:off x="28117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PE 2"/>
          <p:cNvSpPr/>
          <p:nvPr/>
        </p:nvSpPr>
        <p:spPr>
          <a:xfrm>
            <a:off x="29946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PE 3"/>
          <p:cNvSpPr/>
          <p:nvPr/>
        </p:nvSpPr>
        <p:spPr>
          <a:xfrm>
            <a:off x="317754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PE 4"/>
          <p:cNvSpPr/>
          <p:nvPr/>
        </p:nvSpPr>
        <p:spPr>
          <a:xfrm>
            <a:off x="336042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PE 5"/>
          <p:cNvSpPr/>
          <p:nvPr/>
        </p:nvSpPr>
        <p:spPr>
          <a:xfrm>
            <a:off x="354330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PE 6"/>
          <p:cNvSpPr/>
          <p:nvPr/>
        </p:nvSpPr>
        <p:spPr>
          <a:xfrm>
            <a:off x="372618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PE 7"/>
          <p:cNvSpPr/>
          <p:nvPr/>
        </p:nvSpPr>
        <p:spPr>
          <a:xfrm>
            <a:off x="3909060" y="24841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PE 8"/>
          <p:cNvSpPr/>
          <p:nvPr/>
        </p:nvSpPr>
        <p:spPr>
          <a:xfrm>
            <a:off x="26289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PE 9"/>
          <p:cNvSpPr/>
          <p:nvPr/>
        </p:nvSpPr>
        <p:spPr>
          <a:xfrm>
            <a:off x="28117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PE 10"/>
          <p:cNvSpPr/>
          <p:nvPr/>
        </p:nvSpPr>
        <p:spPr>
          <a:xfrm>
            <a:off x="29946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PE 11"/>
          <p:cNvSpPr/>
          <p:nvPr/>
        </p:nvSpPr>
        <p:spPr>
          <a:xfrm>
            <a:off x="317754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PE 12"/>
          <p:cNvSpPr/>
          <p:nvPr/>
        </p:nvSpPr>
        <p:spPr>
          <a:xfrm>
            <a:off x="336042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PE 13"/>
          <p:cNvSpPr/>
          <p:nvPr/>
        </p:nvSpPr>
        <p:spPr>
          <a:xfrm>
            <a:off x="354330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PE 14"/>
          <p:cNvSpPr/>
          <p:nvPr/>
        </p:nvSpPr>
        <p:spPr>
          <a:xfrm>
            <a:off x="372618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PE 15"/>
          <p:cNvSpPr/>
          <p:nvPr/>
        </p:nvSpPr>
        <p:spPr>
          <a:xfrm>
            <a:off x="3909060" y="26670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CPE 16"/>
          <p:cNvSpPr/>
          <p:nvPr/>
        </p:nvSpPr>
        <p:spPr>
          <a:xfrm>
            <a:off x="26289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PE 17"/>
          <p:cNvSpPr/>
          <p:nvPr/>
        </p:nvSpPr>
        <p:spPr>
          <a:xfrm>
            <a:off x="28117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CPE 18"/>
          <p:cNvSpPr/>
          <p:nvPr/>
        </p:nvSpPr>
        <p:spPr>
          <a:xfrm>
            <a:off x="29946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CPE 19"/>
          <p:cNvSpPr/>
          <p:nvPr/>
        </p:nvSpPr>
        <p:spPr>
          <a:xfrm>
            <a:off x="317754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CPE 20"/>
          <p:cNvSpPr/>
          <p:nvPr/>
        </p:nvSpPr>
        <p:spPr>
          <a:xfrm>
            <a:off x="336042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PE 21"/>
          <p:cNvSpPr/>
          <p:nvPr/>
        </p:nvSpPr>
        <p:spPr>
          <a:xfrm>
            <a:off x="354330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PE 22"/>
          <p:cNvSpPr/>
          <p:nvPr/>
        </p:nvSpPr>
        <p:spPr>
          <a:xfrm>
            <a:off x="372618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PE 23"/>
          <p:cNvSpPr/>
          <p:nvPr/>
        </p:nvSpPr>
        <p:spPr>
          <a:xfrm>
            <a:off x="3909060" y="284988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PE 24"/>
          <p:cNvSpPr/>
          <p:nvPr/>
        </p:nvSpPr>
        <p:spPr>
          <a:xfrm>
            <a:off x="262890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PE 25"/>
          <p:cNvSpPr/>
          <p:nvPr/>
        </p:nvSpPr>
        <p:spPr>
          <a:xfrm>
            <a:off x="28117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PE 26"/>
          <p:cNvSpPr/>
          <p:nvPr/>
        </p:nvSpPr>
        <p:spPr>
          <a:xfrm>
            <a:off x="29946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PE 27"/>
          <p:cNvSpPr/>
          <p:nvPr/>
        </p:nvSpPr>
        <p:spPr>
          <a:xfrm>
            <a:off x="317754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CPE 28"/>
          <p:cNvSpPr/>
          <p:nvPr/>
        </p:nvSpPr>
        <p:spPr>
          <a:xfrm>
            <a:off x="336042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CPE 29"/>
          <p:cNvSpPr/>
          <p:nvPr/>
        </p:nvSpPr>
        <p:spPr>
          <a:xfrm>
            <a:off x="3543300" y="3032760"/>
            <a:ext cx="160020" cy="160020"/>
          </a:xfrm>
          <a:prstGeom prst="rect">
            <a:avLst/>
          </a:prstGeom>
          <a:solidFill>
            <a:srgbClr val="197BA3"/>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PE 30"/>
          <p:cNvSpPr/>
          <p:nvPr/>
        </p:nvSpPr>
        <p:spPr>
          <a:xfrm>
            <a:off x="372618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PE 31"/>
          <p:cNvSpPr/>
          <p:nvPr/>
        </p:nvSpPr>
        <p:spPr>
          <a:xfrm>
            <a:off x="3909060" y="303276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PE 32"/>
          <p:cNvSpPr/>
          <p:nvPr/>
        </p:nvSpPr>
        <p:spPr>
          <a:xfrm>
            <a:off x="26289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PE 33"/>
          <p:cNvSpPr/>
          <p:nvPr/>
        </p:nvSpPr>
        <p:spPr>
          <a:xfrm>
            <a:off x="28117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CPE 34"/>
          <p:cNvSpPr/>
          <p:nvPr/>
        </p:nvSpPr>
        <p:spPr>
          <a:xfrm>
            <a:off x="29946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CPE 35"/>
          <p:cNvSpPr/>
          <p:nvPr/>
        </p:nvSpPr>
        <p:spPr>
          <a:xfrm>
            <a:off x="317754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CPE 36"/>
          <p:cNvSpPr/>
          <p:nvPr/>
        </p:nvSpPr>
        <p:spPr>
          <a:xfrm>
            <a:off x="336042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CPE 37"/>
          <p:cNvSpPr/>
          <p:nvPr/>
        </p:nvSpPr>
        <p:spPr>
          <a:xfrm>
            <a:off x="354330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CPE 38"/>
          <p:cNvSpPr/>
          <p:nvPr/>
        </p:nvSpPr>
        <p:spPr>
          <a:xfrm>
            <a:off x="372618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CPE 39"/>
          <p:cNvSpPr/>
          <p:nvPr/>
        </p:nvSpPr>
        <p:spPr>
          <a:xfrm>
            <a:off x="3909060" y="321564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CPE 40"/>
          <p:cNvSpPr/>
          <p:nvPr/>
        </p:nvSpPr>
        <p:spPr>
          <a:xfrm>
            <a:off x="26289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CPE 41"/>
          <p:cNvSpPr/>
          <p:nvPr/>
        </p:nvSpPr>
        <p:spPr>
          <a:xfrm>
            <a:off x="28117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CPE 42"/>
          <p:cNvSpPr/>
          <p:nvPr/>
        </p:nvSpPr>
        <p:spPr>
          <a:xfrm>
            <a:off x="29946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CPE 43"/>
          <p:cNvSpPr/>
          <p:nvPr/>
        </p:nvSpPr>
        <p:spPr>
          <a:xfrm>
            <a:off x="317754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PE 44"/>
          <p:cNvSpPr/>
          <p:nvPr/>
        </p:nvSpPr>
        <p:spPr>
          <a:xfrm>
            <a:off x="336042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CPE 45"/>
          <p:cNvSpPr/>
          <p:nvPr/>
        </p:nvSpPr>
        <p:spPr>
          <a:xfrm>
            <a:off x="354330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CPE 46"/>
          <p:cNvSpPr/>
          <p:nvPr/>
        </p:nvSpPr>
        <p:spPr>
          <a:xfrm>
            <a:off x="372618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CPE 47"/>
          <p:cNvSpPr/>
          <p:nvPr/>
        </p:nvSpPr>
        <p:spPr>
          <a:xfrm>
            <a:off x="3909060" y="339852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CPE 48"/>
          <p:cNvSpPr/>
          <p:nvPr/>
        </p:nvSpPr>
        <p:spPr>
          <a:xfrm>
            <a:off x="26289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CPE 49"/>
          <p:cNvSpPr/>
          <p:nvPr/>
        </p:nvSpPr>
        <p:spPr>
          <a:xfrm>
            <a:off x="28117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PE 50"/>
          <p:cNvSpPr/>
          <p:nvPr/>
        </p:nvSpPr>
        <p:spPr>
          <a:xfrm>
            <a:off x="29946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CPE 51"/>
          <p:cNvSpPr/>
          <p:nvPr/>
        </p:nvSpPr>
        <p:spPr>
          <a:xfrm>
            <a:off x="317754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CPE 52"/>
          <p:cNvSpPr/>
          <p:nvPr/>
        </p:nvSpPr>
        <p:spPr>
          <a:xfrm>
            <a:off x="336042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CPE 53"/>
          <p:cNvSpPr/>
          <p:nvPr/>
        </p:nvSpPr>
        <p:spPr>
          <a:xfrm>
            <a:off x="354330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CPE 54"/>
          <p:cNvSpPr/>
          <p:nvPr/>
        </p:nvSpPr>
        <p:spPr>
          <a:xfrm>
            <a:off x="372618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CPE 55"/>
          <p:cNvSpPr/>
          <p:nvPr/>
        </p:nvSpPr>
        <p:spPr>
          <a:xfrm>
            <a:off x="3909060" y="3581400"/>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CPE 56"/>
          <p:cNvSpPr/>
          <p:nvPr/>
        </p:nvSpPr>
        <p:spPr>
          <a:xfrm>
            <a:off x="26289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CPE 57"/>
          <p:cNvSpPr/>
          <p:nvPr/>
        </p:nvSpPr>
        <p:spPr>
          <a:xfrm>
            <a:off x="28117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PE 58"/>
          <p:cNvSpPr/>
          <p:nvPr/>
        </p:nvSpPr>
        <p:spPr>
          <a:xfrm>
            <a:off x="29946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CPE 59"/>
          <p:cNvSpPr/>
          <p:nvPr/>
        </p:nvSpPr>
        <p:spPr>
          <a:xfrm>
            <a:off x="317754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CPE 60"/>
          <p:cNvSpPr/>
          <p:nvPr/>
        </p:nvSpPr>
        <p:spPr>
          <a:xfrm>
            <a:off x="336042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CPE 61"/>
          <p:cNvSpPr/>
          <p:nvPr/>
        </p:nvSpPr>
        <p:spPr>
          <a:xfrm>
            <a:off x="354330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CPE 62"/>
          <p:cNvSpPr/>
          <p:nvPr/>
        </p:nvSpPr>
        <p:spPr>
          <a:xfrm>
            <a:off x="372618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CPE 63"/>
          <p:cNvSpPr/>
          <p:nvPr/>
        </p:nvSpPr>
        <p:spPr>
          <a:xfrm>
            <a:off x="3909060" y="3764279"/>
            <a:ext cx="160020" cy="160020"/>
          </a:xfrm>
          <a:prstGeom prst="rect">
            <a:avLst/>
          </a:prstGeom>
          <a:solidFill>
            <a:srgbClr val="DFEED2"/>
          </a:solidFill>
          <a:ln w="7620">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CPE array range"/>
          <p:cNvSpPr txBox="1"/>
          <p:nvPr/>
        </p:nvSpPr>
        <p:spPr>
          <a:xfrm>
            <a:off x="2545080" y="4008120"/>
            <a:ext cx="163830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CPE₀ … CPE₆₃</a:t>
            </a:r>
          </a:p>
        </p:txBody>
      </p:sp>
      <p:cxnSp>
        <p:nvCxnSpPr>
          <p:cNvPr id="134" name="Array expansion top / segment 0"/>
          <p:cNvCxnSpPr/>
          <p:nvPr/>
        </p:nvCxnSpPr>
        <p:spPr>
          <a:xfrm flipV="1">
            <a:off x="4084320" y="2164080"/>
            <a:ext cx="342900" cy="320040"/>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35" name="Array expansion bottom / segment 0"/>
          <p:cNvCxnSpPr/>
          <p:nvPr/>
        </p:nvCxnSpPr>
        <p:spPr>
          <a:xfrm>
            <a:off x="4084320" y="3924300"/>
            <a:ext cx="342900" cy="266699"/>
          </a:xfrm>
          <a:prstGeom prst="line">
            <a:avLst/>
          </a:prstGeom>
          <a:ln w="9906">
            <a:solidFill>
              <a:srgbClr val="61727A"/>
            </a:solidFill>
            <a:prstDash val="dash"/>
          </a:ln>
          <a:effectLst/>
        </p:spPr>
        <p:style>
          <a:lnRef idx="2">
            <a:schemeClr val="accent1"/>
          </a:lnRef>
          <a:fillRef idx="0">
            <a:schemeClr val="accent1"/>
          </a:fillRef>
          <a:effectRef idx="1">
            <a:schemeClr val="accent1"/>
          </a:effectRef>
          <a:fontRef idx="minor">
            <a:schemeClr val="tx1"/>
          </a:fontRef>
        </p:style>
      </p:cxnSp>
      <p:sp>
        <p:nvSpPr>
          <p:cNvPr id="136" name="Reusable CPE components"/>
          <p:cNvSpPr/>
          <p:nvPr/>
        </p:nvSpPr>
        <p:spPr>
          <a:xfrm>
            <a:off x="4434840" y="2156460"/>
            <a:ext cx="7383779" cy="2042160"/>
          </a:xfrm>
          <a:prstGeom prst="roundRect">
            <a:avLst>
              <a:gd name="adj" fmla="val 4477"/>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usable CPE components / heading"/>
          <p:cNvSpPr txBox="1"/>
          <p:nvPr/>
        </p:nvSpPr>
        <p:spPr>
          <a:xfrm>
            <a:off x="4549140" y="2232660"/>
            <a:ext cx="71551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CPE processing components</a:t>
            </a:r>
          </a:p>
        </p:txBody>
      </p:sp>
      <p:sp>
        <p:nvSpPr>
          <p:cNvPr id="138" name="Kernel selection note"/>
          <p:cNvSpPr txBox="1"/>
          <p:nvPr/>
        </p:nvSpPr>
        <p:spPr>
          <a:xfrm>
            <a:off x="8473440" y="2240280"/>
            <a:ext cx="3208020" cy="19812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57834A"/>
                </a:solidFill>
                <a:latin typeface="Arial"/>
              </a:rPr>
              <a:t>Selected per pipeline / operator</a:t>
            </a:r>
          </a:p>
        </p:txBody>
      </p:sp>
      <p:sp>
        <p:nvSpPr>
          <p:cNvPr id="139" name="BAM read heading"/>
          <p:cNvSpPr txBox="1"/>
          <p:nvPr/>
        </p:nvSpPr>
        <p:spPr>
          <a:xfrm>
            <a:off x="4594860" y="243078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BAM read</a:t>
            </a:r>
          </a:p>
        </p:txBody>
      </p:sp>
      <p:grpSp>
        <p:nvGrpSpPr>
          <p:cNvPr id="142" name="BAM read Decode [editable group]"/>
          <p:cNvGrpSpPr/>
          <p:nvPr/>
        </p:nvGrpSpPr>
        <p:grpSpPr>
          <a:xfrm>
            <a:off x="4594860" y="2720340"/>
            <a:ext cx="960120" cy="358140"/>
            <a:chOff x="4594860" y="2720340"/>
            <a:chExt cx="960120" cy="358140"/>
          </a:xfrm>
        </p:grpSpPr>
        <p:sp>
          <p:nvSpPr>
            <p:cNvPr id="140" name="BAM read Decode"/>
            <p:cNvSpPr/>
            <p:nvPr/>
          </p:nvSpPr>
          <p:spPr>
            <a:xfrm>
              <a:off x="4594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BAM read Decode / label"/>
            <p:cNvSpPr txBox="1"/>
            <p:nvPr/>
          </p:nvSpPr>
          <p:spPr>
            <a:xfrm>
              <a:off x="4640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Decode</a:t>
              </a:r>
            </a:p>
          </p:txBody>
        </p:sp>
      </p:grpSp>
      <p:cxnSp>
        <p:nvCxnSpPr>
          <p:cNvPr id="143" name="BAM read stage 0 / segment 0"/>
          <p:cNvCxnSpPr/>
          <p:nvPr/>
        </p:nvCxnSpPr>
        <p:spPr>
          <a:xfrm>
            <a:off x="5554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46" name="BAM read Parse [editable group]"/>
          <p:cNvGrpSpPr/>
          <p:nvPr/>
        </p:nvGrpSpPr>
        <p:grpSpPr>
          <a:xfrm>
            <a:off x="5737860" y="2720340"/>
            <a:ext cx="960120" cy="358140"/>
            <a:chOff x="5737860" y="2720340"/>
            <a:chExt cx="960120" cy="358140"/>
          </a:xfrm>
        </p:grpSpPr>
        <p:sp>
          <p:nvSpPr>
            <p:cNvPr id="144" name="BAM read Parse"/>
            <p:cNvSpPr/>
            <p:nvPr/>
          </p:nvSpPr>
          <p:spPr>
            <a:xfrm>
              <a:off x="5737860" y="2720340"/>
              <a:ext cx="96012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BAM read Parse / label"/>
            <p:cNvSpPr txBox="1"/>
            <p:nvPr/>
          </p:nvSpPr>
          <p:spPr>
            <a:xfrm>
              <a:off x="5783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Parse</a:t>
              </a:r>
            </a:p>
          </p:txBody>
        </p:sp>
      </p:grpSp>
      <p:cxnSp>
        <p:nvCxnSpPr>
          <p:cNvPr id="147" name="BAM read stage 1 / segment 0"/>
          <p:cNvCxnSpPr/>
          <p:nvPr/>
        </p:nvCxnSpPr>
        <p:spPr>
          <a:xfrm>
            <a:off x="669798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0" name="BAM read Record op. [editable group]"/>
          <p:cNvGrpSpPr/>
          <p:nvPr/>
        </p:nvGrpSpPr>
        <p:grpSpPr>
          <a:xfrm>
            <a:off x="6880860" y="2720340"/>
            <a:ext cx="960120" cy="358140"/>
            <a:chOff x="6880860" y="2720340"/>
            <a:chExt cx="960120" cy="358140"/>
          </a:xfrm>
        </p:grpSpPr>
        <p:sp>
          <p:nvSpPr>
            <p:cNvPr id="148" name="BAM read Record op."/>
            <p:cNvSpPr/>
            <p:nvPr/>
          </p:nvSpPr>
          <p:spPr>
            <a:xfrm>
              <a:off x="6880860" y="2720340"/>
              <a:ext cx="960120" cy="358140"/>
            </a:xfrm>
            <a:prstGeom prst="roundRect">
              <a:avLst>
                <a:gd name="adj" fmla="val 17021"/>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BAM read Record op. / label"/>
            <p:cNvSpPr txBox="1"/>
            <p:nvPr/>
          </p:nvSpPr>
          <p:spPr>
            <a:xfrm>
              <a:off x="6926580" y="2743200"/>
              <a:ext cx="86868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Record op.</a:t>
              </a:r>
            </a:p>
          </p:txBody>
        </p:sp>
      </p:grpSp>
      <p:sp>
        <p:nvSpPr>
          <p:cNvPr id="151" name="BAM write heading"/>
          <p:cNvSpPr txBox="1"/>
          <p:nvPr/>
        </p:nvSpPr>
        <p:spPr>
          <a:xfrm>
            <a:off x="8229600" y="243078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BAM write</a:t>
            </a:r>
          </a:p>
        </p:txBody>
      </p:sp>
      <p:grpSp>
        <p:nvGrpSpPr>
          <p:cNvPr id="154" name="BAM write Serialize [editable group]"/>
          <p:cNvGrpSpPr/>
          <p:nvPr/>
        </p:nvGrpSpPr>
        <p:grpSpPr>
          <a:xfrm>
            <a:off x="8229600" y="2720340"/>
            <a:ext cx="1463040" cy="358140"/>
            <a:chOff x="8229600" y="2720340"/>
            <a:chExt cx="1463040" cy="358140"/>
          </a:xfrm>
        </p:grpSpPr>
        <p:sp>
          <p:nvSpPr>
            <p:cNvPr id="152" name="BAM write Serialize"/>
            <p:cNvSpPr/>
            <p:nvPr/>
          </p:nvSpPr>
          <p:spPr>
            <a:xfrm>
              <a:off x="822960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BAM write Serialize / label"/>
            <p:cNvSpPr txBox="1"/>
            <p:nvPr/>
          </p:nvSpPr>
          <p:spPr>
            <a:xfrm>
              <a:off x="8275320" y="274320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Serialize</a:t>
              </a:r>
            </a:p>
          </p:txBody>
        </p:sp>
      </p:grpSp>
      <p:cxnSp>
        <p:nvCxnSpPr>
          <p:cNvPr id="155" name="BAM write stage 0 / segment 0"/>
          <p:cNvCxnSpPr/>
          <p:nvPr/>
        </p:nvCxnSpPr>
        <p:spPr>
          <a:xfrm>
            <a:off x="9692640" y="289560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58" name="BAM write Compress [editable group]"/>
          <p:cNvGrpSpPr/>
          <p:nvPr/>
        </p:nvGrpSpPr>
        <p:grpSpPr>
          <a:xfrm>
            <a:off x="9875520" y="2720340"/>
            <a:ext cx="1463040" cy="358140"/>
            <a:chOff x="9875520" y="2720340"/>
            <a:chExt cx="1463040" cy="358140"/>
          </a:xfrm>
        </p:grpSpPr>
        <p:sp>
          <p:nvSpPr>
            <p:cNvPr id="156" name="BAM write Compress"/>
            <p:cNvSpPr/>
            <p:nvPr/>
          </p:nvSpPr>
          <p:spPr>
            <a:xfrm>
              <a:off x="9875520" y="272034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M write Compress / label"/>
            <p:cNvSpPr txBox="1"/>
            <p:nvPr/>
          </p:nvSpPr>
          <p:spPr>
            <a:xfrm>
              <a:off x="9921240" y="274320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Compress</a:t>
              </a:r>
            </a:p>
          </p:txBody>
        </p:sp>
      </p:grpSp>
      <p:sp>
        <p:nvSpPr>
          <p:cNvPr id="159" name="SAM read heading"/>
          <p:cNvSpPr txBox="1"/>
          <p:nvPr/>
        </p:nvSpPr>
        <p:spPr>
          <a:xfrm>
            <a:off x="4594860" y="325374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SAM read</a:t>
            </a:r>
          </a:p>
        </p:txBody>
      </p:sp>
      <p:grpSp>
        <p:nvGrpSpPr>
          <p:cNvPr id="162" name="SAM read Text chunks [editable group]"/>
          <p:cNvGrpSpPr/>
          <p:nvPr/>
        </p:nvGrpSpPr>
        <p:grpSpPr>
          <a:xfrm>
            <a:off x="4594860" y="3543300"/>
            <a:ext cx="1463040" cy="358140"/>
            <a:chOff x="4594860" y="3543300"/>
            <a:chExt cx="1463040" cy="358140"/>
          </a:xfrm>
        </p:grpSpPr>
        <p:sp>
          <p:nvSpPr>
            <p:cNvPr id="160" name="SAM read Text chunks"/>
            <p:cNvSpPr/>
            <p:nvPr/>
          </p:nvSpPr>
          <p:spPr>
            <a:xfrm>
              <a:off x="459486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SAM read Text chunks / label"/>
            <p:cNvSpPr txBox="1"/>
            <p:nvPr/>
          </p:nvSpPr>
          <p:spPr>
            <a:xfrm>
              <a:off x="464058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Text chunks</a:t>
              </a:r>
            </a:p>
          </p:txBody>
        </p:sp>
      </p:grpSp>
      <p:cxnSp>
        <p:nvCxnSpPr>
          <p:cNvPr id="163" name="SAM read stage 0 / segment 0"/>
          <p:cNvCxnSpPr/>
          <p:nvPr/>
        </p:nvCxnSpPr>
        <p:spPr>
          <a:xfrm>
            <a:off x="605790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6" name="SAM read Parse [editable group]"/>
          <p:cNvGrpSpPr/>
          <p:nvPr/>
        </p:nvGrpSpPr>
        <p:grpSpPr>
          <a:xfrm>
            <a:off x="6240780" y="3543300"/>
            <a:ext cx="1463040" cy="358140"/>
            <a:chOff x="6240780" y="3543300"/>
            <a:chExt cx="1463040" cy="358140"/>
          </a:xfrm>
        </p:grpSpPr>
        <p:sp>
          <p:nvSpPr>
            <p:cNvPr id="164" name="SAM read Parse"/>
            <p:cNvSpPr/>
            <p:nvPr/>
          </p:nvSpPr>
          <p:spPr>
            <a:xfrm>
              <a:off x="6240780" y="3543300"/>
              <a:ext cx="1463040" cy="358140"/>
            </a:xfrm>
            <a:prstGeom prst="roundRect">
              <a:avLst>
                <a:gd name="adj" fmla="val 17021"/>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SAM read Parse / label"/>
            <p:cNvSpPr txBox="1"/>
            <p:nvPr/>
          </p:nvSpPr>
          <p:spPr>
            <a:xfrm>
              <a:off x="628650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Parse</a:t>
              </a:r>
            </a:p>
          </p:txBody>
        </p:sp>
      </p:grpSp>
      <p:sp>
        <p:nvSpPr>
          <p:cNvPr id="167" name="SAM write heading"/>
          <p:cNvSpPr txBox="1"/>
          <p:nvPr/>
        </p:nvSpPr>
        <p:spPr>
          <a:xfrm>
            <a:off x="8229600" y="3253740"/>
            <a:ext cx="3337560" cy="198120"/>
          </a:xfrm>
          <a:prstGeom prst="rect">
            <a:avLst/>
          </a:prstGeom>
          <a:noFill/>
        </p:spPr>
        <p:txBody>
          <a:bodyPr wrap="none" lIns="0" rIns="0" tIns="0" bIns="0" anchor="ctr">
            <a:noAutofit/>
          </a:bodyPr>
          <a:lstStyle/>
          <a:p>
            <a:pPr algn="l">
              <a:lnSpc>
                <a:spcPts val="1344"/>
              </a:lnSpc>
              <a:spcBef>
                <a:spcPts val="0"/>
              </a:spcBef>
              <a:spcAft>
                <a:spcPts val="0"/>
              </a:spcAft>
            </a:pPr>
            <a:r>
              <a:rPr sz="1200" b="1" i="0">
                <a:solidFill>
                  <a:srgbClr val="172C36"/>
                </a:solidFill>
                <a:latin typeface="Arial"/>
              </a:rPr>
              <a:t>SAM write</a:t>
            </a:r>
          </a:p>
        </p:txBody>
      </p:sp>
      <p:grpSp>
        <p:nvGrpSpPr>
          <p:cNvPr id="170" name="SAM write BAM records [editable group]"/>
          <p:cNvGrpSpPr/>
          <p:nvPr/>
        </p:nvGrpSpPr>
        <p:grpSpPr>
          <a:xfrm>
            <a:off x="8229600" y="3543300"/>
            <a:ext cx="1463040" cy="358140"/>
            <a:chOff x="8229600" y="3543300"/>
            <a:chExt cx="1463040" cy="358140"/>
          </a:xfrm>
        </p:grpSpPr>
        <p:sp>
          <p:nvSpPr>
            <p:cNvPr id="168" name="SAM write BAM records"/>
            <p:cNvSpPr/>
            <p:nvPr/>
          </p:nvSpPr>
          <p:spPr>
            <a:xfrm>
              <a:off x="822960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SAM write BAM records / label"/>
            <p:cNvSpPr txBox="1"/>
            <p:nvPr/>
          </p:nvSpPr>
          <p:spPr>
            <a:xfrm>
              <a:off x="827532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records</a:t>
              </a:r>
            </a:p>
          </p:txBody>
        </p:sp>
      </p:grpSp>
      <p:cxnSp>
        <p:nvCxnSpPr>
          <p:cNvPr id="171" name="SAM write stage 0 / segment 0"/>
          <p:cNvCxnSpPr/>
          <p:nvPr/>
        </p:nvCxnSpPr>
        <p:spPr>
          <a:xfrm>
            <a:off x="9692640" y="3718560"/>
            <a:ext cx="1828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SAM write Format [editable group]"/>
          <p:cNvGrpSpPr/>
          <p:nvPr/>
        </p:nvGrpSpPr>
        <p:grpSpPr>
          <a:xfrm>
            <a:off x="9875520" y="3543300"/>
            <a:ext cx="1463040" cy="358140"/>
            <a:chOff x="9875520" y="3543300"/>
            <a:chExt cx="1463040" cy="358140"/>
          </a:xfrm>
        </p:grpSpPr>
        <p:sp>
          <p:nvSpPr>
            <p:cNvPr id="172" name="SAM write Format"/>
            <p:cNvSpPr/>
            <p:nvPr/>
          </p:nvSpPr>
          <p:spPr>
            <a:xfrm>
              <a:off x="9875520" y="3543300"/>
              <a:ext cx="1463040" cy="358140"/>
            </a:xfrm>
            <a:prstGeom prst="roundRect">
              <a:avLst>
                <a:gd name="adj" fmla="val 17021"/>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SAM write Format / label"/>
            <p:cNvSpPr txBox="1"/>
            <p:nvPr/>
          </p:nvSpPr>
          <p:spPr>
            <a:xfrm>
              <a:off x="9921240" y="3566160"/>
              <a:ext cx="1371600" cy="31242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Format</a:t>
              </a:r>
            </a:p>
          </p:txBody>
        </p:sp>
      </p:grpSp>
      <p:cxnSp>
        <p:nvCxnSpPr>
          <p:cNvPr id="175" name="Read batches into core group / segment 0"/>
          <p:cNvCxnSpPr/>
          <p:nvPr/>
        </p:nvCxnSpPr>
        <p:spPr>
          <a:xfrm>
            <a:off x="5768340" y="1485900"/>
            <a:ext cx="0" cy="640080"/>
          </a:xfrm>
          <a:prstGeom prst="line">
            <a:avLst/>
          </a:prstGeom>
          <a:ln w="21336">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6" name="Read batch transfer label"/>
          <p:cNvSpPr txBox="1"/>
          <p:nvPr/>
        </p:nvSpPr>
        <p:spPr>
          <a:xfrm>
            <a:off x="5897880" y="1539240"/>
            <a:ext cx="1684020" cy="1828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197BA3"/>
                </a:solidFill>
                <a:latin typeface="Arial"/>
              </a:rPr>
              <a:t>Batch input</a:t>
            </a:r>
          </a:p>
        </p:txBody>
      </p:sp>
      <p:cxnSp>
        <p:nvCxnSpPr>
          <p:cNvPr id="177" name="Compressed batches to sink / segment 0"/>
          <p:cNvCxnSpPr/>
          <p:nvPr/>
        </p:nvCxnSpPr>
        <p:spPr>
          <a:xfrm flipV="1">
            <a:off x="8968740" y="1485900"/>
            <a:ext cx="0" cy="640080"/>
          </a:xfrm>
          <a:prstGeom prst="line">
            <a:avLst/>
          </a:prstGeom>
          <a:ln w="21336">
            <a:solidFill>
              <a:srgbClr val="B9536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8" name="Write batch transfer label"/>
          <p:cNvSpPr txBox="1"/>
          <p:nvPr/>
        </p:nvSpPr>
        <p:spPr>
          <a:xfrm>
            <a:off x="9090660" y="1539240"/>
            <a:ext cx="1851660" cy="182880"/>
          </a:xfrm>
          <a:prstGeom prst="rect">
            <a:avLst/>
          </a:prstGeom>
          <a:noFill/>
        </p:spPr>
        <p:txBody>
          <a:bodyPr wrap="none" lIns="0" rIns="0" tIns="0" bIns="0" anchor="ctr">
            <a:noAutofit/>
          </a:bodyPr>
          <a:lstStyle/>
          <a:p>
            <a:pPr algn="l">
              <a:lnSpc>
                <a:spcPts val="1209"/>
              </a:lnSpc>
              <a:spcBef>
                <a:spcPts val="0"/>
              </a:spcBef>
              <a:spcAft>
                <a:spcPts val="0"/>
              </a:spcAft>
            </a:pPr>
            <a:r>
              <a:rPr sz="1080" b="0" i="0">
                <a:solidFill>
                  <a:srgbClr val="B95362"/>
                </a:solidFill>
                <a:latin typeface="Arial"/>
              </a:rPr>
              <a:t>Batch output</a:t>
            </a:r>
          </a:p>
        </p:txBody>
      </p:sp>
      <p:sp>
        <p:nvSpPr>
          <p:cNvPr id="179" name="(b) Compose applications at batch boundaries"/>
          <p:cNvSpPr txBox="1"/>
          <p:nvPr/>
        </p:nvSpPr>
        <p:spPr>
          <a:xfrm>
            <a:off x="228600" y="45796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Compose applications at batch boundaries</a:t>
            </a:r>
          </a:p>
        </p:txBody>
      </p:sp>
      <p:sp>
        <p:nvSpPr>
          <p:cNvPr id="180" name="Record counting title"/>
          <p:cNvSpPr txBox="1"/>
          <p:nvPr/>
        </p:nvSpPr>
        <p:spPr>
          <a:xfrm>
            <a:off x="342900" y="496062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Record counting</a:t>
            </a:r>
          </a:p>
        </p:txBody>
      </p:sp>
      <p:grpSp>
        <p:nvGrpSpPr>
          <p:cNvPr id="183" name="Record counting / BAM read [editable group]"/>
          <p:cNvGrpSpPr/>
          <p:nvPr/>
        </p:nvGrpSpPr>
        <p:grpSpPr>
          <a:xfrm>
            <a:off x="342900" y="5212080"/>
            <a:ext cx="1577340" cy="327660"/>
            <a:chOff x="342900" y="5212080"/>
            <a:chExt cx="1577340" cy="327660"/>
          </a:xfrm>
        </p:grpSpPr>
        <p:sp>
          <p:nvSpPr>
            <p:cNvPr id="181" name="Record counting / BAM read"/>
            <p:cNvSpPr/>
            <p:nvPr/>
          </p:nvSpPr>
          <p:spPr>
            <a:xfrm>
              <a:off x="34290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ord counting / BAM read / label"/>
            <p:cNvSpPr txBox="1"/>
            <p:nvPr/>
          </p:nvSpPr>
          <p:spPr>
            <a:xfrm>
              <a:off x="38862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a:t>
              </a:r>
            </a:p>
          </p:txBody>
        </p:sp>
      </p:grpSp>
      <p:cxnSp>
        <p:nvCxnSpPr>
          <p:cNvPr id="184" name="Record counting / link 0 / segment 0"/>
          <p:cNvCxnSpPr/>
          <p:nvPr/>
        </p:nvCxnSpPr>
        <p:spPr>
          <a:xfrm>
            <a:off x="192024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7" name="Record counting / Aggregate [editable group]"/>
          <p:cNvGrpSpPr/>
          <p:nvPr/>
        </p:nvGrpSpPr>
        <p:grpSpPr>
          <a:xfrm>
            <a:off x="2148840" y="5212080"/>
            <a:ext cx="1577340" cy="327660"/>
            <a:chOff x="2148840" y="5212080"/>
            <a:chExt cx="1577340" cy="327660"/>
          </a:xfrm>
        </p:grpSpPr>
        <p:sp>
          <p:nvSpPr>
            <p:cNvPr id="185" name="Record counting / Aggregate"/>
            <p:cNvSpPr/>
            <p:nvPr/>
          </p:nvSpPr>
          <p:spPr>
            <a:xfrm>
              <a:off x="2148840"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ord counting / Aggregate / label"/>
            <p:cNvSpPr txBox="1"/>
            <p:nvPr/>
          </p:nvSpPr>
          <p:spPr>
            <a:xfrm>
              <a:off x="219456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Aggregate</a:t>
              </a:r>
            </a:p>
          </p:txBody>
        </p:sp>
      </p:grpSp>
      <p:cxnSp>
        <p:nvCxnSpPr>
          <p:cNvPr id="188" name="Record counting / link 1 / segment 0"/>
          <p:cNvCxnSpPr/>
          <p:nvPr/>
        </p:nvCxnSpPr>
        <p:spPr>
          <a:xfrm>
            <a:off x="372618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1" name="Record counting / MPI reduce [editable group]"/>
          <p:cNvGrpSpPr/>
          <p:nvPr/>
        </p:nvGrpSpPr>
        <p:grpSpPr>
          <a:xfrm>
            <a:off x="3954780" y="5212080"/>
            <a:ext cx="1577340" cy="327660"/>
            <a:chOff x="3954780" y="5212080"/>
            <a:chExt cx="1577340" cy="327660"/>
          </a:xfrm>
        </p:grpSpPr>
        <p:sp>
          <p:nvSpPr>
            <p:cNvPr id="189" name="Record counting / MPI reduce"/>
            <p:cNvSpPr/>
            <p:nvPr/>
          </p:nvSpPr>
          <p:spPr>
            <a:xfrm>
              <a:off x="3954780" y="5212080"/>
              <a:ext cx="1577340" cy="327660"/>
            </a:xfrm>
            <a:prstGeom prst="roundRect">
              <a:avLst>
                <a:gd name="adj" fmla="val 18604"/>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ord counting / MPI reduce / label"/>
            <p:cNvSpPr txBox="1"/>
            <p:nvPr/>
          </p:nvSpPr>
          <p:spPr>
            <a:xfrm>
              <a:off x="400050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MPI reduce</a:t>
              </a:r>
            </a:p>
          </p:txBody>
        </p:sp>
      </p:grpSp>
      <p:sp>
        <p:nvSpPr>
          <p:cNvPr id="192" name="BAM filtering / rewriting title"/>
          <p:cNvSpPr txBox="1"/>
          <p:nvPr/>
        </p:nvSpPr>
        <p:spPr>
          <a:xfrm>
            <a:off x="6408420" y="496062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BAM filtering / rewriting</a:t>
            </a:r>
          </a:p>
        </p:txBody>
      </p:sp>
      <p:grpSp>
        <p:nvGrpSpPr>
          <p:cNvPr id="195" name="BAM filtering / rewriting / BAM read + filter [editable group]"/>
          <p:cNvGrpSpPr/>
          <p:nvPr/>
        </p:nvGrpSpPr>
        <p:grpSpPr>
          <a:xfrm>
            <a:off x="6408420" y="5212080"/>
            <a:ext cx="1577340" cy="327660"/>
            <a:chOff x="6408420" y="5212080"/>
            <a:chExt cx="1577340" cy="327660"/>
          </a:xfrm>
        </p:grpSpPr>
        <p:sp>
          <p:nvSpPr>
            <p:cNvPr id="193" name="BAM filtering / rewriting / BAM read + filter"/>
            <p:cNvSpPr/>
            <p:nvPr/>
          </p:nvSpPr>
          <p:spPr>
            <a:xfrm>
              <a:off x="6408420" y="521208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BAM filtering / rewriting / BAM read + filter / label"/>
            <p:cNvSpPr txBox="1"/>
            <p:nvPr/>
          </p:nvSpPr>
          <p:spPr>
            <a:xfrm>
              <a:off x="645414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 + filter</a:t>
              </a:r>
            </a:p>
          </p:txBody>
        </p:sp>
      </p:grpSp>
      <p:cxnSp>
        <p:nvCxnSpPr>
          <p:cNvPr id="196" name="BAM filtering / rewriting / link 0 / segment 0"/>
          <p:cNvCxnSpPr/>
          <p:nvPr/>
        </p:nvCxnSpPr>
        <p:spPr>
          <a:xfrm>
            <a:off x="7985759"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99" name="BAM filtering / rewriting / Packing plan [editable group]"/>
          <p:cNvGrpSpPr/>
          <p:nvPr/>
        </p:nvGrpSpPr>
        <p:grpSpPr>
          <a:xfrm>
            <a:off x="8214359" y="5212080"/>
            <a:ext cx="1577340" cy="327660"/>
            <a:chOff x="8214359" y="5212080"/>
            <a:chExt cx="1577340" cy="327660"/>
          </a:xfrm>
        </p:grpSpPr>
        <p:sp>
          <p:nvSpPr>
            <p:cNvPr id="197" name="BAM filtering / rewriting / Packing plan"/>
            <p:cNvSpPr/>
            <p:nvPr/>
          </p:nvSpPr>
          <p:spPr>
            <a:xfrm>
              <a:off x="8214359" y="521208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BAM filtering / rewriting / Packing plan / label"/>
            <p:cNvSpPr txBox="1"/>
            <p:nvPr/>
          </p:nvSpPr>
          <p:spPr>
            <a:xfrm>
              <a:off x="826008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Packing plan</a:t>
              </a:r>
            </a:p>
          </p:txBody>
        </p:sp>
      </p:grpSp>
      <p:cxnSp>
        <p:nvCxnSpPr>
          <p:cNvPr id="200" name="BAM filtering / rewriting / link 1 / segment 0"/>
          <p:cNvCxnSpPr/>
          <p:nvPr/>
        </p:nvCxnSpPr>
        <p:spPr>
          <a:xfrm>
            <a:off x="9791700" y="537210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3" name="BAM filtering / rewriting / BAM write [editable group]"/>
          <p:cNvGrpSpPr/>
          <p:nvPr/>
        </p:nvGrpSpPr>
        <p:grpSpPr>
          <a:xfrm>
            <a:off x="10020300" y="5212080"/>
            <a:ext cx="1577340" cy="327660"/>
            <a:chOff x="10020300" y="5212080"/>
            <a:chExt cx="1577340" cy="327660"/>
          </a:xfrm>
        </p:grpSpPr>
        <p:sp>
          <p:nvSpPr>
            <p:cNvPr id="201" name="BAM filtering / rewriting / BAM write"/>
            <p:cNvSpPr/>
            <p:nvPr/>
          </p:nvSpPr>
          <p:spPr>
            <a:xfrm>
              <a:off x="10020300" y="521208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BAM filtering / rewriting / BAM write / label"/>
            <p:cNvSpPr txBox="1"/>
            <p:nvPr/>
          </p:nvSpPr>
          <p:spPr>
            <a:xfrm>
              <a:off x="10066020" y="523494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write</a:t>
              </a:r>
            </a:p>
          </p:txBody>
        </p:sp>
      </p:grpSp>
      <p:sp>
        <p:nvSpPr>
          <p:cNvPr id="204" name="BAM → SAM title"/>
          <p:cNvSpPr txBox="1"/>
          <p:nvPr/>
        </p:nvSpPr>
        <p:spPr>
          <a:xfrm>
            <a:off x="342900" y="573786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BAM → SAM</a:t>
            </a:r>
          </a:p>
        </p:txBody>
      </p:sp>
      <p:grpSp>
        <p:nvGrpSpPr>
          <p:cNvPr id="207" name="BAM → SAM / BAM read [editable group]"/>
          <p:cNvGrpSpPr/>
          <p:nvPr/>
        </p:nvGrpSpPr>
        <p:grpSpPr>
          <a:xfrm>
            <a:off x="342900" y="5989320"/>
            <a:ext cx="1577340" cy="327660"/>
            <a:chOff x="342900" y="5989320"/>
            <a:chExt cx="1577340" cy="327660"/>
          </a:xfrm>
        </p:grpSpPr>
        <p:sp>
          <p:nvSpPr>
            <p:cNvPr id="205" name="BAM → SAM / BAM read"/>
            <p:cNvSpPr/>
            <p:nvPr/>
          </p:nvSpPr>
          <p:spPr>
            <a:xfrm>
              <a:off x="34290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BAM → SAM / BAM read / label"/>
            <p:cNvSpPr txBox="1"/>
            <p:nvPr/>
          </p:nvSpPr>
          <p:spPr>
            <a:xfrm>
              <a:off x="38862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read</a:t>
              </a:r>
            </a:p>
          </p:txBody>
        </p:sp>
      </p:grpSp>
      <p:cxnSp>
        <p:nvCxnSpPr>
          <p:cNvPr id="208" name="BAM → SAM / link 0 / segment 0"/>
          <p:cNvCxnSpPr/>
          <p:nvPr/>
        </p:nvCxnSpPr>
        <p:spPr>
          <a:xfrm>
            <a:off x="192024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1" name="BAM → SAM / Batch handoff [editable group]"/>
          <p:cNvGrpSpPr/>
          <p:nvPr/>
        </p:nvGrpSpPr>
        <p:grpSpPr>
          <a:xfrm>
            <a:off x="2148840" y="5989320"/>
            <a:ext cx="1577340" cy="327660"/>
            <a:chOff x="2148840" y="5989320"/>
            <a:chExt cx="1577340" cy="327660"/>
          </a:xfrm>
        </p:grpSpPr>
        <p:sp>
          <p:nvSpPr>
            <p:cNvPr id="209" name="BAM → SAM / Batch handoff"/>
            <p:cNvSpPr/>
            <p:nvPr/>
          </p:nvSpPr>
          <p:spPr>
            <a:xfrm>
              <a:off x="2148840"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BAM → SAM / Batch handoff / label"/>
            <p:cNvSpPr txBox="1"/>
            <p:nvPr/>
          </p:nvSpPr>
          <p:spPr>
            <a:xfrm>
              <a:off x="219456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Batch handoff</a:t>
              </a:r>
            </a:p>
          </p:txBody>
        </p:sp>
      </p:grpSp>
      <p:cxnSp>
        <p:nvCxnSpPr>
          <p:cNvPr id="212" name="BAM → SAM / link 1 / segment 0"/>
          <p:cNvCxnSpPr/>
          <p:nvPr/>
        </p:nvCxnSpPr>
        <p:spPr>
          <a:xfrm>
            <a:off x="372618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BAM → SAM / SAM write [editable group]"/>
          <p:cNvGrpSpPr/>
          <p:nvPr/>
        </p:nvGrpSpPr>
        <p:grpSpPr>
          <a:xfrm>
            <a:off x="3954780" y="5989320"/>
            <a:ext cx="1577340" cy="327660"/>
            <a:chOff x="3954780" y="5989320"/>
            <a:chExt cx="1577340" cy="327660"/>
          </a:xfrm>
        </p:grpSpPr>
        <p:sp>
          <p:nvSpPr>
            <p:cNvPr id="213" name="BAM → SAM / SAM write"/>
            <p:cNvSpPr/>
            <p:nvPr/>
          </p:nvSpPr>
          <p:spPr>
            <a:xfrm>
              <a:off x="395478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BAM → SAM / SAM write / label"/>
            <p:cNvSpPr txBox="1"/>
            <p:nvPr/>
          </p:nvSpPr>
          <p:spPr>
            <a:xfrm>
              <a:off x="400050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SAM write</a:t>
              </a:r>
            </a:p>
          </p:txBody>
        </p:sp>
      </p:grpSp>
      <p:sp>
        <p:nvSpPr>
          <p:cNvPr id="216" name="SAM → BAM title"/>
          <p:cNvSpPr txBox="1"/>
          <p:nvPr/>
        </p:nvSpPr>
        <p:spPr>
          <a:xfrm>
            <a:off x="6408420" y="5737860"/>
            <a:ext cx="5349240" cy="19812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SAM → BAM</a:t>
            </a:r>
          </a:p>
        </p:txBody>
      </p:sp>
      <p:grpSp>
        <p:nvGrpSpPr>
          <p:cNvPr id="219" name="SAM → BAM / SAM read [editable group]"/>
          <p:cNvGrpSpPr/>
          <p:nvPr/>
        </p:nvGrpSpPr>
        <p:grpSpPr>
          <a:xfrm>
            <a:off x="6408420" y="5989320"/>
            <a:ext cx="1577340" cy="327660"/>
            <a:chOff x="6408420" y="5989320"/>
            <a:chExt cx="1577340" cy="327660"/>
          </a:xfrm>
        </p:grpSpPr>
        <p:sp>
          <p:nvSpPr>
            <p:cNvPr id="217" name="SAM → BAM / SAM read"/>
            <p:cNvSpPr/>
            <p:nvPr/>
          </p:nvSpPr>
          <p:spPr>
            <a:xfrm>
              <a:off x="6408420" y="5989320"/>
              <a:ext cx="1577340" cy="327660"/>
            </a:xfrm>
            <a:prstGeom prst="roundRect">
              <a:avLst>
                <a:gd name="adj" fmla="val 18604"/>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SAM → BAM / SAM read / label"/>
            <p:cNvSpPr txBox="1"/>
            <p:nvPr/>
          </p:nvSpPr>
          <p:spPr>
            <a:xfrm>
              <a:off x="645414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SAM read</a:t>
              </a:r>
            </a:p>
          </p:txBody>
        </p:sp>
      </p:grpSp>
      <p:cxnSp>
        <p:nvCxnSpPr>
          <p:cNvPr id="220" name="SAM → BAM / link 0 / segment 0"/>
          <p:cNvCxnSpPr/>
          <p:nvPr/>
        </p:nvCxnSpPr>
        <p:spPr>
          <a:xfrm>
            <a:off x="7985759"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3" name="SAM → BAM / Packing plan [editable group]"/>
          <p:cNvGrpSpPr/>
          <p:nvPr/>
        </p:nvGrpSpPr>
        <p:grpSpPr>
          <a:xfrm>
            <a:off x="8214359" y="5989320"/>
            <a:ext cx="1577340" cy="327660"/>
            <a:chOff x="8214359" y="5989320"/>
            <a:chExt cx="1577340" cy="327660"/>
          </a:xfrm>
        </p:grpSpPr>
        <p:sp>
          <p:nvSpPr>
            <p:cNvPr id="221" name="SAM → BAM / Packing plan"/>
            <p:cNvSpPr/>
            <p:nvPr/>
          </p:nvSpPr>
          <p:spPr>
            <a:xfrm>
              <a:off x="8214359" y="5989320"/>
              <a:ext cx="1577340" cy="327660"/>
            </a:xfrm>
            <a:prstGeom prst="roundRect">
              <a:avLst>
                <a:gd name="adj" fmla="val 18604"/>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SAM → BAM / Packing plan / label"/>
            <p:cNvSpPr txBox="1"/>
            <p:nvPr/>
          </p:nvSpPr>
          <p:spPr>
            <a:xfrm>
              <a:off x="826008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Packing plan</a:t>
              </a:r>
            </a:p>
          </p:txBody>
        </p:sp>
      </p:grpSp>
      <p:cxnSp>
        <p:nvCxnSpPr>
          <p:cNvPr id="224" name="SAM → BAM / link 1 / segment 0"/>
          <p:cNvCxnSpPr/>
          <p:nvPr/>
        </p:nvCxnSpPr>
        <p:spPr>
          <a:xfrm>
            <a:off x="9791700" y="6149340"/>
            <a:ext cx="2286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7" name="SAM → BAM / BAM write [editable group]"/>
          <p:cNvGrpSpPr/>
          <p:nvPr/>
        </p:nvGrpSpPr>
        <p:grpSpPr>
          <a:xfrm>
            <a:off x="10020300" y="5989320"/>
            <a:ext cx="1577340" cy="327660"/>
            <a:chOff x="10020300" y="5989320"/>
            <a:chExt cx="1577340" cy="327660"/>
          </a:xfrm>
        </p:grpSpPr>
        <p:sp>
          <p:nvSpPr>
            <p:cNvPr id="225" name="SAM → BAM / BAM write"/>
            <p:cNvSpPr/>
            <p:nvPr/>
          </p:nvSpPr>
          <p:spPr>
            <a:xfrm>
              <a:off x="10020300" y="5989320"/>
              <a:ext cx="1577340" cy="327660"/>
            </a:xfrm>
            <a:prstGeom prst="roundRect">
              <a:avLst>
                <a:gd name="adj" fmla="val 18604"/>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SAM → BAM / BAM write / label"/>
            <p:cNvSpPr txBox="1"/>
            <p:nvPr/>
          </p:nvSpPr>
          <p:spPr>
            <a:xfrm>
              <a:off x="10066020" y="6012180"/>
              <a:ext cx="1485900" cy="2819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BAM write</a:t>
              </a:r>
            </a:p>
          </p:txBody>
        </p:sp>
      </p:grpSp>
      <p:sp>
        <p:nvSpPr>
          <p:cNvPr id="228" name="Higher level state"/>
          <p:cNvSpPr txBox="1"/>
          <p:nvPr/>
        </p:nvSpPr>
        <p:spPr>
          <a:xfrm>
            <a:off x="281940" y="6545580"/>
            <a:ext cx="11628120" cy="2057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61727A"/>
                </a:solidFill>
                <a:latin typeface="Arial"/>
              </a:rPr>
              <a:t>Sort / collate / fixmate / markdup add ordering, grouping, cross-record state and MPI exchange.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AM read: reuse buffers, overlap independent work"/>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BAM read: reuse buffers, overlap independent work</a:t>
            </a:r>
          </a:p>
        </p:txBody>
      </p:sp>
      <p:sp>
        <p:nvSpPr>
          <p:cNvPr id="3" name="BAM read buffers"/>
          <p:cNvSpPr/>
          <p:nvPr/>
        </p:nvSpPr>
        <p:spPr>
          <a:xfrm>
            <a:off x="228600" y="556260"/>
            <a:ext cx="1981199" cy="2225040"/>
          </a:xfrm>
          <a:prstGeom prst="roundRect">
            <a:avLst>
              <a:gd name="adj" fmla="val 4615"/>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M read buffers / heading"/>
          <p:cNvSpPr txBox="1"/>
          <p:nvPr/>
        </p:nvSpPr>
        <p:spPr>
          <a:xfrm>
            <a:off x="342900" y="632460"/>
            <a:ext cx="175260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Alternating buffers</a:t>
            </a:r>
          </a:p>
        </p:txBody>
      </p:sp>
      <p:grpSp>
        <p:nvGrpSpPr>
          <p:cNvPr id="7" name="BAM read buffer A [editable group]"/>
          <p:cNvGrpSpPr/>
          <p:nvPr/>
        </p:nvGrpSpPr>
        <p:grpSpPr>
          <a:xfrm>
            <a:off x="434340" y="1021080"/>
            <a:ext cx="1562100" cy="388620"/>
            <a:chOff x="434340" y="1021080"/>
            <a:chExt cx="1562100" cy="388620"/>
          </a:xfrm>
        </p:grpSpPr>
        <p:sp>
          <p:nvSpPr>
            <p:cNvPr id="5" name="BAM read buffer A"/>
            <p:cNvSpPr/>
            <p:nvPr/>
          </p:nvSpPr>
          <p:spPr>
            <a:xfrm>
              <a:off x="434340" y="102108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M read buffer A / label"/>
            <p:cNvSpPr txBox="1"/>
            <p:nvPr/>
          </p:nvSpPr>
          <p:spPr>
            <a:xfrm>
              <a:off x="480060" y="104394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 batch i</a:t>
              </a:r>
            </a:p>
          </p:txBody>
        </p:sp>
      </p:grpSp>
      <p:grpSp>
        <p:nvGrpSpPr>
          <p:cNvPr id="10" name="BAM read buffer B [editable group]"/>
          <p:cNvGrpSpPr/>
          <p:nvPr/>
        </p:nvGrpSpPr>
        <p:grpSpPr>
          <a:xfrm>
            <a:off x="434340" y="1615440"/>
            <a:ext cx="1562100" cy="388620"/>
            <a:chOff x="434340" y="1615440"/>
            <a:chExt cx="1562100" cy="388620"/>
          </a:xfrm>
        </p:grpSpPr>
        <p:sp>
          <p:nvSpPr>
            <p:cNvPr id="8" name="BAM read buffer B"/>
            <p:cNvSpPr/>
            <p:nvPr/>
          </p:nvSpPr>
          <p:spPr>
            <a:xfrm>
              <a:off x="434340" y="161544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M read buffer B / label"/>
            <p:cNvSpPr txBox="1"/>
            <p:nvPr/>
          </p:nvSpPr>
          <p:spPr>
            <a:xfrm>
              <a:off x="480060" y="163830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 batch i+1</a:t>
              </a:r>
            </a:p>
          </p:txBody>
        </p:sp>
      </p:grpSp>
      <p:sp>
        <p:nvSpPr>
          <p:cNvPr id="11" name="BAM read role"/>
          <p:cNvSpPr txBox="1"/>
          <p:nvPr/>
        </p:nvSpPr>
        <p:spPr>
          <a:xfrm>
            <a:off x="350520" y="2171700"/>
            <a:ext cx="1744980" cy="3886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Compressed input</a:t>
            </a:r>
          </a:p>
          <a:p>
            <a:pPr algn="ctr">
              <a:lnSpc>
                <a:spcPts val="1209"/>
              </a:lnSpc>
              <a:spcBef>
                <a:spcPts val="0"/>
              </a:spcBef>
              <a:spcAft>
                <a:spcPts val="0"/>
              </a:spcAft>
            </a:pPr>
            <a:r>
              <a:rPr sz="1080" b="0" i="0">
                <a:solidFill>
                  <a:srgbClr val="172C36"/>
                </a:solidFill>
                <a:latin typeface="Arial"/>
              </a:rPr>
              <a:t>A / B swap after each batch</a:t>
            </a:r>
          </a:p>
        </p:txBody>
      </p:sp>
      <p:cxnSp>
        <p:nvCxnSpPr>
          <p:cNvPr id="12" name="BAM read time axis / segment 0"/>
          <p:cNvCxnSpPr/>
          <p:nvPr/>
        </p:nvCxnSpPr>
        <p:spPr>
          <a:xfrm>
            <a:off x="2994660" y="81534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BAM read time label"/>
          <p:cNvSpPr txBox="1"/>
          <p:nvPr/>
        </p:nvSpPr>
        <p:spPr>
          <a:xfrm>
            <a:off x="9890760" y="533400"/>
            <a:ext cx="1851660" cy="19050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Time (schematic)</a:t>
            </a:r>
          </a:p>
        </p:txBody>
      </p:sp>
      <p:sp>
        <p:nvSpPr>
          <p:cNvPr id="14" name="BAM read MPE label"/>
          <p:cNvSpPr txBox="1"/>
          <p:nvPr/>
        </p:nvSpPr>
        <p:spPr>
          <a:xfrm>
            <a:off x="2324100" y="1264920"/>
            <a:ext cx="66294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MPE</a:t>
            </a:r>
          </a:p>
        </p:txBody>
      </p:sp>
      <p:sp>
        <p:nvSpPr>
          <p:cNvPr id="15" name="BAM read CPE label"/>
          <p:cNvSpPr txBox="1"/>
          <p:nvPr/>
        </p:nvSpPr>
        <p:spPr>
          <a:xfrm>
            <a:off x="2270760" y="2141220"/>
            <a:ext cx="73152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CPEs</a:t>
            </a:r>
          </a:p>
        </p:txBody>
      </p:sp>
      <p:sp>
        <p:nvSpPr>
          <p:cNvPr id="16" name="BAM read overlap band 481"/>
          <p:cNvSpPr/>
          <p:nvPr/>
        </p:nvSpPr>
        <p:spPr>
          <a:xfrm>
            <a:off x="36652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M read overlap band 1021"/>
          <p:cNvSpPr/>
          <p:nvPr/>
        </p:nvSpPr>
        <p:spPr>
          <a:xfrm>
            <a:off x="7780020" y="101346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BAM read task 0 [editable group]"/>
          <p:cNvGrpSpPr/>
          <p:nvPr/>
        </p:nvGrpSpPr>
        <p:grpSpPr>
          <a:xfrm>
            <a:off x="3055620" y="1196340"/>
            <a:ext cx="609600" cy="464820"/>
            <a:chOff x="3055620" y="1196340"/>
            <a:chExt cx="609600" cy="464820"/>
          </a:xfrm>
        </p:grpSpPr>
        <p:sp>
          <p:nvSpPr>
            <p:cNvPr id="18" name="BAM read task 0"/>
            <p:cNvSpPr/>
            <p:nvPr/>
          </p:nvSpPr>
          <p:spPr>
            <a:xfrm>
              <a:off x="30556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M read task 0 / label"/>
            <p:cNvSpPr txBox="1"/>
            <p:nvPr/>
          </p:nvSpPr>
          <p:spPr>
            <a:xfrm>
              <a:off x="3101340" y="121920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a:t>
              </a:r>
            </a:p>
          </p:txBody>
        </p:sp>
      </p:grpSp>
      <p:grpSp>
        <p:nvGrpSpPr>
          <p:cNvPr id="23" name="BAM read task 1 [editable group]"/>
          <p:cNvGrpSpPr/>
          <p:nvPr/>
        </p:nvGrpSpPr>
        <p:grpSpPr>
          <a:xfrm>
            <a:off x="3665220" y="1196340"/>
            <a:ext cx="1562100" cy="464820"/>
            <a:chOff x="3665220" y="1196340"/>
            <a:chExt cx="1562100" cy="464820"/>
          </a:xfrm>
        </p:grpSpPr>
        <p:sp>
          <p:nvSpPr>
            <p:cNvPr id="21" name="BAM read task 1"/>
            <p:cNvSpPr/>
            <p:nvPr/>
          </p:nvSpPr>
          <p:spPr>
            <a:xfrm>
              <a:off x="36652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M read task 1 / label"/>
            <p:cNvSpPr txBox="1"/>
            <p:nvPr/>
          </p:nvSpPr>
          <p:spPr>
            <a:xfrm>
              <a:off x="3710940" y="1219200"/>
              <a:ext cx="14706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Read i+1</a:t>
              </a:r>
            </a:p>
            <a:p>
              <a:pPr algn="ctr">
                <a:lnSpc>
                  <a:spcPts val="1209"/>
                </a:lnSpc>
                <a:spcBef>
                  <a:spcPts val="0"/>
                </a:spcBef>
                <a:spcAft>
                  <a:spcPts val="0"/>
                </a:spcAft>
              </a:pPr>
              <a:r>
                <a:rPr sz="1080" b="0" i="0">
                  <a:solidFill>
                    <a:srgbClr val="172C36"/>
                  </a:solidFill>
                  <a:latin typeface="Arial"/>
                </a:rPr>
                <a:t>→ B</a:t>
              </a:r>
            </a:p>
          </p:txBody>
        </p:sp>
      </p:grpSp>
      <p:grpSp>
        <p:nvGrpSpPr>
          <p:cNvPr id="26" name="BAM read task 2 [editable group]"/>
          <p:cNvGrpSpPr/>
          <p:nvPr/>
        </p:nvGrpSpPr>
        <p:grpSpPr>
          <a:xfrm>
            <a:off x="5227320" y="1196340"/>
            <a:ext cx="701040" cy="464820"/>
            <a:chOff x="5227320" y="1196340"/>
            <a:chExt cx="701040" cy="464820"/>
          </a:xfrm>
        </p:grpSpPr>
        <p:sp>
          <p:nvSpPr>
            <p:cNvPr id="24" name="BAM read task 2"/>
            <p:cNvSpPr/>
            <p:nvPr/>
          </p:nvSpPr>
          <p:spPr>
            <a:xfrm>
              <a:off x="52273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M read task 2 / label"/>
            <p:cNvSpPr txBox="1"/>
            <p:nvPr/>
          </p:nvSpPr>
          <p:spPr>
            <a:xfrm>
              <a:off x="5273040" y="1219200"/>
              <a:ext cx="6096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Wait</a:t>
              </a:r>
            </a:p>
          </p:txBody>
        </p:sp>
      </p:grpSp>
      <p:grpSp>
        <p:nvGrpSpPr>
          <p:cNvPr id="29" name="BAM read task 3 [editable group]"/>
          <p:cNvGrpSpPr/>
          <p:nvPr/>
        </p:nvGrpSpPr>
        <p:grpSpPr>
          <a:xfrm>
            <a:off x="5928360" y="1196340"/>
            <a:ext cx="1242060" cy="464820"/>
            <a:chOff x="5928360" y="1196340"/>
            <a:chExt cx="1242060" cy="464820"/>
          </a:xfrm>
        </p:grpSpPr>
        <p:sp>
          <p:nvSpPr>
            <p:cNvPr id="27" name="BAM read task 3"/>
            <p:cNvSpPr/>
            <p:nvPr/>
          </p:nvSpPr>
          <p:spPr>
            <a:xfrm>
              <a:off x="5928360" y="119634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M read task 3 / label"/>
            <p:cNvSpPr txBox="1"/>
            <p:nvPr/>
          </p:nvSpPr>
          <p:spPr>
            <a:xfrm>
              <a:off x="5974080" y="1219200"/>
              <a:ext cx="11506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Post-process</a:t>
              </a:r>
            </a:p>
            <a:p>
              <a:pPr algn="ctr">
                <a:lnSpc>
                  <a:spcPts val="1209"/>
                </a:lnSpc>
                <a:spcBef>
                  <a:spcPts val="0"/>
                </a:spcBef>
                <a:spcAft>
                  <a:spcPts val="0"/>
                </a:spcAft>
              </a:pPr>
              <a:r>
                <a:rPr sz="1080" b="0" i="0">
                  <a:solidFill>
                    <a:srgbClr val="172C36"/>
                  </a:solidFill>
                  <a:latin typeface="Arial"/>
                </a:rPr>
                <a:t>i</a:t>
              </a:r>
            </a:p>
          </p:txBody>
        </p:sp>
      </p:grpSp>
      <p:grpSp>
        <p:nvGrpSpPr>
          <p:cNvPr id="32" name="BAM read task 4 [editable group]"/>
          <p:cNvGrpSpPr/>
          <p:nvPr/>
        </p:nvGrpSpPr>
        <p:grpSpPr>
          <a:xfrm>
            <a:off x="7170420" y="1196340"/>
            <a:ext cx="609600" cy="464820"/>
            <a:chOff x="7170420" y="1196340"/>
            <a:chExt cx="609600" cy="464820"/>
          </a:xfrm>
        </p:grpSpPr>
        <p:sp>
          <p:nvSpPr>
            <p:cNvPr id="30" name="BAM read task 4"/>
            <p:cNvSpPr/>
            <p:nvPr/>
          </p:nvSpPr>
          <p:spPr>
            <a:xfrm>
              <a:off x="7170420" y="119634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M read task 4 / label"/>
            <p:cNvSpPr txBox="1"/>
            <p:nvPr/>
          </p:nvSpPr>
          <p:spPr>
            <a:xfrm>
              <a:off x="7216140" y="121920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i+1</a:t>
              </a:r>
            </a:p>
          </p:txBody>
        </p:sp>
      </p:grpSp>
      <p:grpSp>
        <p:nvGrpSpPr>
          <p:cNvPr id="35" name="BAM read task 5 [editable group]"/>
          <p:cNvGrpSpPr/>
          <p:nvPr/>
        </p:nvGrpSpPr>
        <p:grpSpPr>
          <a:xfrm>
            <a:off x="7780020" y="1196340"/>
            <a:ext cx="1562100" cy="464820"/>
            <a:chOff x="7780020" y="1196340"/>
            <a:chExt cx="1562100" cy="464820"/>
          </a:xfrm>
        </p:grpSpPr>
        <p:sp>
          <p:nvSpPr>
            <p:cNvPr id="33" name="BAM read task 5"/>
            <p:cNvSpPr/>
            <p:nvPr/>
          </p:nvSpPr>
          <p:spPr>
            <a:xfrm>
              <a:off x="7780020" y="1196340"/>
              <a:ext cx="156210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M read task 5 / label"/>
            <p:cNvSpPr txBox="1"/>
            <p:nvPr/>
          </p:nvSpPr>
          <p:spPr>
            <a:xfrm>
              <a:off x="7825740" y="1219200"/>
              <a:ext cx="14706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Read i+2</a:t>
              </a:r>
            </a:p>
            <a:p>
              <a:pPr algn="ctr">
                <a:lnSpc>
                  <a:spcPts val="1209"/>
                </a:lnSpc>
                <a:spcBef>
                  <a:spcPts val="0"/>
                </a:spcBef>
                <a:spcAft>
                  <a:spcPts val="0"/>
                </a:spcAft>
              </a:pPr>
              <a:r>
                <a:rPr sz="1080" b="0" i="0">
                  <a:solidFill>
                    <a:srgbClr val="172C36"/>
                  </a:solidFill>
                  <a:latin typeface="Arial"/>
                </a:rPr>
                <a:t>→ A</a:t>
              </a:r>
            </a:p>
          </p:txBody>
        </p:sp>
      </p:grpSp>
      <p:grpSp>
        <p:nvGrpSpPr>
          <p:cNvPr id="38" name="BAM read task 6 [editable group]"/>
          <p:cNvGrpSpPr/>
          <p:nvPr/>
        </p:nvGrpSpPr>
        <p:grpSpPr>
          <a:xfrm>
            <a:off x="9342120" y="1196340"/>
            <a:ext cx="701040" cy="464820"/>
            <a:chOff x="9342120" y="1196340"/>
            <a:chExt cx="701040" cy="464820"/>
          </a:xfrm>
        </p:grpSpPr>
        <p:sp>
          <p:nvSpPr>
            <p:cNvPr id="36" name="BAM read task 6"/>
            <p:cNvSpPr/>
            <p:nvPr/>
          </p:nvSpPr>
          <p:spPr>
            <a:xfrm>
              <a:off x="9342120" y="1196340"/>
              <a:ext cx="701040" cy="46482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M read task 6 / label"/>
            <p:cNvSpPr txBox="1"/>
            <p:nvPr/>
          </p:nvSpPr>
          <p:spPr>
            <a:xfrm>
              <a:off x="9387840" y="1219200"/>
              <a:ext cx="6096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Wait</a:t>
              </a:r>
            </a:p>
          </p:txBody>
        </p:sp>
      </p:grpSp>
      <p:grpSp>
        <p:nvGrpSpPr>
          <p:cNvPr id="41" name="BAM read task 7 [editable group]"/>
          <p:cNvGrpSpPr/>
          <p:nvPr/>
        </p:nvGrpSpPr>
        <p:grpSpPr>
          <a:xfrm>
            <a:off x="10043160" y="1196340"/>
            <a:ext cx="1699260" cy="464820"/>
            <a:chOff x="10043160" y="1196340"/>
            <a:chExt cx="1699260" cy="464820"/>
          </a:xfrm>
        </p:grpSpPr>
        <p:sp>
          <p:nvSpPr>
            <p:cNvPr id="39" name="BAM read task 7"/>
            <p:cNvSpPr/>
            <p:nvPr/>
          </p:nvSpPr>
          <p:spPr>
            <a:xfrm>
              <a:off x="10043160" y="119634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M read task 7 / label"/>
            <p:cNvSpPr txBox="1"/>
            <p:nvPr/>
          </p:nvSpPr>
          <p:spPr>
            <a:xfrm>
              <a:off x="10088880" y="1219200"/>
              <a:ext cx="16078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Post-process</a:t>
              </a:r>
            </a:p>
            <a:p>
              <a:pPr algn="ctr">
                <a:lnSpc>
                  <a:spcPts val="1209"/>
                </a:lnSpc>
                <a:spcBef>
                  <a:spcPts val="0"/>
                </a:spcBef>
                <a:spcAft>
                  <a:spcPts val="0"/>
                </a:spcAft>
              </a:pPr>
              <a:r>
                <a:rPr sz="1080" b="0" i="0">
                  <a:solidFill>
                    <a:srgbClr val="172C36"/>
                  </a:solidFill>
                  <a:latin typeface="Arial"/>
                </a:rPr>
                <a:t>i+1</a:t>
              </a:r>
            </a:p>
          </p:txBody>
        </p:sp>
      </p:grpSp>
      <p:grpSp>
        <p:nvGrpSpPr>
          <p:cNvPr id="44" name="BAM read CPE kernel 0 [editable group]"/>
          <p:cNvGrpSpPr/>
          <p:nvPr/>
        </p:nvGrpSpPr>
        <p:grpSpPr>
          <a:xfrm>
            <a:off x="3665220" y="2072640"/>
            <a:ext cx="2263140" cy="472440"/>
            <a:chOff x="3665220" y="2072640"/>
            <a:chExt cx="2263140" cy="472440"/>
          </a:xfrm>
        </p:grpSpPr>
        <p:sp>
          <p:nvSpPr>
            <p:cNvPr id="42" name="BAM read CPE kernel 0"/>
            <p:cNvSpPr/>
            <p:nvPr/>
          </p:nvSpPr>
          <p:spPr>
            <a:xfrm>
              <a:off x="36652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M read CPE kernel 0 / label"/>
            <p:cNvSpPr txBox="1"/>
            <p:nvPr/>
          </p:nvSpPr>
          <p:spPr>
            <a:xfrm>
              <a:off x="3710940" y="2095499"/>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Decode + parse + op</a:t>
              </a:r>
            </a:p>
            <a:p>
              <a:pPr algn="ctr">
                <a:lnSpc>
                  <a:spcPts val="1344"/>
                </a:lnSpc>
                <a:spcBef>
                  <a:spcPts val="0"/>
                </a:spcBef>
                <a:spcAft>
                  <a:spcPts val="0"/>
                </a:spcAft>
              </a:pPr>
              <a:r>
                <a:rPr sz="1200" b="1" i="0">
                  <a:solidFill>
                    <a:srgbClr val="172C36"/>
                  </a:solidFill>
                  <a:latin typeface="Arial"/>
                </a:rPr>
                <a:t>batch i / A</a:t>
              </a:r>
            </a:p>
          </p:txBody>
        </p:sp>
      </p:grpSp>
      <p:cxnSp>
        <p:nvCxnSpPr>
          <p:cNvPr id="45" name="BAM read launch 0 / segment 0"/>
          <p:cNvCxnSpPr/>
          <p:nvPr/>
        </p:nvCxnSpPr>
        <p:spPr>
          <a:xfrm>
            <a:off x="36652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BAM read launch label 0"/>
          <p:cNvSpPr txBox="1"/>
          <p:nvPr/>
        </p:nvSpPr>
        <p:spPr>
          <a:xfrm>
            <a:off x="3718560" y="178308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47" name="BAM read completion 0 / segment 0"/>
          <p:cNvCxnSpPr/>
          <p:nvPr/>
        </p:nvCxnSpPr>
        <p:spPr>
          <a:xfrm flipV="1">
            <a:off x="59283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BAM read completion label 0"/>
          <p:cNvSpPr txBox="1"/>
          <p:nvPr/>
        </p:nvSpPr>
        <p:spPr>
          <a:xfrm>
            <a:off x="5966460" y="179070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join / validate</a:t>
            </a:r>
          </a:p>
        </p:txBody>
      </p:sp>
      <p:grpSp>
        <p:nvGrpSpPr>
          <p:cNvPr id="51" name="BAM read CPE kernel 1 [editable group]"/>
          <p:cNvGrpSpPr/>
          <p:nvPr/>
        </p:nvGrpSpPr>
        <p:grpSpPr>
          <a:xfrm>
            <a:off x="7780020" y="2072640"/>
            <a:ext cx="2263140" cy="472440"/>
            <a:chOff x="7780020" y="2072640"/>
            <a:chExt cx="2263140" cy="472440"/>
          </a:xfrm>
        </p:grpSpPr>
        <p:sp>
          <p:nvSpPr>
            <p:cNvPr id="49" name="BAM read CPE kernel 1"/>
            <p:cNvSpPr/>
            <p:nvPr/>
          </p:nvSpPr>
          <p:spPr>
            <a:xfrm>
              <a:off x="7780020" y="207264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M read CPE kernel 1 / label"/>
            <p:cNvSpPr txBox="1"/>
            <p:nvPr/>
          </p:nvSpPr>
          <p:spPr>
            <a:xfrm>
              <a:off x="7825740" y="2095499"/>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Decode + parse + op</a:t>
              </a:r>
            </a:p>
            <a:p>
              <a:pPr algn="ctr">
                <a:lnSpc>
                  <a:spcPts val="1344"/>
                </a:lnSpc>
                <a:spcBef>
                  <a:spcPts val="0"/>
                </a:spcBef>
                <a:spcAft>
                  <a:spcPts val="0"/>
                </a:spcAft>
              </a:pPr>
              <a:r>
                <a:rPr sz="1200" b="1" i="0">
                  <a:solidFill>
                    <a:srgbClr val="172C36"/>
                  </a:solidFill>
                  <a:latin typeface="Arial"/>
                </a:rPr>
                <a:t>batch i+1 / B</a:t>
              </a:r>
            </a:p>
          </p:txBody>
        </p:sp>
      </p:grpSp>
      <p:cxnSp>
        <p:nvCxnSpPr>
          <p:cNvPr id="52" name="BAM read launch 1 / segment 0"/>
          <p:cNvCxnSpPr/>
          <p:nvPr/>
        </p:nvCxnSpPr>
        <p:spPr>
          <a:xfrm>
            <a:off x="778002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3" name="BAM read launch label 1"/>
          <p:cNvSpPr txBox="1"/>
          <p:nvPr/>
        </p:nvSpPr>
        <p:spPr>
          <a:xfrm>
            <a:off x="7833360" y="178308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54" name="BAM read completion 1 / segment 0"/>
          <p:cNvCxnSpPr/>
          <p:nvPr/>
        </p:nvCxnSpPr>
        <p:spPr>
          <a:xfrm flipV="1">
            <a:off x="10043160" y="167640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BAM read completion label 1"/>
          <p:cNvSpPr txBox="1"/>
          <p:nvPr/>
        </p:nvSpPr>
        <p:spPr>
          <a:xfrm>
            <a:off x="10081260" y="179070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join / validate</a:t>
            </a:r>
          </a:p>
        </p:txBody>
      </p:sp>
      <p:cxnSp>
        <p:nvCxnSpPr>
          <p:cNvPr id="56" name="BAM read overlap bracket / segment 0"/>
          <p:cNvCxnSpPr/>
          <p:nvPr/>
        </p:nvCxnSpPr>
        <p:spPr>
          <a:xfrm>
            <a:off x="366522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7" name="BAM read overlap bracket / segment 1"/>
          <p:cNvCxnSpPr/>
          <p:nvPr/>
        </p:nvCxnSpPr>
        <p:spPr>
          <a:xfrm>
            <a:off x="3665220" y="268224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58" name="BAM read overlap bracket / segment 2"/>
          <p:cNvCxnSpPr/>
          <p:nvPr/>
        </p:nvCxnSpPr>
        <p:spPr>
          <a:xfrm flipV="1">
            <a:off x="5928360" y="26289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59" name="BAM read overlap bracket / label"/>
          <p:cNvSpPr txBox="1"/>
          <p:nvPr/>
        </p:nvSpPr>
        <p:spPr>
          <a:xfrm>
            <a:off x="3665220" y="2727960"/>
            <a:ext cx="22631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Input + CPE work</a:t>
            </a:r>
          </a:p>
        </p:txBody>
      </p:sp>
      <p:sp>
        <p:nvSpPr>
          <p:cNvPr id="60" name="BAM read dependency note"/>
          <p:cNvSpPr txBox="1"/>
          <p:nvPr/>
        </p:nvSpPr>
        <p:spPr>
          <a:xfrm>
            <a:off x="6591300" y="2644140"/>
            <a:ext cx="5151120" cy="358140"/>
          </a:xfrm>
          <a:prstGeom prst="rect">
            <a:avLst/>
          </a:prstGeom>
          <a:noFill/>
        </p:spPr>
        <p:txBody>
          <a:bodyPr wrap="none" lIns="0" rIns="0" tIns="0" bIns="0" anchor="ctr">
            <a:noAutofit/>
          </a:bodyPr>
          <a:lstStyle/>
          <a:p>
            <a:pPr algn="r">
              <a:lnSpc>
                <a:spcPts val="1276"/>
              </a:lnSpc>
              <a:spcBef>
                <a:spcPts val="0"/>
              </a:spcBef>
              <a:spcAft>
                <a:spcPts val="0"/>
              </a:spcAft>
            </a:pPr>
            <a:r>
              <a:rPr sz="1140" b="0" i="0">
                <a:solidFill>
                  <a:srgbClr val="61727A"/>
                </a:solidFill>
                <a:latin typeface="Arial"/>
              </a:rPr>
              <a:t>Post-processing begins only after CPE completion.</a:t>
            </a:r>
          </a:p>
        </p:txBody>
      </p:sp>
      <p:sp>
        <p:nvSpPr>
          <p:cNvPr id="61" name="(b) BAM write: reuse buffers, overlap independent work"/>
          <p:cNvSpPr txBox="1"/>
          <p:nvPr/>
        </p:nvSpPr>
        <p:spPr>
          <a:xfrm>
            <a:off x="228600" y="34747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BAM write: reuse buffers, overlap independent work</a:t>
            </a:r>
          </a:p>
        </p:txBody>
      </p:sp>
      <p:sp>
        <p:nvSpPr>
          <p:cNvPr id="62" name="BAM write buffers"/>
          <p:cNvSpPr/>
          <p:nvPr/>
        </p:nvSpPr>
        <p:spPr>
          <a:xfrm>
            <a:off x="228600" y="3939540"/>
            <a:ext cx="1981199" cy="2225040"/>
          </a:xfrm>
          <a:prstGeom prst="roundRect">
            <a:avLst>
              <a:gd name="adj" fmla="val 4615"/>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BAM write buffers / heading"/>
          <p:cNvSpPr txBox="1"/>
          <p:nvPr/>
        </p:nvSpPr>
        <p:spPr>
          <a:xfrm>
            <a:off x="342900" y="4015740"/>
            <a:ext cx="175260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Alternating buffers</a:t>
            </a:r>
          </a:p>
        </p:txBody>
      </p:sp>
      <p:grpSp>
        <p:nvGrpSpPr>
          <p:cNvPr id="66" name="BAM write buffer A [editable group]"/>
          <p:cNvGrpSpPr/>
          <p:nvPr/>
        </p:nvGrpSpPr>
        <p:grpSpPr>
          <a:xfrm>
            <a:off x="434340" y="4404360"/>
            <a:ext cx="1562100" cy="388620"/>
            <a:chOff x="434340" y="4404360"/>
            <a:chExt cx="1562100" cy="388620"/>
          </a:xfrm>
        </p:grpSpPr>
        <p:sp>
          <p:nvSpPr>
            <p:cNvPr id="64" name="BAM write buffer A"/>
            <p:cNvSpPr/>
            <p:nvPr/>
          </p:nvSpPr>
          <p:spPr>
            <a:xfrm>
              <a:off x="434340" y="4404360"/>
              <a:ext cx="1562100" cy="3886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BAM write buffer A / label"/>
            <p:cNvSpPr txBox="1"/>
            <p:nvPr/>
          </p:nvSpPr>
          <p:spPr>
            <a:xfrm>
              <a:off x="480060" y="442722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A: batch i</a:t>
              </a:r>
            </a:p>
          </p:txBody>
        </p:sp>
      </p:grpSp>
      <p:grpSp>
        <p:nvGrpSpPr>
          <p:cNvPr id="69" name="BAM write buffer B [editable group]"/>
          <p:cNvGrpSpPr/>
          <p:nvPr/>
        </p:nvGrpSpPr>
        <p:grpSpPr>
          <a:xfrm>
            <a:off x="434340" y="4998720"/>
            <a:ext cx="1562100" cy="388620"/>
            <a:chOff x="434340" y="4998720"/>
            <a:chExt cx="1562100" cy="388620"/>
          </a:xfrm>
        </p:grpSpPr>
        <p:sp>
          <p:nvSpPr>
            <p:cNvPr id="67" name="BAM write buffer B"/>
            <p:cNvSpPr/>
            <p:nvPr/>
          </p:nvSpPr>
          <p:spPr>
            <a:xfrm>
              <a:off x="434340" y="4998720"/>
              <a:ext cx="1562100" cy="38862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BAM write buffer B / label"/>
            <p:cNvSpPr txBox="1"/>
            <p:nvPr/>
          </p:nvSpPr>
          <p:spPr>
            <a:xfrm>
              <a:off x="480060" y="5021580"/>
              <a:ext cx="1470660" cy="34290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B: batch i−1</a:t>
              </a:r>
            </a:p>
          </p:txBody>
        </p:sp>
      </p:grpSp>
      <p:sp>
        <p:nvSpPr>
          <p:cNvPr id="70" name="BAM write role"/>
          <p:cNvSpPr txBox="1"/>
          <p:nvPr/>
        </p:nvSpPr>
        <p:spPr>
          <a:xfrm>
            <a:off x="350520" y="5554980"/>
            <a:ext cx="1744980" cy="3886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Compressed output</a:t>
            </a:r>
          </a:p>
          <a:p>
            <a:pPr algn="ctr">
              <a:lnSpc>
                <a:spcPts val="1209"/>
              </a:lnSpc>
              <a:spcBef>
                <a:spcPts val="0"/>
              </a:spcBef>
              <a:spcAft>
                <a:spcPts val="0"/>
              </a:spcAft>
            </a:pPr>
            <a:r>
              <a:rPr sz="1080" b="0" i="0">
                <a:solidFill>
                  <a:srgbClr val="172C36"/>
                </a:solidFill>
                <a:latin typeface="Arial"/>
              </a:rPr>
              <a:t>Current / pending alternate</a:t>
            </a:r>
          </a:p>
        </p:txBody>
      </p:sp>
      <p:cxnSp>
        <p:nvCxnSpPr>
          <p:cNvPr id="71" name="BAM write time axis / segment 0"/>
          <p:cNvCxnSpPr/>
          <p:nvPr/>
        </p:nvCxnSpPr>
        <p:spPr>
          <a:xfrm>
            <a:off x="2994660" y="4198620"/>
            <a:ext cx="879348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2" name="BAM write time label"/>
          <p:cNvSpPr txBox="1"/>
          <p:nvPr/>
        </p:nvSpPr>
        <p:spPr>
          <a:xfrm>
            <a:off x="9890760" y="3916680"/>
            <a:ext cx="1851660" cy="19050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Time (schematic)</a:t>
            </a:r>
          </a:p>
        </p:txBody>
      </p:sp>
      <p:sp>
        <p:nvSpPr>
          <p:cNvPr id="73" name="BAM write MPE label"/>
          <p:cNvSpPr txBox="1"/>
          <p:nvPr/>
        </p:nvSpPr>
        <p:spPr>
          <a:xfrm>
            <a:off x="2324100" y="4648200"/>
            <a:ext cx="66294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MPE</a:t>
            </a:r>
          </a:p>
        </p:txBody>
      </p:sp>
      <p:sp>
        <p:nvSpPr>
          <p:cNvPr id="74" name="BAM write CPE label"/>
          <p:cNvSpPr txBox="1"/>
          <p:nvPr/>
        </p:nvSpPr>
        <p:spPr>
          <a:xfrm>
            <a:off x="2270760" y="5524500"/>
            <a:ext cx="731520" cy="243840"/>
          </a:xfrm>
          <a:prstGeom prst="rect">
            <a:avLst/>
          </a:prstGeom>
          <a:noFill/>
        </p:spPr>
        <p:txBody>
          <a:bodyPr wrap="none" lIns="0" rIns="0" tIns="0" bIns="0" anchor="ctr">
            <a:noAutofit/>
          </a:bodyPr>
          <a:lstStyle/>
          <a:p>
            <a:pPr algn="ctr">
              <a:lnSpc>
                <a:spcPts val="1545"/>
              </a:lnSpc>
              <a:spcBef>
                <a:spcPts val="0"/>
              </a:spcBef>
              <a:spcAft>
                <a:spcPts val="0"/>
              </a:spcAft>
            </a:pPr>
            <a:r>
              <a:rPr sz="1380" b="1" i="0">
                <a:solidFill>
                  <a:srgbClr val="172C36"/>
                </a:solidFill>
                <a:latin typeface="Arial"/>
              </a:rPr>
              <a:t>CPEs</a:t>
            </a:r>
          </a:p>
        </p:txBody>
      </p:sp>
      <p:sp>
        <p:nvSpPr>
          <p:cNvPr id="75" name="BAM write overlap band 481"/>
          <p:cNvSpPr/>
          <p:nvPr/>
        </p:nvSpPr>
        <p:spPr>
          <a:xfrm>
            <a:off x="36652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BAM write overlap band 1021"/>
          <p:cNvSpPr/>
          <p:nvPr/>
        </p:nvSpPr>
        <p:spPr>
          <a:xfrm>
            <a:off x="7780020" y="4396740"/>
            <a:ext cx="2263140" cy="1562100"/>
          </a:xfrm>
          <a:prstGeom prst="rect">
            <a:avLst/>
          </a:prstGeom>
          <a:solidFill>
            <a:srgbClr val="F0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BAM write task 0 [editable group]"/>
          <p:cNvGrpSpPr/>
          <p:nvPr/>
        </p:nvGrpSpPr>
        <p:grpSpPr>
          <a:xfrm>
            <a:off x="3055620" y="4579620"/>
            <a:ext cx="609600" cy="464820"/>
            <a:chOff x="3055620" y="4579620"/>
            <a:chExt cx="609600" cy="464820"/>
          </a:xfrm>
        </p:grpSpPr>
        <p:sp>
          <p:nvSpPr>
            <p:cNvPr id="77" name="BAM write task 0"/>
            <p:cNvSpPr/>
            <p:nvPr/>
          </p:nvSpPr>
          <p:spPr>
            <a:xfrm>
              <a:off x="30556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BAM write task 0 / label"/>
            <p:cNvSpPr txBox="1"/>
            <p:nvPr/>
          </p:nvSpPr>
          <p:spPr>
            <a:xfrm>
              <a:off x="3101340" y="460248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a:t>
              </a:r>
            </a:p>
          </p:txBody>
        </p:sp>
      </p:grpSp>
      <p:grpSp>
        <p:nvGrpSpPr>
          <p:cNvPr id="82" name="BAM write task 1 [editable group]"/>
          <p:cNvGrpSpPr/>
          <p:nvPr/>
        </p:nvGrpSpPr>
        <p:grpSpPr>
          <a:xfrm>
            <a:off x="3665220" y="4579620"/>
            <a:ext cx="1143000" cy="464820"/>
            <a:chOff x="3665220" y="4579620"/>
            <a:chExt cx="1143000" cy="464820"/>
          </a:xfrm>
        </p:grpSpPr>
        <p:sp>
          <p:nvSpPr>
            <p:cNvPr id="80" name="BAM write task 1"/>
            <p:cNvSpPr/>
            <p:nvPr/>
          </p:nvSpPr>
          <p:spPr>
            <a:xfrm>
              <a:off x="36652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BAM write task 1 / label"/>
            <p:cNvSpPr txBox="1"/>
            <p:nvPr/>
          </p:nvSpPr>
          <p:spPr>
            <a:xfrm>
              <a:off x="3710940" y="4602480"/>
              <a:ext cx="10515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Write i−1</a:t>
              </a:r>
            </a:p>
            <a:p>
              <a:pPr algn="ctr">
                <a:lnSpc>
                  <a:spcPts val="1209"/>
                </a:lnSpc>
                <a:spcBef>
                  <a:spcPts val="0"/>
                </a:spcBef>
                <a:spcAft>
                  <a:spcPts val="0"/>
                </a:spcAft>
              </a:pPr>
              <a:r>
                <a:rPr sz="1080" b="0" i="0">
                  <a:solidFill>
                    <a:srgbClr val="172C36"/>
                  </a:solidFill>
                  <a:latin typeface="Arial"/>
                </a:rPr>
                <a:t>from B</a:t>
              </a:r>
            </a:p>
          </p:txBody>
        </p:sp>
      </p:grpSp>
      <p:grpSp>
        <p:nvGrpSpPr>
          <p:cNvPr id="85" name="BAM write task 2 [editable group]"/>
          <p:cNvGrpSpPr/>
          <p:nvPr/>
        </p:nvGrpSpPr>
        <p:grpSpPr>
          <a:xfrm>
            <a:off x="4808220" y="4579620"/>
            <a:ext cx="1120140" cy="464820"/>
            <a:chOff x="4808220" y="4579620"/>
            <a:chExt cx="1120140" cy="464820"/>
          </a:xfrm>
        </p:grpSpPr>
        <p:sp>
          <p:nvSpPr>
            <p:cNvPr id="83" name="BAM write task 2"/>
            <p:cNvSpPr/>
            <p:nvPr/>
          </p:nvSpPr>
          <p:spPr>
            <a:xfrm>
              <a:off x="48082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BAM write task 2 / label"/>
            <p:cNvSpPr txBox="1"/>
            <p:nvPr/>
          </p:nvSpPr>
          <p:spPr>
            <a:xfrm>
              <a:off x="4853940" y="4602480"/>
              <a:ext cx="10287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Prefetch</a:t>
              </a:r>
            </a:p>
            <a:p>
              <a:pPr algn="ctr">
                <a:lnSpc>
                  <a:spcPts val="1209"/>
                </a:lnSpc>
                <a:spcBef>
                  <a:spcPts val="0"/>
                </a:spcBef>
                <a:spcAft>
                  <a:spcPts val="0"/>
                </a:spcAft>
              </a:pPr>
              <a:r>
                <a:rPr sz="1080" b="0" i="0">
                  <a:solidFill>
                    <a:srgbClr val="172C36"/>
                  </a:solidFill>
                  <a:latin typeface="Arial"/>
                </a:rPr>
                <a:t>(optional)</a:t>
              </a:r>
            </a:p>
          </p:txBody>
        </p:sp>
      </p:grpSp>
      <p:grpSp>
        <p:nvGrpSpPr>
          <p:cNvPr id="88" name="BAM write task 3 [editable group]"/>
          <p:cNvGrpSpPr/>
          <p:nvPr/>
        </p:nvGrpSpPr>
        <p:grpSpPr>
          <a:xfrm>
            <a:off x="5928360" y="4579620"/>
            <a:ext cx="1242060" cy="464820"/>
            <a:chOff x="5928360" y="4579620"/>
            <a:chExt cx="1242060" cy="464820"/>
          </a:xfrm>
        </p:grpSpPr>
        <p:sp>
          <p:nvSpPr>
            <p:cNvPr id="86" name="BAM write task 3"/>
            <p:cNvSpPr/>
            <p:nvPr/>
          </p:nvSpPr>
          <p:spPr>
            <a:xfrm>
              <a:off x="5928360" y="4579620"/>
              <a:ext cx="12420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BAM write task 3 / label"/>
            <p:cNvSpPr txBox="1"/>
            <p:nvPr/>
          </p:nvSpPr>
          <p:spPr>
            <a:xfrm>
              <a:off x="5974080" y="4602480"/>
              <a:ext cx="11506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Join / validate</a:t>
              </a:r>
            </a:p>
            <a:p>
              <a:pPr algn="ctr">
                <a:lnSpc>
                  <a:spcPts val="1209"/>
                </a:lnSpc>
                <a:spcBef>
                  <a:spcPts val="0"/>
                </a:spcBef>
                <a:spcAft>
                  <a:spcPts val="0"/>
                </a:spcAft>
              </a:pPr>
              <a:r>
                <a:rPr sz="1080" b="0" i="0">
                  <a:solidFill>
                    <a:srgbClr val="172C36"/>
                  </a:solidFill>
                  <a:latin typeface="Arial"/>
                </a:rPr>
                <a:t>i</a:t>
              </a:r>
            </a:p>
          </p:txBody>
        </p:sp>
      </p:grpSp>
      <p:grpSp>
        <p:nvGrpSpPr>
          <p:cNvPr id="91" name="BAM write task 4 [editable group]"/>
          <p:cNvGrpSpPr/>
          <p:nvPr/>
        </p:nvGrpSpPr>
        <p:grpSpPr>
          <a:xfrm>
            <a:off x="7170420" y="4579620"/>
            <a:ext cx="609600" cy="464820"/>
            <a:chOff x="7170420" y="4579620"/>
            <a:chExt cx="609600" cy="464820"/>
          </a:xfrm>
        </p:grpSpPr>
        <p:sp>
          <p:nvSpPr>
            <p:cNvPr id="89" name="BAM write task 4"/>
            <p:cNvSpPr/>
            <p:nvPr/>
          </p:nvSpPr>
          <p:spPr>
            <a:xfrm>
              <a:off x="7170420" y="4579620"/>
              <a:ext cx="60960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BAM write task 4 / label"/>
            <p:cNvSpPr txBox="1"/>
            <p:nvPr/>
          </p:nvSpPr>
          <p:spPr>
            <a:xfrm>
              <a:off x="7216140" y="4602480"/>
              <a:ext cx="5181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Prep.</a:t>
              </a:r>
            </a:p>
            <a:p>
              <a:pPr algn="ctr">
                <a:lnSpc>
                  <a:spcPts val="1209"/>
                </a:lnSpc>
                <a:spcBef>
                  <a:spcPts val="0"/>
                </a:spcBef>
                <a:spcAft>
                  <a:spcPts val="0"/>
                </a:spcAft>
              </a:pPr>
              <a:r>
                <a:rPr sz="1080" b="0" i="0">
                  <a:solidFill>
                    <a:srgbClr val="172C36"/>
                  </a:solidFill>
                  <a:latin typeface="Arial"/>
                </a:rPr>
                <a:t>i+1</a:t>
              </a:r>
            </a:p>
          </p:txBody>
        </p:sp>
      </p:grpSp>
      <p:grpSp>
        <p:nvGrpSpPr>
          <p:cNvPr id="94" name="BAM write task 5 [editable group]"/>
          <p:cNvGrpSpPr/>
          <p:nvPr/>
        </p:nvGrpSpPr>
        <p:grpSpPr>
          <a:xfrm>
            <a:off x="7780020" y="4579620"/>
            <a:ext cx="1143000" cy="464820"/>
            <a:chOff x="7780020" y="4579620"/>
            <a:chExt cx="1143000" cy="464820"/>
          </a:xfrm>
        </p:grpSpPr>
        <p:sp>
          <p:nvSpPr>
            <p:cNvPr id="92" name="BAM write task 5"/>
            <p:cNvSpPr/>
            <p:nvPr/>
          </p:nvSpPr>
          <p:spPr>
            <a:xfrm>
              <a:off x="7780020" y="4579620"/>
              <a:ext cx="1143000" cy="46482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BAM write task 5 / label"/>
            <p:cNvSpPr txBox="1"/>
            <p:nvPr/>
          </p:nvSpPr>
          <p:spPr>
            <a:xfrm>
              <a:off x="7825740" y="4602480"/>
              <a:ext cx="105156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Write i</a:t>
              </a:r>
            </a:p>
            <a:p>
              <a:pPr algn="ctr">
                <a:lnSpc>
                  <a:spcPts val="1209"/>
                </a:lnSpc>
                <a:spcBef>
                  <a:spcPts val="0"/>
                </a:spcBef>
                <a:spcAft>
                  <a:spcPts val="0"/>
                </a:spcAft>
              </a:pPr>
              <a:r>
                <a:rPr sz="1080" b="0" i="0">
                  <a:solidFill>
                    <a:srgbClr val="172C36"/>
                  </a:solidFill>
                  <a:latin typeface="Arial"/>
                </a:rPr>
                <a:t>from A</a:t>
              </a:r>
            </a:p>
          </p:txBody>
        </p:sp>
      </p:grpSp>
      <p:grpSp>
        <p:nvGrpSpPr>
          <p:cNvPr id="97" name="BAM write task 6 [editable group]"/>
          <p:cNvGrpSpPr/>
          <p:nvPr/>
        </p:nvGrpSpPr>
        <p:grpSpPr>
          <a:xfrm>
            <a:off x="8923020" y="4579620"/>
            <a:ext cx="1120140" cy="464820"/>
            <a:chOff x="8923020" y="4579620"/>
            <a:chExt cx="1120140" cy="464820"/>
          </a:xfrm>
        </p:grpSpPr>
        <p:sp>
          <p:nvSpPr>
            <p:cNvPr id="95" name="BAM write task 6"/>
            <p:cNvSpPr/>
            <p:nvPr/>
          </p:nvSpPr>
          <p:spPr>
            <a:xfrm>
              <a:off x="8923020" y="4579620"/>
              <a:ext cx="1120140" cy="46482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BAM write task 6 / label"/>
            <p:cNvSpPr txBox="1"/>
            <p:nvPr/>
          </p:nvSpPr>
          <p:spPr>
            <a:xfrm>
              <a:off x="8968740" y="4602480"/>
              <a:ext cx="102870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Prefetch</a:t>
              </a:r>
            </a:p>
            <a:p>
              <a:pPr algn="ctr">
                <a:lnSpc>
                  <a:spcPts val="1209"/>
                </a:lnSpc>
                <a:spcBef>
                  <a:spcPts val="0"/>
                </a:spcBef>
                <a:spcAft>
                  <a:spcPts val="0"/>
                </a:spcAft>
              </a:pPr>
              <a:r>
                <a:rPr sz="1080" b="0" i="0">
                  <a:solidFill>
                    <a:srgbClr val="172C36"/>
                  </a:solidFill>
                  <a:latin typeface="Arial"/>
                </a:rPr>
                <a:t>(optional)</a:t>
              </a:r>
            </a:p>
          </p:txBody>
        </p:sp>
      </p:grpSp>
      <p:grpSp>
        <p:nvGrpSpPr>
          <p:cNvPr id="100" name="BAM write task 7 [editable group]"/>
          <p:cNvGrpSpPr/>
          <p:nvPr/>
        </p:nvGrpSpPr>
        <p:grpSpPr>
          <a:xfrm>
            <a:off x="10043160" y="4579620"/>
            <a:ext cx="1699260" cy="464820"/>
            <a:chOff x="10043160" y="4579620"/>
            <a:chExt cx="1699260" cy="464820"/>
          </a:xfrm>
        </p:grpSpPr>
        <p:sp>
          <p:nvSpPr>
            <p:cNvPr id="98" name="BAM write task 7"/>
            <p:cNvSpPr/>
            <p:nvPr/>
          </p:nvSpPr>
          <p:spPr>
            <a:xfrm>
              <a:off x="10043160" y="4579620"/>
              <a:ext cx="1699260" cy="46482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M write task 7 / label"/>
            <p:cNvSpPr txBox="1"/>
            <p:nvPr/>
          </p:nvSpPr>
          <p:spPr>
            <a:xfrm>
              <a:off x="10088880" y="4602480"/>
              <a:ext cx="1607820" cy="4191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Join / validate</a:t>
              </a:r>
            </a:p>
            <a:p>
              <a:pPr algn="ctr">
                <a:lnSpc>
                  <a:spcPts val="1209"/>
                </a:lnSpc>
                <a:spcBef>
                  <a:spcPts val="0"/>
                </a:spcBef>
                <a:spcAft>
                  <a:spcPts val="0"/>
                </a:spcAft>
              </a:pPr>
              <a:r>
                <a:rPr sz="1080" b="0" i="0">
                  <a:solidFill>
                    <a:srgbClr val="172C36"/>
                  </a:solidFill>
                  <a:latin typeface="Arial"/>
                </a:rPr>
                <a:t>i+1</a:t>
              </a:r>
            </a:p>
          </p:txBody>
        </p:sp>
      </p:grpSp>
      <p:grpSp>
        <p:nvGrpSpPr>
          <p:cNvPr id="103" name="BAM write CPE kernel 0 [editable group]"/>
          <p:cNvGrpSpPr/>
          <p:nvPr/>
        </p:nvGrpSpPr>
        <p:grpSpPr>
          <a:xfrm>
            <a:off x="3665220" y="5455920"/>
            <a:ext cx="2263140" cy="472440"/>
            <a:chOff x="3665220" y="5455920"/>
            <a:chExt cx="2263140" cy="472440"/>
          </a:xfrm>
        </p:grpSpPr>
        <p:sp>
          <p:nvSpPr>
            <p:cNvPr id="101" name="BAM write CPE kernel 0"/>
            <p:cNvSpPr/>
            <p:nvPr/>
          </p:nvSpPr>
          <p:spPr>
            <a:xfrm>
              <a:off x="36652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AM write CPE kernel 0 / label"/>
            <p:cNvSpPr txBox="1"/>
            <p:nvPr/>
          </p:nvSpPr>
          <p:spPr>
            <a:xfrm>
              <a:off x="3710940" y="5478780"/>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Serialize + compress</a:t>
              </a:r>
            </a:p>
            <a:p>
              <a:pPr algn="ctr">
                <a:lnSpc>
                  <a:spcPts val="1344"/>
                </a:lnSpc>
                <a:spcBef>
                  <a:spcPts val="0"/>
                </a:spcBef>
                <a:spcAft>
                  <a:spcPts val="0"/>
                </a:spcAft>
              </a:pPr>
              <a:r>
                <a:rPr sz="1200" b="1" i="0">
                  <a:solidFill>
                    <a:srgbClr val="172C36"/>
                  </a:solidFill>
                  <a:latin typeface="Arial"/>
                </a:rPr>
                <a:t>batch i / A</a:t>
              </a:r>
            </a:p>
          </p:txBody>
        </p:sp>
      </p:grpSp>
      <p:cxnSp>
        <p:nvCxnSpPr>
          <p:cNvPr id="104" name="BAM write launch 0 / segment 0"/>
          <p:cNvCxnSpPr/>
          <p:nvPr/>
        </p:nvCxnSpPr>
        <p:spPr>
          <a:xfrm>
            <a:off x="36652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BAM write launch label 0"/>
          <p:cNvSpPr txBox="1"/>
          <p:nvPr/>
        </p:nvSpPr>
        <p:spPr>
          <a:xfrm>
            <a:off x="3718560" y="516636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106" name="BAM write completion 0 / segment 0"/>
          <p:cNvCxnSpPr/>
          <p:nvPr/>
        </p:nvCxnSpPr>
        <p:spPr>
          <a:xfrm flipV="1">
            <a:off x="59283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BAM write completion label 0"/>
          <p:cNvSpPr txBox="1"/>
          <p:nvPr/>
        </p:nvSpPr>
        <p:spPr>
          <a:xfrm>
            <a:off x="5966460" y="517398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complete</a:t>
            </a:r>
          </a:p>
        </p:txBody>
      </p:sp>
      <p:grpSp>
        <p:nvGrpSpPr>
          <p:cNvPr id="110" name="BAM write CPE kernel 1 [editable group]"/>
          <p:cNvGrpSpPr/>
          <p:nvPr/>
        </p:nvGrpSpPr>
        <p:grpSpPr>
          <a:xfrm>
            <a:off x="7780020" y="5455920"/>
            <a:ext cx="2263140" cy="472440"/>
            <a:chOff x="7780020" y="5455920"/>
            <a:chExt cx="2263140" cy="472440"/>
          </a:xfrm>
        </p:grpSpPr>
        <p:sp>
          <p:nvSpPr>
            <p:cNvPr id="108" name="BAM write CPE kernel 1"/>
            <p:cNvSpPr/>
            <p:nvPr/>
          </p:nvSpPr>
          <p:spPr>
            <a:xfrm>
              <a:off x="7780020" y="5455920"/>
              <a:ext cx="2263140" cy="4724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AM write CPE kernel 1 / label"/>
            <p:cNvSpPr txBox="1"/>
            <p:nvPr/>
          </p:nvSpPr>
          <p:spPr>
            <a:xfrm>
              <a:off x="7825740" y="5478780"/>
              <a:ext cx="2171700" cy="426720"/>
            </a:xfrm>
            <a:prstGeom prst="rect">
              <a:avLst/>
            </a:prstGeom>
            <a:noFill/>
          </p:spPr>
          <p:txBody>
            <a:bodyPr wrap="none" lIns="0" rIns="0" tIns="0" bIns="0" anchor="ctr">
              <a:noAutofit/>
            </a:bodyPr>
            <a:lstStyle/>
            <a:p>
              <a:pPr algn="ctr">
                <a:lnSpc>
                  <a:spcPts val="1344"/>
                </a:lnSpc>
                <a:spcBef>
                  <a:spcPts val="0"/>
                </a:spcBef>
                <a:spcAft>
                  <a:spcPts val="0"/>
                </a:spcAft>
              </a:pPr>
              <a:r>
                <a:rPr sz="1200" b="1" i="0">
                  <a:solidFill>
                    <a:srgbClr val="172C36"/>
                  </a:solidFill>
                  <a:latin typeface="Arial"/>
                </a:rPr>
                <a:t>Serialize + compress</a:t>
              </a:r>
            </a:p>
            <a:p>
              <a:pPr algn="ctr">
                <a:lnSpc>
                  <a:spcPts val="1344"/>
                </a:lnSpc>
                <a:spcBef>
                  <a:spcPts val="0"/>
                </a:spcBef>
                <a:spcAft>
                  <a:spcPts val="0"/>
                </a:spcAft>
              </a:pPr>
              <a:r>
                <a:rPr sz="1200" b="1" i="0">
                  <a:solidFill>
                    <a:srgbClr val="172C36"/>
                  </a:solidFill>
                  <a:latin typeface="Arial"/>
                </a:rPr>
                <a:t>batch i+1 / B</a:t>
              </a:r>
            </a:p>
          </p:txBody>
        </p:sp>
      </p:grpSp>
      <p:cxnSp>
        <p:nvCxnSpPr>
          <p:cNvPr id="111" name="BAM write launch 1 / segment 0"/>
          <p:cNvCxnSpPr/>
          <p:nvPr/>
        </p:nvCxnSpPr>
        <p:spPr>
          <a:xfrm>
            <a:off x="778002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2" name="BAM write launch label 1"/>
          <p:cNvSpPr txBox="1"/>
          <p:nvPr/>
        </p:nvSpPr>
        <p:spPr>
          <a:xfrm>
            <a:off x="7833360" y="5166360"/>
            <a:ext cx="64770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launch</a:t>
            </a:r>
          </a:p>
        </p:txBody>
      </p:sp>
      <p:cxnSp>
        <p:nvCxnSpPr>
          <p:cNvPr id="113" name="BAM write completion 1 / segment 0"/>
          <p:cNvCxnSpPr/>
          <p:nvPr/>
        </p:nvCxnSpPr>
        <p:spPr>
          <a:xfrm flipV="1">
            <a:off x="10043160" y="5059680"/>
            <a:ext cx="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4" name="BAM write completion label 1"/>
          <p:cNvSpPr txBox="1"/>
          <p:nvPr/>
        </p:nvSpPr>
        <p:spPr>
          <a:xfrm>
            <a:off x="10081260" y="5173980"/>
            <a:ext cx="105918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172C36"/>
                </a:solidFill>
                <a:latin typeface="Arial"/>
              </a:rPr>
              <a:t>complete</a:t>
            </a:r>
          </a:p>
        </p:txBody>
      </p:sp>
      <p:cxnSp>
        <p:nvCxnSpPr>
          <p:cNvPr id="115" name="BAM write overlap bracket / segment 0"/>
          <p:cNvCxnSpPr/>
          <p:nvPr/>
        </p:nvCxnSpPr>
        <p:spPr>
          <a:xfrm>
            <a:off x="366522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6" name="BAM write overlap bracket / segment 1"/>
          <p:cNvCxnSpPr/>
          <p:nvPr/>
        </p:nvCxnSpPr>
        <p:spPr>
          <a:xfrm>
            <a:off x="3665220" y="6065520"/>
            <a:ext cx="22631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17" name="BAM write overlap bracket / segment 2"/>
          <p:cNvCxnSpPr/>
          <p:nvPr/>
        </p:nvCxnSpPr>
        <p:spPr>
          <a:xfrm flipV="1">
            <a:off x="5928360" y="601218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18" name="BAM write overlap bracket / label"/>
          <p:cNvSpPr txBox="1"/>
          <p:nvPr/>
        </p:nvSpPr>
        <p:spPr>
          <a:xfrm>
            <a:off x="3665220" y="6111240"/>
            <a:ext cx="22631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Output / prefetch + CPE work</a:t>
            </a:r>
          </a:p>
        </p:txBody>
      </p:sp>
      <p:sp>
        <p:nvSpPr>
          <p:cNvPr id="119" name="BAM write dependency note"/>
          <p:cNvSpPr txBox="1"/>
          <p:nvPr/>
        </p:nvSpPr>
        <p:spPr>
          <a:xfrm>
            <a:off x="6591300" y="6027420"/>
            <a:ext cx="5151120" cy="358140"/>
          </a:xfrm>
          <a:prstGeom prst="rect">
            <a:avLst/>
          </a:prstGeom>
          <a:noFill/>
        </p:spPr>
        <p:txBody>
          <a:bodyPr wrap="none" lIns="0" rIns="0" tIns="0" bIns="0" anchor="ctr">
            <a:noAutofit/>
          </a:bodyPr>
          <a:lstStyle/>
          <a:p>
            <a:pPr algn="r">
              <a:lnSpc>
                <a:spcPts val="1276"/>
              </a:lnSpc>
              <a:spcBef>
                <a:spcPts val="0"/>
              </a:spcBef>
              <a:spcAft>
                <a:spcPts val="0"/>
              </a:spcAft>
            </a:pPr>
            <a:r>
              <a:rPr sz="1140" b="0" i="0">
                <a:solidFill>
                  <a:srgbClr val="61727A"/>
                </a:solidFill>
                <a:latin typeface="Arial"/>
              </a:rPr>
              <a:t>Already packed BGZF payloads need compression only.</a:t>
            </a:r>
          </a:p>
        </p:txBody>
      </p:sp>
      <p:sp>
        <p:nvSpPr>
          <p:cNvPr id="120" name="Timeline scope"/>
          <p:cNvSpPr txBox="1"/>
          <p:nvPr/>
        </p:nvSpPr>
        <p:spPr>
          <a:xfrm>
            <a:off x="228600" y="6598920"/>
            <a:ext cx="11696700" cy="2057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61727A"/>
                </a:solidFill>
                <a:latin typeface="Arial"/>
              </a:rPr>
              <a:t>Each panel is a separate schedule. A core group executes one CPE kernel at a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Coordinate sorting: range partitioning and ordered merge"/>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Coordinate sorting: range partitioning and ordered merge</a:t>
            </a:r>
          </a:p>
        </p:txBody>
      </p:sp>
      <p:sp>
        <p:nvSpPr>
          <p:cNvPr id="3" name="Sort background"/>
          <p:cNvSpPr/>
          <p:nvPr/>
        </p:nvSpPr>
        <p:spPr>
          <a:xfrm>
            <a:off x="213360" y="419100"/>
            <a:ext cx="11765280" cy="2567940"/>
          </a:xfrm>
          <a:prstGeom prst="rect">
            <a:avLst/>
          </a:prstGeom>
          <a:solidFill>
            <a:srgbClr val="F2F7FA"/>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rt Local records"/>
          <p:cNvSpPr txBox="1"/>
          <p:nvPr/>
        </p:nvSpPr>
        <p:spPr>
          <a:xfrm>
            <a:off x="571500" y="548640"/>
            <a:ext cx="189738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Local records</a:t>
            </a:r>
          </a:p>
        </p:txBody>
      </p:sp>
      <p:sp>
        <p:nvSpPr>
          <p:cNvPr id="5" name="Sort Local ordering"/>
          <p:cNvSpPr txBox="1"/>
          <p:nvPr/>
        </p:nvSpPr>
        <p:spPr>
          <a:xfrm>
            <a:off x="3009900" y="548640"/>
            <a:ext cx="1874519"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Local ordering</a:t>
            </a:r>
          </a:p>
        </p:txBody>
      </p:sp>
      <p:sp>
        <p:nvSpPr>
          <p:cNvPr id="6" name="Sort Received segments"/>
          <p:cNvSpPr txBox="1"/>
          <p:nvPr/>
        </p:nvSpPr>
        <p:spPr>
          <a:xfrm>
            <a:off x="6522720" y="548640"/>
            <a:ext cx="203454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Received segments</a:t>
            </a:r>
          </a:p>
        </p:txBody>
      </p:sp>
      <p:sp>
        <p:nvSpPr>
          <p:cNvPr id="7" name="Sort Merged output"/>
          <p:cNvSpPr txBox="1"/>
          <p:nvPr/>
        </p:nvSpPr>
        <p:spPr>
          <a:xfrm>
            <a:off x="9532620" y="548640"/>
            <a:ext cx="204216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Merged output</a:t>
            </a:r>
          </a:p>
        </p:txBody>
      </p:sp>
      <p:grpSp>
        <p:nvGrpSpPr>
          <p:cNvPr id="10" name="Sample splitter plan [editable group]"/>
          <p:cNvGrpSpPr/>
          <p:nvPr/>
        </p:nvGrpSpPr>
        <p:grpSpPr>
          <a:xfrm>
            <a:off x="3017520" y="868680"/>
            <a:ext cx="1859280" cy="259080"/>
            <a:chOff x="3017520" y="868680"/>
            <a:chExt cx="1859280" cy="259080"/>
          </a:xfrm>
        </p:grpSpPr>
        <p:sp>
          <p:nvSpPr>
            <p:cNvPr id="8" name="Sample splitter plan"/>
            <p:cNvSpPr/>
            <p:nvPr/>
          </p:nvSpPr>
          <p:spPr>
            <a:xfrm>
              <a:off x="3017520" y="868680"/>
              <a:ext cx="1859280" cy="25908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ample splitter plan / label"/>
            <p:cNvSpPr txBox="1"/>
            <p:nvPr/>
          </p:nvSpPr>
          <p:spPr>
            <a:xfrm>
              <a:off x="3063240" y="891540"/>
              <a:ext cx="1767840" cy="21336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172C36"/>
                  </a:solidFill>
                  <a:latin typeface="Arial"/>
                </a:rPr>
                <a:t>Sampled splitters: 35, 65</a:t>
              </a:r>
            </a:p>
          </p:txBody>
        </p:sp>
      </p:grpSp>
      <p:sp>
        <p:nvSpPr>
          <p:cNvPr id="11" name="Sort rank 0"/>
          <p:cNvSpPr txBox="1"/>
          <p:nvPr/>
        </p:nvSpPr>
        <p:spPr>
          <a:xfrm>
            <a:off x="320040" y="130302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r0</a:t>
            </a:r>
          </a:p>
        </p:txBody>
      </p:sp>
      <p:grpSp>
        <p:nvGrpSpPr>
          <p:cNvPr id="14" name="Sort raw 0 / 0 [editable group]"/>
          <p:cNvGrpSpPr/>
          <p:nvPr/>
        </p:nvGrpSpPr>
        <p:grpSpPr>
          <a:xfrm>
            <a:off x="723900" y="1303020"/>
            <a:ext cx="480060" cy="289560"/>
            <a:chOff x="723900" y="1303020"/>
            <a:chExt cx="480060" cy="289560"/>
          </a:xfrm>
        </p:grpSpPr>
        <p:sp>
          <p:nvSpPr>
            <p:cNvPr id="12" name="Sort raw 0 / 0"/>
            <p:cNvSpPr/>
            <p:nvPr/>
          </p:nvSpPr>
          <p:spPr>
            <a:xfrm>
              <a:off x="723900" y="130302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ort raw 0 / 0 / label"/>
            <p:cNvSpPr txBox="1"/>
            <p:nvPr/>
          </p:nvSpPr>
          <p:spPr>
            <a:xfrm>
              <a:off x="76962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70</a:t>
              </a:r>
            </a:p>
          </p:txBody>
        </p:sp>
      </p:grpSp>
      <p:grpSp>
        <p:nvGrpSpPr>
          <p:cNvPr id="17" name="Sort raw 0 / 1 [editable group]"/>
          <p:cNvGrpSpPr/>
          <p:nvPr/>
        </p:nvGrpSpPr>
        <p:grpSpPr>
          <a:xfrm>
            <a:off x="1226820" y="1303020"/>
            <a:ext cx="480060" cy="289560"/>
            <a:chOff x="1226820" y="1303020"/>
            <a:chExt cx="480060" cy="289560"/>
          </a:xfrm>
        </p:grpSpPr>
        <p:sp>
          <p:nvSpPr>
            <p:cNvPr id="15" name="Sort raw 0 / 1"/>
            <p:cNvSpPr/>
            <p:nvPr/>
          </p:nvSpPr>
          <p:spPr>
            <a:xfrm>
              <a:off x="1226820" y="130302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ort raw 0 / 1 / label"/>
            <p:cNvSpPr txBox="1"/>
            <p:nvPr/>
          </p:nvSpPr>
          <p:spPr>
            <a:xfrm>
              <a:off x="127254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10</a:t>
              </a:r>
            </a:p>
          </p:txBody>
        </p:sp>
      </p:grpSp>
      <p:grpSp>
        <p:nvGrpSpPr>
          <p:cNvPr id="20" name="Sort raw 0 / 2 [editable group]"/>
          <p:cNvGrpSpPr/>
          <p:nvPr/>
        </p:nvGrpSpPr>
        <p:grpSpPr>
          <a:xfrm>
            <a:off x="1729740" y="1303020"/>
            <a:ext cx="480060" cy="289560"/>
            <a:chOff x="1729740" y="1303020"/>
            <a:chExt cx="480060" cy="289560"/>
          </a:xfrm>
        </p:grpSpPr>
        <p:sp>
          <p:nvSpPr>
            <p:cNvPr id="18" name="Sort raw 0 / 2"/>
            <p:cNvSpPr/>
            <p:nvPr/>
          </p:nvSpPr>
          <p:spPr>
            <a:xfrm>
              <a:off x="1729740" y="130302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ort raw 0 / 2 / label"/>
            <p:cNvSpPr txBox="1"/>
            <p:nvPr/>
          </p:nvSpPr>
          <p:spPr>
            <a:xfrm>
              <a:off x="177546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60</a:t>
              </a:r>
            </a:p>
          </p:txBody>
        </p:sp>
      </p:grpSp>
      <p:cxnSp>
        <p:nvCxnSpPr>
          <p:cNvPr id="21" name="Sort local arrow 0 / segment 0"/>
          <p:cNvCxnSpPr/>
          <p:nvPr/>
        </p:nvCxnSpPr>
        <p:spPr>
          <a:xfrm>
            <a:off x="2286000" y="144780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4" name="Sort ordered 0 / 0 [editable group]"/>
          <p:cNvGrpSpPr/>
          <p:nvPr/>
        </p:nvGrpSpPr>
        <p:grpSpPr>
          <a:xfrm>
            <a:off x="3116580" y="1303020"/>
            <a:ext cx="480060" cy="289560"/>
            <a:chOff x="3116580" y="1303020"/>
            <a:chExt cx="480060" cy="289560"/>
          </a:xfrm>
        </p:grpSpPr>
        <p:sp>
          <p:nvSpPr>
            <p:cNvPr id="22" name="Sort ordered 0 / 0"/>
            <p:cNvSpPr/>
            <p:nvPr/>
          </p:nvSpPr>
          <p:spPr>
            <a:xfrm>
              <a:off x="3116580" y="130302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ort ordered 0 / 0 / label"/>
            <p:cNvSpPr txBox="1"/>
            <p:nvPr/>
          </p:nvSpPr>
          <p:spPr>
            <a:xfrm>
              <a:off x="316230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10</a:t>
              </a:r>
            </a:p>
          </p:txBody>
        </p:sp>
      </p:grpSp>
      <p:grpSp>
        <p:nvGrpSpPr>
          <p:cNvPr id="27" name="Sort ordered 0 / 1 [editable group]"/>
          <p:cNvGrpSpPr/>
          <p:nvPr/>
        </p:nvGrpSpPr>
        <p:grpSpPr>
          <a:xfrm>
            <a:off x="3619500" y="1303020"/>
            <a:ext cx="480060" cy="289560"/>
            <a:chOff x="3619500" y="1303020"/>
            <a:chExt cx="480060" cy="289560"/>
          </a:xfrm>
        </p:grpSpPr>
        <p:sp>
          <p:nvSpPr>
            <p:cNvPr id="25" name="Sort ordered 0 / 1"/>
            <p:cNvSpPr/>
            <p:nvPr/>
          </p:nvSpPr>
          <p:spPr>
            <a:xfrm>
              <a:off x="3619500" y="130302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ort ordered 0 / 1 / label"/>
            <p:cNvSpPr txBox="1"/>
            <p:nvPr/>
          </p:nvSpPr>
          <p:spPr>
            <a:xfrm>
              <a:off x="366522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60</a:t>
              </a:r>
            </a:p>
          </p:txBody>
        </p:sp>
      </p:grpSp>
      <p:grpSp>
        <p:nvGrpSpPr>
          <p:cNvPr id="30" name="Sort ordered 0 / 2 [editable group]"/>
          <p:cNvGrpSpPr/>
          <p:nvPr/>
        </p:nvGrpSpPr>
        <p:grpSpPr>
          <a:xfrm>
            <a:off x="4122420" y="1303020"/>
            <a:ext cx="480060" cy="289560"/>
            <a:chOff x="4122420" y="1303020"/>
            <a:chExt cx="480060" cy="289560"/>
          </a:xfrm>
        </p:grpSpPr>
        <p:sp>
          <p:nvSpPr>
            <p:cNvPr id="28" name="Sort ordered 0 / 2"/>
            <p:cNvSpPr/>
            <p:nvPr/>
          </p:nvSpPr>
          <p:spPr>
            <a:xfrm>
              <a:off x="4122420" y="130302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ort ordered 0 / 2 / label"/>
            <p:cNvSpPr txBox="1"/>
            <p:nvPr/>
          </p:nvSpPr>
          <p:spPr>
            <a:xfrm>
              <a:off x="4168140" y="13258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70</a:t>
              </a:r>
            </a:p>
          </p:txBody>
        </p:sp>
      </p:grpSp>
      <p:cxnSp>
        <p:nvCxnSpPr>
          <p:cNvPr id="31" name="Sort into exchange 0 / segment 0"/>
          <p:cNvCxnSpPr/>
          <p:nvPr/>
        </p:nvCxnSpPr>
        <p:spPr>
          <a:xfrm>
            <a:off x="4693920" y="1447800"/>
            <a:ext cx="571500" cy="304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Sort out exchange 0 / segment 0"/>
          <p:cNvCxnSpPr/>
          <p:nvPr/>
        </p:nvCxnSpPr>
        <p:spPr>
          <a:xfrm flipV="1">
            <a:off x="6096000" y="1447800"/>
            <a:ext cx="403860" cy="304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Sort destination 0"/>
          <p:cNvSpPr txBox="1"/>
          <p:nvPr/>
        </p:nvSpPr>
        <p:spPr>
          <a:xfrm>
            <a:off x="6233160" y="1234440"/>
            <a:ext cx="266700" cy="14478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r0</a:t>
            </a:r>
          </a:p>
        </p:txBody>
      </p:sp>
      <p:grpSp>
        <p:nvGrpSpPr>
          <p:cNvPr id="36" name="Sort segments 0 / 0 [editable group]"/>
          <p:cNvGrpSpPr/>
          <p:nvPr/>
        </p:nvGrpSpPr>
        <p:grpSpPr>
          <a:xfrm>
            <a:off x="6629400" y="1303020"/>
            <a:ext cx="502920" cy="289560"/>
            <a:chOff x="6629400" y="1303020"/>
            <a:chExt cx="502920" cy="289560"/>
          </a:xfrm>
        </p:grpSpPr>
        <p:sp>
          <p:nvSpPr>
            <p:cNvPr id="34" name="Sort segments 0 / 0"/>
            <p:cNvSpPr/>
            <p:nvPr/>
          </p:nvSpPr>
          <p:spPr>
            <a:xfrm>
              <a:off x="6629400" y="130302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ort segments 0 / 0 / label"/>
            <p:cNvSpPr txBox="1"/>
            <p:nvPr/>
          </p:nvSpPr>
          <p:spPr>
            <a:xfrm>
              <a:off x="6675120" y="13258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10</a:t>
              </a:r>
            </a:p>
          </p:txBody>
        </p:sp>
      </p:grpSp>
      <p:grpSp>
        <p:nvGrpSpPr>
          <p:cNvPr id="39" name="Sort segments 0 / 1 [editable group]"/>
          <p:cNvGrpSpPr/>
          <p:nvPr/>
        </p:nvGrpSpPr>
        <p:grpSpPr>
          <a:xfrm>
            <a:off x="7223760" y="1303020"/>
            <a:ext cx="502920" cy="289560"/>
            <a:chOff x="7223760" y="1303020"/>
            <a:chExt cx="502920" cy="289560"/>
          </a:xfrm>
        </p:grpSpPr>
        <p:sp>
          <p:nvSpPr>
            <p:cNvPr id="37" name="Sort segments 0 / 1"/>
            <p:cNvSpPr/>
            <p:nvPr/>
          </p:nvSpPr>
          <p:spPr>
            <a:xfrm>
              <a:off x="7223760" y="130302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ort segments 0 / 1 / label"/>
            <p:cNvSpPr txBox="1"/>
            <p:nvPr/>
          </p:nvSpPr>
          <p:spPr>
            <a:xfrm>
              <a:off x="7269480" y="13258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30</a:t>
              </a:r>
            </a:p>
          </p:txBody>
        </p:sp>
      </p:grpSp>
      <p:grpSp>
        <p:nvGrpSpPr>
          <p:cNvPr id="42" name="Sort segments 0 / 2 [editable group]"/>
          <p:cNvGrpSpPr/>
          <p:nvPr/>
        </p:nvGrpSpPr>
        <p:grpSpPr>
          <a:xfrm>
            <a:off x="7818120" y="1303020"/>
            <a:ext cx="502920" cy="289560"/>
            <a:chOff x="7818120" y="1303020"/>
            <a:chExt cx="502920" cy="289560"/>
          </a:xfrm>
        </p:grpSpPr>
        <p:sp>
          <p:nvSpPr>
            <p:cNvPr id="40" name="Sort segments 0 / 2"/>
            <p:cNvSpPr/>
            <p:nvPr/>
          </p:nvSpPr>
          <p:spPr>
            <a:xfrm>
              <a:off x="7818120" y="130302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ort segments 0 / 2 / label"/>
            <p:cNvSpPr txBox="1"/>
            <p:nvPr/>
          </p:nvSpPr>
          <p:spPr>
            <a:xfrm>
              <a:off x="7863840" y="13258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20</a:t>
              </a:r>
            </a:p>
          </p:txBody>
        </p:sp>
      </p:grpSp>
      <p:cxnSp>
        <p:nvCxnSpPr>
          <p:cNvPr id="43" name="Sort merge arrow 0 / segment 0"/>
          <p:cNvCxnSpPr/>
          <p:nvPr/>
        </p:nvCxnSpPr>
        <p:spPr>
          <a:xfrm>
            <a:off x="8503920" y="144780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46" name="Sort merged 0 / 0 [editable group]"/>
          <p:cNvGrpSpPr/>
          <p:nvPr/>
        </p:nvGrpSpPr>
        <p:grpSpPr>
          <a:xfrm>
            <a:off x="9601200" y="1303020"/>
            <a:ext cx="579120" cy="289560"/>
            <a:chOff x="9601200" y="1303020"/>
            <a:chExt cx="579120" cy="289560"/>
          </a:xfrm>
        </p:grpSpPr>
        <p:sp>
          <p:nvSpPr>
            <p:cNvPr id="44" name="Sort merged 0 / 0"/>
            <p:cNvSpPr/>
            <p:nvPr/>
          </p:nvSpPr>
          <p:spPr>
            <a:xfrm>
              <a:off x="9601200" y="130302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ort merged 0 / 0 / label"/>
            <p:cNvSpPr txBox="1"/>
            <p:nvPr/>
          </p:nvSpPr>
          <p:spPr>
            <a:xfrm>
              <a:off x="9646920" y="13258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10</a:t>
              </a:r>
            </a:p>
          </p:txBody>
        </p:sp>
      </p:grpSp>
      <p:grpSp>
        <p:nvGrpSpPr>
          <p:cNvPr id="49" name="Sort merged 0 / 1 [editable group]"/>
          <p:cNvGrpSpPr/>
          <p:nvPr/>
        </p:nvGrpSpPr>
        <p:grpSpPr>
          <a:xfrm>
            <a:off x="10180320" y="1303020"/>
            <a:ext cx="579120" cy="289560"/>
            <a:chOff x="10180320" y="1303020"/>
            <a:chExt cx="579120" cy="289560"/>
          </a:xfrm>
        </p:grpSpPr>
        <p:sp>
          <p:nvSpPr>
            <p:cNvPr id="47" name="Sort merged 0 / 1"/>
            <p:cNvSpPr/>
            <p:nvPr/>
          </p:nvSpPr>
          <p:spPr>
            <a:xfrm>
              <a:off x="10180320" y="130302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ort merged 0 / 1 / label"/>
            <p:cNvSpPr txBox="1"/>
            <p:nvPr/>
          </p:nvSpPr>
          <p:spPr>
            <a:xfrm>
              <a:off x="10226040" y="13258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20</a:t>
              </a:r>
            </a:p>
          </p:txBody>
        </p:sp>
      </p:grpSp>
      <p:grpSp>
        <p:nvGrpSpPr>
          <p:cNvPr id="52" name="Sort merged 0 / 2 [editable group]"/>
          <p:cNvGrpSpPr/>
          <p:nvPr/>
        </p:nvGrpSpPr>
        <p:grpSpPr>
          <a:xfrm>
            <a:off x="10759440" y="1303020"/>
            <a:ext cx="579120" cy="289560"/>
            <a:chOff x="10759440" y="1303020"/>
            <a:chExt cx="579120" cy="289560"/>
          </a:xfrm>
        </p:grpSpPr>
        <p:sp>
          <p:nvSpPr>
            <p:cNvPr id="50" name="Sort merged 0 / 2"/>
            <p:cNvSpPr/>
            <p:nvPr/>
          </p:nvSpPr>
          <p:spPr>
            <a:xfrm>
              <a:off x="10759440" y="130302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ort merged 0 / 2 / label"/>
            <p:cNvSpPr txBox="1"/>
            <p:nvPr/>
          </p:nvSpPr>
          <p:spPr>
            <a:xfrm>
              <a:off x="10805160" y="13258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30</a:t>
              </a:r>
            </a:p>
          </p:txBody>
        </p:sp>
      </p:grpSp>
      <p:sp>
        <p:nvSpPr>
          <p:cNvPr id="53" name="Sort rank 1"/>
          <p:cNvSpPr txBox="1"/>
          <p:nvPr/>
        </p:nvSpPr>
        <p:spPr>
          <a:xfrm>
            <a:off x="320040" y="175260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r1</a:t>
            </a:r>
          </a:p>
        </p:txBody>
      </p:sp>
      <p:grpSp>
        <p:nvGrpSpPr>
          <p:cNvPr id="56" name="Sort raw 1 / 0 [editable group]"/>
          <p:cNvGrpSpPr/>
          <p:nvPr/>
        </p:nvGrpSpPr>
        <p:grpSpPr>
          <a:xfrm>
            <a:off x="723900" y="1752600"/>
            <a:ext cx="480060" cy="289560"/>
            <a:chOff x="723900" y="1752600"/>
            <a:chExt cx="480060" cy="289560"/>
          </a:xfrm>
        </p:grpSpPr>
        <p:sp>
          <p:nvSpPr>
            <p:cNvPr id="54" name="Sort raw 1 / 0"/>
            <p:cNvSpPr/>
            <p:nvPr/>
          </p:nvSpPr>
          <p:spPr>
            <a:xfrm>
              <a:off x="723900" y="175260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ort raw 1 / 0 / label"/>
            <p:cNvSpPr txBox="1"/>
            <p:nvPr/>
          </p:nvSpPr>
          <p:spPr>
            <a:xfrm>
              <a:off x="76962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30</a:t>
              </a:r>
            </a:p>
          </p:txBody>
        </p:sp>
      </p:grpSp>
      <p:grpSp>
        <p:nvGrpSpPr>
          <p:cNvPr id="59" name="Sort raw 1 / 1 [editable group]"/>
          <p:cNvGrpSpPr/>
          <p:nvPr/>
        </p:nvGrpSpPr>
        <p:grpSpPr>
          <a:xfrm>
            <a:off x="1226820" y="1752600"/>
            <a:ext cx="480060" cy="289560"/>
            <a:chOff x="1226820" y="1752600"/>
            <a:chExt cx="480060" cy="289560"/>
          </a:xfrm>
        </p:grpSpPr>
        <p:sp>
          <p:nvSpPr>
            <p:cNvPr id="57" name="Sort raw 1 / 1"/>
            <p:cNvSpPr/>
            <p:nvPr/>
          </p:nvSpPr>
          <p:spPr>
            <a:xfrm>
              <a:off x="1226820" y="175260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ort raw 1 / 1 / label"/>
            <p:cNvSpPr txBox="1"/>
            <p:nvPr/>
          </p:nvSpPr>
          <p:spPr>
            <a:xfrm>
              <a:off x="127254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90</a:t>
              </a:r>
            </a:p>
          </p:txBody>
        </p:sp>
      </p:grpSp>
      <p:grpSp>
        <p:nvGrpSpPr>
          <p:cNvPr id="62" name="Sort raw 1 / 2 [editable group]"/>
          <p:cNvGrpSpPr/>
          <p:nvPr/>
        </p:nvGrpSpPr>
        <p:grpSpPr>
          <a:xfrm>
            <a:off x="1729740" y="1752600"/>
            <a:ext cx="480060" cy="289560"/>
            <a:chOff x="1729740" y="1752600"/>
            <a:chExt cx="480060" cy="289560"/>
          </a:xfrm>
        </p:grpSpPr>
        <p:sp>
          <p:nvSpPr>
            <p:cNvPr id="60" name="Sort raw 1 / 2"/>
            <p:cNvSpPr/>
            <p:nvPr/>
          </p:nvSpPr>
          <p:spPr>
            <a:xfrm>
              <a:off x="1729740" y="175260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ort raw 1 / 2 / label"/>
            <p:cNvSpPr txBox="1"/>
            <p:nvPr/>
          </p:nvSpPr>
          <p:spPr>
            <a:xfrm>
              <a:off x="177546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40</a:t>
              </a:r>
            </a:p>
          </p:txBody>
        </p:sp>
      </p:grpSp>
      <p:cxnSp>
        <p:nvCxnSpPr>
          <p:cNvPr id="63" name="Sort local arrow 1 / segment 0"/>
          <p:cNvCxnSpPr/>
          <p:nvPr/>
        </p:nvCxnSpPr>
        <p:spPr>
          <a:xfrm>
            <a:off x="2286000" y="189738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66" name="Sort ordered 1 / 0 [editable group]"/>
          <p:cNvGrpSpPr/>
          <p:nvPr/>
        </p:nvGrpSpPr>
        <p:grpSpPr>
          <a:xfrm>
            <a:off x="3116580" y="1752600"/>
            <a:ext cx="480060" cy="289560"/>
            <a:chOff x="3116580" y="1752600"/>
            <a:chExt cx="480060" cy="289560"/>
          </a:xfrm>
        </p:grpSpPr>
        <p:sp>
          <p:nvSpPr>
            <p:cNvPr id="64" name="Sort ordered 1 / 0"/>
            <p:cNvSpPr/>
            <p:nvPr/>
          </p:nvSpPr>
          <p:spPr>
            <a:xfrm>
              <a:off x="3116580" y="175260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ort ordered 1 / 0 / label"/>
            <p:cNvSpPr txBox="1"/>
            <p:nvPr/>
          </p:nvSpPr>
          <p:spPr>
            <a:xfrm>
              <a:off x="316230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30</a:t>
              </a:r>
            </a:p>
          </p:txBody>
        </p:sp>
      </p:grpSp>
      <p:grpSp>
        <p:nvGrpSpPr>
          <p:cNvPr id="69" name="Sort ordered 1 / 1 [editable group]"/>
          <p:cNvGrpSpPr/>
          <p:nvPr/>
        </p:nvGrpSpPr>
        <p:grpSpPr>
          <a:xfrm>
            <a:off x="3619500" y="1752600"/>
            <a:ext cx="480060" cy="289560"/>
            <a:chOff x="3619500" y="1752600"/>
            <a:chExt cx="480060" cy="289560"/>
          </a:xfrm>
        </p:grpSpPr>
        <p:sp>
          <p:nvSpPr>
            <p:cNvPr id="67" name="Sort ordered 1 / 1"/>
            <p:cNvSpPr/>
            <p:nvPr/>
          </p:nvSpPr>
          <p:spPr>
            <a:xfrm>
              <a:off x="3619500" y="175260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Sort ordered 1 / 1 / label"/>
            <p:cNvSpPr txBox="1"/>
            <p:nvPr/>
          </p:nvSpPr>
          <p:spPr>
            <a:xfrm>
              <a:off x="366522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40</a:t>
              </a:r>
            </a:p>
          </p:txBody>
        </p:sp>
      </p:grpSp>
      <p:grpSp>
        <p:nvGrpSpPr>
          <p:cNvPr id="72" name="Sort ordered 1 / 2 [editable group]"/>
          <p:cNvGrpSpPr/>
          <p:nvPr/>
        </p:nvGrpSpPr>
        <p:grpSpPr>
          <a:xfrm>
            <a:off x="4122420" y="1752600"/>
            <a:ext cx="480060" cy="289560"/>
            <a:chOff x="4122420" y="1752600"/>
            <a:chExt cx="480060" cy="289560"/>
          </a:xfrm>
        </p:grpSpPr>
        <p:sp>
          <p:nvSpPr>
            <p:cNvPr id="70" name="Sort ordered 1 / 2"/>
            <p:cNvSpPr/>
            <p:nvPr/>
          </p:nvSpPr>
          <p:spPr>
            <a:xfrm>
              <a:off x="4122420" y="175260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Sort ordered 1 / 2 / label"/>
            <p:cNvSpPr txBox="1"/>
            <p:nvPr/>
          </p:nvSpPr>
          <p:spPr>
            <a:xfrm>
              <a:off x="4168140" y="17754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90</a:t>
              </a:r>
            </a:p>
          </p:txBody>
        </p:sp>
      </p:grpSp>
      <p:cxnSp>
        <p:nvCxnSpPr>
          <p:cNvPr id="73" name="Sort into exchange 1 / segment 0"/>
          <p:cNvCxnSpPr/>
          <p:nvPr/>
        </p:nvCxnSpPr>
        <p:spPr>
          <a:xfrm flipV="1">
            <a:off x="4693920" y="1722120"/>
            <a:ext cx="571500" cy="1752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4" name="Sort out exchange 1 / segment 0"/>
          <p:cNvCxnSpPr/>
          <p:nvPr/>
        </p:nvCxnSpPr>
        <p:spPr>
          <a:xfrm>
            <a:off x="6096000" y="1722120"/>
            <a:ext cx="403860" cy="17526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5" name="Sort destination 1"/>
          <p:cNvSpPr txBox="1"/>
          <p:nvPr/>
        </p:nvSpPr>
        <p:spPr>
          <a:xfrm>
            <a:off x="6233160" y="1684020"/>
            <a:ext cx="266700" cy="14478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r1</a:t>
            </a:r>
          </a:p>
        </p:txBody>
      </p:sp>
      <p:grpSp>
        <p:nvGrpSpPr>
          <p:cNvPr id="78" name="Sort segments 1 / 0 [editable group]"/>
          <p:cNvGrpSpPr/>
          <p:nvPr/>
        </p:nvGrpSpPr>
        <p:grpSpPr>
          <a:xfrm>
            <a:off x="6629400" y="1752600"/>
            <a:ext cx="502920" cy="289560"/>
            <a:chOff x="6629400" y="1752600"/>
            <a:chExt cx="502920" cy="289560"/>
          </a:xfrm>
        </p:grpSpPr>
        <p:sp>
          <p:nvSpPr>
            <p:cNvPr id="76" name="Sort segments 1 / 0"/>
            <p:cNvSpPr/>
            <p:nvPr/>
          </p:nvSpPr>
          <p:spPr>
            <a:xfrm>
              <a:off x="6629400" y="175260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Sort segments 1 / 0 / label"/>
            <p:cNvSpPr txBox="1"/>
            <p:nvPr/>
          </p:nvSpPr>
          <p:spPr>
            <a:xfrm>
              <a:off x="6675120" y="17754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60</a:t>
              </a:r>
            </a:p>
          </p:txBody>
        </p:sp>
      </p:grpSp>
      <p:grpSp>
        <p:nvGrpSpPr>
          <p:cNvPr id="81" name="Sort segments 1 / 1 [editable group]"/>
          <p:cNvGrpSpPr/>
          <p:nvPr/>
        </p:nvGrpSpPr>
        <p:grpSpPr>
          <a:xfrm>
            <a:off x="7223760" y="1752600"/>
            <a:ext cx="502920" cy="289560"/>
            <a:chOff x="7223760" y="1752600"/>
            <a:chExt cx="502920" cy="289560"/>
          </a:xfrm>
        </p:grpSpPr>
        <p:sp>
          <p:nvSpPr>
            <p:cNvPr id="79" name="Sort segments 1 / 1"/>
            <p:cNvSpPr/>
            <p:nvPr/>
          </p:nvSpPr>
          <p:spPr>
            <a:xfrm>
              <a:off x="7223760" y="175260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Sort segments 1 / 1 / label"/>
            <p:cNvSpPr txBox="1"/>
            <p:nvPr/>
          </p:nvSpPr>
          <p:spPr>
            <a:xfrm>
              <a:off x="7269480" y="17754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40</a:t>
              </a:r>
            </a:p>
          </p:txBody>
        </p:sp>
      </p:grpSp>
      <p:grpSp>
        <p:nvGrpSpPr>
          <p:cNvPr id="84" name="Sort segments 1 / 2 [editable group]"/>
          <p:cNvGrpSpPr/>
          <p:nvPr/>
        </p:nvGrpSpPr>
        <p:grpSpPr>
          <a:xfrm>
            <a:off x="7818120" y="1752600"/>
            <a:ext cx="502920" cy="289560"/>
            <a:chOff x="7818120" y="1752600"/>
            <a:chExt cx="502920" cy="289560"/>
          </a:xfrm>
        </p:grpSpPr>
        <p:sp>
          <p:nvSpPr>
            <p:cNvPr id="82" name="Sort segments 1 / 2"/>
            <p:cNvSpPr/>
            <p:nvPr/>
          </p:nvSpPr>
          <p:spPr>
            <a:xfrm>
              <a:off x="7818120" y="175260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Sort segments 1 / 2 / label"/>
            <p:cNvSpPr txBox="1"/>
            <p:nvPr/>
          </p:nvSpPr>
          <p:spPr>
            <a:xfrm>
              <a:off x="7863840" y="17754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50</a:t>
              </a:r>
            </a:p>
          </p:txBody>
        </p:sp>
      </p:grpSp>
      <p:cxnSp>
        <p:nvCxnSpPr>
          <p:cNvPr id="85" name="Sort merge arrow 1 / segment 0"/>
          <p:cNvCxnSpPr/>
          <p:nvPr/>
        </p:nvCxnSpPr>
        <p:spPr>
          <a:xfrm>
            <a:off x="8503920" y="189738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88" name="Sort merged 1 / 0 [editable group]"/>
          <p:cNvGrpSpPr/>
          <p:nvPr/>
        </p:nvGrpSpPr>
        <p:grpSpPr>
          <a:xfrm>
            <a:off x="9601200" y="1752600"/>
            <a:ext cx="579120" cy="289560"/>
            <a:chOff x="9601200" y="1752600"/>
            <a:chExt cx="579120" cy="289560"/>
          </a:xfrm>
        </p:grpSpPr>
        <p:sp>
          <p:nvSpPr>
            <p:cNvPr id="86" name="Sort merged 1 / 0"/>
            <p:cNvSpPr/>
            <p:nvPr/>
          </p:nvSpPr>
          <p:spPr>
            <a:xfrm>
              <a:off x="9601200" y="175260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Sort merged 1 / 0 / label"/>
            <p:cNvSpPr txBox="1"/>
            <p:nvPr/>
          </p:nvSpPr>
          <p:spPr>
            <a:xfrm>
              <a:off x="9646920" y="17754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40</a:t>
              </a:r>
            </a:p>
          </p:txBody>
        </p:sp>
      </p:grpSp>
      <p:grpSp>
        <p:nvGrpSpPr>
          <p:cNvPr id="91" name="Sort merged 1 / 1 [editable group]"/>
          <p:cNvGrpSpPr/>
          <p:nvPr/>
        </p:nvGrpSpPr>
        <p:grpSpPr>
          <a:xfrm>
            <a:off x="10180320" y="1752600"/>
            <a:ext cx="579120" cy="289560"/>
            <a:chOff x="10180320" y="1752600"/>
            <a:chExt cx="579120" cy="289560"/>
          </a:xfrm>
        </p:grpSpPr>
        <p:sp>
          <p:nvSpPr>
            <p:cNvPr id="89" name="Sort merged 1 / 1"/>
            <p:cNvSpPr/>
            <p:nvPr/>
          </p:nvSpPr>
          <p:spPr>
            <a:xfrm>
              <a:off x="10180320" y="175260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ort merged 1 / 1 / label"/>
            <p:cNvSpPr txBox="1"/>
            <p:nvPr/>
          </p:nvSpPr>
          <p:spPr>
            <a:xfrm>
              <a:off x="10226040" y="17754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50</a:t>
              </a:r>
            </a:p>
          </p:txBody>
        </p:sp>
      </p:grpSp>
      <p:grpSp>
        <p:nvGrpSpPr>
          <p:cNvPr id="94" name="Sort merged 1 / 2 [editable group]"/>
          <p:cNvGrpSpPr/>
          <p:nvPr/>
        </p:nvGrpSpPr>
        <p:grpSpPr>
          <a:xfrm>
            <a:off x="10759440" y="1752600"/>
            <a:ext cx="579120" cy="289560"/>
            <a:chOff x="10759440" y="1752600"/>
            <a:chExt cx="579120" cy="289560"/>
          </a:xfrm>
        </p:grpSpPr>
        <p:sp>
          <p:nvSpPr>
            <p:cNvPr id="92" name="Sort merged 1 / 2"/>
            <p:cNvSpPr/>
            <p:nvPr/>
          </p:nvSpPr>
          <p:spPr>
            <a:xfrm>
              <a:off x="10759440" y="175260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Sort merged 1 / 2 / label"/>
            <p:cNvSpPr txBox="1"/>
            <p:nvPr/>
          </p:nvSpPr>
          <p:spPr>
            <a:xfrm>
              <a:off x="10805160" y="17754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60</a:t>
              </a:r>
            </a:p>
          </p:txBody>
        </p:sp>
      </p:grpSp>
      <p:sp>
        <p:nvSpPr>
          <p:cNvPr id="95" name="Sort rank 2"/>
          <p:cNvSpPr txBox="1"/>
          <p:nvPr/>
        </p:nvSpPr>
        <p:spPr>
          <a:xfrm>
            <a:off x="320040" y="220218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r2</a:t>
            </a:r>
          </a:p>
        </p:txBody>
      </p:sp>
      <p:grpSp>
        <p:nvGrpSpPr>
          <p:cNvPr id="98" name="Sort raw 2 / 0 [editable group]"/>
          <p:cNvGrpSpPr/>
          <p:nvPr/>
        </p:nvGrpSpPr>
        <p:grpSpPr>
          <a:xfrm>
            <a:off x="723900" y="2202180"/>
            <a:ext cx="480060" cy="289560"/>
            <a:chOff x="723900" y="2202180"/>
            <a:chExt cx="480060" cy="289560"/>
          </a:xfrm>
        </p:grpSpPr>
        <p:sp>
          <p:nvSpPr>
            <p:cNvPr id="96" name="Sort raw 2 / 0"/>
            <p:cNvSpPr/>
            <p:nvPr/>
          </p:nvSpPr>
          <p:spPr>
            <a:xfrm>
              <a:off x="723900" y="220218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Sort raw 2 / 0 / label"/>
            <p:cNvSpPr txBox="1"/>
            <p:nvPr/>
          </p:nvSpPr>
          <p:spPr>
            <a:xfrm>
              <a:off x="76962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50</a:t>
              </a:r>
            </a:p>
          </p:txBody>
        </p:sp>
      </p:grpSp>
      <p:grpSp>
        <p:nvGrpSpPr>
          <p:cNvPr id="101" name="Sort raw 2 / 1 [editable group]"/>
          <p:cNvGrpSpPr/>
          <p:nvPr/>
        </p:nvGrpSpPr>
        <p:grpSpPr>
          <a:xfrm>
            <a:off x="1226820" y="2202180"/>
            <a:ext cx="480060" cy="289560"/>
            <a:chOff x="1226820" y="2202180"/>
            <a:chExt cx="480060" cy="289560"/>
          </a:xfrm>
        </p:grpSpPr>
        <p:sp>
          <p:nvSpPr>
            <p:cNvPr id="99" name="Sort raw 2 / 1"/>
            <p:cNvSpPr/>
            <p:nvPr/>
          </p:nvSpPr>
          <p:spPr>
            <a:xfrm>
              <a:off x="1226820" y="220218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Sort raw 2 / 1 / label"/>
            <p:cNvSpPr txBox="1"/>
            <p:nvPr/>
          </p:nvSpPr>
          <p:spPr>
            <a:xfrm>
              <a:off x="127254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20</a:t>
              </a:r>
            </a:p>
          </p:txBody>
        </p:sp>
      </p:grpSp>
      <p:grpSp>
        <p:nvGrpSpPr>
          <p:cNvPr id="104" name="Sort raw 2 / 2 [editable group]"/>
          <p:cNvGrpSpPr/>
          <p:nvPr/>
        </p:nvGrpSpPr>
        <p:grpSpPr>
          <a:xfrm>
            <a:off x="1729740" y="2202180"/>
            <a:ext cx="480060" cy="289560"/>
            <a:chOff x="1729740" y="2202180"/>
            <a:chExt cx="480060" cy="289560"/>
          </a:xfrm>
        </p:grpSpPr>
        <p:sp>
          <p:nvSpPr>
            <p:cNvPr id="102" name="Sort raw 2 / 2"/>
            <p:cNvSpPr/>
            <p:nvPr/>
          </p:nvSpPr>
          <p:spPr>
            <a:xfrm>
              <a:off x="1729740" y="220218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Sort raw 2 / 2 / label"/>
            <p:cNvSpPr txBox="1"/>
            <p:nvPr/>
          </p:nvSpPr>
          <p:spPr>
            <a:xfrm>
              <a:off x="177546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80</a:t>
              </a:r>
            </a:p>
          </p:txBody>
        </p:sp>
      </p:grpSp>
      <p:cxnSp>
        <p:nvCxnSpPr>
          <p:cNvPr id="105" name="Sort local arrow 2 / segment 0"/>
          <p:cNvCxnSpPr/>
          <p:nvPr/>
        </p:nvCxnSpPr>
        <p:spPr>
          <a:xfrm>
            <a:off x="2286000" y="234696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08" name="Sort ordered 2 / 0 [editable group]"/>
          <p:cNvGrpSpPr/>
          <p:nvPr/>
        </p:nvGrpSpPr>
        <p:grpSpPr>
          <a:xfrm>
            <a:off x="3116580" y="2202180"/>
            <a:ext cx="480060" cy="289560"/>
            <a:chOff x="3116580" y="2202180"/>
            <a:chExt cx="480060" cy="289560"/>
          </a:xfrm>
        </p:grpSpPr>
        <p:sp>
          <p:nvSpPr>
            <p:cNvPr id="106" name="Sort ordered 2 / 0"/>
            <p:cNvSpPr/>
            <p:nvPr/>
          </p:nvSpPr>
          <p:spPr>
            <a:xfrm>
              <a:off x="3116580" y="220218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Sort ordered 2 / 0 / label"/>
            <p:cNvSpPr txBox="1"/>
            <p:nvPr/>
          </p:nvSpPr>
          <p:spPr>
            <a:xfrm>
              <a:off x="316230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20</a:t>
              </a:r>
            </a:p>
          </p:txBody>
        </p:sp>
      </p:grpSp>
      <p:grpSp>
        <p:nvGrpSpPr>
          <p:cNvPr id="111" name="Sort ordered 2 / 1 [editable group]"/>
          <p:cNvGrpSpPr/>
          <p:nvPr/>
        </p:nvGrpSpPr>
        <p:grpSpPr>
          <a:xfrm>
            <a:off x="3619500" y="2202180"/>
            <a:ext cx="480060" cy="289560"/>
            <a:chOff x="3619500" y="2202180"/>
            <a:chExt cx="480060" cy="289560"/>
          </a:xfrm>
        </p:grpSpPr>
        <p:sp>
          <p:nvSpPr>
            <p:cNvPr id="109" name="Sort ordered 2 / 1"/>
            <p:cNvSpPr/>
            <p:nvPr/>
          </p:nvSpPr>
          <p:spPr>
            <a:xfrm>
              <a:off x="3619500" y="220218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Sort ordered 2 / 1 / label"/>
            <p:cNvSpPr txBox="1"/>
            <p:nvPr/>
          </p:nvSpPr>
          <p:spPr>
            <a:xfrm>
              <a:off x="366522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50</a:t>
              </a:r>
            </a:p>
          </p:txBody>
        </p:sp>
      </p:grpSp>
      <p:grpSp>
        <p:nvGrpSpPr>
          <p:cNvPr id="114" name="Sort ordered 2 / 2 [editable group]"/>
          <p:cNvGrpSpPr/>
          <p:nvPr/>
        </p:nvGrpSpPr>
        <p:grpSpPr>
          <a:xfrm>
            <a:off x="4122420" y="2202180"/>
            <a:ext cx="480060" cy="289560"/>
            <a:chOff x="4122420" y="2202180"/>
            <a:chExt cx="480060" cy="289560"/>
          </a:xfrm>
        </p:grpSpPr>
        <p:sp>
          <p:nvSpPr>
            <p:cNvPr id="112" name="Sort ordered 2 / 2"/>
            <p:cNvSpPr/>
            <p:nvPr/>
          </p:nvSpPr>
          <p:spPr>
            <a:xfrm>
              <a:off x="4122420" y="220218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Sort ordered 2 / 2 / label"/>
            <p:cNvSpPr txBox="1"/>
            <p:nvPr/>
          </p:nvSpPr>
          <p:spPr>
            <a:xfrm>
              <a:off x="4168140" y="222504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80</a:t>
              </a:r>
            </a:p>
          </p:txBody>
        </p:sp>
      </p:grpSp>
      <p:cxnSp>
        <p:nvCxnSpPr>
          <p:cNvPr id="115" name="Sort into exchange 2 / segment 0"/>
          <p:cNvCxnSpPr/>
          <p:nvPr/>
        </p:nvCxnSpPr>
        <p:spPr>
          <a:xfrm flipV="1">
            <a:off x="4693920" y="1965960"/>
            <a:ext cx="57150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6" name="Sort out exchange 2 / segment 0"/>
          <p:cNvCxnSpPr/>
          <p:nvPr/>
        </p:nvCxnSpPr>
        <p:spPr>
          <a:xfrm>
            <a:off x="6096000" y="1965960"/>
            <a:ext cx="403860" cy="38100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7" name="Sort destination 2"/>
          <p:cNvSpPr txBox="1"/>
          <p:nvPr/>
        </p:nvSpPr>
        <p:spPr>
          <a:xfrm>
            <a:off x="6233160" y="2133600"/>
            <a:ext cx="266700" cy="14478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61727A"/>
                </a:solidFill>
                <a:latin typeface="Arial"/>
              </a:rPr>
              <a:t>r2</a:t>
            </a:r>
          </a:p>
        </p:txBody>
      </p:sp>
      <p:grpSp>
        <p:nvGrpSpPr>
          <p:cNvPr id="120" name="Sort segments 2 / 0 [editable group]"/>
          <p:cNvGrpSpPr/>
          <p:nvPr/>
        </p:nvGrpSpPr>
        <p:grpSpPr>
          <a:xfrm>
            <a:off x="6629400" y="2202180"/>
            <a:ext cx="502920" cy="289560"/>
            <a:chOff x="6629400" y="2202180"/>
            <a:chExt cx="502920" cy="289560"/>
          </a:xfrm>
        </p:grpSpPr>
        <p:sp>
          <p:nvSpPr>
            <p:cNvPr id="118" name="Sort segments 2 / 0"/>
            <p:cNvSpPr/>
            <p:nvPr/>
          </p:nvSpPr>
          <p:spPr>
            <a:xfrm>
              <a:off x="6629400" y="220218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Sort segments 2 / 0 / label"/>
            <p:cNvSpPr txBox="1"/>
            <p:nvPr/>
          </p:nvSpPr>
          <p:spPr>
            <a:xfrm>
              <a:off x="6675120" y="222504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70</a:t>
              </a:r>
            </a:p>
          </p:txBody>
        </p:sp>
      </p:grpSp>
      <p:grpSp>
        <p:nvGrpSpPr>
          <p:cNvPr id="123" name="Sort segments 2 / 1 [editable group]"/>
          <p:cNvGrpSpPr/>
          <p:nvPr/>
        </p:nvGrpSpPr>
        <p:grpSpPr>
          <a:xfrm>
            <a:off x="7223760" y="2202180"/>
            <a:ext cx="502920" cy="289560"/>
            <a:chOff x="7223760" y="2202180"/>
            <a:chExt cx="502920" cy="289560"/>
          </a:xfrm>
        </p:grpSpPr>
        <p:sp>
          <p:nvSpPr>
            <p:cNvPr id="121" name="Sort segments 2 / 1"/>
            <p:cNvSpPr/>
            <p:nvPr/>
          </p:nvSpPr>
          <p:spPr>
            <a:xfrm>
              <a:off x="7223760" y="220218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Sort segments 2 / 1 / label"/>
            <p:cNvSpPr txBox="1"/>
            <p:nvPr/>
          </p:nvSpPr>
          <p:spPr>
            <a:xfrm>
              <a:off x="7269480" y="222504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90</a:t>
              </a:r>
            </a:p>
          </p:txBody>
        </p:sp>
      </p:grpSp>
      <p:grpSp>
        <p:nvGrpSpPr>
          <p:cNvPr id="126" name="Sort segments 2 / 2 [editable group]"/>
          <p:cNvGrpSpPr/>
          <p:nvPr/>
        </p:nvGrpSpPr>
        <p:grpSpPr>
          <a:xfrm>
            <a:off x="7818120" y="2202180"/>
            <a:ext cx="502920" cy="289560"/>
            <a:chOff x="7818120" y="2202180"/>
            <a:chExt cx="502920" cy="289560"/>
          </a:xfrm>
        </p:grpSpPr>
        <p:sp>
          <p:nvSpPr>
            <p:cNvPr id="124" name="Sort segments 2 / 2"/>
            <p:cNvSpPr/>
            <p:nvPr/>
          </p:nvSpPr>
          <p:spPr>
            <a:xfrm>
              <a:off x="7818120" y="220218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Sort segments 2 / 2 / label"/>
            <p:cNvSpPr txBox="1"/>
            <p:nvPr/>
          </p:nvSpPr>
          <p:spPr>
            <a:xfrm>
              <a:off x="7863840" y="222504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80</a:t>
              </a:r>
            </a:p>
          </p:txBody>
        </p:sp>
      </p:grpSp>
      <p:cxnSp>
        <p:nvCxnSpPr>
          <p:cNvPr id="127" name="Sort merge arrow 2 / segment 0"/>
          <p:cNvCxnSpPr/>
          <p:nvPr/>
        </p:nvCxnSpPr>
        <p:spPr>
          <a:xfrm>
            <a:off x="8503920" y="234696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0" name="Sort merged 2 / 0 [editable group]"/>
          <p:cNvGrpSpPr/>
          <p:nvPr/>
        </p:nvGrpSpPr>
        <p:grpSpPr>
          <a:xfrm>
            <a:off x="9601200" y="2202180"/>
            <a:ext cx="579120" cy="289560"/>
            <a:chOff x="9601200" y="2202180"/>
            <a:chExt cx="579120" cy="289560"/>
          </a:xfrm>
        </p:grpSpPr>
        <p:sp>
          <p:nvSpPr>
            <p:cNvPr id="128" name="Sort merged 2 / 0"/>
            <p:cNvSpPr/>
            <p:nvPr/>
          </p:nvSpPr>
          <p:spPr>
            <a:xfrm>
              <a:off x="9601200" y="220218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Sort merged 2 / 0 / label"/>
            <p:cNvSpPr txBox="1"/>
            <p:nvPr/>
          </p:nvSpPr>
          <p:spPr>
            <a:xfrm>
              <a:off x="9646920" y="222504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70</a:t>
              </a:r>
            </a:p>
          </p:txBody>
        </p:sp>
      </p:grpSp>
      <p:grpSp>
        <p:nvGrpSpPr>
          <p:cNvPr id="133" name="Sort merged 2 / 1 [editable group]"/>
          <p:cNvGrpSpPr/>
          <p:nvPr/>
        </p:nvGrpSpPr>
        <p:grpSpPr>
          <a:xfrm>
            <a:off x="10180320" y="2202180"/>
            <a:ext cx="579120" cy="289560"/>
            <a:chOff x="10180320" y="2202180"/>
            <a:chExt cx="579120" cy="289560"/>
          </a:xfrm>
        </p:grpSpPr>
        <p:sp>
          <p:nvSpPr>
            <p:cNvPr id="131" name="Sort merged 2 / 1"/>
            <p:cNvSpPr/>
            <p:nvPr/>
          </p:nvSpPr>
          <p:spPr>
            <a:xfrm>
              <a:off x="10180320" y="220218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Sort merged 2 / 1 / label"/>
            <p:cNvSpPr txBox="1"/>
            <p:nvPr/>
          </p:nvSpPr>
          <p:spPr>
            <a:xfrm>
              <a:off x="10226040" y="222504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80</a:t>
              </a:r>
            </a:p>
          </p:txBody>
        </p:sp>
      </p:grpSp>
      <p:grpSp>
        <p:nvGrpSpPr>
          <p:cNvPr id="136" name="Sort merged 2 / 2 [editable group]"/>
          <p:cNvGrpSpPr/>
          <p:nvPr/>
        </p:nvGrpSpPr>
        <p:grpSpPr>
          <a:xfrm>
            <a:off x="10759440" y="2202180"/>
            <a:ext cx="579120" cy="289560"/>
            <a:chOff x="10759440" y="2202180"/>
            <a:chExt cx="579120" cy="289560"/>
          </a:xfrm>
        </p:grpSpPr>
        <p:sp>
          <p:nvSpPr>
            <p:cNvPr id="134" name="Sort merged 2 / 2"/>
            <p:cNvSpPr/>
            <p:nvPr/>
          </p:nvSpPr>
          <p:spPr>
            <a:xfrm>
              <a:off x="10759440" y="220218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Sort merged 2 / 2 / label"/>
            <p:cNvSpPr txBox="1"/>
            <p:nvPr/>
          </p:nvSpPr>
          <p:spPr>
            <a:xfrm>
              <a:off x="10805160" y="222504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90</a:t>
              </a:r>
            </a:p>
          </p:txBody>
        </p:sp>
      </p:grpSp>
      <p:sp>
        <p:nvSpPr>
          <p:cNvPr id="137" name="Sort exchange"/>
          <p:cNvSpPr/>
          <p:nvPr/>
        </p:nvSpPr>
        <p:spPr>
          <a:xfrm>
            <a:off x="5273040" y="1150620"/>
            <a:ext cx="822960" cy="1295400"/>
          </a:xfrm>
          <a:prstGeom prst="roundRect">
            <a:avLst>
              <a:gd name="adj" fmla="val 7407"/>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Sort exchange title"/>
          <p:cNvSpPr txBox="1"/>
          <p:nvPr/>
        </p:nvSpPr>
        <p:spPr>
          <a:xfrm>
            <a:off x="5303520" y="1249680"/>
            <a:ext cx="762000" cy="39624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MPI</a:t>
            </a:r>
          </a:p>
          <a:p>
            <a:pPr algn="ctr">
              <a:lnSpc>
                <a:spcPts val="1411"/>
              </a:lnSpc>
              <a:spcBef>
                <a:spcPts val="0"/>
              </a:spcBef>
              <a:spcAft>
                <a:spcPts val="0"/>
              </a:spcAft>
            </a:pPr>
            <a:r>
              <a:rPr sz="1260" b="1" i="0">
                <a:solidFill>
                  <a:srgbClr val="172C36"/>
                </a:solidFill>
                <a:latin typeface="Arial"/>
              </a:rPr>
              <a:t>exchange</a:t>
            </a:r>
          </a:p>
        </p:txBody>
      </p:sp>
      <p:cxnSp>
        <p:nvCxnSpPr>
          <p:cNvPr id="139" name="Sort exchange crossed wire 0 / segment 0"/>
          <p:cNvCxnSpPr/>
          <p:nvPr/>
        </p:nvCxnSpPr>
        <p:spPr>
          <a:xfrm>
            <a:off x="5402580" y="1813560"/>
            <a:ext cx="563880" cy="33528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ort exchange crossed wire 1 / segment 0"/>
          <p:cNvCxnSpPr/>
          <p:nvPr/>
        </p:nvCxnSpPr>
        <p:spPr>
          <a:xfrm>
            <a:off x="5402580" y="1981199"/>
            <a:ext cx="563880" cy="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ort exchange crossed wire 2 / segment 0"/>
          <p:cNvCxnSpPr/>
          <p:nvPr/>
        </p:nvCxnSpPr>
        <p:spPr>
          <a:xfrm flipV="1">
            <a:off x="5402580" y="1813560"/>
            <a:ext cx="563880" cy="33528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2" name="K way merge label"/>
          <p:cNvSpPr txBox="1"/>
          <p:nvPr/>
        </p:nvSpPr>
        <p:spPr>
          <a:xfrm>
            <a:off x="8549640" y="1021080"/>
            <a:ext cx="87630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k-way merge</a:t>
            </a:r>
          </a:p>
        </p:txBody>
      </p:sp>
      <p:sp>
        <p:nvSpPr>
          <p:cNvPr id="143" name="Sort rank output meaning"/>
          <p:cNvSpPr txBox="1"/>
          <p:nvPr/>
        </p:nvSpPr>
        <p:spPr>
          <a:xfrm>
            <a:off x="449580" y="2651760"/>
            <a:ext cx="11277600" cy="2057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Rank-order concatenation: 10, 20, 30 | 40, 50, 60 | 70, 80, 90 → globally coordinate-sorted BAM</a:t>
            </a:r>
          </a:p>
        </p:txBody>
      </p:sp>
      <p:sp>
        <p:nvSpPr>
          <p:cNvPr id="144" name="(b) QNAME collation: bin ownership and contiguous groups"/>
          <p:cNvSpPr txBox="1"/>
          <p:nvPr/>
        </p:nvSpPr>
        <p:spPr>
          <a:xfrm>
            <a:off x="228600" y="315468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QNAME collation: bin ownership and contiguous groups</a:t>
            </a:r>
          </a:p>
        </p:txBody>
      </p:sp>
      <p:sp>
        <p:nvSpPr>
          <p:cNvPr id="145" name="Collate background"/>
          <p:cNvSpPr/>
          <p:nvPr/>
        </p:nvSpPr>
        <p:spPr>
          <a:xfrm>
            <a:off x="213360" y="3482340"/>
            <a:ext cx="11765280" cy="2286000"/>
          </a:xfrm>
          <a:prstGeom prst="rect">
            <a:avLst/>
          </a:prstGeom>
          <a:solidFill>
            <a:srgbClr val="F1F7EE"/>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Collate Local records"/>
          <p:cNvSpPr txBox="1"/>
          <p:nvPr/>
        </p:nvSpPr>
        <p:spPr>
          <a:xfrm>
            <a:off x="571500" y="3596640"/>
            <a:ext cx="189738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Local records</a:t>
            </a:r>
          </a:p>
        </p:txBody>
      </p:sp>
      <p:sp>
        <p:nvSpPr>
          <p:cNvPr id="147" name="Collate Bin / hash ordering"/>
          <p:cNvSpPr txBox="1"/>
          <p:nvPr/>
        </p:nvSpPr>
        <p:spPr>
          <a:xfrm>
            <a:off x="3009900" y="3596640"/>
            <a:ext cx="1874519"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Bin / hash ordering</a:t>
            </a:r>
          </a:p>
        </p:txBody>
      </p:sp>
      <p:sp>
        <p:nvSpPr>
          <p:cNvPr id="148" name="Collate Owner segments"/>
          <p:cNvSpPr txBox="1"/>
          <p:nvPr/>
        </p:nvSpPr>
        <p:spPr>
          <a:xfrm>
            <a:off x="6522720" y="3596640"/>
            <a:ext cx="203454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Owner segments</a:t>
            </a:r>
          </a:p>
        </p:txBody>
      </p:sp>
      <p:sp>
        <p:nvSpPr>
          <p:cNvPr id="149" name="Collate Grouped output"/>
          <p:cNvSpPr txBox="1"/>
          <p:nvPr/>
        </p:nvSpPr>
        <p:spPr>
          <a:xfrm>
            <a:off x="9532620" y="3596640"/>
            <a:ext cx="2042160" cy="2286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Grouped output</a:t>
            </a:r>
          </a:p>
        </p:txBody>
      </p:sp>
      <p:sp>
        <p:nvSpPr>
          <p:cNvPr id="150" name="Collate rank 0"/>
          <p:cNvSpPr txBox="1"/>
          <p:nvPr/>
        </p:nvSpPr>
        <p:spPr>
          <a:xfrm>
            <a:off x="320040" y="400050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r0</a:t>
            </a:r>
          </a:p>
        </p:txBody>
      </p:sp>
      <p:grpSp>
        <p:nvGrpSpPr>
          <p:cNvPr id="153" name="Collate raw 0 / 0 [editable group]"/>
          <p:cNvGrpSpPr/>
          <p:nvPr/>
        </p:nvGrpSpPr>
        <p:grpSpPr>
          <a:xfrm>
            <a:off x="723900" y="4000500"/>
            <a:ext cx="480060" cy="289560"/>
            <a:chOff x="723900" y="4000500"/>
            <a:chExt cx="480060" cy="289560"/>
          </a:xfrm>
        </p:grpSpPr>
        <p:sp>
          <p:nvSpPr>
            <p:cNvPr id="151" name="Collate raw 0 / 0"/>
            <p:cNvSpPr/>
            <p:nvPr/>
          </p:nvSpPr>
          <p:spPr>
            <a:xfrm>
              <a:off x="723900" y="400050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Collate raw 0 / 0 / label"/>
            <p:cNvSpPr txBox="1"/>
            <p:nvPr/>
          </p:nvSpPr>
          <p:spPr>
            <a:xfrm>
              <a:off x="76962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56" name="Collate raw 0 / 1 [editable group]"/>
          <p:cNvGrpSpPr/>
          <p:nvPr/>
        </p:nvGrpSpPr>
        <p:grpSpPr>
          <a:xfrm>
            <a:off x="1226820" y="4000500"/>
            <a:ext cx="480060" cy="289560"/>
            <a:chOff x="1226820" y="4000500"/>
            <a:chExt cx="480060" cy="289560"/>
          </a:xfrm>
        </p:grpSpPr>
        <p:sp>
          <p:nvSpPr>
            <p:cNvPr id="154" name="Collate raw 0 / 1"/>
            <p:cNvSpPr/>
            <p:nvPr/>
          </p:nvSpPr>
          <p:spPr>
            <a:xfrm>
              <a:off x="1226820" y="400050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Collate raw 0 / 1 / label"/>
            <p:cNvSpPr txBox="1"/>
            <p:nvPr/>
          </p:nvSpPr>
          <p:spPr>
            <a:xfrm>
              <a:off x="127254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159" name="Collate raw 0 / 2 [editable group]"/>
          <p:cNvGrpSpPr/>
          <p:nvPr/>
        </p:nvGrpSpPr>
        <p:grpSpPr>
          <a:xfrm>
            <a:off x="1729740" y="4000500"/>
            <a:ext cx="480060" cy="289560"/>
            <a:chOff x="1729740" y="4000500"/>
            <a:chExt cx="480060" cy="289560"/>
          </a:xfrm>
        </p:grpSpPr>
        <p:sp>
          <p:nvSpPr>
            <p:cNvPr id="157" name="Collate raw 0 / 2"/>
            <p:cNvSpPr/>
            <p:nvPr/>
          </p:nvSpPr>
          <p:spPr>
            <a:xfrm>
              <a:off x="1729740" y="400050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Collate raw 0 / 2 / label"/>
            <p:cNvSpPr txBox="1"/>
            <p:nvPr/>
          </p:nvSpPr>
          <p:spPr>
            <a:xfrm>
              <a:off x="177546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cxnSp>
        <p:nvCxnSpPr>
          <p:cNvPr id="160" name="Collate sort 0 / segment 0"/>
          <p:cNvCxnSpPr/>
          <p:nvPr/>
        </p:nvCxnSpPr>
        <p:spPr>
          <a:xfrm>
            <a:off x="2286000" y="414528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63" name="Collate ordered 0 / 0 [editable group]"/>
          <p:cNvGrpSpPr/>
          <p:nvPr/>
        </p:nvGrpSpPr>
        <p:grpSpPr>
          <a:xfrm>
            <a:off x="3116580" y="4000500"/>
            <a:ext cx="480060" cy="289560"/>
            <a:chOff x="3116580" y="4000500"/>
            <a:chExt cx="480060" cy="289560"/>
          </a:xfrm>
        </p:grpSpPr>
        <p:sp>
          <p:nvSpPr>
            <p:cNvPr id="161" name="Collate ordered 0 / 0"/>
            <p:cNvSpPr/>
            <p:nvPr/>
          </p:nvSpPr>
          <p:spPr>
            <a:xfrm>
              <a:off x="3116580" y="400050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Collate ordered 0 / 0 / label"/>
            <p:cNvSpPr txBox="1"/>
            <p:nvPr/>
          </p:nvSpPr>
          <p:spPr>
            <a:xfrm>
              <a:off x="316230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66" name="Collate ordered 0 / 1 [editable group]"/>
          <p:cNvGrpSpPr/>
          <p:nvPr/>
        </p:nvGrpSpPr>
        <p:grpSpPr>
          <a:xfrm>
            <a:off x="3619500" y="4000500"/>
            <a:ext cx="480060" cy="289560"/>
            <a:chOff x="3619500" y="4000500"/>
            <a:chExt cx="480060" cy="289560"/>
          </a:xfrm>
        </p:grpSpPr>
        <p:sp>
          <p:nvSpPr>
            <p:cNvPr id="164" name="Collate ordered 0 / 1"/>
            <p:cNvSpPr/>
            <p:nvPr/>
          </p:nvSpPr>
          <p:spPr>
            <a:xfrm>
              <a:off x="3619500" y="400050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Collate ordered 0 / 1 / label"/>
            <p:cNvSpPr txBox="1"/>
            <p:nvPr/>
          </p:nvSpPr>
          <p:spPr>
            <a:xfrm>
              <a:off x="366522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169" name="Collate ordered 0 / 2 [editable group]"/>
          <p:cNvGrpSpPr/>
          <p:nvPr/>
        </p:nvGrpSpPr>
        <p:grpSpPr>
          <a:xfrm>
            <a:off x="4122420" y="4000500"/>
            <a:ext cx="480060" cy="289560"/>
            <a:chOff x="4122420" y="4000500"/>
            <a:chExt cx="480060" cy="289560"/>
          </a:xfrm>
        </p:grpSpPr>
        <p:sp>
          <p:nvSpPr>
            <p:cNvPr id="167" name="Collate ordered 0 / 2"/>
            <p:cNvSpPr/>
            <p:nvPr/>
          </p:nvSpPr>
          <p:spPr>
            <a:xfrm>
              <a:off x="4122420" y="400050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Collate ordered 0 / 2 / label"/>
            <p:cNvSpPr txBox="1"/>
            <p:nvPr/>
          </p:nvSpPr>
          <p:spPr>
            <a:xfrm>
              <a:off x="4168140" y="402336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cxnSp>
        <p:nvCxnSpPr>
          <p:cNvPr id="170" name="Collate into exchange 0 / segment 0"/>
          <p:cNvCxnSpPr/>
          <p:nvPr/>
        </p:nvCxnSpPr>
        <p:spPr>
          <a:xfrm>
            <a:off x="4693920" y="4145280"/>
            <a:ext cx="571500" cy="1828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1" name="Collate out exchange 0 / segment 0"/>
          <p:cNvCxnSpPr/>
          <p:nvPr/>
        </p:nvCxnSpPr>
        <p:spPr>
          <a:xfrm flipV="1">
            <a:off x="6096000" y="4145280"/>
            <a:ext cx="403860" cy="1828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74" name="Collate segments 0 / 0 [editable group]"/>
          <p:cNvGrpSpPr/>
          <p:nvPr/>
        </p:nvGrpSpPr>
        <p:grpSpPr>
          <a:xfrm>
            <a:off x="6629400" y="4000500"/>
            <a:ext cx="502920" cy="289560"/>
            <a:chOff x="6629400" y="4000500"/>
            <a:chExt cx="502920" cy="289560"/>
          </a:xfrm>
        </p:grpSpPr>
        <p:sp>
          <p:nvSpPr>
            <p:cNvPr id="172" name="Collate segments 0 / 0"/>
            <p:cNvSpPr/>
            <p:nvPr/>
          </p:nvSpPr>
          <p:spPr>
            <a:xfrm>
              <a:off x="6629400" y="400050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Collate segments 0 / 0 / label"/>
            <p:cNvSpPr txBox="1"/>
            <p:nvPr/>
          </p:nvSpPr>
          <p:spPr>
            <a:xfrm>
              <a:off x="6675120" y="40233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77" name="Collate segments 0 / 1 [editable group]"/>
          <p:cNvGrpSpPr/>
          <p:nvPr/>
        </p:nvGrpSpPr>
        <p:grpSpPr>
          <a:xfrm>
            <a:off x="7223760" y="4000500"/>
            <a:ext cx="502920" cy="289560"/>
            <a:chOff x="7223760" y="4000500"/>
            <a:chExt cx="502920" cy="289560"/>
          </a:xfrm>
        </p:grpSpPr>
        <p:sp>
          <p:nvSpPr>
            <p:cNvPr id="175" name="Collate segments 0 / 1"/>
            <p:cNvSpPr/>
            <p:nvPr/>
          </p:nvSpPr>
          <p:spPr>
            <a:xfrm>
              <a:off x="7223760" y="400050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Collate segments 0 / 1 / label"/>
            <p:cNvSpPr txBox="1"/>
            <p:nvPr/>
          </p:nvSpPr>
          <p:spPr>
            <a:xfrm>
              <a:off x="7269480" y="40233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80" name="Collate segments 0 / 2 [editable group]"/>
          <p:cNvGrpSpPr/>
          <p:nvPr/>
        </p:nvGrpSpPr>
        <p:grpSpPr>
          <a:xfrm>
            <a:off x="7818120" y="4000500"/>
            <a:ext cx="502920" cy="289560"/>
            <a:chOff x="7818120" y="4000500"/>
            <a:chExt cx="502920" cy="289560"/>
          </a:xfrm>
        </p:grpSpPr>
        <p:sp>
          <p:nvSpPr>
            <p:cNvPr id="178" name="Collate segments 0 / 2"/>
            <p:cNvSpPr/>
            <p:nvPr/>
          </p:nvSpPr>
          <p:spPr>
            <a:xfrm>
              <a:off x="7818120" y="4000500"/>
              <a:ext cx="5029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Collate segments 0 / 2 / label"/>
            <p:cNvSpPr txBox="1"/>
            <p:nvPr/>
          </p:nvSpPr>
          <p:spPr>
            <a:xfrm>
              <a:off x="7863840" y="402336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cxnSp>
        <p:nvCxnSpPr>
          <p:cNvPr id="181" name="Collate merge 0 / segment 0"/>
          <p:cNvCxnSpPr/>
          <p:nvPr/>
        </p:nvCxnSpPr>
        <p:spPr>
          <a:xfrm>
            <a:off x="8503920" y="414528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84" name="Collate grouped 0 / 0 [editable group]"/>
          <p:cNvGrpSpPr/>
          <p:nvPr/>
        </p:nvGrpSpPr>
        <p:grpSpPr>
          <a:xfrm>
            <a:off x="9601200" y="4000500"/>
            <a:ext cx="579120" cy="289560"/>
            <a:chOff x="9601200" y="4000500"/>
            <a:chExt cx="579120" cy="289560"/>
          </a:xfrm>
        </p:grpSpPr>
        <p:sp>
          <p:nvSpPr>
            <p:cNvPr id="182" name="Collate grouped 0 / 0"/>
            <p:cNvSpPr/>
            <p:nvPr/>
          </p:nvSpPr>
          <p:spPr>
            <a:xfrm>
              <a:off x="9601200" y="400050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Collate grouped 0 / 0 / label"/>
            <p:cNvSpPr txBox="1"/>
            <p:nvPr/>
          </p:nvSpPr>
          <p:spPr>
            <a:xfrm>
              <a:off x="9646920" y="40233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87" name="Collate grouped 0 / 1 [editable group]"/>
          <p:cNvGrpSpPr/>
          <p:nvPr/>
        </p:nvGrpSpPr>
        <p:grpSpPr>
          <a:xfrm>
            <a:off x="10180320" y="4000500"/>
            <a:ext cx="579120" cy="289560"/>
            <a:chOff x="10180320" y="4000500"/>
            <a:chExt cx="579120" cy="289560"/>
          </a:xfrm>
        </p:grpSpPr>
        <p:sp>
          <p:nvSpPr>
            <p:cNvPr id="185" name="Collate grouped 0 / 1"/>
            <p:cNvSpPr/>
            <p:nvPr/>
          </p:nvSpPr>
          <p:spPr>
            <a:xfrm>
              <a:off x="10180320" y="400050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Collate grouped 0 / 1 / label"/>
            <p:cNvSpPr txBox="1"/>
            <p:nvPr/>
          </p:nvSpPr>
          <p:spPr>
            <a:xfrm>
              <a:off x="10226040" y="40233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190" name="Collate grouped 0 / 2 [editable group]"/>
          <p:cNvGrpSpPr/>
          <p:nvPr/>
        </p:nvGrpSpPr>
        <p:grpSpPr>
          <a:xfrm>
            <a:off x="10759440" y="4000500"/>
            <a:ext cx="579120" cy="289560"/>
            <a:chOff x="10759440" y="4000500"/>
            <a:chExt cx="579120" cy="289560"/>
          </a:xfrm>
        </p:grpSpPr>
        <p:sp>
          <p:nvSpPr>
            <p:cNvPr id="188" name="Collate grouped 0 / 2"/>
            <p:cNvSpPr/>
            <p:nvPr/>
          </p:nvSpPr>
          <p:spPr>
            <a:xfrm>
              <a:off x="10759440" y="4000500"/>
              <a:ext cx="57912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Collate grouped 0 / 2 / label"/>
            <p:cNvSpPr txBox="1"/>
            <p:nvPr/>
          </p:nvSpPr>
          <p:spPr>
            <a:xfrm>
              <a:off x="10805160" y="402336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sp>
        <p:nvSpPr>
          <p:cNvPr id="191" name="Collate rank 1"/>
          <p:cNvSpPr txBox="1"/>
          <p:nvPr/>
        </p:nvSpPr>
        <p:spPr>
          <a:xfrm>
            <a:off x="320040" y="442722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r1</a:t>
            </a:r>
          </a:p>
        </p:txBody>
      </p:sp>
      <p:grpSp>
        <p:nvGrpSpPr>
          <p:cNvPr id="194" name="Collate raw 1 / 0 [editable group]"/>
          <p:cNvGrpSpPr/>
          <p:nvPr/>
        </p:nvGrpSpPr>
        <p:grpSpPr>
          <a:xfrm>
            <a:off x="723900" y="4427220"/>
            <a:ext cx="480060" cy="289560"/>
            <a:chOff x="723900" y="4427220"/>
            <a:chExt cx="480060" cy="289560"/>
          </a:xfrm>
        </p:grpSpPr>
        <p:sp>
          <p:nvSpPr>
            <p:cNvPr id="192" name="Collate raw 1 / 0"/>
            <p:cNvSpPr/>
            <p:nvPr/>
          </p:nvSpPr>
          <p:spPr>
            <a:xfrm>
              <a:off x="723900" y="442722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Collate raw 1 / 0 / label"/>
            <p:cNvSpPr txBox="1"/>
            <p:nvPr/>
          </p:nvSpPr>
          <p:spPr>
            <a:xfrm>
              <a:off x="76962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197" name="Collate raw 1 / 1 [editable group]"/>
          <p:cNvGrpSpPr/>
          <p:nvPr/>
        </p:nvGrpSpPr>
        <p:grpSpPr>
          <a:xfrm>
            <a:off x="1226820" y="4427220"/>
            <a:ext cx="480060" cy="289560"/>
            <a:chOff x="1226820" y="4427220"/>
            <a:chExt cx="480060" cy="289560"/>
          </a:xfrm>
        </p:grpSpPr>
        <p:sp>
          <p:nvSpPr>
            <p:cNvPr id="195" name="Collate raw 1 / 1"/>
            <p:cNvSpPr/>
            <p:nvPr/>
          </p:nvSpPr>
          <p:spPr>
            <a:xfrm>
              <a:off x="1226820" y="442722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Collate raw 1 / 1 / label"/>
            <p:cNvSpPr txBox="1"/>
            <p:nvPr/>
          </p:nvSpPr>
          <p:spPr>
            <a:xfrm>
              <a:off x="127254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200" name="Collate raw 1 / 2 [editable group]"/>
          <p:cNvGrpSpPr/>
          <p:nvPr/>
        </p:nvGrpSpPr>
        <p:grpSpPr>
          <a:xfrm>
            <a:off x="1729740" y="4427220"/>
            <a:ext cx="480060" cy="289560"/>
            <a:chOff x="1729740" y="4427220"/>
            <a:chExt cx="480060" cy="289560"/>
          </a:xfrm>
        </p:grpSpPr>
        <p:sp>
          <p:nvSpPr>
            <p:cNvPr id="198" name="Collate raw 1 / 2"/>
            <p:cNvSpPr/>
            <p:nvPr/>
          </p:nvSpPr>
          <p:spPr>
            <a:xfrm>
              <a:off x="1729740" y="442722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Collate raw 1 / 2 / label"/>
            <p:cNvSpPr txBox="1"/>
            <p:nvPr/>
          </p:nvSpPr>
          <p:spPr>
            <a:xfrm>
              <a:off x="177546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cxnSp>
        <p:nvCxnSpPr>
          <p:cNvPr id="201" name="Collate sort 1 / segment 0"/>
          <p:cNvCxnSpPr/>
          <p:nvPr/>
        </p:nvCxnSpPr>
        <p:spPr>
          <a:xfrm>
            <a:off x="2286000" y="457200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04" name="Collate ordered 1 / 0 [editable group]"/>
          <p:cNvGrpSpPr/>
          <p:nvPr/>
        </p:nvGrpSpPr>
        <p:grpSpPr>
          <a:xfrm>
            <a:off x="3116580" y="4427220"/>
            <a:ext cx="480060" cy="289560"/>
            <a:chOff x="3116580" y="4427220"/>
            <a:chExt cx="480060" cy="289560"/>
          </a:xfrm>
        </p:grpSpPr>
        <p:sp>
          <p:nvSpPr>
            <p:cNvPr id="202" name="Collate ordered 1 / 0"/>
            <p:cNvSpPr/>
            <p:nvPr/>
          </p:nvSpPr>
          <p:spPr>
            <a:xfrm>
              <a:off x="3116580" y="442722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Collate ordered 1 / 0 / label"/>
            <p:cNvSpPr txBox="1"/>
            <p:nvPr/>
          </p:nvSpPr>
          <p:spPr>
            <a:xfrm>
              <a:off x="316230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207" name="Collate ordered 1 / 1 [editable group]"/>
          <p:cNvGrpSpPr/>
          <p:nvPr/>
        </p:nvGrpSpPr>
        <p:grpSpPr>
          <a:xfrm>
            <a:off x="3619500" y="4427220"/>
            <a:ext cx="480060" cy="289560"/>
            <a:chOff x="3619500" y="4427220"/>
            <a:chExt cx="480060" cy="289560"/>
          </a:xfrm>
        </p:grpSpPr>
        <p:sp>
          <p:nvSpPr>
            <p:cNvPr id="205" name="Collate ordered 1 / 1"/>
            <p:cNvSpPr/>
            <p:nvPr/>
          </p:nvSpPr>
          <p:spPr>
            <a:xfrm>
              <a:off x="3619500" y="442722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Collate ordered 1 / 1 / label"/>
            <p:cNvSpPr txBox="1"/>
            <p:nvPr/>
          </p:nvSpPr>
          <p:spPr>
            <a:xfrm>
              <a:off x="366522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10" name="Collate ordered 1 / 2 [editable group]"/>
          <p:cNvGrpSpPr/>
          <p:nvPr/>
        </p:nvGrpSpPr>
        <p:grpSpPr>
          <a:xfrm>
            <a:off x="4122420" y="4427220"/>
            <a:ext cx="480060" cy="289560"/>
            <a:chOff x="4122420" y="4427220"/>
            <a:chExt cx="480060" cy="289560"/>
          </a:xfrm>
        </p:grpSpPr>
        <p:sp>
          <p:nvSpPr>
            <p:cNvPr id="208" name="Collate ordered 1 / 2"/>
            <p:cNvSpPr/>
            <p:nvPr/>
          </p:nvSpPr>
          <p:spPr>
            <a:xfrm>
              <a:off x="4122420" y="442722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Collate ordered 1 / 2 / label"/>
            <p:cNvSpPr txBox="1"/>
            <p:nvPr/>
          </p:nvSpPr>
          <p:spPr>
            <a:xfrm>
              <a:off x="4168140" y="445008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cxnSp>
        <p:nvCxnSpPr>
          <p:cNvPr id="211" name="Collate into exchange 1 / segment 0"/>
          <p:cNvCxnSpPr/>
          <p:nvPr/>
        </p:nvCxnSpPr>
        <p:spPr>
          <a:xfrm>
            <a:off x="4693920" y="4572000"/>
            <a:ext cx="5715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2" name="Collate out exchange 1 / segment 0"/>
          <p:cNvCxnSpPr/>
          <p:nvPr/>
        </p:nvCxnSpPr>
        <p:spPr>
          <a:xfrm>
            <a:off x="6096000" y="4572000"/>
            <a:ext cx="4038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15" name="Collate segments 1 / 0 [editable group]"/>
          <p:cNvGrpSpPr/>
          <p:nvPr/>
        </p:nvGrpSpPr>
        <p:grpSpPr>
          <a:xfrm>
            <a:off x="6629400" y="4427220"/>
            <a:ext cx="502920" cy="289560"/>
            <a:chOff x="6629400" y="4427220"/>
            <a:chExt cx="502920" cy="289560"/>
          </a:xfrm>
        </p:grpSpPr>
        <p:sp>
          <p:nvSpPr>
            <p:cNvPr id="213" name="Collate segments 1 / 0"/>
            <p:cNvSpPr/>
            <p:nvPr/>
          </p:nvSpPr>
          <p:spPr>
            <a:xfrm>
              <a:off x="6629400" y="442722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Collate segments 1 / 0 / label"/>
            <p:cNvSpPr txBox="1"/>
            <p:nvPr/>
          </p:nvSpPr>
          <p:spPr>
            <a:xfrm>
              <a:off x="6675120" y="44500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18" name="Collate segments 1 / 1 [editable group]"/>
          <p:cNvGrpSpPr/>
          <p:nvPr/>
        </p:nvGrpSpPr>
        <p:grpSpPr>
          <a:xfrm>
            <a:off x="7223760" y="4427220"/>
            <a:ext cx="502920" cy="289560"/>
            <a:chOff x="7223760" y="4427220"/>
            <a:chExt cx="502920" cy="289560"/>
          </a:xfrm>
        </p:grpSpPr>
        <p:sp>
          <p:nvSpPr>
            <p:cNvPr id="216" name="Collate segments 1 / 1"/>
            <p:cNvSpPr/>
            <p:nvPr/>
          </p:nvSpPr>
          <p:spPr>
            <a:xfrm>
              <a:off x="7223760" y="442722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Collate segments 1 / 1 / label"/>
            <p:cNvSpPr txBox="1"/>
            <p:nvPr/>
          </p:nvSpPr>
          <p:spPr>
            <a:xfrm>
              <a:off x="7269480" y="44500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21" name="Collate segments 1 / 2 [editable group]"/>
          <p:cNvGrpSpPr/>
          <p:nvPr/>
        </p:nvGrpSpPr>
        <p:grpSpPr>
          <a:xfrm>
            <a:off x="7818120" y="4427220"/>
            <a:ext cx="502920" cy="289560"/>
            <a:chOff x="7818120" y="4427220"/>
            <a:chExt cx="502920" cy="289560"/>
          </a:xfrm>
        </p:grpSpPr>
        <p:sp>
          <p:nvSpPr>
            <p:cNvPr id="219" name="Collate segments 1 / 2"/>
            <p:cNvSpPr/>
            <p:nvPr/>
          </p:nvSpPr>
          <p:spPr>
            <a:xfrm>
              <a:off x="7818120" y="4427220"/>
              <a:ext cx="5029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Collate segments 1 / 2 / label"/>
            <p:cNvSpPr txBox="1"/>
            <p:nvPr/>
          </p:nvSpPr>
          <p:spPr>
            <a:xfrm>
              <a:off x="7863840" y="445008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cxnSp>
        <p:nvCxnSpPr>
          <p:cNvPr id="222" name="Collate merge 1 / segment 0"/>
          <p:cNvCxnSpPr/>
          <p:nvPr/>
        </p:nvCxnSpPr>
        <p:spPr>
          <a:xfrm>
            <a:off x="8503920" y="457200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25" name="Collate grouped 1 / 0 [editable group]"/>
          <p:cNvGrpSpPr/>
          <p:nvPr/>
        </p:nvGrpSpPr>
        <p:grpSpPr>
          <a:xfrm>
            <a:off x="9601200" y="4427220"/>
            <a:ext cx="579120" cy="289560"/>
            <a:chOff x="9601200" y="4427220"/>
            <a:chExt cx="579120" cy="289560"/>
          </a:xfrm>
        </p:grpSpPr>
        <p:sp>
          <p:nvSpPr>
            <p:cNvPr id="223" name="Collate grouped 1 / 0"/>
            <p:cNvSpPr/>
            <p:nvPr/>
          </p:nvSpPr>
          <p:spPr>
            <a:xfrm>
              <a:off x="9601200" y="442722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Collate grouped 1 / 0 / label"/>
            <p:cNvSpPr txBox="1"/>
            <p:nvPr/>
          </p:nvSpPr>
          <p:spPr>
            <a:xfrm>
              <a:off x="9646920" y="44500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28" name="Collate grouped 1 / 1 [editable group]"/>
          <p:cNvGrpSpPr/>
          <p:nvPr/>
        </p:nvGrpSpPr>
        <p:grpSpPr>
          <a:xfrm>
            <a:off x="10180320" y="4427220"/>
            <a:ext cx="579120" cy="289560"/>
            <a:chOff x="10180320" y="4427220"/>
            <a:chExt cx="579120" cy="289560"/>
          </a:xfrm>
        </p:grpSpPr>
        <p:sp>
          <p:nvSpPr>
            <p:cNvPr id="226" name="Collate grouped 1 / 1"/>
            <p:cNvSpPr/>
            <p:nvPr/>
          </p:nvSpPr>
          <p:spPr>
            <a:xfrm>
              <a:off x="10180320" y="442722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Collate grouped 1 / 1 / label"/>
            <p:cNvSpPr txBox="1"/>
            <p:nvPr/>
          </p:nvSpPr>
          <p:spPr>
            <a:xfrm>
              <a:off x="10226040" y="44500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31" name="Collate grouped 1 / 2 [editable group]"/>
          <p:cNvGrpSpPr/>
          <p:nvPr/>
        </p:nvGrpSpPr>
        <p:grpSpPr>
          <a:xfrm>
            <a:off x="10759440" y="4427220"/>
            <a:ext cx="579120" cy="289560"/>
            <a:chOff x="10759440" y="4427220"/>
            <a:chExt cx="579120" cy="289560"/>
          </a:xfrm>
        </p:grpSpPr>
        <p:sp>
          <p:nvSpPr>
            <p:cNvPr id="229" name="Collate grouped 1 / 2"/>
            <p:cNvSpPr/>
            <p:nvPr/>
          </p:nvSpPr>
          <p:spPr>
            <a:xfrm>
              <a:off x="10759440" y="4427220"/>
              <a:ext cx="57912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Collate grouped 1 / 2 / label"/>
            <p:cNvSpPr txBox="1"/>
            <p:nvPr/>
          </p:nvSpPr>
          <p:spPr>
            <a:xfrm>
              <a:off x="10805160" y="445008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sp>
        <p:nvSpPr>
          <p:cNvPr id="232" name="Collate rank 2"/>
          <p:cNvSpPr txBox="1"/>
          <p:nvPr/>
        </p:nvSpPr>
        <p:spPr>
          <a:xfrm>
            <a:off x="320040" y="4853940"/>
            <a:ext cx="297180" cy="2895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r2</a:t>
            </a:r>
          </a:p>
        </p:txBody>
      </p:sp>
      <p:grpSp>
        <p:nvGrpSpPr>
          <p:cNvPr id="235" name="Collate raw 2 / 0 [editable group]"/>
          <p:cNvGrpSpPr/>
          <p:nvPr/>
        </p:nvGrpSpPr>
        <p:grpSpPr>
          <a:xfrm>
            <a:off x="723900" y="4853940"/>
            <a:ext cx="480060" cy="289560"/>
            <a:chOff x="723900" y="4853940"/>
            <a:chExt cx="480060" cy="289560"/>
          </a:xfrm>
        </p:grpSpPr>
        <p:sp>
          <p:nvSpPr>
            <p:cNvPr id="233" name="Collate raw 2 / 0"/>
            <p:cNvSpPr/>
            <p:nvPr/>
          </p:nvSpPr>
          <p:spPr>
            <a:xfrm>
              <a:off x="723900" y="485394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Collate raw 2 / 0 / label"/>
            <p:cNvSpPr txBox="1"/>
            <p:nvPr/>
          </p:nvSpPr>
          <p:spPr>
            <a:xfrm>
              <a:off x="76962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38" name="Collate raw 2 / 1 [editable group]"/>
          <p:cNvGrpSpPr/>
          <p:nvPr/>
        </p:nvGrpSpPr>
        <p:grpSpPr>
          <a:xfrm>
            <a:off x="1226820" y="4853940"/>
            <a:ext cx="480060" cy="289560"/>
            <a:chOff x="1226820" y="4853940"/>
            <a:chExt cx="480060" cy="289560"/>
          </a:xfrm>
        </p:grpSpPr>
        <p:sp>
          <p:nvSpPr>
            <p:cNvPr id="236" name="Collate raw 2 / 1"/>
            <p:cNvSpPr/>
            <p:nvPr/>
          </p:nvSpPr>
          <p:spPr>
            <a:xfrm>
              <a:off x="1226820" y="485394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Collate raw 2 / 1 / label"/>
            <p:cNvSpPr txBox="1"/>
            <p:nvPr/>
          </p:nvSpPr>
          <p:spPr>
            <a:xfrm>
              <a:off x="127254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241" name="Collate raw 2 / 2 [editable group]"/>
          <p:cNvGrpSpPr/>
          <p:nvPr/>
        </p:nvGrpSpPr>
        <p:grpSpPr>
          <a:xfrm>
            <a:off x="1729740" y="4853940"/>
            <a:ext cx="480060" cy="289560"/>
            <a:chOff x="1729740" y="4853940"/>
            <a:chExt cx="480060" cy="289560"/>
          </a:xfrm>
        </p:grpSpPr>
        <p:sp>
          <p:nvSpPr>
            <p:cNvPr id="239" name="Collate raw 2 / 2"/>
            <p:cNvSpPr/>
            <p:nvPr/>
          </p:nvSpPr>
          <p:spPr>
            <a:xfrm>
              <a:off x="1729740" y="485394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Collate raw 2 / 2 / label"/>
            <p:cNvSpPr txBox="1"/>
            <p:nvPr/>
          </p:nvSpPr>
          <p:spPr>
            <a:xfrm>
              <a:off x="177546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cxnSp>
        <p:nvCxnSpPr>
          <p:cNvPr id="242" name="Collate sort 2 / segment 0"/>
          <p:cNvCxnSpPr/>
          <p:nvPr/>
        </p:nvCxnSpPr>
        <p:spPr>
          <a:xfrm>
            <a:off x="2286000" y="4998720"/>
            <a:ext cx="678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45" name="Collate ordered 2 / 0 [editable group]"/>
          <p:cNvGrpSpPr/>
          <p:nvPr/>
        </p:nvGrpSpPr>
        <p:grpSpPr>
          <a:xfrm>
            <a:off x="3116580" y="4853940"/>
            <a:ext cx="480060" cy="289560"/>
            <a:chOff x="3116580" y="4853940"/>
            <a:chExt cx="480060" cy="289560"/>
          </a:xfrm>
        </p:grpSpPr>
        <p:sp>
          <p:nvSpPr>
            <p:cNvPr id="243" name="Collate ordered 2 / 0"/>
            <p:cNvSpPr/>
            <p:nvPr/>
          </p:nvSpPr>
          <p:spPr>
            <a:xfrm>
              <a:off x="3116580" y="4853940"/>
              <a:ext cx="480060" cy="28956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Collate ordered 2 / 0 / label"/>
            <p:cNvSpPr txBox="1"/>
            <p:nvPr/>
          </p:nvSpPr>
          <p:spPr>
            <a:xfrm>
              <a:off x="316230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a:t>
              </a:r>
            </a:p>
          </p:txBody>
        </p:sp>
      </p:grpSp>
      <p:grpSp>
        <p:nvGrpSpPr>
          <p:cNvPr id="248" name="Collate ordered 2 / 1 [editable group]"/>
          <p:cNvGrpSpPr/>
          <p:nvPr/>
        </p:nvGrpSpPr>
        <p:grpSpPr>
          <a:xfrm>
            <a:off x="3619500" y="4853940"/>
            <a:ext cx="480060" cy="289560"/>
            <a:chOff x="3619500" y="4853940"/>
            <a:chExt cx="480060" cy="289560"/>
          </a:xfrm>
        </p:grpSpPr>
        <p:sp>
          <p:nvSpPr>
            <p:cNvPr id="246" name="Collate ordered 2 / 1"/>
            <p:cNvSpPr/>
            <p:nvPr/>
          </p:nvSpPr>
          <p:spPr>
            <a:xfrm>
              <a:off x="3619500" y="4853940"/>
              <a:ext cx="480060" cy="28956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Collate ordered 2 / 1 / label"/>
            <p:cNvSpPr txBox="1"/>
            <p:nvPr/>
          </p:nvSpPr>
          <p:spPr>
            <a:xfrm>
              <a:off x="366522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A</a:t>
              </a:r>
            </a:p>
          </p:txBody>
        </p:sp>
      </p:grpSp>
      <p:grpSp>
        <p:nvGrpSpPr>
          <p:cNvPr id="251" name="Collate ordered 2 / 2 [editable group]"/>
          <p:cNvGrpSpPr/>
          <p:nvPr/>
        </p:nvGrpSpPr>
        <p:grpSpPr>
          <a:xfrm>
            <a:off x="4122420" y="4853940"/>
            <a:ext cx="480060" cy="289560"/>
            <a:chOff x="4122420" y="4853940"/>
            <a:chExt cx="480060" cy="289560"/>
          </a:xfrm>
        </p:grpSpPr>
        <p:sp>
          <p:nvSpPr>
            <p:cNvPr id="249" name="Collate ordered 2 / 2"/>
            <p:cNvSpPr/>
            <p:nvPr/>
          </p:nvSpPr>
          <p:spPr>
            <a:xfrm>
              <a:off x="4122420" y="4853940"/>
              <a:ext cx="48006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Collate ordered 2 / 2 / label"/>
            <p:cNvSpPr txBox="1"/>
            <p:nvPr/>
          </p:nvSpPr>
          <p:spPr>
            <a:xfrm>
              <a:off x="4168140" y="4876800"/>
              <a:ext cx="38862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cxnSp>
        <p:nvCxnSpPr>
          <p:cNvPr id="252" name="Collate into exchange 2 / segment 0"/>
          <p:cNvCxnSpPr/>
          <p:nvPr/>
        </p:nvCxnSpPr>
        <p:spPr>
          <a:xfrm flipV="1">
            <a:off x="4693920" y="4815840"/>
            <a:ext cx="571500" cy="1828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3" name="Collate out exchange 2 / segment 0"/>
          <p:cNvCxnSpPr/>
          <p:nvPr/>
        </p:nvCxnSpPr>
        <p:spPr>
          <a:xfrm>
            <a:off x="6096000" y="4815840"/>
            <a:ext cx="403860" cy="18288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56" name="Collate segments 2 / 0 [editable group]"/>
          <p:cNvGrpSpPr/>
          <p:nvPr/>
        </p:nvGrpSpPr>
        <p:grpSpPr>
          <a:xfrm>
            <a:off x="6629400" y="4853940"/>
            <a:ext cx="502920" cy="289560"/>
            <a:chOff x="6629400" y="4853940"/>
            <a:chExt cx="502920" cy="289560"/>
          </a:xfrm>
        </p:grpSpPr>
        <p:sp>
          <p:nvSpPr>
            <p:cNvPr id="254" name="Collate segments 2 / 0"/>
            <p:cNvSpPr/>
            <p:nvPr/>
          </p:nvSpPr>
          <p:spPr>
            <a:xfrm>
              <a:off x="6629400" y="485394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Collate segments 2 / 0 / label"/>
            <p:cNvSpPr txBox="1"/>
            <p:nvPr/>
          </p:nvSpPr>
          <p:spPr>
            <a:xfrm>
              <a:off x="6675120" y="487680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259" name="Collate segments 2 / 1 [editable group]"/>
          <p:cNvGrpSpPr/>
          <p:nvPr/>
        </p:nvGrpSpPr>
        <p:grpSpPr>
          <a:xfrm>
            <a:off x="7223760" y="4853940"/>
            <a:ext cx="502920" cy="289560"/>
            <a:chOff x="7223760" y="4853940"/>
            <a:chExt cx="502920" cy="289560"/>
          </a:xfrm>
        </p:grpSpPr>
        <p:sp>
          <p:nvSpPr>
            <p:cNvPr id="257" name="Collate segments 2 / 1"/>
            <p:cNvSpPr/>
            <p:nvPr/>
          </p:nvSpPr>
          <p:spPr>
            <a:xfrm>
              <a:off x="7223760" y="485394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Collate segments 2 / 1 / label"/>
            <p:cNvSpPr txBox="1"/>
            <p:nvPr/>
          </p:nvSpPr>
          <p:spPr>
            <a:xfrm>
              <a:off x="7269480" y="487680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262" name="Collate segments 2 / 2 [editable group]"/>
          <p:cNvGrpSpPr/>
          <p:nvPr/>
        </p:nvGrpSpPr>
        <p:grpSpPr>
          <a:xfrm>
            <a:off x="7818120" y="4853940"/>
            <a:ext cx="502920" cy="289560"/>
            <a:chOff x="7818120" y="4853940"/>
            <a:chExt cx="502920" cy="289560"/>
          </a:xfrm>
        </p:grpSpPr>
        <p:sp>
          <p:nvSpPr>
            <p:cNvPr id="260" name="Collate segments 2 / 2"/>
            <p:cNvSpPr/>
            <p:nvPr/>
          </p:nvSpPr>
          <p:spPr>
            <a:xfrm>
              <a:off x="7818120" y="4853940"/>
              <a:ext cx="5029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Collate segments 2 / 2 / label"/>
            <p:cNvSpPr txBox="1"/>
            <p:nvPr/>
          </p:nvSpPr>
          <p:spPr>
            <a:xfrm>
              <a:off x="7863840" y="4876800"/>
              <a:ext cx="4114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cxnSp>
        <p:nvCxnSpPr>
          <p:cNvPr id="263" name="Collate merge 2 / segment 0"/>
          <p:cNvCxnSpPr/>
          <p:nvPr/>
        </p:nvCxnSpPr>
        <p:spPr>
          <a:xfrm>
            <a:off x="8503920" y="4998720"/>
            <a:ext cx="9601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266" name="Collate grouped 2 / 0 [editable group]"/>
          <p:cNvGrpSpPr/>
          <p:nvPr/>
        </p:nvGrpSpPr>
        <p:grpSpPr>
          <a:xfrm>
            <a:off x="9601200" y="4853940"/>
            <a:ext cx="579120" cy="289560"/>
            <a:chOff x="9601200" y="4853940"/>
            <a:chExt cx="579120" cy="289560"/>
          </a:xfrm>
        </p:grpSpPr>
        <p:sp>
          <p:nvSpPr>
            <p:cNvPr id="264" name="Collate grouped 2 / 0"/>
            <p:cNvSpPr/>
            <p:nvPr/>
          </p:nvSpPr>
          <p:spPr>
            <a:xfrm>
              <a:off x="9601200" y="485394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Collate grouped 2 / 0 / label"/>
            <p:cNvSpPr txBox="1"/>
            <p:nvPr/>
          </p:nvSpPr>
          <p:spPr>
            <a:xfrm>
              <a:off x="9646920" y="487680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269" name="Collate grouped 2 / 1 [editable group]"/>
          <p:cNvGrpSpPr/>
          <p:nvPr/>
        </p:nvGrpSpPr>
        <p:grpSpPr>
          <a:xfrm>
            <a:off x="10180320" y="4853940"/>
            <a:ext cx="579120" cy="289560"/>
            <a:chOff x="10180320" y="4853940"/>
            <a:chExt cx="579120" cy="289560"/>
          </a:xfrm>
        </p:grpSpPr>
        <p:sp>
          <p:nvSpPr>
            <p:cNvPr id="267" name="Collate grouped 2 / 1"/>
            <p:cNvSpPr/>
            <p:nvPr/>
          </p:nvSpPr>
          <p:spPr>
            <a:xfrm>
              <a:off x="10180320" y="485394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Collate grouped 2 / 1 / label"/>
            <p:cNvSpPr txBox="1"/>
            <p:nvPr/>
          </p:nvSpPr>
          <p:spPr>
            <a:xfrm>
              <a:off x="10226040" y="487680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grpSp>
        <p:nvGrpSpPr>
          <p:cNvPr id="272" name="Collate grouped 2 / 2 [editable group]"/>
          <p:cNvGrpSpPr/>
          <p:nvPr/>
        </p:nvGrpSpPr>
        <p:grpSpPr>
          <a:xfrm>
            <a:off x="10759440" y="4853940"/>
            <a:ext cx="579120" cy="289560"/>
            <a:chOff x="10759440" y="4853940"/>
            <a:chExt cx="579120" cy="289560"/>
          </a:xfrm>
        </p:grpSpPr>
        <p:sp>
          <p:nvSpPr>
            <p:cNvPr id="270" name="Collate grouped 2 / 2"/>
            <p:cNvSpPr/>
            <p:nvPr/>
          </p:nvSpPr>
          <p:spPr>
            <a:xfrm>
              <a:off x="10759440" y="4853940"/>
              <a:ext cx="579120" cy="28956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Collate grouped 2 / 2 / label"/>
            <p:cNvSpPr txBox="1"/>
            <p:nvPr/>
          </p:nvSpPr>
          <p:spPr>
            <a:xfrm>
              <a:off x="10805160" y="4876800"/>
              <a:ext cx="487680" cy="2438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a:t>
              </a:r>
            </a:p>
          </p:txBody>
        </p:sp>
      </p:grpSp>
      <p:sp>
        <p:nvSpPr>
          <p:cNvPr id="273" name="Collate exchange"/>
          <p:cNvSpPr/>
          <p:nvPr/>
        </p:nvSpPr>
        <p:spPr>
          <a:xfrm>
            <a:off x="5273040" y="3924300"/>
            <a:ext cx="822960" cy="1295400"/>
          </a:xfrm>
          <a:prstGeom prst="roundRect">
            <a:avLst>
              <a:gd name="adj" fmla="val 7407"/>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Collate exchange title"/>
          <p:cNvSpPr txBox="1"/>
          <p:nvPr/>
        </p:nvSpPr>
        <p:spPr>
          <a:xfrm>
            <a:off x="5303520" y="4023360"/>
            <a:ext cx="762000" cy="39624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MPI</a:t>
            </a:r>
          </a:p>
          <a:p>
            <a:pPr algn="ctr">
              <a:lnSpc>
                <a:spcPts val="1411"/>
              </a:lnSpc>
              <a:spcBef>
                <a:spcPts val="0"/>
              </a:spcBef>
              <a:spcAft>
                <a:spcPts val="0"/>
              </a:spcAft>
            </a:pPr>
            <a:r>
              <a:rPr sz="1260" b="1" i="0">
                <a:solidFill>
                  <a:srgbClr val="172C36"/>
                </a:solidFill>
                <a:latin typeface="Arial"/>
              </a:rPr>
              <a:t>exchange</a:t>
            </a:r>
          </a:p>
        </p:txBody>
      </p:sp>
      <p:cxnSp>
        <p:nvCxnSpPr>
          <p:cNvPr id="275" name="Collate exchange crossed wire 0 / segment 0"/>
          <p:cNvCxnSpPr/>
          <p:nvPr/>
        </p:nvCxnSpPr>
        <p:spPr>
          <a:xfrm>
            <a:off x="5402580" y="4587240"/>
            <a:ext cx="563880" cy="33528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6" name="Collate exchange crossed wire 1 / segment 0"/>
          <p:cNvCxnSpPr/>
          <p:nvPr/>
        </p:nvCxnSpPr>
        <p:spPr>
          <a:xfrm>
            <a:off x="5402580" y="4754880"/>
            <a:ext cx="563880" cy="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7" name="Collate exchange crossed wire 2 / segment 0"/>
          <p:cNvCxnSpPr/>
          <p:nvPr/>
        </p:nvCxnSpPr>
        <p:spPr>
          <a:xfrm flipV="1">
            <a:off x="5402580" y="4587240"/>
            <a:ext cx="563880" cy="335280"/>
          </a:xfrm>
          <a:prstGeom prst="line">
            <a:avLst/>
          </a:prstGeom>
          <a:ln w="12192">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8" name="Collate merge method"/>
          <p:cNvSpPr txBox="1"/>
          <p:nvPr/>
        </p:nvSpPr>
        <p:spPr>
          <a:xfrm>
            <a:off x="8542020" y="3893820"/>
            <a:ext cx="8839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Loser tree</a:t>
            </a:r>
          </a:p>
        </p:txBody>
      </p:sp>
      <p:sp>
        <p:nvSpPr>
          <p:cNvPr id="279" name="Collate ownership mapping"/>
          <p:cNvSpPr txBox="1"/>
          <p:nvPr/>
        </p:nvSpPr>
        <p:spPr>
          <a:xfrm>
            <a:off x="426720" y="5364480"/>
            <a:ext cx="7840979" cy="20574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Example bin owners: B → r0, A → r1, C → r2. Self-owned records stay local.</a:t>
            </a:r>
          </a:p>
        </p:txBody>
      </p:sp>
      <p:sp>
        <p:nvSpPr>
          <p:cNvPr id="280" name="Collate not globally sorted"/>
          <p:cNvSpPr txBox="1"/>
          <p:nvPr/>
        </p:nvSpPr>
        <p:spPr>
          <a:xfrm>
            <a:off x="8580120" y="5364480"/>
            <a:ext cx="3208020" cy="20574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57834A"/>
                </a:solidFill>
                <a:latin typeface="Arial"/>
              </a:rPr>
              <a:t>Grouped, not globally QNAME-sorted</a:t>
            </a:r>
          </a:p>
        </p:txBody>
      </p:sp>
      <p:sp>
        <p:nvSpPr>
          <p:cNvPr id="281" name="External mode title"/>
          <p:cNvSpPr txBox="1"/>
          <p:nvPr/>
        </p:nvSpPr>
        <p:spPr>
          <a:xfrm>
            <a:off x="236220" y="5989320"/>
            <a:ext cx="1737360" cy="411480"/>
          </a:xfrm>
          <a:prstGeom prst="rect">
            <a:avLst/>
          </a:prstGeom>
          <a:noFill/>
        </p:spPr>
        <p:txBody>
          <a:bodyPr wrap="none" lIns="0" rIns="0" tIns="0" bIns="0" anchor="ctr">
            <a:noAutofit/>
          </a:bodyPr>
          <a:lstStyle/>
          <a:p>
            <a:pPr algn="l">
              <a:lnSpc>
                <a:spcPts val="1478"/>
              </a:lnSpc>
              <a:spcBef>
                <a:spcPts val="0"/>
              </a:spcBef>
              <a:spcAft>
                <a:spcPts val="0"/>
              </a:spcAft>
            </a:pPr>
            <a:r>
              <a:rPr sz="1320" b="1" i="0">
                <a:solidFill>
                  <a:srgbClr val="172C36"/>
                </a:solidFill>
                <a:latin typeface="Arial"/>
              </a:rPr>
              <a:t>External-memory</a:t>
            </a:r>
          </a:p>
          <a:p>
            <a:pPr algn="l">
              <a:lnSpc>
                <a:spcPts val="1478"/>
              </a:lnSpc>
              <a:spcBef>
                <a:spcPts val="0"/>
              </a:spcBef>
              <a:spcAft>
                <a:spcPts val="0"/>
              </a:spcAft>
            </a:pPr>
            <a:r>
              <a:rPr sz="1320" b="1" i="0">
                <a:solidFill>
                  <a:srgbClr val="172C36"/>
                </a:solidFill>
                <a:latin typeface="Arial"/>
              </a:rPr>
              <a:t>mode</a:t>
            </a:r>
          </a:p>
        </p:txBody>
      </p:sp>
      <p:grpSp>
        <p:nvGrpSpPr>
          <p:cNvPr id="284" name="Temp sorted run 0 [editable group]"/>
          <p:cNvGrpSpPr/>
          <p:nvPr/>
        </p:nvGrpSpPr>
        <p:grpSpPr>
          <a:xfrm>
            <a:off x="2118360" y="5996940"/>
            <a:ext cx="396240" cy="464820"/>
            <a:chOff x="2118360" y="5996940"/>
            <a:chExt cx="396240" cy="464820"/>
          </a:xfrm>
        </p:grpSpPr>
        <p:sp>
          <p:nvSpPr>
            <p:cNvPr id="282" name="Temp sorted run 0"/>
            <p:cNvSpPr/>
            <p:nvPr/>
          </p:nvSpPr>
          <p:spPr>
            <a:xfrm>
              <a:off x="2118360" y="5996940"/>
              <a:ext cx="396240" cy="464820"/>
            </a:xfrm>
            <a:prstGeom prst="foldedCorner">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mp sorted run 0 / label"/>
            <p:cNvSpPr txBox="1"/>
            <p:nvPr/>
          </p:nvSpPr>
          <p:spPr>
            <a:xfrm>
              <a:off x="2141220" y="6145682"/>
              <a:ext cx="350520" cy="209168"/>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1</a:t>
              </a:r>
            </a:p>
          </p:txBody>
        </p:sp>
      </p:grpSp>
      <p:grpSp>
        <p:nvGrpSpPr>
          <p:cNvPr id="287" name="Temp sorted run 1 [editable group]"/>
          <p:cNvGrpSpPr/>
          <p:nvPr/>
        </p:nvGrpSpPr>
        <p:grpSpPr>
          <a:xfrm>
            <a:off x="2400300" y="6035040"/>
            <a:ext cx="396240" cy="464820"/>
            <a:chOff x="2400300" y="6035040"/>
            <a:chExt cx="396240" cy="464820"/>
          </a:xfrm>
        </p:grpSpPr>
        <p:sp>
          <p:nvSpPr>
            <p:cNvPr id="285" name="Temp sorted run 1"/>
            <p:cNvSpPr/>
            <p:nvPr/>
          </p:nvSpPr>
          <p:spPr>
            <a:xfrm>
              <a:off x="2400300" y="6035040"/>
              <a:ext cx="396240" cy="464820"/>
            </a:xfrm>
            <a:prstGeom prst="foldedCorner">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mp sorted run 1 / label"/>
            <p:cNvSpPr txBox="1"/>
            <p:nvPr/>
          </p:nvSpPr>
          <p:spPr>
            <a:xfrm>
              <a:off x="2423160" y="6183782"/>
              <a:ext cx="350520" cy="209168"/>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2</a:t>
              </a:r>
            </a:p>
          </p:txBody>
        </p:sp>
      </p:grpSp>
      <p:grpSp>
        <p:nvGrpSpPr>
          <p:cNvPr id="290" name="Temp sorted run 2 [editable group]"/>
          <p:cNvGrpSpPr/>
          <p:nvPr/>
        </p:nvGrpSpPr>
        <p:grpSpPr>
          <a:xfrm>
            <a:off x="2682240" y="6073140"/>
            <a:ext cx="396240" cy="464820"/>
            <a:chOff x="2682240" y="6073140"/>
            <a:chExt cx="396240" cy="464820"/>
          </a:xfrm>
        </p:grpSpPr>
        <p:sp>
          <p:nvSpPr>
            <p:cNvPr id="288" name="Temp sorted run 2"/>
            <p:cNvSpPr/>
            <p:nvPr/>
          </p:nvSpPr>
          <p:spPr>
            <a:xfrm>
              <a:off x="2682240" y="6073140"/>
              <a:ext cx="396240" cy="464820"/>
            </a:xfrm>
            <a:prstGeom prst="foldedCorner">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mp sorted run 2 / label"/>
            <p:cNvSpPr txBox="1"/>
            <p:nvPr/>
          </p:nvSpPr>
          <p:spPr>
            <a:xfrm>
              <a:off x="2705100" y="6221882"/>
              <a:ext cx="350520" cy="209168"/>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3</a:t>
              </a:r>
            </a:p>
          </p:txBody>
        </p:sp>
      </p:grpSp>
      <p:sp>
        <p:nvSpPr>
          <p:cNvPr id="291" name="Temp runs label"/>
          <p:cNvSpPr txBox="1"/>
          <p:nvPr/>
        </p:nvSpPr>
        <p:spPr>
          <a:xfrm>
            <a:off x="2057400" y="6537960"/>
            <a:ext cx="137922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Sorted runs</a:t>
            </a:r>
          </a:p>
        </p:txBody>
      </p:sp>
      <p:grpSp>
        <p:nvGrpSpPr>
          <p:cNvPr id="294" name="External Bounded exchange [editable group]"/>
          <p:cNvGrpSpPr/>
          <p:nvPr/>
        </p:nvGrpSpPr>
        <p:grpSpPr>
          <a:xfrm>
            <a:off x="3634740" y="6080760"/>
            <a:ext cx="2057400" cy="441960"/>
            <a:chOff x="3634740" y="6080760"/>
            <a:chExt cx="2057400" cy="441960"/>
          </a:xfrm>
        </p:grpSpPr>
        <p:sp>
          <p:nvSpPr>
            <p:cNvPr id="292" name="External Bounded exchange"/>
            <p:cNvSpPr/>
            <p:nvPr/>
          </p:nvSpPr>
          <p:spPr>
            <a:xfrm>
              <a:off x="3634740" y="6080760"/>
              <a:ext cx="2057400" cy="441960"/>
            </a:xfrm>
            <a:prstGeom prst="roundRect">
              <a:avLst>
                <a:gd name="adj" fmla="val 13793"/>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External Bounded exchange / label"/>
            <p:cNvSpPr txBox="1"/>
            <p:nvPr/>
          </p:nvSpPr>
          <p:spPr>
            <a:xfrm>
              <a:off x="3680460" y="6103620"/>
              <a:ext cx="1965960" cy="3962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Bounded exchange</a:t>
              </a:r>
            </a:p>
          </p:txBody>
        </p:sp>
      </p:grpSp>
      <p:grpSp>
        <p:nvGrpSpPr>
          <p:cNvPr id="297" name="External Streaming multi-way merge [editable group]"/>
          <p:cNvGrpSpPr/>
          <p:nvPr/>
        </p:nvGrpSpPr>
        <p:grpSpPr>
          <a:xfrm>
            <a:off x="6088380" y="6080760"/>
            <a:ext cx="2202180" cy="441960"/>
            <a:chOff x="6088380" y="6080760"/>
            <a:chExt cx="2202180" cy="441960"/>
          </a:xfrm>
        </p:grpSpPr>
        <p:sp>
          <p:nvSpPr>
            <p:cNvPr id="295" name="External Streaming multi-way merge"/>
            <p:cNvSpPr/>
            <p:nvPr/>
          </p:nvSpPr>
          <p:spPr>
            <a:xfrm>
              <a:off x="6088380" y="6080760"/>
              <a:ext cx="2202180" cy="441960"/>
            </a:xfrm>
            <a:prstGeom prst="roundRect">
              <a:avLst>
                <a:gd name="adj" fmla="val 13793"/>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External Streaming multi-way merge / label"/>
            <p:cNvSpPr txBox="1"/>
            <p:nvPr/>
          </p:nvSpPr>
          <p:spPr>
            <a:xfrm>
              <a:off x="6134100" y="6103620"/>
              <a:ext cx="2110740" cy="3962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Streaming multi-way merge</a:t>
              </a:r>
            </a:p>
          </p:txBody>
        </p:sp>
      </p:grpSp>
      <p:grpSp>
        <p:nvGrpSpPr>
          <p:cNvPr id="300" name="External Common BAM writer [editable group]"/>
          <p:cNvGrpSpPr/>
          <p:nvPr/>
        </p:nvGrpSpPr>
        <p:grpSpPr>
          <a:xfrm>
            <a:off x="8686800" y="6080760"/>
            <a:ext cx="2171700" cy="441960"/>
            <a:chOff x="8686800" y="6080760"/>
            <a:chExt cx="2171700" cy="441960"/>
          </a:xfrm>
        </p:grpSpPr>
        <p:sp>
          <p:nvSpPr>
            <p:cNvPr id="298" name="External Common BAM writer"/>
            <p:cNvSpPr/>
            <p:nvPr/>
          </p:nvSpPr>
          <p:spPr>
            <a:xfrm>
              <a:off x="8686800" y="6080760"/>
              <a:ext cx="2171700" cy="441960"/>
            </a:xfrm>
            <a:prstGeom prst="roundRect">
              <a:avLst>
                <a:gd name="adj" fmla="val 13793"/>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External Common BAM writer / label"/>
            <p:cNvSpPr txBox="1"/>
            <p:nvPr/>
          </p:nvSpPr>
          <p:spPr>
            <a:xfrm>
              <a:off x="8732520" y="6103620"/>
              <a:ext cx="2080260" cy="39624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Common BAM writer</a:t>
              </a:r>
            </a:p>
          </p:txBody>
        </p:sp>
      </p:grpSp>
      <p:cxnSp>
        <p:nvCxnSpPr>
          <p:cNvPr id="301" name="Runs to bounded exchange / segment 0"/>
          <p:cNvCxnSpPr/>
          <p:nvPr/>
        </p:nvCxnSpPr>
        <p:spPr>
          <a:xfrm>
            <a:off x="3131820" y="6309360"/>
            <a:ext cx="47244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2" name="Exchange to streaming merge / segment 0"/>
          <p:cNvCxnSpPr/>
          <p:nvPr/>
        </p:nvCxnSpPr>
        <p:spPr>
          <a:xfrm>
            <a:off x="5692140" y="6309360"/>
            <a:ext cx="3657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3" name="External merge to writer / segment 0"/>
          <p:cNvCxnSpPr/>
          <p:nvPr/>
        </p:nvCxnSpPr>
        <p:spPr>
          <a:xfrm>
            <a:off x="8290560" y="6309360"/>
            <a:ext cx="3657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306" name="External output [editable group]"/>
          <p:cNvGrpSpPr/>
          <p:nvPr/>
        </p:nvGrpSpPr>
        <p:grpSpPr>
          <a:xfrm>
            <a:off x="11247120" y="6019800"/>
            <a:ext cx="487680" cy="563880"/>
            <a:chOff x="11247120" y="6019800"/>
            <a:chExt cx="487680" cy="563880"/>
          </a:xfrm>
        </p:grpSpPr>
        <p:sp>
          <p:nvSpPr>
            <p:cNvPr id="304" name="External output"/>
            <p:cNvSpPr/>
            <p:nvPr/>
          </p:nvSpPr>
          <p:spPr>
            <a:xfrm>
              <a:off x="11247120" y="6019800"/>
              <a:ext cx="487680" cy="563880"/>
            </a:xfrm>
            <a:prstGeom prst="foldedCorner">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External output / label"/>
            <p:cNvSpPr txBox="1"/>
            <p:nvPr/>
          </p:nvSpPr>
          <p:spPr>
            <a:xfrm>
              <a:off x="11269980" y="6200241"/>
              <a:ext cx="441960" cy="253746"/>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BAM</a:t>
              </a:r>
            </a:p>
          </p:txBody>
        </p:sp>
      </p:grpSp>
      <p:cxnSp>
        <p:nvCxnSpPr>
          <p:cNvPr id="307" name="External final output / segment 0"/>
          <p:cNvCxnSpPr/>
          <p:nvPr/>
        </p:nvCxnSpPr>
        <p:spPr>
          <a:xfrm>
            <a:off x="10881360" y="6309360"/>
            <a:ext cx="3429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Pre-resolve rank boundaries before the main stream"/>
          <p:cNvSpPr txBox="1"/>
          <p:nvPr/>
        </p:nvSpPr>
        <p:spPr>
          <a:xfrm>
            <a:off x="228600" y="9144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(a) Pre-resolve rank boundaries before the main stream</a:t>
            </a:r>
          </a:p>
        </p:txBody>
      </p:sp>
      <p:sp>
        <p:nvSpPr>
          <p:cNvPr id="3" name="Boundary probe region"/>
          <p:cNvSpPr/>
          <p:nvPr/>
        </p:nvSpPr>
        <p:spPr>
          <a:xfrm>
            <a:off x="220980" y="457200"/>
            <a:ext cx="4632960" cy="2468880"/>
          </a:xfrm>
          <a:prstGeom prst="roundRect">
            <a:avLst>
              <a:gd name="adj" fmla="val 3703"/>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undary probe region / heading"/>
          <p:cNvSpPr txBox="1"/>
          <p:nvPr/>
        </p:nvSpPr>
        <p:spPr>
          <a:xfrm>
            <a:off x="335280" y="533400"/>
            <a:ext cx="440436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Probe head / tail BGZF blocks</a:t>
            </a:r>
          </a:p>
        </p:txBody>
      </p:sp>
      <p:sp>
        <p:nvSpPr>
          <p:cNvPr id="5" name="Left probe rank"/>
          <p:cNvSpPr txBox="1"/>
          <p:nvPr/>
        </p:nvSpPr>
        <p:spPr>
          <a:xfrm>
            <a:off x="441960" y="899160"/>
            <a:ext cx="1866899" cy="1905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Rank r−1: tail</a:t>
            </a:r>
          </a:p>
        </p:txBody>
      </p:sp>
      <p:sp>
        <p:nvSpPr>
          <p:cNvPr id="6" name="Right probe rank"/>
          <p:cNvSpPr txBox="1"/>
          <p:nvPr/>
        </p:nvSpPr>
        <p:spPr>
          <a:xfrm>
            <a:off x="2667000" y="899160"/>
            <a:ext cx="1882139" cy="19050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Rank r: head</a:t>
            </a:r>
          </a:p>
        </p:txBody>
      </p:sp>
      <p:sp>
        <p:nvSpPr>
          <p:cNvPr id="7" name="Left BGZF blocks / 0"/>
          <p:cNvSpPr/>
          <p:nvPr/>
        </p:nvSpPr>
        <p:spPr>
          <a:xfrm>
            <a:off x="42672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Left BGZF blocks / divider 0 / segment 0"/>
          <p:cNvCxnSpPr/>
          <p:nvPr/>
        </p:nvCxnSpPr>
        <p:spPr>
          <a:xfrm>
            <a:off x="5090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9" name="Left BGZF blocks / 1"/>
          <p:cNvSpPr/>
          <p:nvPr/>
        </p:nvSpPr>
        <p:spPr>
          <a:xfrm>
            <a:off x="7543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Left BGZF blocks / divider 1 / segment 0"/>
          <p:cNvCxnSpPr/>
          <p:nvPr/>
        </p:nvCxnSpPr>
        <p:spPr>
          <a:xfrm>
            <a:off x="83667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1" name="Left BGZF blocks / 2"/>
          <p:cNvSpPr/>
          <p:nvPr/>
        </p:nvSpPr>
        <p:spPr>
          <a:xfrm>
            <a:off x="108204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Left BGZF blocks / divider 2 / segment 0"/>
          <p:cNvCxnSpPr/>
          <p:nvPr/>
        </p:nvCxnSpPr>
        <p:spPr>
          <a:xfrm>
            <a:off x="116433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3" name="Left BGZF blocks / 3"/>
          <p:cNvSpPr/>
          <p:nvPr/>
        </p:nvSpPr>
        <p:spPr>
          <a:xfrm>
            <a:off x="14097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Left BGZF blocks / divider 3 / segment 0"/>
          <p:cNvCxnSpPr/>
          <p:nvPr/>
        </p:nvCxnSpPr>
        <p:spPr>
          <a:xfrm>
            <a:off x="14919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5" name="Left BGZF blocks / 4"/>
          <p:cNvSpPr/>
          <p:nvPr/>
        </p:nvSpPr>
        <p:spPr>
          <a:xfrm>
            <a:off x="17373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Left BGZF blocks / divider 4 / segment 0"/>
          <p:cNvCxnSpPr/>
          <p:nvPr/>
        </p:nvCxnSpPr>
        <p:spPr>
          <a:xfrm>
            <a:off x="18196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7" name="Left BGZF blocks / 5"/>
          <p:cNvSpPr/>
          <p:nvPr/>
        </p:nvSpPr>
        <p:spPr>
          <a:xfrm>
            <a:off x="20650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Left BGZF blocks / divider 5 / segment 0"/>
          <p:cNvCxnSpPr/>
          <p:nvPr/>
        </p:nvCxnSpPr>
        <p:spPr>
          <a:xfrm>
            <a:off x="21473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19" name="Right BGZF blocks / 0"/>
          <p:cNvSpPr/>
          <p:nvPr/>
        </p:nvSpPr>
        <p:spPr>
          <a:xfrm>
            <a:off x="266700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Right BGZF blocks / divider 0 / segment 0"/>
          <p:cNvCxnSpPr/>
          <p:nvPr/>
        </p:nvCxnSpPr>
        <p:spPr>
          <a:xfrm>
            <a:off x="27492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1" name="Right BGZF blocks / 1"/>
          <p:cNvSpPr/>
          <p:nvPr/>
        </p:nvSpPr>
        <p:spPr>
          <a:xfrm>
            <a:off x="299466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Right BGZF blocks / divider 1 / segment 0"/>
          <p:cNvCxnSpPr/>
          <p:nvPr/>
        </p:nvCxnSpPr>
        <p:spPr>
          <a:xfrm>
            <a:off x="307695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3" name="Right BGZF blocks / 2"/>
          <p:cNvSpPr/>
          <p:nvPr/>
        </p:nvSpPr>
        <p:spPr>
          <a:xfrm>
            <a:off x="3322320" y="1242060"/>
            <a:ext cx="304800" cy="327660"/>
          </a:xfrm>
          <a:prstGeom prst="rect">
            <a:avLst/>
          </a:prstGeom>
          <a:solidFill>
            <a:srgbClr val="DFEED2"/>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Right BGZF blocks / divider 2 / segment 0"/>
          <p:cNvCxnSpPr/>
          <p:nvPr/>
        </p:nvCxnSpPr>
        <p:spPr>
          <a:xfrm>
            <a:off x="340461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5" name="Right BGZF blocks / 3"/>
          <p:cNvSpPr/>
          <p:nvPr/>
        </p:nvSpPr>
        <p:spPr>
          <a:xfrm>
            <a:off x="364998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Right BGZF blocks / divider 3 / segment 0"/>
          <p:cNvCxnSpPr/>
          <p:nvPr/>
        </p:nvCxnSpPr>
        <p:spPr>
          <a:xfrm>
            <a:off x="373227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7" name="Right BGZF blocks / 4"/>
          <p:cNvSpPr/>
          <p:nvPr/>
        </p:nvSpPr>
        <p:spPr>
          <a:xfrm>
            <a:off x="3977639"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Right BGZF blocks / divider 4 / segment 0"/>
          <p:cNvCxnSpPr/>
          <p:nvPr/>
        </p:nvCxnSpPr>
        <p:spPr>
          <a:xfrm>
            <a:off x="4059935"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sp>
        <p:nvSpPr>
          <p:cNvPr id="29" name="Right BGZF blocks / 5"/>
          <p:cNvSpPr/>
          <p:nvPr/>
        </p:nvSpPr>
        <p:spPr>
          <a:xfrm>
            <a:off x="4305300" y="1242060"/>
            <a:ext cx="304800" cy="327660"/>
          </a:xfrm>
          <a:prstGeom prst="rect">
            <a:avLst/>
          </a:prstGeom>
          <a:solidFill>
            <a:srgbClr val="F5F8F9"/>
          </a:solidFill>
          <a:ln w="11429">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Right BGZF blocks / divider 5 / segment 0"/>
          <p:cNvCxnSpPr/>
          <p:nvPr/>
        </p:nvCxnSpPr>
        <p:spPr>
          <a:xfrm>
            <a:off x="4387596" y="1242060"/>
            <a:ext cx="0" cy="327660"/>
          </a:xfrm>
          <a:prstGeom prst="line">
            <a:avLst/>
          </a:prstGeom>
          <a:ln w="7620">
            <a:solidFill>
              <a:srgbClr val="173948"/>
            </a:solidFill>
          </a:ln>
          <a:effectLst/>
        </p:spPr>
        <p:style>
          <a:lnRef idx="2">
            <a:schemeClr val="accent1"/>
          </a:lnRef>
          <a:fillRef idx="0">
            <a:schemeClr val="accent1"/>
          </a:fillRef>
          <a:effectRef idx="1">
            <a:schemeClr val="accent1"/>
          </a:effectRef>
          <a:fontRef idx="minor">
            <a:schemeClr val="tx1"/>
          </a:fontRef>
        </p:style>
      </p:cxnSp>
      <p:cxnSp>
        <p:nvCxnSpPr>
          <p:cNvPr id="31" name="Rank partition cut / segment 0"/>
          <p:cNvCxnSpPr/>
          <p:nvPr/>
        </p:nvCxnSpPr>
        <p:spPr>
          <a:xfrm>
            <a:off x="2514600" y="1097280"/>
            <a:ext cx="0" cy="998219"/>
          </a:xfrm>
          <a:prstGeom prst="line">
            <a:avLst/>
          </a:prstGeom>
          <a:ln w="12954">
            <a:solidFill>
              <a:srgbClr val="17394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32" name="Coordinate progress axis / segment 0"/>
          <p:cNvCxnSpPr/>
          <p:nvPr/>
        </p:nvCxnSpPr>
        <p:spPr>
          <a:xfrm>
            <a:off x="495299" y="1981199"/>
            <a:ext cx="4099561"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ordinate tick b−L / segment 0"/>
          <p:cNvCxnSpPr/>
          <p:nvPr/>
        </p:nvCxnSpPr>
        <p:spPr>
          <a:xfrm>
            <a:off x="172974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4" name="Coordinate label b−L"/>
          <p:cNvSpPr txBox="1"/>
          <p:nvPr/>
        </p:nvSpPr>
        <p:spPr>
          <a:xfrm>
            <a:off x="144780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b−L</a:t>
            </a:r>
          </a:p>
        </p:txBody>
      </p:sp>
      <p:cxnSp>
        <p:nvCxnSpPr>
          <p:cNvPr id="35" name="Coordinate tick b / segment 0"/>
          <p:cNvCxnSpPr/>
          <p:nvPr/>
        </p:nvCxnSpPr>
        <p:spPr>
          <a:xfrm>
            <a:off x="25146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6" name="Coordinate label b"/>
          <p:cNvSpPr txBox="1"/>
          <p:nvPr/>
        </p:nvSpPr>
        <p:spPr>
          <a:xfrm>
            <a:off x="223266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a:t>
            </a:r>
          </a:p>
        </p:txBody>
      </p:sp>
      <p:cxnSp>
        <p:nvCxnSpPr>
          <p:cNvPr id="37" name="Coordinate tick b+L / segment 0"/>
          <p:cNvCxnSpPr/>
          <p:nvPr/>
        </p:nvCxnSpPr>
        <p:spPr>
          <a:xfrm>
            <a:off x="3467100" y="1935480"/>
            <a:ext cx="0" cy="99060"/>
          </a:xfrm>
          <a:prstGeom prst="line">
            <a:avLst/>
          </a:prstGeom>
          <a:ln w="9906">
            <a:solidFill>
              <a:srgbClr val="61727A"/>
            </a:solidFill>
          </a:ln>
          <a:effectLst/>
        </p:spPr>
        <p:style>
          <a:lnRef idx="2">
            <a:schemeClr val="accent1"/>
          </a:lnRef>
          <a:fillRef idx="0">
            <a:schemeClr val="accent1"/>
          </a:fillRef>
          <a:effectRef idx="1">
            <a:schemeClr val="accent1"/>
          </a:effectRef>
          <a:fontRef idx="minor">
            <a:schemeClr val="tx1"/>
          </a:fontRef>
        </p:style>
      </p:cxnSp>
      <p:sp>
        <p:nvSpPr>
          <p:cNvPr id="38" name="Coordinate label b+L"/>
          <p:cNvSpPr txBox="1"/>
          <p:nvPr/>
        </p:nvSpPr>
        <p:spPr>
          <a:xfrm>
            <a:off x="3185160" y="2072640"/>
            <a:ext cx="56388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b+L</a:t>
            </a:r>
          </a:p>
        </p:txBody>
      </p:sp>
      <p:cxnSp>
        <p:nvCxnSpPr>
          <p:cNvPr id="39" name="Probe halo extent / segment 0"/>
          <p:cNvCxnSpPr/>
          <p:nvPr/>
        </p:nvCxnSpPr>
        <p:spPr>
          <a:xfrm flipV="1">
            <a:off x="16764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0" name="Probe halo extent / segment 1"/>
          <p:cNvCxnSpPr/>
          <p:nvPr/>
        </p:nvCxnSpPr>
        <p:spPr>
          <a:xfrm>
            <a:off x="1676400" y="1790700"/>
            <a:ext cx="186690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41" name="Probe halo extent / segment 2"/>
          <p:cNvCxnSpPr/>
          <p:nvPr/>
        </p:nvCxnSpPr>
        <p:spPr>
          <a:xfrm>
            <a:off x="3543300" y="179070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42" name="Probe halo extent / label"/>
          <p:cNvSpPr txBox="1"/>
          <p:nvPr/>
        </p:nvSpPr>
        <p:spPr>
          <a:xfrm>
            <a:off x="1676400" y="1577340"/>
            <a:ext cx="1866899"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Boundary halo</a:t>
            </a:r>
          </a:p>
        </p:txBody>
      </p:sp>
      <p:sp>
        <p:nvSpPr>
          <p:cNvPr id="43" name="Probe extraction note"/>
          <p:cNvSpPr txBox="1"/>
          <p:nvPr/>
        </p:nvSpPr>
        <p:spPr>
          <a:xfrm>
            <a:off x="457200" y="2415540"/>
            <a:ext cx="4145280" cy="35052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CPE decoding + candidate extraction</a:t>
            </a:r>
          </a:p>
          <a:p>
            <a:pPr algn="ctr">
              <a:lnSpc>
                <a:spcPts val="1209"/>
              </a:lnSpc>
              <a:spcBef>
                <a:spcPts val="0"/>
              </a:spcBef>
              <a:spcAft>
                <a:spcPts val="0"/>
              </a:spcAft>
            </a:pPr>
            <a:r>
              <a:rPr sz="1080" b="0" i="0">
                <a:solidFill>
                  <a:srgbClr val="172C36"/>
                </a:solidFill>
                <a:latin typeface="Arial"/>
              </a:rPr>
              <a:t>Exchange candidate metadata, not full BAM records</a:t>
            </a:r>
          </a:p>
        </p:txBody>
      </p:sp>
      <p:cxnSp>
        <p:nvCxnSpPr>
          <p:cNvPr id="44" name="Probe to collective coverage / segment 0"/>
          <p:cNvCxnSpPr/>
          <p:nvPr/>
        </p:nvCxnSpPr>
        <p:spPr>
          <a:xfrm>
            <a:off x="4853940" y="1661160"/>
            <a:ext cx="3733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All ranks covered diamond"/>
          <p:cNvSpPr/>
          <p:nvPr/>
        </p:nvSpPr>
        <p:spPr>
          <a:xfrm>
            <a:off x="5234940" y="1234440"/>
            <a:ext cx="1264920" cy="853440"/>
          </a:xfrm>
          <a:prstGeom prst="diamond">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verage check text"/>
          <p:cNvSpPr txBox="1"/>
          <p:nvPr/>
        </p:nvSpPr>
        <p:spPr>
          <a:xfrm>
            <a:off x="5387340" y="1424940"/>
            <a:ext cx="960120" cy="48006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Covered</a:t>
            </a:r>
          </a:p>
          <a:p>
            <a:pPr algn="ctr">
              <a:lnSpc>
                <a:spcPts val="1276"/>
              </a:lnSpc>
              <a:spcBef>
                <a:spcPts val="0"/>
              </a:spcBef>
              <a:spcAft>
                <a:spcPts val="0"/>
              </a:spcAft>
            </a:pPr>
            <a:r>
              <a:rPr sz="1140" b="1" i="0">
                <a:solidFill>
                  <a:srgbClr val="172C36"/>
                </a:solidFill>
                <a:latin typeface="Arial"/>
              </a:rPr>
              <a:t>on all ranks?</a:t>
            </a:r>
          </a:p>
        </p:txBody>
      </p:sp>
      <p:cxnSp>
        <p:nvCxnSpPr>
          <p:cNvPr id="47" name="Covered to owner resolution / segment 0"/>
          <p:cNvCxnSpPr/>
          <p:nvPr/>
        </p:nvCxnSpPr>
        <p:spPr>
          <a:xfrm>
            <a:off x="6499860" y="1661160"/>
            <a:ext cx="38862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Coverage yes"/>
          <p:cNvSpPr txBox="1"/>
          <p:nvPr/>
        </p:nvSpPr>
        <p:spPr>
          <a:xfrm>
            <a:off x="6522720" y="1348740"/>
            <a:ext cx="36576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Yes</a:t>
            </a:r>
          </a:p>
        </p:txBody>
      </p:sp>
      <p:sp>
        <p:nvSpPr>
          <p:cNvPr id="49" name="Boundary owner resolution"/>
          <p:cNvSpPr/>
          <p:nvPr/>
        </p:nvSpPr>
        <p:spPr>
          <a:xfrm>
            <a:off x="6918960" y="701040"/>
            <a:ext cx="2446020" cy="1889760"/>
          </a:xfrm>
          <a:prstGeom prst="roundRect">
            <a:avLst>
              <a:gd name="adj" fmla="val 4838"/>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oundary owner resolution / heading"/>
          <p:cNvSpPr txBox="1"/>
          <p:nvPr/>
        </p:nvSpPr>
        <p:spPr>
          <a:xfrm>
            <a:off x="7033260" y="777240"/>
            <a:ext cx="221742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Coordinate owner</a:t>
            </a:r>
          </a:p>
        </p:txBody>
      </p:sp>
      <p:grpSp>
        <p:nvGrpSpPr>
          <p:cNvPr id="53" name="Left candidate [editable group]"/>
          <p:cNvGrpSpPr/>
          <p:nvPr/>
        </p:nvGrpSpPr>
        <p:grpSpPr>
          <a:xfrm>
            <a:off x="7078980" y="1150620"/>
            <a:ext cx="2110740" cy="381000"/>
            <a:chOff x="7078980" y="1150620"/>
            <a:chExt cx="2110740" cy="381000"/>
          </a:xfrm>
        </p:grpSpPr>
        <p:sp>
          <p:nvSpPr>
            <p:cNvPr id="51" name="Left candidate"/>
            <p:cNvSpPr/>
            <p:nvPr/>
          </p:nvSpPr>
          <p:spPr>
            <a:xfrm>
              <a:off x="7078980" y="1150620"/>
              <a:ext cx="2110740" cy="381000"/>
            </a:xfrm>
            <a:prstGeom prst="rect">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Left candidate / label"/>
            <p:cNvSpPr txBox="1"/>
            <p:nvPr/>
          </p:nvSpPr>
          <p:spPr>
            <a:xfrm>
              <a:off x="7124700" y="1173480"/>
              <a:ext cx="2019300" cy="3352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r−1: key k  |  score 70</a:t>
              </a:r>
            </a:p>
          </p:txBody>
        </p:sp>
      </p:grpSp>
      <p:grpSp>
        <p:nvGrpSpPr>
          <p:cNvPr id="56" name="Right candidate [editable group]"/>
          <p:cNvGrpSpPr/>
          <p:nvPr/>
        </p:nvGrpSpPr>
        <p:grpSpPr>
          <a:xfrm>
            <a:off x="7078980" y="1638300"/>
            <a:ext cx="2110740" cy="381000"/>
            <a:chOff x="7078980" y="1638300"/>
            <a:chExt cx="2110740" cy="381000"/>
          </a:xfrm>
        </p:grpSpPr>
        <p:sp>
          <p:nvSpPr>
            <p:cNvPr id="54" name="Right candidate"/>
            <p:cNvSpPr/>
            <p:nvPr/>
          </p:nvSpPr>
          <p:spPr>
            <a:xfrm>
              <a:off x="7078980" y="1638300"/>
              <a:ext cx="211074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ight candidate / label"/>
            <p:cNvSpPr txBox="1"/>
            <p:nvPr/>
          </p:nvSpPr>
          <p:spPr>
            <a:xfrm>
              <a:off x="7124700" y="1661160"/>
              <a:ext cx="2019300" cy="3352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 key k  |  score 60</a:t>
              </a:r>
            </a:p>
          </p:txBody>
        </p:sp>
      </p:grpSp>
      <p:sp>
        <p:nvSpPr>
          <p:cNvPr id="57" name="Resolve same duplicate key"/>
          <p:cNvSpPr txBox="1"/>
          <p:nvPr/>
        </p:nvSpPr>
        <p:spPr>
          <a:xfrm>
            <a:off x="7086600" y="2194560"/>
            <a:ext cx="2103120" cy="22098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172C36"/>
                </a:solidFill>
                <a:latin typeface="Arial"/>
              </a:rPr>
              <a:t>Same key → select winner</a:t>
            </a:r>
          </a:p>
        </p:txBody>
      </p:sp>
      <p:cxnSp>
        <p:nvCxnSpPr>
          <p:cNvPr id="58" name="Return boundary decisions / segment 0"/>
          <p:cNvCxnSpPr/>
          <p:nvPr/>
        </p:nvCxnSpPr>
        <p:spPr>
          <a:xfrm>
            <a:off x="9364980" y="1661160"/>
            <a:ext cx="41910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9" name="Return label"/>
          <p:cNvSpPr txBox="1"/>
          <p:nvPr/>
        </p:nvSpPr>
        <p:spPr>
          <a:xfrm>
            <a:off x="9403080" y="1348740"/>
            <a:ext cx="403860" cy="19050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172C36"/>
                </a:solidFill>
                <a:latin typeface="Arial"/>
              </a:rPr>
              <a:t>Return</a:t>
            </a:r>
          </a:p>
        </p:txBody>
      </p:sp>
      <p:sp>
        <p:nvSpPr>
          <p:cNvPr id="60" name="Boundary decisions"/>
          <p:cNvSpPr/>
          <p:nvPr/>
        </p:nvSpPr>
        <p:spPr>
          <a:xfrm>
            <a:off x="9806940" y="701040"/>
            <a:ext cx="2164080" cy="1889760"/>
          </a:xfrm>
          <a:prstGeom prst="roundRect">
            <a:avLst>
              <a:gd name="adj" fmla="val 4838"/>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Boundary decisions / heading"/>
          <p:cNvSpPr txBox="1"/>
          <p:nvPr/>
        </p:nvSpPr>
        <p:spPr>
          <a:xfrm>
            <a:off x="9921240" y="777240"/>
            <a:ext cx="19354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Cached decisions Hᵣ</a:t>
            </a:r>
          </a:p>
        </p:txBody>
      </p:sp>
      <p:grpSp>
        <p:nvGrpSpPr>
          <p:cNvPr id="64" name="Pre resolved keep [editable group]"/>
          <p:cNvGrpSpPr/>
          <p:nvPr/>
        </p:nvGrpSpPr>
        <p:grpSpPr>
          <a:xfrm>
            <a:off x="9966960" y="1150620"/>
            <a:ext cx="1836420" cy="381000"/>
            <a:chOff x="9966960" y="1150620"/>
            <a:chExt cx="1836420" cy="381000"/>
          </a:xfrm>
        </p:grpSpPr>
        <p:sp>
          <p:nvSpPr>
            <p:cNvPr id="62" name="Pre resolved keep"/>
            <p:cNvSpPr/>
            <p:nvPr/>
          </p:nvSpPr>
          <p:spPr>
            <a:xfrm>
              <a:off x="9966960" y="1150620"/>
              <a:ext cx="1836420" cy="38100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re resolved keep / label"/>
            <p:cNvSpPr txBox="1"/>
            <p:nvPr/>
          </p:nvSpPr>
          <p:spPr>
            <a:xfrm>
              <a:off x="10012680" y="1173480"/>
              <a:ext cx="1744980" cy="33528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r−1   :   KEEP</a:t>
              </a:r>
            </a:p>
          </p:txBody>
        </p:sp>
      </p:grpSp>
      <p:grpSp>
        <p:nvGrpSpPr>
          <p:cNvPr id="67" name="Pre resolved duplicate [editable group]"/>
          <p:cNvGrpSpPr/>
          <p:nvPr/>
        </p:nvGrpSpPr>
        <p:grpSpPr>
          <a:xfrm>
            <a:off x="9966960" y="1638300"/>
            <a:ext cx="1836420" cy="381000"/>
            <a:chOff x="9966960" y="1638300"/>
            <a:chExt cx="1836420" cy="381000"/>
          </a:xfrm>
        </p:grpSpPr>
        <p:sp>
          <p:nvSpPr>
            <p:cNvPr id="65" name="Pre resolved duplicate"/>
            <p:cNvSpPr/>
            <p:nvPr/>
          </p:nvSpPr>
          <p:spPr>
            <a:xfrm>
              <a:off x="9966960" y="1638300"/>
              <a:ext cx="1836420" cy="381000"/>
            </a:xfrm>
            <a:prstGeom prst="rect">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re resolved duplicate / label"/>
            <p:cNvSpPr txBox="1"/>
            <p:nvPr/>
          </p:nvSpPr>
          <p:spPr>
            <a:xfrm>
              <a:off x="10012680" y="1661160"/>
              <a:ext cx="1744980" cy="335280"/>
            </a:xfrm>
            <a:prstGeom prst="rect">
              <a:avLst/>
            </a:prstGeom>
            <a:noFill/>
          </p:spPr>
          <p:txBody>
            <a:bodyPr wrap="none" lIns="0" rIns="0" tIns="0" bIns="0" anchor="ctr">
              <a:noAutofit/>
            </a:bodyPr>
            <a:lstStyle/>
            <a:p>
              <a:pPr algn="ctr">
                <a:lnSpc>
                  <a:spcPts val="1411"/>
                </a:lnSpc>
                <a:spcBef>
                  <a:spcPts val="0"/>
                </a:spcBef>
                <a:spcAft>
                  <a:spcPts val="0"/>
                </a:spcAft>
              </a:pPr>
              <a:r>
                <a:rPr sz="1260" b="1" i="0">
                  <a:solidFill>
                    <a:srgbClr val="172C36"/>
                  </a:solidFill>
                  <a:latin typeface="Arial"/>
                </a:rPr>
                <a:t>r      :   DUP</a:t>
              </a:r>
            </a:p>
          </p:txBody>
        </p:sp>
      </p:grpSp>
      <p:sp>
        <p:nvSpPr>
          <p:cNvPr id="68" name="Boundary decision indexing"/>
          <p:cNvSpPr txBox="1"/>
          <p:nvPr/>
        </p:nvSpPr>
        <p:spPr>
          <a:xfrm>
            <a:off x="9951720" y="2194560"/>
            <a:ext cx="1859280" cy="2209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By source record ID</a:t>
            </a:r>
          </a:p>
        </p:txBody>
      </p:sp>
      <p:cxnSp>
        <p:nvCxnSpPr>
          <p:cNvPr id="69" name="Coverage failure fallback / segment 0"/>
          <p:cNvCxnSpPr/>
          <p:nvPr/>
        </p:nvCxnSpPr>
        <p:spPr>
          <a:xfrm>
            <a:off x="5867400" y="2087880"/>
            <a:ext cx="0" cy="708660"/>
          </a:xfrm>
          <a:prstGeom prst="line">
            <a:avLst/>
          </a:prstGeom>
          <a:ln w="13716">
            <a:solidFill>
              <a:srgbClr val="9A7625"/>
            </a:solidFill>
            <a:prstDash val="dash"/>
          </a:ln>
          <a:effectLst/>
        </p:spPr>
        <p:style>
          <a:lnRef idx="2">
            <a:schemeClr val="accent1"/>
          </a:lnRef>
          <a:fillRef idx="0">
            <a:schemeClr val="accent1"/>
          </a:fillRef>
          <a:effectRef idx="1">
            <a:schemeClr val="accent1"/>
          </a:effectRef>
          <a:fontRef idx="minor">
            <a:schemeClr val="tx1"/>
          </a:fontRef>
        </p:style>
      </p:cxnSp>
      <p:cxnSp>
        <p:nvCxnSpPr>
          <p:cNvPr id="70" name="Coverage failure fallback / segment 1"/>
          <p:cNvCxnSpPr/>
          <p:nvPr/>
        </p:nvCxnSpPr>
        <p:spPr>
          <a:xfrm>
            <a:off x="5867400" y="2796540"/>
            <a:ext cx="731520" cy="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71" name="Failure label"/>
          <p:cNvSpPr txBox="1"/>
          <p:nvPr/>
        </p:nvSpPr>
        <p:spPr>
          <a:xfrm>
            <a:off x="5882640" y="2194560"/>
            <a:ext cx="518160" cy="19050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9A7625"/>
                </a:solidFill>
                <a:latin typeface="Arial"/>
              </a:rPr>
              <a:t>No</a:t>
            </a:r>
          </a:p>
        </p:txBody>
      </p:sp>
      <p:sp>
        <p:nvSpPr>
          <p:cNvPr id="72" name="Conservative fallback"/>
          <p:cNvSpPr txBox="1"/>
          <p:nvPr/>
        </p:nvSpPr>
        <p:spPr>
          <a:xfrm>
            <a:off x="6682740" y="2644140"/>
            <a:ext cx="5044440" cy="365760"/>
          </a:xfrm>
          <a:prstGeom prst="rect">
            <a:avLst/>
          </a:prstGeom>
          <a:noFill/>
        </p:spPr>
        <p:txBody>
          <a:bodyPr wrap="none" lIns="0" rIns="0" tIns="0" bIns="0" anchor="ctr">
            <a:noAutofit/>
          </a:bodyPr>
          <a:lstStyle/>
          <a:p>
            <a:pPr algn="l">
              <a:lnSpc>
                <a:spcPts val="1276"/>
              </a:lnSpc>
              <a:spcBef>
                <a:spcPts val="0"/>
              </a:spcBef>
              <a:spcAft>
                <a:spcPts val="0"/>
              </a:spcAft>
            </a:pPr>
            <a:r>
              <a:rPr sz="1140" b="0" i="0">
                <a:solidFill>
                  <a:srgbClr val="9A7625"/>
                </a:solidFill>
                <a:latin typeface="Arial"/>
              </a:rPr>
              <a:t>Otherwise: retain boundary candidates</a:t>
            </a:r>
          </a:p>
          <a:p>
            <a:pPr algn="l">
              <a:lnSpc>
                <a:spcPts val="1276"/>
              </a:lnSpc>
              <a:spcBef>
                <a:spcPts val="0"/>
              </a:spcBef>
              <a:spcAft>
                <a:spcPts val="0"/>
              </a:spcAft>
            </a:pPr>
            <a:r>
              <a:rPr sz="1140" b="0" i="0">
                <a:solidFill>
                  <a:srgbClr val="9A7625"/>
                </a:solidFill>
                <a:latin typeface="Arial"/>
              </a:rPr>
              <a:t>in the conservative window</a:t>
            </a:r>
          </a:p>
        </p:txBody>
      </p:sp>
      <p:sp>
        <p:nvSpPr>
          <p:cNvPr id="73" name="(b) Retain decoded blocks; emit only the finalized prefix"/>
          <p:cNvSpPr txBox="1"/>
          <p:nvPr/>
        </p:nvSpPr>
        <p:spPr>
          <a:xfrm>
            <a:off x="228600" y="3169920"/>
            <a:ext cx="11719560" cy="243840"/>
          </a:xfrm>
          <a:prstGeom prst="rect">
            <a:avLst/>
          </a:prstGeom>
          <a:noFill/>
        </p:spPr>
        <p:txBody>
          <a:bodyPr wrap="none" lIns="0" rIns="0" tIns="0" bIns="0" anchor="ctr">
            <a:noAutofit/>
          </a:bodyPr>
          <a:lstStyle/>
          <a:p>
            <a:pPr algn="l">
              <a:lnSpc>
                <a:spcPts val="1747"/>
              </a:lnSpc>
              <a:spcBef>
                <a:spcPts val="0"/>
              </a:spcBef>
              <a:spcAft>
                <a:spcPts val="0"/>
              </a:spcAft>
            </a:pPr>
            <a:r>
              <a:rPr sz="1560" b="1" i="0">
                <a:solidFill>
                  <a:srgbClr val="172C36"/>
                </a:solidFill>
                <a:latin typeface="Arial"/>
              </a:rPr>
              <a:t>(b) Retain decoded blocks; emit only the finalized prefix</a:t>
            </a:r>
          </a:p>
        </p:txBody>
      </p:sp>
      <p:sp>
        <p:nvSpPr>
          <p:cNvPr id="74" name="Main read and candidate extraction"/>
          <p:cNvSpPr/>
          <p:nvPr/>
        </p:nvSpPr>
        <p:spPr>
          <a:xfrm>
            <a:off x="228600" y="3886200"/>
            <a:ext cx="2049780" cy="838200"/>
          </a:xfrm>
          <a:prstGeom prst="roundRect">
            <a:avLst>
              <a:gd name="adj" fmla="val 10909"/>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Main read and candidate extraction / heading"/>
          <p:cNvSpPr txBox="1"/>
          <p:nvPr/>
        </p:nvSpPr>
        <p:spPr>
          <a:xfrm>
            <a:off x="342900" y="3962399"/>
            <a:ext cx="182118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BAM read (CPE)</a:t>
            </a:r>
          </a:p>
        </p:txBody>
      </p:sp>
      <p:sp>
        <p:nvSpPr>
          <p:cNvPr id="76" name="Decode extraction text"/>
          <p:cNvSpPr txBox="1"/>
          <p:nvPr/>
        </p:nvSpPr>
        <p:spPr>
          <a:xfrm>
            <a:off x="335280" y="4221480"/>
            <a:ext cx="1828800" cy="419100"/>
          </a:xfrm>
          <a:prstGeom prst="rect">
            <a:avLst/>
          </a:prstGeom>
          <a:noFill/>
        </p:spPr>
        <p:txBody>
          <a:bodyPr wrap="none" lIns="0" rIns="0" tIns="0" bIns="0" anchor="ctr">
            <a:noAutofit/>
          </a:bodyPr>
          <a:lstStyle/>
          <a:p>
            <a:pPr algn="ctr">
              <a:lnSpc>
                <a:spcPts val="1344"/>
              </a:lnSpc>
              <a:spcBef>
                <a:spcPts val="0"/>
              </a:spcBef>
              <a:spcAft>
                <a:spcPts val="0"/>
              </a:spcAft>
            </a:pPr>
            <a:r>
              <a:rPr sz="1200" b="0" i="0">
                <a:solidFill>
                  <a:srgbClr val="172C36"/>
                </a:solidFill>
                <a:latin typeface="Arial"/>
              </a:rPr>
              <a:t>Decode + extract</a:t>
            </a:r>
          </a:p>
          <a:p>
            <a:pPr algn="ctr">
              <a:lnSpc>
                <a:spcPts val="1344"/>
              </a:lnSpc>
              <a:spcBef>
                <a:spcPts val="0"/>
              </a:spcBef>
              <a:spcAft>
                <a:spcPts val="0"/>
              </a:spcAft>
            </a:pPr>
            <a:r>
              <a:rPr sz="1200" b="0" i="0">
                <a:solidFill>
                  <a:srgbClr val="172C36"/>
                </a:solidFill>
                <a:latin typeface="Arial"/>
              </a:rPr>
              <a:t>Decoded B / candidates C</a:t>
            </a:r>
          </a:p>
        </p:txBody>
      </p:sp>
      <p:cxnSp>
        <p:nvCxnSpPr>
          <p:cNvPr id="77" name="Local candidate handoff / segment 0"/>
          <p:cNvCxnSpPr/>
          <p:nvPr/>
        </p:nvCxnSpPr>
        <p:spPr>
          <a:xfrm>
            <a:off x="2278380" y="4282440"/>
            <a:ext cx="82296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8" name="Local candidate label"/>
          <p:cNvSpPr txBox="1"/>
          <p:nvPr/>
        </p:nvSpPr>
        <p:spPr>
          <a:xfrm>
            <a:off x="2621280" y="4351020"/>
            <a:ext cx="464820" cy="167640"/>
          </a:xfrm>
          <a:prstGeom prst="rect">
            <a:avLst/>
          </a:prstGeom>
          <a:noFill/>
        </p:spPr>
        <p:txBody>
          <a:bodyPr wrap="none" lIns="0" rIns="0" tIns="0" bIns="0" anchor="ctr">
            <a:noAutofit/>
          </a:bodyPr>
          <a:lstStyle/>
          <a:p>
            <a:pPr algn="ctr">
              <a:lnSpc>
                <a:spcPts val="1075"/>
              </a:lnSpc>
              <a:spcBef>
                <a:spcPts val="0"/>
              </a:spcBef>
              <a:spcAft>
                <a:spcPts val="0"/>
              </a:spcAft>
            </a:pPr>
            <a:r>
              <a:rPr sz="960" b="0" i="0">
                <a:solidFill>
                  <a:srgbClr val="172C36"/>
                </a:solidFill>
                <a:latin typeface="Arial"/>
              </a:rPr>
              <a:t>Local C</a:t>
            </a:r>
          </a:p>
        </p:txBody>
      </p:sp>
      <p:sp>
        <p:nvSpPr>
          <p:cNvPr id="79" name="Active candidate window"/>
          <p:cNvSpPr/>
          <p:nvPr/>
        </p:nvSpPr>
        <p:spPr>
          <a:xfrm>
            <a:off x="3101340" y="3886200"/>
            <a:ext cx="2865120" cy="838200"/>
          </a:xfrm>
          <a:prstGeom prst="roundRect">
            <a:avLst>
              <a:gd name="adj" fmla="val 10909"/>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ctive candidate window / heading"/>
          <p:cNvSpPr txBox="1"/>
          <p:nvPr/>
        </p:nvSpPr>
        <p:spPr>
          <a:xfrm>
            <a:off x="3215640" y="3962399"/>
            <a:ext cx="263652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Candidate window Wᵣ</a:t>
            </a:r>
          </a:p>
        </p:txBody>
      </p:sp>
      <p:sp>
        <p:nvSpPr>
          <p:cNvPr id="81" name="Owner candidate inputs"/>
          <p:cNvSpPr txBox="1"/>
          <p:nvPr/>
        </p:nvSpPr>
        <p:spPr>
          <a:xfrm>
            <a:off x="3238500" y="4190999"/>
            <a:ext cx="2575560" cy="16764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57834A"/>
                </a:solidFill>
                <a:latin typeface="Arial"/>
              </a:rPr>
              <a:t>Local + received candidates</a:t>
            </a:r>
          </a:p>
        </p:txBody>
      </p:sp>
      <p:grpSp>
        <p:nvGrpSpPr>
          <p:cNvPr id="84" name="Paired window state [editable group]"/>
          <p:cNvGrpSpPr/>
          <p:nvPr/>
        </p:nvGrpSpPr>
        <p:grpSpPr>
          <a:xfrm>
            <a:off x="3238500" y="4404360"/>
            <a:ext cx="1203960" cy="228600"/>
            <a:chOff x="3238500" y="4404360"/>
            <a:chExt cx="1203960" cy="228600"/>
          </a:xfrm>
        </p:grpSpPr>
        <p:sp>
          <p:nvSpPr>
            <p:cNvPr id="82" name="Paired window state"/>
            <p:cNvSpPr/>
            <p:nvPr/>
          </p:nvSpPr>
          <p:spPr>
            <a:xfrm>
              <a:off x="323850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ired window state / label"/>
            <p:cNvSpPr txBox="1"/>
            <p:nvPr/>
          </p:nvSpPr>
          <p:spPr>
            <a:xfrm>
              <a:off x="3284220" y="4427220"/>
              <a:ext cx="1112520" cy="1828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Paired keys</a:t>
              </a:r>
            </a:p>
          </p:txBody>
        </p:sp>
      </p:grpSp>
      <p:grpSp>
        <p:nvGrpSpPr>
          <p:cNvPr id="87" name="Single window state [editable group]"/>
          <p:cNvGrpSpPr/>
          <p:nvPr/>
        </p:nvGrpSpPr>
        <p:grpSpPr>
          <a:xfrm>
            <a:off x="4602480" y="4404360"/>
            <a:ext cx="1203960" cy="228600"/>
            <a:chOff x="4602480" y="4404360"/>
            <a:chExt cx="1203960" cy="228600"/>
          </a:xfrm>
        </p:grpSpPr>
        <p:sp>
          <p:nvSpPr>
            <p:cNvPr id="85" name="Single window state"/>
            <p:cNvSpPr/>
            <p:nvPr/>
          </p:nvSpPr>
          <p:spPr>
            <a:xfrm>
              <a:off x="4602480" y="4404360"/>
              <a:ext cx="1203960" cy="228600"/>
            </a:xfrm>
            <a:prstGeom prst="rect">
              <a:avLst/>
            </a:prstGeom>
            <a:solidFill>
              <a:srgbClr val="FFFFFF"/>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Single window state / label"/>
            <p:cNvSpPr txBox="1"/>
            <p:nvPr/>
          </p:nvSpPr>
          <p:spPr>
            <a:xfrm>
              <a:off x="4648200" y="4427220"/>
              <a:ext cx="1112520" cy="18288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Single keys</a:t>
              </a:r>
            </a:p>
          </p:txBody>
        </p:sp>
      </p:grpSp>
      <p:sp>
        <p:nvSpPr>
          <p:cNvPr id="88" name="Exclude already pre resolved"/>
          <p:cNvSpPr txBox="1"/>
          <p:nvPr/>
        </p:nvSpPr>
        <p:spPr>
          <a:xfrm>
            <a:off x="2727960" y="3413760"/>
            <a:ext cx="345186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61727A"/>
                </a:solidFill>
                <a:latin typeface="Arial"/>
              </a:rPr>
              <a:t>Exclude candidates already resolved by Hᵣ</a:t>
            </a:r>
          </a:p>
        </p:txBody>
      </p:sp>
      <p:sp>
        <p:nvSpPr>
          <p:cNvPr id="89" name="Remote owners"/>
          <p:cNvSpPr/>
          <p:nvPr/>
        </p:nvSpPr>
        <p:spPr>
          <a:xfrm>
            <a:off x="7231380" y="3886200"/>
            <a:ext cx="1958340" cy="838200"/>
          </a:xfrm>
          <a:prstGeom prst="roundRect">
            <a:avLst>
              <a:gd name="adj" fmla="val 10909"/>
            </a:avLst>
          </a:prstGeom>
          <a:solidFill>
            <a:srgbClr val="E8E1F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mote owners / heading"/>
          <p:cNvSpPr txBox="1"/>
          <p:nvPr/>
        </p:nvSpPr>
        <p:spPr>
          <a:xfrm>
            <a:off x="7345680" y="3962399"/>
            <a:ext cx="1729740" cy="228600"/>
          </a:xfrm>
          <a:prstGeom prst="rect">
            <a:avLst/>
          </a:prstGeom>
          <a:noFill/>
        </p:spPr>
        <p:txBody>
          <a:bodyPr wrap="none" lIns="0" rIns="0" tIns="0" bIns="0" anchor="ctr">
            <a:noAutofit/>
          </a:bodyPr>
          <a:lstStyle/>
          <a:p>
            <a:pPr algn="l">
              <a:lnSpc>
                <a:spcPts val="1612"/>
              </a:lnSpc>
              <a:spcBef>
                <a:spcPts val="0"/>
              </a:spcBef>
              <a:spcAft>
                <a:spcPts val="0"/>
              </a:spcAft>
            </a:pPr>
            <a:r>
              <a:rPr sz="1439" b="1" i="0">
                <a:solidFill>
                  <a:srgbClr val="172C36"/>
                </a:solidFill>
                <a:latin typeface="Arial"/>
              </a:rPr>
              <a:t>Remote owners</a:t>
            </a:r>
          </a:p>
        </p:txBody>
      </p:sp>
      <p:sp>
        <p:nvSpPr>
          <p:cNvPr id="91" name="Remote owner action"/>
          <p:cNvSpPr txBox="1"/>
          <p:nvPr/>
        </p:nvSpPr>
        <p:spPr>
          <a:xfrm>
            <a:off x="7330440" y="4221480"/>
            <a:ext cx="1767840" cy="4038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Resolve remote keys</a:t>
            </a:r>
          </a:p>
          <a:p>
            <a:pPr algn="ctr">
              <a:lnSpc>
                <a:spcPts val="1209"/>
              </a:lnSpc>
              <a:spcBef>
                <a:spcPts val="0"/>
              </a:spcBef>
              <a:spcAft>
                <a:spcPts val="0"/>
              </a:spcAft>
            </a:pPr>
            <a:r>
              <a:rPr sz="1080" b="0" i="0">
                <a:solidFill>
                  <a:srgbClr val="172C36"/>
                </a:solidFill>
                <a:latin typeface="Arial"/>
              </a:rPr>
              <a:t>Return source decisions</a:t>
            </a:r>
          </a:p>
        </p:txBody>
      </p:sp>
      <p:cxnSp>
        <p:nvCxnSpPr>
          <p:cNvPr id="92" name="Remote candidate routing / segment 0"/>
          <p:cNvCxnSpPr/>
          <p:nvPr/>
        </p:nvCxnSpPr>
        <p:spPr>
          <a:xfrm flipV="1">
            <a:off x="2567940" y="3649980"/>
            <a:ext cx="0" cy="63246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3" name="Remote candidate routing / segment 1"/>
          <p:cNvCxnSpPr/>
          <p:nvPr/>
        </p:nvCxnSpPr>
        <p:spPr>
          <a:xfrm>
            <a:off x="2567940" y="3649980"/>
            <a:ext cx="5646419" cy="0"/>
          </a:xfrm>
          <a:prstGeom prst="line">
            <a:avLst/>
          </a:prstGeom>
          <a:ln w="13716">
            <a:solidFill>
              <a:srgbClr val="7A6198"/>
            </a:solidFill>
          </a:ln>
          <a:effectLst/>
        </p:spPr>
        <p:style>
          <a:lnRef idx="2">
            <a:schemeClr val="accent1"/>
          </a:lnRef>
          <a:fillRef idx="0">
            <a:schemeClr val="accent1"/>
          </a:fillRef>
          <a:effectRef idx="1">
            <a:schemeClr val="accent1"/>
          </a:effectRef>
          <a:fontRef idx="minor">
            <a:schemeClr val="tx1"/>
          </a:fontRef>
        </p:style>
      </p:cxnSp>
      <p:cxnSp>
        <p:nvCxnSpPr>
          <p:cNvPr id="94" name="Remote candidate routing / segment 2"/>
          <p:cNvCxnSpPr/>
          <p:nvPr/>
        </p:nvCxnSpPr>
        <p:spPr>
          <a:xfrm>
            <a:off x="8214359" y="3649980"/>
            <a:ext cx="0" cy="220980"/>
          </a:xfrm>
          <a:prstGeom prst="line">
            <a:avLst/>
          </a:prstGeom>
          <a:ln w="13716">
            <a:solidFill>
              <a:srgbClr val="7A619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5" name="Remote candidates label"/>
          <p:cNvSpPr txBox="1"/>
          <p:nvPr/>
        </p:nvSpPr>
        <p:spPr>
          <a:xfrm>
            <a:off x="6911340" y="3413760"/>
            <a:ext cx="1767840" cy="18288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7A6198"/>
                </a:solidFill>
                <a:latin typeface="Arial"/>
              </a:rPr>
              <a:t>Remote candidates</a:t>
            </a:r>
          </a:p>
        </p:txBody>
      </p:sp>
      <p:cxnSp>
        <p:nvCxnSpPr>
          <p:cNvPr id="96" name="Remote decisions apply / segment 0"/>
          <p:cNvCxnSpPr/>
          <p:nvPr/>
        </p:nvCxnSpPr>
        <p:spPr>
          <a:xfrm>
            <a:off x="8214359" y="4724400"/>
            <a:ext cx="0" cy="411480"/>
          </a:xfrm>
          <a:prstGeom prst="line">
            <a:avLst/>
          </a:prstGeom>
          <a:ln w="13716">
            <a:solidFill>
              <a:srgbClr val="7A619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97" name="Remote decision label"/>
          <p:cNvSpPr txBox="1"/>
          <p:nvPr/>
        </p:nvSpPr>
        <p:spPr>
          <a:xfrm>
            <a:off x="8305800" y="4876800"/>
            <a:ext cx="1615440" cy="18288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7A6198"/>
                </a:solidFill>
                <a:latin typeface="Arial"/>
              </a:rPr>
              <a:t>Returned decisions</a:t>
            </a:r>
          </a:p>
        </p:txBody>
      </p:sp>
      <p:grpSp>
        <p:nvGrpSpPr>
          <p:cNvPr id="100" name="Apply cached H [editable group]"/>
          <p:cNvGrpSpPr/>
          <p:nvPr/>
        </p:nvGrpSpPr>
        <p:grpSpPr>
          <a:xfrm>
            <a:off x="9707880" y="3886200"/>
            <a:ext cx="2255520" cy="762000"/>
            <a:chOff x="9707880" y="3886200"/>
            <a:chExt cx="2255520" cy="762000"/>
          </a:xfrm>
        </p:grpSpPr>
        <p:sp>
          <p:nvSpPr>
            <p:cNvPr id="98" name="Apply cached H"/>
            <p:cNvSpPr/>
            <p:nvPr/>
          </p:nvSpPr>
          <p:spPr>
            <a:xfrm>
              <a:off x="9707880" y="3886200"/>
              <a:ext cx="2255520" cy="762000"/>
            </a:xfrm>
            <a:prstGeom prst="roundRect">
              <a:avLst>
                <a:gd name="adj" fmla="val 8000"/>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pply cached H / label"/>
            <p:cNvSpPr txBox="1"/>
            <p:nvPr/>
          </p:nvSpPr>
          <p:spPr>
            <a:xfrm>
              <a:off x="9753600" y="3909060"/>
              <a:ext cx="2164080" cy="71628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Apply cached Hᵣ</a:t>
              </a:r>
            </a:p>
            <a:p>
              <a:pPr algn="ctr">
                <a:lnSpc>
                  <a:spcPts val="1478"/>
                </a:lnSpc>
                <a:spcBef>
                  <a:spcPts val="0"/>
                </a:spcBef>
                <a:spcAft>
                  <a:spcPts val="0"/>
                </a:spcAft>
              </a:pPr>
              <a:r>
                <a:rPr sz="1320" b="1" i="0">
                  <a:solidFill>
                    <a:srgbClr val="172C36"/>
                  </a:solidFill>
                  <a:latin typeface="Arial"/>
                </a:rPr>
                <a:t>KEEP / DUP</a:t>
              </a:r>
            </a:p>
          </p:txBody>
        </p:sp>
      </p:grpSp>
      <p:sp>
        <p:nvSpPr>
          <p:cNvPr id="101" name="Decoded retention label"/>
          <p:cNvSpPr txBox="1"/>
          <p:nvPr/>
        </p:nvSpPr>
        <p:spPr>
          <a:xfrm>
            <a:off x="754380" y="4876800"/>
            <a:ext cx="1722120" cy="35814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172C36"/>
                </a:solidFill>
                <a:latin typeface="Arial"/>
              </a:rPr>
              <a:t>Retain decoded blocks</a:t>
            </a:r>
          </a:p>
          <a:p>
            <a:pPr algn="ctr">
              <a:lnSpc>
                <a:spcPts val="1209"/>
              </a:lnSpc>
              <a:spcBef>
                <a:spcPts val="0"/>
              </a:spcBef>
              <a:spcAft>
                <a:spcPts val="0"/>
              </a:spcAft>
            </a:pPr>
            <a:r>
              <a:rPr sz="1080" b="0" i="0">
                <a:solidFill>
                  <a:srgbClr val="172C36"/>
                </a:solidFill>
                <a:latin typeface="Arial"/>
              </a:rPr>
              <a:t>(provisional KEEP)</a:t>
            </a:r>
          </a:p>
        </p:txBody>
      </p:sp>
      <p:cxnSp>
        <p:nvCxnSpPr>
          <p:cNvPr id="102" name="Decoded block storage path / segment 0"/>
          <p:cNvCxnSpPr/>
          <p:nvPr/>
        </p:nvCxnSpPr>
        <p:spPr>
          <a:xfrm>
            <a:off x="609600" y="4724400"/>
            <a:ext cx="0" cy="708660"/>
          </a:xfrm>
          <a:prstGeom prst="line">
            <a:avLst/>
          </a:prstGeom>
          <a:ln w="16764">
            <a:solidFill>
              <a:srgbClr val="197BA3"/>
            </a:solidFill>
          </a:ln>
          <a:effectLst/>
        </p:spPr>
        <p:style>
          <a:lnRef idx="2">
            <a:schemeClr val="accent1"/>
          </a:lnRef>
          <a:fillRef idx="0">
            <a:schemeClr val="accent1"/>
          </a:fillRef>
          <a:effectRef idx="1">
            <a:schemeClr val="accent1"/>
          </a:effectRef>
          <a:fontRef idx="minor">
            <a:schemeClr val="tx1"/>
          </a:fontRef>
        </p:style>
      </p:cxnSp>
      <p:cxnSp>
        <p:nvCxnSpPr>
          <p:cNvPr id="103" name="Decoded block storage path / segment 1"/>
          <p:cNvCxnSpPr/>
          <p:nvPr/>
        </p:nvCxnSpPr>
        <p:spPr>
          <a:xfrm>
            <a:off x="609600" y="5433060"/>
            <a:ext cx="2034540" cy="0"/>
          </a:xfrm>
          <a:prstGeom prst="line">
            <a:avLst/>
          </a:prstGeom>
          <a:ln w="16764">
            <a:solidFill>
              <a:srgbClr val="197B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4" name="Queue heading"/>
          <p:cNvSpPr txBox="1"/>
          <p:nvPr/>
        </p:nvSpPr>
        <p:spPr>
          <a:xfrm>
            <a:off x="2674620" y="4884420"/>
            <a:ext cx="2827020" cy="213360"/>
          </a:xfrm>
          <a:prstGeom prst="rect">
            <a:avLst/>
          </a:prstGeom>
          <a:noFill/>
        </p:spPr>
        <p:txBody>
          <a:bodyPr wrap="none" lIns="0" rIns="0" tIns="0" bIns="0" anchor="ctr">
            <a:noAutofit/>
          </a:bodyPr>
          <a:lstStyle/>
          <a:p>
            <a:pPr algn="l">
              <a:lnSpc>
                <a:spcPts val="1411"/>
              </a:lnSpc>
              <a:spcBef>
                <a:spcPts val="0"/>
              </a:spcBef>
              <a:spcAft>
                <a:spcPts val="0"/>
              </a:spcAft>
            </a:pPr>
            <a:r>
              <a:rPr sz="1260" b="1" i="0">
                <a:solidFill>
                  <a:srgbClr val="172C36"/>
                </a:solidFill>
                <a:latin typeface="Arial"/>
              </a:rPr>
              <a:t>Pending queue Qᵣ (input order)</a:t>
            </a:r>
          </a:p>
        </p:txBody>
      </p:sp>
      <p:sp>
        <p:nvSpPr>
          <p:cNvPr id="105" name="Queue tail label"/>
          <p:cNvSpPr txBox="1"/>
          <p:nvPr/>
        </p:nvSpPr>
        <p:spPr>
          <a:xfrm>
            <a:off x="11064240" y="4884420"/>
            <a:ext cx="723900" cy="205740"/>
          </a:xfrm>
          <a:prstGeom prst="rect">
            <a:avLst/>
          </a:prstGeom>
          <a:noFill/>
        </p:spPr>
        <p:txBody>
          <a:bodyPr wrap="none" lIns="0" rIns="0" tIns="0" bIns="0" anchor="ctr">
            <a:noAutofit/>
          </a:bodyPr>
          <a:lstStyle/>
          <a:p>
            <a:pPr algn="r">
              <a:lnSpc>
                <a:spcPts val="1209"/>
              </a:lnSpc>
              <a:spcBef>
                <a:spcPts val="0"/>
              </a:spcBef>
              <a:spcAft>
                <a:spcPts val="0"/>
              </a:spcAft>
            </a:pPr>
            <a:r>
              <a:rPr sz="1080" b="0" i="0">
                <a:solidFill>
                  <a:srgbClr val="61727A"/>
                </a:solidFill>
                <a:latin typeface="Arial"/>
              </a:rPr>
              <a:t>Tail</a:t>
            </a:r>
          </a:p>
        </p:txBody>
      </p:sp>
      <p:sp>
        <p:nvSpPr>
          <p:cNvPr id="106" name="Pending queue outline"/>
          <p:cNvSpPr/>
          <p:nvPr/>
        </p:nvSpPr>
        <p:spPr>
          <a:xfrm>
            <a:off x="2644140" y="5181600"/>
            <a:ext cx="9311640" cy="624840"/>
          </a:xfrm>
          <a:prstGeom prst="roundRect">
            <a:avLst>
              <a:gd name="adj" fmla="val 9756"/>
            </a:avLst>
          </a:prstGeom>
          <a:solidFill>
            <a:srgbClr val="FFFFFF"/>
          </a:solidFill>
          <a:ln w="12192">
            <a:solidFill>
              <a:srgbClr val="17394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9" name="Queue block B₀ [editable group]"/>
          <p:cNvGrpSpPr/>
          <p:nvPr/>
        </p:nvGrpSpPr>
        <p:grpSpPr>
          <a:xfrm>
            <a:off x="2766060" y="5288280"/>
            <a:ext cx="2072640" cy="396240"/>
            <a:chOff x="2766060" y="5288280"/>
            <a:chExt cx="2072640" cy="396240"/>
          </a:xfrm>
        </p:grpSpPr>
        <p:sp>
          <p:nvSpPr>
            <p:cNvPr id="107" name="Queue block B₀"/>
            <p:cNvSpPr/>
            <p:nvPr/>
          </p:nvSpPr>
          <p:spPr>
            <a:xfrm>
              <a:off x="2766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Queue block B₀ / label"/>
            <p:cNvSpPr txBox="1"/>
            <p:nvPr/>
          </p:nvSpPr>
          <p:spPr>
            <a:xfrm>
              <a:off x="2811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B₀   Ready</a:t>
              </a:r>
            </a:p>
          </p:txBody>
        </p:sp>
      </p:grpSp>
      <p:cxnSp>
        <p:nvCxnSpPr>
          <p:cNvPr id="110" name="Queue order 0 / segment 0"/>
          <p:cNvCxnSpPr/>
          <p:nvPr/>
        </p:nvCxnSpPr>
        <p:spPr>
          <a:xfrm>
            <a:off x="4838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3" name="Queue block B₁ [editable group]"/>
          <p:cNvGrpSpPr/>
          <p:nvPr/>
        </p:nvGrpSpPr>
        <p:grpSpPr>
          <a:xfrm>
            <a:off x="5052060" y="5288280"/>
            <a:ext cx="2072640" cy="396240"/>
            <a:chOff x="5052060" y="5288280"/>
            <a:chExt cx="2072640" cy="396240"/>
          </a:xfrm>
        </p:grpSpPr>
        <p:sp>
          <p:nvSpPr>
            <p:cNvPr id="111" name="Queue block B₁"/>
            <p:cNvSpPr/>
            <p:nvPr/>
          </p:nvSpPr>
          <p:spPr>
            <a:xfrm>
              <a:off x="5052060" y="5288280"/>
              <a:ext cx="2072640" cy="396240"/>
            </a:xfrm>
            <a:prstGeom prst="rect">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Queue block B₁ / label"/>
            <p:cNvSpPr txBox="1"/>
            <p:nvPr/>
          </p:nvSpPr>
          <p:spPr>
            <a:xfrm>
              <a:off x="5097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B₁   Ready</a:t>
              </a:r>
            </a:p>
          </p:txBody>
        </p:sp>
      </p:grpSp>
      <p:cxnSp>
        <p:nvCxnSpPr>
          <p:cNvPr id="114" name="Queue order 1 / segment 0"/>
          <p:cNvCxnSpPr/>
          <p:nvPr/>
        </p:nvCxnSpPr>
        <p:spPr>
          <a:xfrm>
            <a:off x="7124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17" name="Queue block B₂ [editable group]"/>
          <p:cNvGrpSpPr/>
          <p:nvPr/>
        </p:nvGrpSpPr>
        <p:grpSpPr>
          <a:xfrm>
            <a:off x="7338060" y="5288280"/>
            <a:ext cx="2072640" cy="396240"/>
            <a:chOff x="7338060" y="5288280"/>
            <a:chExt cx="2072640" cy="396240"/>
          </a:xfrm>
        </p:grpSpPr>
        <p:sp>
          <p:nvSpPr>
            <p:cNvPr id="115" name="Queue block B₂"/>
            <p:cNvSpPr/>
            <p:nvPr/>
          </p:nvSpPr>
          <p:spPr>
            <a:xfrm>
              <a:off x="7338060" y="5288280"/>
              <a:ext cx="2072640" cy="396240"/>
            </a:xfrm>
            <a:prstGeom prst="rect">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Queue block B₂ / label"/>
            <p:cNvSpPr txBox="1"/>
            <p:nvPr/>
          </p:nvSpPr>
          <p:spPr>
            <a:xfrm>
              <a:off x="7383779"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B₂   Pending</a:t>
              </a:r>
            </a:p>
          </p:txBody>
        </p:sp>
      </p:grpSp>
      <p:cxnSp>
        <p:nvCxnSpPr>
          <p:cNvPr id="118" name="Queue order 2 / segment 0"/>
          <p:cNvCxnSpPr/>
          <p:nvPr/>
        </p:nvCxnSpPr>
        <p:spPr>
          <a:xfrm>
            <a:off x="9410700" y="5486400"/>
            <a:ext cx="213360" cy="0"/>
          </a:xfrm>
          <a:prstGeom prst="line">
            <a:avLst/>
          </a:prstGeom>
          <a:ln w="13716">
            <a:solidFill>
              <a:srgbClr val="61727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1" name="Queue block B₃ [editable group]"/>
          <p:cNvGrpSpPr/>
          <p:nvPr/>
        </p:nvGrpSpPr>
        <p:grpSpPr>
          <a:xfrm>
            <a:off x="9624060" y="5288280"/>
            <a:ext cx="2072640" cy="396240"/>
            <a:chOff x="9624060" y="5288280"/>
            <a:chExt cx="2072640" cy="396240"/>
          </a:xfrm>
        </p:grpSpPr>
        <p:sp>
          <p:nvSpPr>
            <p:cNvPr id="119" name="Queue block B₃"/>
            <p:cNvSpPr/>
            <p:nvPr/>
          </p:nvSpPr>
          <p:spPr>
            <a:xfrm>
              <a:off x="9624060" y="5288280"/>
              <a:ext cx="2072640" cy="396240"/>
            </a:xfrm>
            <a:prstGeom prst="rect">
              <a:avLst/>
            </a:prstGeom>
            <a:solidFill>
              <a:srgbClr val="F5F8F9"/>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Queue block B₃ / label"/>
            <p:cNvSpPr txBox="1"/>
            <p:nvPr/>
          </p:nvSpPr>
          <p:spPr>
            <a:xfrm>
              <a:off x="9669780" y="5311140"/>
              <a:ext cx="1981199" cy="350520"/>
            </a:xfrm>
            <a:prstGeom prst="rect">
              <a:avLst/>
            </a:prstGeom>
            <a:noFill/>
          </p:spPr>
          <p:txBody>
            <a:bodyPr wrap="none" lIns="0" rIns="0" tIns="0" bIns="0" anchor="ctr">
              <a:noAutofit/>
            </a:bodyPr>
            <a:lstStyle/>
            <a:p>
              <a:pPr algn="ctr">
                <a:lnSpc>
                  <a:spcPts val="1478"/>
                </a:lnSpc>
                <a:spcBef>
                  <a:spcPts val="0"/>
                </a:spcBef>
                <a:spcAft>
                  <a:spcPts val="0"/>
                </a:spcAft>
              </a:pPr>
              <a:r>
                <a:rPr sz="1320" b="1" i="0">
                  <a:solidFill>
                    <a:srgbClr val="172C36"/>
                  </a:solidFill>
                  <a:latin typeface="Arial"/>
                </a:rPr>
                <a:t>B₃   Ready, held</a:t>
              </a:r>
            </a:p>
          </p:txBody>
        </p:sp>
      </p:grpSp>
      <p:cxnSp>
        <p:nvCxnSpPr>
          <p:cNvPr id="122" name="Window decisions apply / segment 0"/>
          <p:cNvCxnSpPr/>
          <p:nvPr/>
        </p:nvCxnSpPr>
        <p:spPr>
          <a:xfrm>
            <a:off x="4411980" y="4724400"/>
            <a:ext cx="0" cy="7620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3" name="Window decisions apply / segment 1"/>
          <p:cNvCxnSpPr/>
          <p:nvPr/>
        </p:nvCxnSpPr>
        <p:spPr>
          <a:xfrm>
            <a:off x="4411980" y="4800600"/>
            <a:ext cx="1417320" cy="0"/>
          </a:xfrm>
          <a:prstGeom prst="line">
            <a:avLst/>
          </a:prstGeom>
          <a:ln w="13716">
            <a:solidFill>
              <a:srgbClr val="57834A"/>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4" name="Window decisions apply / segment 2"/>
          <p:cNvCxnSpPr/>
          <p:nvPr/>
        </p:nvCxnSpPr>
        <p:spPr>
          <a:xfrm>
            <a:off x="5829300" y="4800600"/>
            <a:ext cx="0" cy="335280"/>
          </a:xfrm>
          <a:prstGeom prst="line">
            <a:avLst/>
          </a:prstGeom>
          <a:ln w="13716">
            <a:solidFill>
              <a:srgbClr val="57834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5" name="Local decisions label"/>
          <p:cNvSpPr txBox="1"/>
          <p:nvPr/>
        </p:nvSpPr>
        <p:spPr>
          <a:xfrm>
            <a:off x="5920740" y="4884420"/>
            <a:ext cx="1386840" cy="175260"/>
          </a:xfrm>
          <a:prstGeom prst="rect">
            <a:avLst/>
          </a:prstGeom>
          <a:noFill/>
        </p:spPr>
        <p:txBody>
          <a:bodyPr wrap="none" lIns="0" rIns="0" tIns="0" bIns="0" anchor="ctr">
            <a:noAutofit/>
          </a:bodyPr>
          <a:lstStyle/>
          <a:p>
            <a:pPr algn="l">
              <a:lnSpc>
                <a:spcPts val="1142"/>
              </a:lnSpc>
              <a:spcBef>
                <a:spcPts val="0"/>
              </a:spcBef>
              <a:spcAft>
                <a:spcPts val="0"/>
              </a:spcAft>
            </a:pPr>
            <a:r>
              <a:rPr sz="1019" b="0" i="0">
                <a:solidFill>
                  <a:srgbClr val="57834A"/>
                </a:solidFill>
                <a:latin typeface="Arial"/>
              </a:rPr>
              <a:t>Local decisions</a:t>
            </a:r>
          </a:p>
        </p:txBody>
      </p:sp>
      <p:cxnSp>
        <p:nvCxnSpPr>
          <p:cNvPr id="126" name="Cache decisions apply / segment 0"/>
          <p:cNvCxnSpPr/>
          <p:nvPr/>
        </p:nvCxnSpPr>
        <p:spPr>
          <a:xfrm>
            <a:off x="10835640" y="4648200"/>
            <a:ext cx="0" cy="487680"/>
          </a:xfrm>
          <a:prstGeom prst="line">
            <a:avLst/>
          </a:prstGeom>
          <a:ln w="13716">
            <a:solidFill>
              <a:srgbClr val="9A7625"/>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7" name="Ready output prefix / segment 0"/>
          <p:cNvCxnSpPr/>
          <p:nvPr/>
        </p:nvCxnSpPr>
        <p:spPr>
          <a:xfrm>
            <a:off x="276606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8" name="Ready output prefix / segment 1"/>
          <p:cNvCxnSpPr/>
          <p:nvPr/>
        </p:nvCxnSpPr>
        <p:spPr>
          <a:xfrm>
            <a:off x="2766060" y="5890260"/>
            <a:ext cx="4358640" cy="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cxnSp>
        <p:nvCxnSpPr>
          <p:cNvPr id="129" name="Ready output prefix / segment 2"/>
          <p:cNvCxnSpPr/>
          <p:nvPr/>
        </p:nvCxnSpPr>
        <p:spPr>
          <a:xfrm flipV="1">
            <a:off x="7124700" y="5836920"/>
            <a:ext cx="0" cy="53340"/>
          </a:xfrm>
          <a:prstGeom prst="line">
            <a:avLst/>
          </a:prstGeom>
          <a:ln w="10668">
            <a:solidFill>
              <a:srgbClr val="57834A"/>
            </a:solidFill>
          </a:ln>
          <a:effectLst/>
        </p:spPr>
        <p:style>
          <a:lnRef idx="2">
            <a:schemeClr val="accent1"/>
          </a:lnRef>
          <a:fillRef idx="0">
            <a:schemeClr val="accent1"/>
          </a:fillRef>
          <a:effectRef idx="1">
            <a:schemeClr val="accent1"/>
          </a:effectRef>
          <a:fontRef idx="minor">
            <a:schemeClr val="tx1"/>
          </a:fontRef>
        </p:style>
      </p:cxnSp>
      <p:sp>
        <p:nvSpPr>
          <p:cNvPr id="130" name="Ready output prefix / label"/>
          <p:cNvSpPr txBox="1"/>
          <p:nvPr/>
        </p:nvSpPr>
        <p:spPr>
          <a:xfrm>
            <a:off x="2766060" y="5935980"/>
            <a:ext cx="4358640" cy="175260"/>
          </a:xfrm>
          <a:prstGeom prst="rect">
            <a:avLst/>
          </a:prstGeom>
          <a:noFill/>
        </p:spPr>
        <p:txBody>
          <a:bodyPr wrap="none" lIns="0" rIns="0" tIns="0" bIns="0" anchor="ctr">
            <a:noAutofit/>
          </a:bodyPr>
          <a:lstStyle/>
          <a:p>
            <a:pPr algn="ctr">
              <a:lnSpc>
                <a:spcPts val="1209"/>
              </a:lnSpc>
              <a:spcBef>
                <a:spcPts val="0"/>
              </a:spcBef>
              <a:spcAft>
                <a:spcPts val="0"/>
              </a:spcAft>
            </a:pPr>
            <a:r>
              <a:rPr sz="1080" b="0" i="0">
                <a:solidFill>
                  <a:srgbClr val="57834A"/>
                </a:solidFill>
                <a:latin typeface="Arial"/>
              </a:rPr>
              <a:t>Emit the consecutive ready prefix</a:t>
            </a:r>
          </a:p>
        </p:txBody>
      </p:sp>
      <p:sp>
        <p:nvSpPr>
          <p:cNvPr id="131" name="Queue stop explanation"/>
          <p:cNvSpPr txBox="1"/>
          <p:nvPr/>
        </p:nvSpPr>
        <p:spPr>
          <a:xfrm>
            <a:off x="7322820" y="5913120"/>
            <a:ext cx="4518660" cy="190500"/>
          </a:xfrm>
          <a:prstGeom prst="rect">
            <a:avLst/>
          </a:prstGeom>
          <a:noFill/>
        </p:spPr>
        <p:txBody>
          <a:bodyPr wrap="none" lIns="0" rIns="0" tIns="0" bIns="0" anchor="ctr">
            <a:noAutofit/>
          </a:bodyPr>
          <a:lstStyle/>
          <a:p>
            <a:pPr algn="ctr">
              <a:lnSpc>
                <a:spcPts val="1276"/>
              </a:lnSpc>
              <a:spcBef>
                <a:spcPts val="0"/>
              </a:spcBef>
              <a:spcAft>
                <a:spcPts val="0"/>
              </a:spcAft>
            </a:pPr>
            <a:r>
              <a:rPr sz="1140" b="1" i="0">
                <a:solidFill>
                  <a:srgbClr val="9A7625"/>
                </a:solidFill>
                <a:latin typeface="Arial"/>
              </a:rPr>
              <a:t>Stop at the first unresolved block</a:t>
            </a:r>
          </a:p>
        </p:txBody>
      </p:sp>
      <p:cxnSp>
        <p:nvCxnSpPr>
          <p:cNvPr id="132" name="Ready blocks to output / segment 0"/>
          <p:cNvCxnSpPr/>
          <p:nvPr/>
        </p:nvCxnSpPr>
        <p:spPr>
          <a:xfrm>
            <a:off x="3581400" y="6088380"/>
            <a:ext cx="0" cy="182880"/>
          </a:xfrm>
          <a:prstGeom prst="line">
            <a:avLst/>
          </a:prstGeom>
          <a:ln w="13716">
            <a:solidFill>
              <a:srgbClr val="57834A"/>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35" name="Output Patch DUP flags [editable group]"/>
          <p:cNvGrpSpPr/>
          <p:nvPr/>
        </p:nvGrpSpPr>
        <p:grpSpPr>
          <a:xfrm>
            <a:off x="2644140" y="6286500"/>
            <a:ext cx="1882139" cy="373380"/>
            <a:chOff x="2644140" y="6286500"/>
            <a:chExt cx="1882139" cy="373380"/>
          </a:xfrm>
        </p:grpSpPr>
        <p:sp>
          <p:nvSpPr>
            <p:cNvPr id="133" name="Output Patch DUP flags"/>
            <p:cNvSpPr/>
            <p:nvPr/>
          </p:nvSpPr>
          <p:spPr>
            <a:xfrm>
              <a:off x="2644140" y="6286500"/>
              <a:ext cx="1882139" cy="373380"/>
            </a:xfrm>
            <a:prstGeom prst="roundRect">
              <a:avLst>
                <a:gd name="adj" fmla="val 16326"/>
              </a:avLst>
            </a:prstGeom>
            <a:solidFill>
              <a:srgbClr val="FFF7CE"/>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utput Patch DUP flags / label"/>
            <p:cNvSpPr txBox="1"/>
            <p:nvPr/>
          </p:nvSpPr>
          <p:spPr>
            <a:xfrm>
              <a:off x="2689860" y="6309360"/>
              <a:ext cx="179070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Patch DUP flags</a:t>
              </a:r>
            </a:p>
          </p:txBody>
        </p:sp>
      </p:grpSp>
      <p:grpSp>
        <p:nvGrpSpPr>
          <p:cNvPr id="138" name="Output CPE BGZF compression [editable group]"/>
          <p:cNvGrpSpPr/>
          <p:nvPr/>
        </p:nvGrpSpPr>
        <p:grpSpPr>
          <a:xfrm>
            <a:off x="4823460" y="6286500"/>
            <a:ext cx="2072640" cy="373380"/>
            <a:chOff x="4823460" y="6286500"/>
            <a:chExt cx="2072640" cy="373380"/>
          </a:xfrm>
        </p:grpSpPr>
        <p:sp>
          <p:nvSpPr>
            <p:cNvPr id="136" name="Output CPE BGZF compression"/>
            <p:cNvSpPr/>
            <p:nvPr/>
          </p:nvSpPr>
          <p:spPr>
            <a:xfrm>
              <a:off x="4823460" y="6286500"/>
              <a:ext cx="2072640" cy="373380"/>
            </a:xfrm>
            <a:prstGeom prst="roundRect">
              <a:avLst>
                <a:gd name="adj" fmla="val 16326"/>
              </a:avLst>
            </a:prstGeom>
            <a:solidFill>
              <a:srgbClr val="DFEED2"/>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utput CPE BGZF compression / label"/>
            <p:cNvSpPr txBox="1"/>
            <p:nvPr/>
          </p:nvSpPr>
          <p:spPr>
            <a:xfrm>
              <a:off x="4869180" y="6309360"/>
              <a:ext cx="1981199"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CPE BGZF compression</a:t>
              </a:r>
            </a:p>
          </p:txBody>
        </p:sp>
      </p:grpSp>
      <p:grpSp>
        <p:nvGrpSpPr>
          <p:cNvPr id="141" name="Output Append rank body [editable group]"/>
          <p:cNvGrpSpPr/>
          <p:nvPr/>
        </p:nvGrpSpPr>
        <p:grpSpPr>
          <a:xfrm>
            <a:off x="7193280" y="6286500"/>
            <a:ext cx="2026920" cy="373380"/>
            <a:chOff x="7193280" y="6286500"/>
            <a:chExt cx="2026920" cy="373380"/>
          </a:xfrm>
        </p:grpSpPr>
        <p:sp>
          <p:nvSpPr>
            <p:cNvPr id="139" name="Output Append rank body"/>
            <p:cNvSpPr/>
            <p:nvPr/>
          </p:nvSpPr>
          <p:spPr>
            <a:xfrm>
              <a:off x="7193280" y="6286500"/>
              <a:ext cx="2026920" cy="373380"/>
            </a:xfrm>
            <a:prstGeom prst="roundRect">
              <a:avLst>
                <a:gd name="adj" fmla="val 16326"/>
              </a:avLst>
            </a:prstGeom>
            <a:solidFill>
              <a:srgbClr val="F7DEE1"/>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utput Append rank body / label"/>
            <p:cNvSpPr txBox="1"/>
            <p:nvPr/>
          </p:nvSpPr>
          <p:spPr>
            <a:xfrm>
              <a:off x="7239000" y="6309360"/>
              <a:ext cx="193548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Append rank body</a:t>
              </a:r>
            </a:p>
          </p:txBody>
        </p:sp>
      </p:grpSp>
      <p:grpSp>
        <p:nvGrpSpPr>
          <p:cNvPr id="144" name="Output Retire / recycle storage [editable group]"/>
          <p:cNvGrpSpPr/>
          <p:nvPr/>
        </p:nvGrpSpPr>
        <p:grpSpPr>
          <a:xfrm>
            <a:off x="9517380" y="6286500"/>
            <a:ext cx="2438400" cy="373380"/>
            <a:chOff x="9517380" y="6286500"/>
            <a:chExt cx="2438400" cy="373380"/>
          </a:xfrm>
        </p:grpSpPr>
        <p:sp>
          <p:nvSpPr>
            <p:cNvPr id="142" name="Output Retire / recycle storage"/>
            <p:cNvSpPr/>
            <p:nvPr/>
          </p:nvSpPr>
          <p:spPr>
            <a:xfrm>
              <a:off x="9517380" y="6286500"/>
              <a:ext cx="2438400" cy="373380"/>
            </a:xfrm>
            <a:prstGeom prst="roundRect">
              <a:avLst>
                <a:gd name="adj" fmla="val 16326"/>
              </a:avLst>
            </a:prstGeom>
            <a:solidFill>
              <a:srgbClr val="D5EDF8"/>
            </a:solidFill>
            <a:ln w="12192">
              <a:solidFill>
                <a:srgbClr val="1739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utput Retire / recycle storage / label"/>
            <p:cNvSpPr txBox="1"/>
            <p:nvPr/>
          </p:nvSpPr>
          <p:spPr>
            <a:xfrm>
              <a:off x="9563100" y="6309360"/>
              <a:ext cx="2346960" cy="327660"/>
            </a:xfrm>
            <a:prstGeom prst="rect">
              <a:avLst/>
            </a:prstGeom>
            <a:noFill/>
          </p:spPr>
          <p:txBody>
            <a:bodyPr wrap="none" lIns="0" rIns="0" tIns="0" bIns="0" anchor="ctr">
              <a:noAutofit/>
            </a:bodyPr>
            <a:lstStyle/>
            <a:p>
              <a:pPr algn="ctr">
                <a:lnSpc>
                  <a:spcPts val="1276"/>
                </a:lnSpc>
                <a:spcBef>
                  <a:spcPts val="0"/>
                </a:spcBef>
                <a:spcAft>
                  <a:spcPts val="0"/>
                </a:spcAft>
              </a:pPr>
              <a:r>
                <a:rPr sz="1140" b="0" i="0">
                  <a:solidFill>
                    <a:srgbClr val="172C36"/>
                  </a:solidFill>
                  <a:latin typeface="Arial"/>
                </a:rPr>
                <a:t>Retire / recycle storage</a:t>
              </a:r>
            </a:p>
          </p:txBody>
        </p:sp>
      </p:grpSp>
      <p:cxnSp>
        <p:nvCxnSpPr>
          <p:cNvPr id="145" name="Output dependency 594 / segment 0"/>
          <p:cNvCxnSpPr/>
          <p:nvPr/>
        </p:nvCxnSpPr>
        <p:spPr>
          <a:xfrm>
            <a:off x="452628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6" name="Output dependency 905 / segment 0"/>
          <p:cNvCxnSpPr/>
          <p:nvPr/>
        </p:nvCxnSpPr>
        <p:spPr>
          <a:xfrm>
            <a:off x="68961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7" name="Output dependency 1210 / segment 0"/>
          <p:cNvCxnSpPr/>
          <p:nvPr/>
        </p:nvCxnSpPr>
        <p:spPr>
          <a:xfrm>
            <a:off x="9220200" y="6477000"/>
            <a:ext cx="297180" cy="0"/>
          </a:xfrm>
          <a:prstGeom prst="line">
            <a:avLst/>
          </a:prstGeom>
          <a:ln w="13716">
            <a:solidFill>
              <a:srgbClr val="17394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8" name="Main stream extra decoding qualifier"/>
          <p:cNvSpPr txBox="1"/>
          <p:nvPr/>
        </p:nvSpPr>
        <p:spPr>
          <a:xfrm>
            <a:off x="259080" y="6286500"/>
            <a:ext cx="2141220" cy="373380"/>
          </a:xfrm>
          <a:prstGeom prst="rect">
            <a:avLst/>
          </a:prstGeom>
          <a:noFill/>
        </p:spPr>
        <p:txBody>
          <a:bodyPr wrap="none" lIns="0" rIns="0" tIns="0" bIns="0" anchor="ctr">
            <a:noAutofit/>
          </a:bodyPr>
          <a:lstStyle/>
          <a:p>
            <a:pPr algn="ctr">
              <a:lnSpc>
                <a:spcPts val="1142"/>
              </a:lnSpc>
              <a:spcBef>
                <a:spcPts val="0"/>
              </a:spcBef>
              <a:spcAft>
                <a:spcPts val="0"/>
              </a:spcAft>
            </a:pPr>
            <a:r>
              <a:rPr sz="1019" b="0" i="0">
                <a:solidFill>
                  <a:srgbClr val="61727A"/>
                </a:solidFill>
                <a:latin typeface="Arial"/>
              </a:rPr>
              <a:t>Boundary probes perform</a:t>
            </a:r>
          </a:p>
          <a:p>
            <a:pPr algn="ctr">
              <a:lnSpc>
                <a:spcPts val="1142"/>
              </a:lnSpc>
              <a:spcBef>
                <a:spcPts val="0"/>
              </a:spcBef>
              <a:spcAft>
                <a:spcPts val="0"/>
              </a:spcAft>
            </a:pPr>
            <a:r>
              <a:rPr sz="1019" b="0" i="0">
                <a:solidFill>
                  <a:srgbClr val="61727A"/>
                </a:solidFill>
                <a:latin typeface="Arial"/>
              </a:rPr>
              <a:t>limited extra decoding.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SWBAM: Method Figures</dc:title>
  <dc:subject>Editable architecture, overlap, reordering and duplicate marking diagrams</dc:subject>
  <dc:creator>SWBAM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