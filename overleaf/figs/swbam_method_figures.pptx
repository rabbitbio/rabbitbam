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Figure: SWBAM architecture and pipeline composition</a:t>
            </a:r>
          </a:p>
          <a:p/>
          <a:p>
            <a:r>
              <a:t>EDITING</a:t>
            </a:r>
          </a:p>
          <a:p>
            <a:r>
              <a:t>One editable slide. Pipeline and post-processing modules are grouped native</a:t>
            </a:r>
          </a:p>
          <a:p>
            <a:r>
              <a:t>shapes; text and arrows remain editable. Use PowerPoint's Selection Pane to</a:t>
            </a:r>
          </a:p>
          <a:p>
            <a:r>
              <a:t>select named modules. Export the slide as PDF after editing; the PNG/PDF/SVG</a:t>
            </a:r>
          </a:p>
          <a:p>
            <a:r>
              <a:t>provided alongside this file reflect the original generated layout only.</a:t>
            </a:r>
          </a:p>
          <a:p/>
          <a:p>
            <a:r>
              <a:t>SEMANTICS</a:t>
            </a:r>
          </a:p>
          <a:p>
            <a:r>
              <a:t>Panel (a) is an architecture/capability view, not four consecutive stages.</a:t>
            </a:r>
          </a:p>
          <a:p>
            <a:r>
              <a:t>Panel (b) shows batch-level dependencies, not concurrently running CPE kernels.</a:t>
            </a:r>
          </a:p>
          <a:p>
            <a:r>
              <a:t>Read pipelines are blue, write pipelines green, MPE work amber. Applications</a:t>
            </a:r>
          </a:p>
          <a:p>
            <a:r>
              <a:t>manage algorithm state and algorithm-specific MPI exchanges; the library</a:t>
            </a:r>
          </a:p>
          <a:p>
            <a:r>
              <a:t>provides batch execution, data access, rank partitioning and output layout.</a:t>
            </a:r>
          </a:p>
          <a:p>
            <a:r>
              <a:t>Input is partitioned into BGZF spans (BAM) or record-aligned text ranges (SAM).</a:t>
            </a:r>
          </a:p>
          <a:p>
            <a:r>
              <a:t>BAM read kernels may return records, counters or algorithm-specific metadata.</a:t>
            </a:r>
          </a:p>
          <a:p>
            <a:r>
              <a:t>The CPE work shown is representative of optimized application paths; it does</a:t>
            </a:r>
          </a:p>
          <a:p>
            <a:r>
              <a:t>not assert that every SDK bam1_t materialization runs on CPEs. Decode-only and</a:t>
            </a:r>
          </a:p>
          <a:p>
            <a:r>
              <a:t>compression-only variants are omitted. The implementation assumes BAM records</a:t>
            </a:r>
          </a:p>
          <a:p>
            <a:r>
              <a:t>do not span BGZF blocks. Data retained across batches require owned storage.</a:t>
            </a:r>
          </a:p>
          <a:p>
            <a:r>
              <a:t>The sink storage policy is independent from final output (memory / MPI-IO).</a:t>
            </a:r>
          </a:p>
          <a:p>
            <a:r>
              <a:t>No root-wide full-payload gather is implied for MPI-IO output.</a:t>
            </a:r>
          </a:p>
          <a:p>
            <a:r>
              <a:t>The figure does not claim arbitrary runtime composition of CPE record operators.</a:t>
            </a:r>
          </a:p>
          <a:p/>
          <a:p>
            <a:r>
              <a:t>CODE REFERENCES (relative to the RabbitBAM project)</a:t>
            </a:r>
          </a:p>
          <a:p>
            <a:r>
              <a:t>swbam-sdk/include/swbam/cpe_pipeline.h: CpeBatchOperator / RunCpeReadPipeline</a:t>
            </a:r>
          </a:p>
          <a:p>
            <a:r>
              <a:t>swbam-sdk/lib/cpe/swbam_cpe_bam_read_pipeline.cpp: prepare, launch, validate, post-process</a:t>
            </a:r>
          </a:p>
          <a:p>
            <a:r>
              <a:t>swbam-sdk/lib/cpe/swbam_cpe_bam_write_pipeline.cpp: current/pending output batches</a:t>
            </a:r>
          </a:p>
          <a:p>
            <a:r>
              <a:t>swbam-sdk/lib/operators/swbam_record_count_operator.cpp: read + accumulation</a:t>
            </a:r>
          </a:p>
          <a:p>
            <a:r>
              <a:t>swbam-sdk/lib/operators/swbam_bam_transform_operator.cpp: filter + packing + writer</a:t>
            </a:r>
          </a:p>
          <a:p>
            <a:r>
              <a:t>swbam-sdk/lib/operators/swbam_bam_to_sam_operator.cpp: read + SAM writer</a:t>
            </a:r>
          </a:p>
          <a:p>
            <a:r>
              <a:t>swbam-sdk/lib/operators/swbam_sam_to_bam_operator.cpp: SAM read + packing + BAM writer</a:t>
            </a:r>
          </a:p>
          <a:p>
            <a:r>
              <a:t>swbam-sdk/include/swbam/mpi_runtime.h: input planning and distributed output</a:t>
            </a:r>
          </a:p>
          <a:p/>
          <a:p>
            <a:r>
              <a:t>MANUSCRIPT AND VISUAL REFERENCES</a:t>
            </a:r>
          </a:p>
          <a:p>
            <a:r>
              <a:t>overleaf/SWBAM/bare_jrnl_new_sample4.tex: Methods / Overview and Library Design</a:t>
            </a:r>
          </a:p>
          <a:p>
            <a:r>
              <a:t>RabbitBAM, Fig. 1 and Fig. 3: explicit reusable read/write framework blocks</a:t>
            </a:r>
          </a:p>
          <a:p>
            <a:r>
              <a:t>SWBWA, Fig. 1: explicit MPE/CPE roles; style reference only, not its algorithm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swbam-sdk/lib/cpe/swbam_cpe_bam_read_pipeline.cpp: RunCpeReadPipeline</a:t>
            </a:r>
          </a:p>
          <a:p>
            <a:r>
              <a:t>  Prepare -&gt; spawn -&gt; ReadNext(next) -&gt; DuringKernel -&gt; join -&gt; Validate</a:t>
            </a:r>
          </a:p>
          <a:p>
            <a:r>
              <a:t>  -&gt; PostProcessBatch -&gt; swap. Panel (a) depicts overlap_input=true and</a:t>
            </a:r>
          </a:p>
          <a:p>
            <a:r>
              <a:t>  prefetch_during_post_process=false. Other operator options exist.</a:t>
            </a:r>
          </a:p>
          <a:p>
            <a:r>
              <a:t>swbam-sdk/lib/cpe/swbam_cpe_bam_write_pipeline.cpp:</a:t>
            </a:r>
          </a:p>
          <a:p>
            <a:r>
              <a:t>  Start prepares output, spawns CPE work, then FlushPending() emits the</a:t>
            </a:r>
          </a:p>
          <a:p>
            <a:r>
              <a:t>  preceding batch. SubmitWithPrefetch may prepare the next source batch</a:t>
            </a:r>
          </a:p>
          <a:p>
            <a:r>
              <a:t>  before Complete() joins and validates. Completed output becomes pending.</a:t>
            </a:r>
          </a:p>
          <a:p>
            <a:r>
              <a:t>  Panel (b) depicts steady state with overlap_output=true; optional source</a:t>
            </a:r>
          </a:p>
          <a:p>
            <a:r>
              <a:t>  prefetch is shown. The first batch has no previous output to flush.</a:t>
            </a:r>
          </a:p>
          <a:p>
            <a:r>
              <a:t>  Input A/B in (a) and output A/B in (b) are separate buffer pairs.</a:t>
            </a:r>
          </a:p>
          <a:p>
            <a:r>
              <a:t>  Record input uses serialization + compression; raw payload input only</a:t>
            </a:r>
          </a:p>
          <a:p>
            <a:r>
              <a:t>  uses compression. Write denotes appending to the configured output sink,</a:t>
            </a:r>
          </a:p>
          <a:p>
            <a:r>
              <a:t>  not necessarily writing to physical disk. The final pending batch is</a:t>
            </a:r>
          </a:p>
          <a:p>
            <a:r>
              <a:t>  flushed at termination (not drawn). Batch durations are illustrative.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swbam-app/algorithms/sort/swbam_sort_optimized_mpi.cpp:</a:t>
            </a:r>
          </a:p>
          <a:p>
            <a:r>
              <a:t>  OptimizedBamSortMPIImpl sorts metadata, makes local samples, chooses and</a:t>
            </a:r>
          </a:p>
          <a:p>
            <a:r>
              <a:t>  broadcasts splitters, exchanges buckets, then k-way merges source segments.</a:t>
            </a:r>
          </a:p>
          <a:p>
            <a:r>
              <a:t>  Stable tie information is retained in full keys; the figure's numeric toy</a:t>
            </a:r>
          </a:p>
          <a:p>
            <a:r>
              <a:t>  uses distinct positions on one reference and omits those tie fields.</a:t>
            </a:r>
          </a:p>
          <a:p>
            <a:r>
              <a:t>  External mode generates runs and streams owner-partitioned segments through</a:t>
            </a:r>
          </a:p>
          <a:p>
            <a:r>
              <a:t>  bounded exchanges and merges. The bottom panel summarizes dataflow and does</a:t>
            </a:r>
          </a:p>
          <a:p>
            <a:r>
              <a:t>  not replace its sample/splitter selection step.</a:t>
            </a:r>
          </a:p>
          <a:p>
            <a:r>
              <a:t>swbam-app/algorithms/collate/swbam_collate_mpi.cpp:</a:t>
            </a:r>
          </a:p>
          <a:p>
            <a:r>
              <a:t>  CollateOwner(bin,bins,ranks) = floor(bin*ranks/bins), clamped to the last</a:t>
            </a:r>
          </a:p>
          <a:p>
            <a:r>
              <a:t>  rank, NOT bin % ranks. CollateCompare orders by bin, hash, QNAME, flag_order,</a:t>
            </a:r>
          </a:p>
          <a:p>
            <a:r>
              <a:t>  then global_order. Full QNAME comparison resolves hash collisions.</a:t>
            </a:r>
          </a:p>
          <a:p>
            <a:r>
              <a:t>  CollateExchangeMemory retains self-owned data locally and exchanges remote</a:t>
            </a:r>
          </a:p>
          <a:p>
            <a:r>
              <a:t>  records in bounded ring chunks; received raw bytes go to their final arena.</a:t>
            </a:r>
          </a:p>
          <a:p>
            <a:r>
              <a:t>  CollateMemoryLoserTree merges ordered segments into grouped output.</a:t>
            </a:r>
          </a:p>
          <a:p>
            <a:r>
              <a:t>  CollateExtractRuns / CollateExchangeRuns / CollateMergeExternal use bounded</a:t>
            </a:r>
          </a:p>
          <a:p>
            <a:r>
              <a:t>  arena and merge fan-in. The example qA/qB/qC ownership is illustrative;</a:t>
            </a:r>
          </a:p>
          <a:p>
            <a:r>
              <a:t>  no specific hash value is asserted. Memory-mode diagrams use both metadata</a:t>
            </a:r>
          </a:p>
          <a:p>
            <a:r>
              <a:t>  and raw record payloads, not candidate-only traffic as in markdup.</a:t>
            </a:r>
          </a:p>
          <a:p>
            <a:r>
              <a:t>  Source-local order is preserved within sent segments. Both algorithms use</a:t>
            </a:r>
          </a:p>
          <a:p>
            <a:r>
              <a:t>  common read/write pipelines; external temp runs and RankBodySink spool are</a:t>
            </a:r>
          </a:p>
          <a:p>
            <a:r>
              <a:t>  separate storage mechanisms. I/O backend or spool policy is not prescribed.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AND SCOPE</a:t>
            </a:r>
          </a:p>
          <a:p>
            <a:r>
              <a:t>All text, nodes, block strips and arrows are editable PowerPoint objects.</a:t>
            </a:r>
          </a:p>
          <a:p>
            <a:r>
              <a:t>Module frames and labels are grouped. Use the Selection Pane for named objects.</a:t>
            </a:r>
          </a:p>
          <a:p>
            <a:r>
              <a:t>PNG/PDF/SVG are matching exports from the original scene; after manual PPTX</a:t>
            </a:r>
          </a:p>
          <a:p>
            <a:r>
              <a:t>edits, export a new PDF/PNG in PowerPoint. The code and LaTeX manuscript are</a:t>
            </a:r>
          </a:p>
          <a:p>
            <a:r>
              <a:t>not modified by this figure generator. These diagrams show current supported</a:t>
            </a:r>
          </a:p>
          <a:p>
            <a:r>
              <a:t>BAM workflows under the block-aligned record assumption.</a:t>
            </a:r>
          </a:p>
          <a:p/>
          <a:p>
            <a:r>
              <a:t>CODE BASIS</a:t>
            </a:r>
          </a:p>
          <a:p>
            <a:r>
              <a:t>swbam-app/algorithms/markdup/swbam_markdup_mpi.cpp:</a:t>
            </a:r>
          </a:p>
          <a:p>
            <a:r>
              <a:t>  MdBuildOnePassBoundaryPlan: probes min(span_count, 32) blocks at each end</a:t>
            </a:r>
          </a:p>
          <a:p>
            <a:r>
              <a:t>  (overlapping probes are deduplicated). It builds rank coordinate boundaries,</a:t>
            </a:r>
          </a:p>
          <a:p>
            <a:r>
              <a:t>  checks coverage by MPI_Allreduce(MIN), selects boundary candidates, routes</a:t>
            </a:r>
          </a:p>
          <a:p>
            <a:r>
              <a:t>  them by coordinate owner, resolves duplicates and returns duplicate orders.</a:t>
            </a:r>
          </a:p>
          <a:p>
            <a:r>
              <a:t>  MdAppendBoundaryCandidates / MdRouteBoundaryDuplicateOrders: metadata and</a:t>
            </a:r>
          </a:p>
          <a:p>
            <a:r>
              <a:t>  QNAME information are exchanged, not complete decoded BAM records. H_r also</a:t>
            </a:r>
          </a:p>
          <a:p>
            <a:r>
              <a:t>  identifies pre-resolved candidates. Empty ranks can trigger fallback.</a:t>
            </a:r>
          </a:p>
          <a:p>
            <a:r>
              <a:t>  Probe extents are schematic and need not be exactly b +/- L. The top panel</a:t>
            </a:r>
          </a:p>
          <a:p>
            <a:r>
              <a:t>  illustrates adjacent ranks on one reference, not every reference/empty-rank</a:t>
            </a:r>
          </a:p>
          <a:p>
            <a:r>
              <a:t>  edge case. Owner routing is not restricted to only immediate neighbors.</a:t>
            </a:r>
          </a:p>
          <a:p>
            <a:r>
              <a:t>  MdOnePassCaptureBatch: retains decoded storage; initializes provisional KEEP</a:t>
            </a:r>
          </a:p>
          <a:p>
            <a:r>
              <a:t>  and applies cached boundary decisions. The main path suppresses candidates</a:t>
            </a:r>
          </a:p>
          <a:p>
            <a:r>
              <a:t>  already resolved by the boundary plan. Window/local actions and routed remote</a:t>
            </a:r>
          </a:p>
          <a:p>
            <a:r>
              <a:t>  decisions update per-record state and each block's unresolved count.</a:t>
            </a:r>
          </a:p>
          <a:p>
            <a:r>
              <a:t>  MdOnePassPrepareOutput stops at the first unresolved block, patches flags,</a:t>
            </a:r>
          </a:p>
          <a:p>
            <a:r>
              <a:t>  and builds output payload views; oversized legal payloads can be repacked.</a:t>
            </a:r>
          </a:p>
          <a:p>
            <a:r>
              <a:t>  MdOnePassFinishOutput completes compression and flushes the body sink before</a:t>
            </a:r>
          </a:p>
          <a:p>
            <a:r>
              <a:t>  retiring blocks; backing storage can be recycled at batch granularity.</a:t>
            </a:r>
          </a:p>
          <a:p>
            <a:r>
              <a:t>swbam-app/algorithms/markdup/swbam_markdup_stream_mpi.cpp:</a:t>
            </a:r>
          </a:p>
          <a:p>
            <a:r>
              <a:t>  MdWindowExpired / MdWindowKeepKey implement coordinate expiration and</a:t>
            </a:r>
          </a:p>
          <a:p>
            <a:r>
              <a:t>  conservative boundary retention. This queue is controlled by the memory</a:t>
            </a:r>
          </a:p>
          <a:p>
            <a:r>
              <a:t>  budget, not a claim of a fixed number of blocks for all inputs.</a:t>
            </a:r>
          </a:p>
          <a:p>
            <a:r>
              <a:t>  Pending/ready states refer to unresolved duplicate decisions, not BGZF CRC</a:t>
            </a:r>
          </a:p>
          <a:p>
            <a:r>
              <a:t>  or decode completion. A ready block cannot overtake an earlier pending one.</a:t>
            </a:r>
          </a:p>
          <a:p>
            <a:r>
              <a:t>  This figure depicts default marking, not record removal or tag clearing.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A / label 1"/>
          <p:cNvSpPr txBox="1"/>
          <p:nvPr/>
        </p:nvSpPr>
        <p:spPr>
          <a:xfrm>
            <a:off x="256032" y="146304"/>
            <a:ext cx="8229600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22B33"/>
                </a:solidFill>
                <a:latin typeface="Arial"/>
              </a:rPr>
              <a:t>(a) SWBAM architecture</a:t>
            </a:r>
          </a:p>
        </p:txBody>
      </p:sp>
      <p:sp>
        <p:nvSpPr>
          <p:cNvPr id="3" name="Application layer / frame"/>
          <p:cNvSpPr/>
          <p:nvPr/>
        </p:nvSpPr>
        <p:spPr>
          <a:xfrm>
            <a:off x="256032" y="630936"/>
            <a:ext cx="12655296" cy="758952"/>
          </a:xfrm>
          <a:prstGeom prst="rect">
            <a:avLst/>
          </a:prstGeom>
          <a:solidFill>
            <a:srgbClr val="F4F3F7"/>
          </a:solidFill>
          <a:ln w="13716">
            <a:solidFill>
              <a:srgbClr val="8C8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pplication heading / label 1"/>
          <p:cNvSpPr txBox="1"/>
          <p:nvPr/>
        </p:nvSpPr>
        <p:spPr>
          <a:xfrm>
            <a:off x="448056" y="749808"/>
            <a:ext cx="260604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B33"/>
                </a:solidFill>
                <a:latin typeface="Arial"/>
              </a:rPr>
              <a:t>SWBAM applications</a:t>
            </a:r>
          </a:p>
        </p:txBody>
      </p:sp>
      <p:sp>
        <p:nvSpPr>
          <p:cNvPr id="5" name="Application interface role / label 1"/>
          <p:cNvSpPr txBox="1"/>
          <p:nvPr/>
        </p:nvSpPr>
        <p:spPr>
          <a:xfrm>
            <a:off x="448056" y="1060704"/>
            <a:ext cx="265176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Batch-level composition</a:t>
            </a:r>
          </a:p>
        </p:txBody>
      </p:sp>
      <p:sp>
        <p:nvSpPr>
          <p:cNvPr id="6" name="Streaming applications / label 1"/>
          <p:cNvSpPr txBox="1"/>
          <p:nvPr/>
        </p:nvSpPr>
        <p:spPr>
          <a:xfrm>
            <a:off x="3447288" y="749808"/>
            <a:ext cx="4059936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Statistics / filtering / conversion</a:t>
            </a:r>
          </a:p>
        </p:txBody>
      </p:sp>
      <p:sp>
        <p:nvSpPr>
          <p:cNvPr id="7" name="Streaming state / label 1"/>
          <p:cNvSpPr txBox="1"/>
          <p:nvPr/>
        </p:nvSpPr>
        <p:spPr>
          <a:xfrm>
            <a:off x="3447288" y="1060704"/>
            <a:ext cx="4059936" cy="2103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Batch-local processing and aggregation</a:t>
            </a:r>
          </a:p>
        </p:txBody>
      </p:sp>
      <p:sp>
        <p:nvSpPr>
          <p:cNvPr id="8" name="Stateful applications / label 1"/>
          <p:cNvSpPr txBox="1"/>
          <p:nvPr/>
        </p:nvSpPr>
        <p:spPr>
          <a:xfrm>
            <a:off x="7927848" y="749808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Sort / collate / fixmate / markdup</a:t>
            </a:r>
          </a:p>
        </p:txBody>
      </p:sp>
      <p:sp>
        <p:nvSpPr>
          <p:cNvPr id="9" name="Stateful responsibilities / label 1"/>
          <p:cNvSpPr txBox="1"/>
          <p:nvPr/>
        </p:nvSpPr>
        <p:spPr>
          <a:xfrm>
            <a:off x="7927848" y="1060704"/>
            <a:ext cx="4754880" cy="2103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Ordering / grouping / cross-record state / MPI</a:t>
            </a:r>
          </a:p>
        </p:txBody>
      </p:sp>
      <p:cxnSp>
        <p:nvCxnSpPr>
          <p:cNvPr id="10" name="Uses library"/>
          <p:cNvCxnSpPr/>
          <p:nvPr/>
        </p:nvCxnSpPr>
        <p:spPr>
          <a:xfrm>
            <a:off x="6583680" y="1389888"/>
            <a:ext cx="0" cy="329184"/>
          </a:xfrm>
          <a:prstGeom prst="line">
            <a:avLst/>
          </a:prstGeom>
          <a:ln w="16459">
            <a:solidFill>
              <a:srgbClr val="6F7B84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ses batch interfaces / label 1"/>
          <p:cNvSpPr txBox="1"/>
          <p:nvPr/>
        </p:nvSpPr>
        <p:spPr>
          <a:xfrm>
            <a:off x="6775704" y="1453896"/>
            <a:ext cx="320040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Batch-level interfaces</a:t>
            </a:r>
          </a:p>
        </p:txBody>
      </p:sp>
      <p:sp>
        <p:nvSpPr>
          <p:cNvPr id="12" name="SWBAM library boundary / frame"/>
          <p:cNvSpPr/>
          <p:nvPr/>
        </p:nvSpPr>
        <p:spPr>
          <a:xfrm>
            <a:off x="256032" y="1755648"/>
            <a:ext cx="12655296" cy="3172968"/>
          </a:xfrm>
          <a:prstGeom prst="rect">
            <a:avLst/>
          </a:prstGeom>
          <a:solidFill>
            <a:srgbClr val="FFFFFF"/>
          </a:solidFill>
          <a:ln w="13716">
            <a:solidFill>
              <a:srgbClr val="7983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brary heading / label 1"/>
          <p:cNvSpPr txBox="1"/>
          <p:nvPr/>
        </p:nvSpPr>
        <p:spPr>
          <a:xfrm>
            <a:off x="448056" y="1865376"/>
            <a:ext cx="2606040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B33"/>
                </a:solidFill>
                <a:latin typeface="Arial"/>
              </a:rPr>
              <a:t>SWBAM library</a:t>
            </a:r>
          </a:p>
        </p:txBody>
      </p:sp>
      <p:sp>
        <p:nvSpPr>
          <p:cNvPr id="14" name="Library rank scope / label 1"/>
          <p:cNvSpPr txBox="1"/>
          <p:nvPr/>
        </p:nvSpPr>
        <p:spPr>
          <a:xfrm>
            <a:off x="8869680" y="1901952"/>
            <a:ext cx="3840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Reusable execution within each MPI rank</a:t>
            </a:r>
          </a:p>
        </p:txBody>
      </p:sp>
      <p:grpSp>
        <p:nvGrpSpPr>
          <p:cNvPr id="15" name="BAM read pipeline"/>
          <p:cNvGrpSpPr/>
          <p:nvPr/>
        </p:nvGrpSpPr>
        <p:grpSpPr>
          <a:xfrm>
            <a:off x="448056" y="2322576"/>
            <a:ext cx="2798064" cy="768096"/>
            <a:chOff x="448056" y="2322576"/>
            <a:chExt cx="2798064" cy="768096"/>
          </a:xfrm>
        </p:grpSpPr>
        <p:sp>
          <p:nvSpPr>
            <p:cNvPr id="16" name="BAM read pipeline / frame"/>
            <p:cNvSpPr/>
            <p:nvPr/>
          </p:nvSpPr>
          <p:spPr>
            <a:xfrm>
              <a:off x="44805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AM read pipeline / label 1"/>
            <p:cNvSpPr txBox="1"/>
            <p:nvPr/>
          </p:nvSpPr>
          <p:spPr>
            <a:xfrm>
              <a:off x="521207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18" name="BAM read pipeline / label 2"/>
            <p:cNvSpPr txBox="1"/>
            <p:nvPr/>
          </p:nvSpPr>
          <p:spPr>
            <a:xfrm>
              <a:off x="521207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decode + parse + op</a:t>
              </a:r>
            </a:p>
          </p:txBody>
        </p:sp>
      </p:grpSp>
      <p:grpSp>
        <p:nvGrpSpPr>
          <p:cNvPr id="19" name="BAM write pipeline"/>
          <p:cNvGrpSpPr/>
          <p:nvPr/>
        </p:nvGrpSpPr>
        <p:grpSpPr>
          <a:xfrm>
            <a:off x="3602736" y="2322576"/>
            <a:ext cx="2798064" cy="768096"/>
            <a:chOff x="3602736" y="2322576"/>
            <a:chExt cx="2798064" cy="768096"/>
          </a:xfrm>
        </p:grpSpPr>
        <p:sp>
          <p:nvSpPr>
            <p:cNvPr id="20" name="BAM write pipeline / frame"/>
            <p:cNvSpPr/>
            <p:nvPr/>
          </p:nvSpPr>
          <p:spPr>
            <a:xfrm>
              <a:off x="360273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AM write pipeline / label 1"/>
            <p:cNvSpPr txBox="1"/>
            <p:nvPr/>
          </p:nvSpPr>
          <p:spPr>
            <a:xfrm>
              <a:off x="3675887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22" name="BAM write pipeline / label 2"/>
            <p:cNvSpPr txBox="1"/>
            <p:nvPr/>
          </p:nvSpPr>
          <p:spPr>
            <a:xfrm>
              <a:off x="3675887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serialize + compress</a:t>
              </a:r>
            </a:p>
          </p:txBody>
        </p:sp>
      </p:grpSp>
      <p:grpSp>
        <p:nvGrpSpPr>
          <p:cNvPr id="23" name="SAM read pipeline"/>
          <p:cNvGrpSpPr/>
          <p:nvPr/>
        </p:nvGrpSpPr>
        <p:grpSpPr>
          <a:xfrm>
            <a:off x="6757416" y="2322576"/>
            <a:ext cx="2798064" cy="768096"/>
            <a:chOff x="6757416" y="2322576"/>
            <a:chExt cx="2798064" cy="768096"/>
          </a:xfrm>
        </p:grpSpPr>
        <p:sp>
          <p:nvSpPr>
            <p:cNvPr id="24" name="SAM read pipeline / frame"/>
            <p:cNvSpPr/>
            <p:nvPr/>
          </p:nvSpPr>
          <p:spPr>
            <a:xfrm>
              <a:off x="675741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M read pipeline / label 1"/>
            <p:cNvSpPr txBox="1"/>
            <p:nvPr/>
          </p:nvSpPr>
          <p:spPr>
            <a:xfrm>
              <a:off x="6830568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 read</a:t>
              </a:r>
            </a:p>
          </p:txBody>
        </p:sp>
        <p:sp>
          <p:nvSpPr>
            <p:cNvPr id="26" name="SAM read pipeline / label 2"/>
            <p:cNvSpPr txBox="1"/>
            <p:nvPr/>
          </p:nvSpPr>
          <p:spPr>
            <a:xfrm>
              <a:off x="6830568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parse text into records</a:t>
              </a:r>
            </a:p>
          </p:txBody>
        </p:sp>
      </p:grpSp>
      <p:grpSp>
        <p:nvGrpSpPr>
          <p:cNvPr id="27" name="SAM write pipeline"/>
          <p:cNvGrpSpPr/>
          <p:nvPr/>
        </p:nvGrpSpPr>
        <p:grpSpPr>
          <a:xfrm>
            <a:off x="9912096" y="2322576"/>
            <a:ext cx="2798064" cy="768096"/>
            <a:chOff x="9912096" y="2322576"/>
            <a:chExt cx="2798064" cy="768096"/>
          </a:xfrm>
        </p:grpSpPr>
        <p:sp>
          <p:nvSpPr>
            <p:cNvPr id="28" name="SAM write pipeline / frame"/>
            <p:cNvSpPr/>
            <p:nvPr/>
          </p:nvSpPr>
          <p:spPr>
            <a:xfrm>
              <a:off x="991209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AM write pipeline / label 1"/>
            <p:cNvSpPr txBox="1"/>
            <p:nvPr/>
          </p:nvSpPr>
          <p:spPr>
            <a:xfrm>
              <a:off x="9985248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 write</a:t>
              </a:r>
            </a:p>
          </p:txBody>
        </p:sp>
        <p:sp>
          <p:nvSpPr>
            <p:cNvPr id="30" name="SAM write pipeline / label 2"/>
            <p:cNvSpPr txBox="1"/>
            <p:nvPr/>
          </p:nvSpPr>
          <p:spPr>
            <a:xfrm>
              <a:off x="9985248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format records as text</a:t>
              </a:r>
            </a:p>
          </p:txBody>
        </p:sp>
      </p:grpSp>
      <p:sp>
        <p:nvSpPr>
          <p:cNvPr id="31" name="Runtime heading / label 1"/>
          <p:cNvSpPr txBox="1"/>
          <p:nvPr/>
        </p:nvSpPr>
        <p:spPr>
          <a:xfrm>
            <a:off x="448056" y="3493008"/>
            <a:ext cx="1792224" cy="2834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Batch runtime</a:t>
            </a:r>
          </a:p>
        </p:txBody>
      </p:sp>
      <p:grpSp>
        <p:nvGrpSpPr>
          <p:cNvPr id="32" name="MPE preparation"/>
          <p:cNvGrpSpPr/>
          <p:nvPr/>
        </p:nvGrpSpPr>
        <p:grpSpPr>
          <a:xfrm>
            <a:off x="2276856" y="3383280"/>
            <a:ext cx="2240280" cy="594360"/>
            <a:chOff x="2276856" y="3383280"/>
            <a:chExt cx="2240280" cy="594360"/>
          </a:xfrm>
        </p:grpSpPr>
        <p:sp>
          <p:nvSpPr>
            <p:cNvPr id="33" name="MPE preparation / frame"/>
            <p:cNvSpPr/>
            <p:nvPr/>
          </p:nvSpPr>
          <p:spPr>
            <a:xfrm>
              <a:off x="2276856" y="3383280"/>
              <a:ext cx="224028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MPE preparation / label 1"/>
            <p:cNvSpPr txBox="1"/>
            <p:nvPr/>
          </p:nvSpPr>
          <p:spPr>
            <a:xfrm>
              <a:off x="2350008" y="3427902"/>
              <a:ext cx="20939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MPE preparation</a:t>
              </a:r>
            </a:p>
          </p:txBody>
        </p:sp>
        <p:sp>
          <p:nvSpPr>
            <p:cNvPr id="35" name="MPE preparation / label 2"/>
            <p:cNvSpPr txBox="1"/>
            <p:nvPr/>
          </p:nvSpPr>
          <p:spPr>
            <a:xfrm>
              <a:off x="2350008" y="3698748"/>
              <a:ext cx="20939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Buffers + parameters</a:t>
              </a:r>
            </a:p>
          </p:txBody>
        </p:sp>
      </p:grpSp>
      <p:cxnSp>
        <p:nvCxnSpPr>
          <p:cNvPr id="36" name="Launch"/>
          <p:cNvCxnSpPr/>
          <p:nvPr/>
        </p:nvCxnSpPr>
        <p:spPr>
          <a:xfrm>
            <a:off x="4517136" y="3666744"/>
            <a:ext cx="44805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CPE execution"/>
          <p:cNvGrpSpPr/>
          <p:nvPr/>
        </p:nvGrpSpPr>
        <p:grpSpPr>
          <a:xfrm>
            <a:off x="4965192" y="3383280"/>
            <a:ext cx="1929384" cy="594360"/>
            <a:chOff x="4965192" y="3383280"/>
            <a:chExt cx="1929384" cy="594360"/>
          </a:xfrm>
        </p:grpSpPr>
        <p:sp>
          <p:nvSpPr>
            <p:cNvPr id="38" name="CPE execution / frame"/>
            <p:cNvSpPr/>
            <p:nvPr/>
          </p:nvSpPr>
          <p:spPr>
            <a:xfrm>
              <a:off x="4965192" y="3383280"/>
              <a:ext cx="1929384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PE execution / label 1"/>
            <p:cNvSpPr txBox="1"/>
            <p:nvPr/>
          </p:nvSpPr>
          <p:spPr>
            <a:xfrm>
              <a:off x="5038344" y="3427902"/>
              <a:ext cx="178308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CPE execution</a:t>
              </a:r>
            </a:p>
          </p:txBody>
        </p:sp>
        <p:sp>
          <p:nvSpPr>
            <p:cNvPr id="40" name="CPE execution / label 2"/>
            <p:cNvSpPr txBox="1"/>
            <p:nvPr/>
          </p:nvSpPr>
          <p:spPr>
            <a:xfrm>
              <a:off x="5038344" y="3698748"/>
              <a:ext cx="178308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Selected kernel</a:t>
              </a:r>
            </a:p>
          </p:txBody>
        </p:sp>
      </p:grpSp>
      <p:cxnSp>
        <p:nvCxnSpPr>
          <p:cNvPr id="41" name="Complete and join"/>
          <p:cNvCxnSpPr/>
          <p:nvPr/>
        </p:nvCxnSpPr>
        <p:spPr>
          <a:xfrm>
            <a:off x="6894576" y="3666744"/>
            <a:ext cx="44805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MPE post-processing"/>
          <p:cNvGrpSpPr/>
          <p:nvPr/>
        </p:nvGrpSpPr>
        <p:grpSpPr>
          <a:xfrm>
            <a:off x="7342631" y="3383280"/>
            <a:ext cx="2788920" cy="594360"/>
            <a:chOff x="7342631" y="3383280"/>
            <a:chExt cx="2788920" cy="594360"/>
          </a:xfrm>
        </p:grpSpPr>
        <p:sp>
          <p:nvSpPr>
            <p:cNvPr id="43" name="MPE post-processing / frame"/>
            <p:cNvSpPr/>
            <p:nvPr/>
          </p:nvSpPr>
          <p:spPr>
            <a:xfrm>
              <a:off x="7342631" y="3383280"/>
              <a:ext cx="278892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MPE post-processing / label 1"/>
            <p:cNvSpPr txBox="1"/>
            <p:nvPr/>
          </p:nvSpPr>
          <p:spPr>
            <a:xfrm>
              <a:off x="7415783" y="3422324"/>
              <a:ext cx="26426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MPE post-processing</a:t>
              </a:r>
            </a:p>
          </p:txBody>
        </p:sp>
        <p:sp>
          <p:nvSpPr>
            <p:cNvPr id="45" name="MPE post-processing / label 2"/>
            <p:cNvSpPr txBox="1"/>
            <p:nvPr/>
          </p:nvSpPr>
          <p:spPr>
            <a:xfrm>
              <a:off x="7415783" y="3704325"/>
              <a:ext cx="26426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Validate batch, then process</a:t>
              </a:r>
            </a:p>
          </p:txBody>
        </p:sp>
      </p:grpSp>
      <p:sp>
        <p:nvSpPr>
          <p:cNvPr id="46" name="Buffer reuse / label 1"/>
          <p:cNvSpPr txBox="1"/>
          <p:nvPr/>
        </p:nvSpPr>
        <p:spPr>
          <a:xfrm>
            <a:off x="10396728" y="3401568"/>
            <a:ext cx="2295144" cy="2651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222B33"/>
                </a:solidFill>
                <a:latin typeface="Arial"/>
              </a:rPr>
              <a:t>Reusable buffers</a:t>
            </a:r>
          </a:p>
        </p:txBody>
      </p:sp>
      <p:sp>
        <p:nvSpPr>
          <p:cNvPr id="47" name="Pipeline overlap / label 1"/>
          <p:cNvSpPr txBox="1"/>
          <p:nvPr/>
        </p:nvSpPr>
        <p:spPr>
          <a:xfrm>
            <a:off x="10396728" y="3694176"/>
            <a:ext cx="2295144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Overlap I/O + CPE work</a:t>
            </a:r>
          </a:p>
        </p:txBody>
      </p:sp>
      <p:sp>
        <p:nvSpPr>
          <p:cNvPr id="48" name="I/O heading / label 1"/>
          <p:cNvSpPr txBox="1"/>
          <p:nvPr/>
        </p:nvSpPr>
        <p:spPr>
          <a:xfrm>
            <a:off x="448056" y="4315968"/>
            <a:ext cx="214884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22B33"/>
                </a:solidFill>
                <a:latin typeface="Arial"/>
              </a:rPr>
              <a:t>I/O and MPI support</a:t>
            </a:r>
          </a:p>
        </p:txBody>
      </p:sp>
      <p:grpSp>
        <p:nvGrpSpPr>
          <p:cNvPr id="49" name="Input and partitioning"/>
          <p:cNvGrpSpPr/>
          <p:nvPr/>
        </p:nvGrpSpPr>
        <p:grpSpPr>
          <a:xfrm>
            <a:off x="2798064" y="4197096"/>
            <a:ext cx="4727448" cy="576072"/>
            <a:chOff x="2798064" y="4197096"/>
            <a:chExt cx="4727448" cy="576072"/>
          </a:xfrm>
        </p:grpSpPr>
        <p:sp>
          <p:nvSpPr>
            <p:cNvPr id="50" name="Input and partitioning / frame"/>
            <p:cNvSpPr/>
            <p:nvPr/>
          </p:nvSpPr>
          <p:spPr>
            <a:xfrm>
              <a:off x="2798064" y="4197096"/>
              <a:ext cx="4727448" cy="576072"/>
            </a:xfrm>
            <a:prstGeom prst="roundRect">
              <a:avLst>
                <a:gd name="adj" fmla="val 11111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 and partitioning / label 1"/>
            <p:cNvSpPr txBox="1"/>
            <p:nvPr/>
          </p:nvSpPr>
          <p:spPr>
            <a:xfrm>
              <a:off x="2871216" y="4232574"/>
              <a:ext cx="458114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Input backend + rank partitioning</a:t>
              </a:r>
            </a:p>
          </p:txBody>
        </p:sp>
        <p:sp>
          <p:nvSpPr>
            <p:cNvPr id="52" name="Input and partitioning / label 2"/>
            <p:cNvSpPr txBox="1"/>
            <p:nvPr/>
          </p:nvSpPr>
          <p:spPr>
            <a:xfrm>
              <a:off x="2871216" y="4503420"/>
              <a:ext cx="458114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Memory / POSIX / MPI-IO</a:t>
              </a:r>
            </a:p>
          </p:txBody>
        </p:sp>
      </p:grpSp>
      <p:grpSp>
        <p:nvGrpSpPr>
          <p:cNvPr id="53" name="Output and layout"/>
          <p:cNvGrpSpPr/>
          <p:nvPr/>
        </p:nvGrpSpPr>
        <p:grpSpPr>
          <a:xfrm>
            <a:off x="7891272" y="4197096"/>
            <a:ext cx="4818888" cy="576072"/>
            <a:chOff x="7891272" y="4197096"/>
            <a:chExt cx="4818888" cy="576072"/>
          </a:xfrm>
        </p:grpSpPr>
        <p:sp>
          <p:nvSpPr>
            <p:cNvPr id="54" name="Output and layout / frame"/>
            <p:cNvSpPr/>
            <p:nvPr/>
          </p:nvSpPr>
          <p:spPr>
            <a:xfrm>
              <a:off x="7891272" y="4197096"/>
              <a:ext cx="4818888" cy="576072"/>
            </a:xfrm>
            <a:prstGeom prst="roundRect">
              <a:avLst>
                <a:gd name="adj" fmla="val 11111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utput and layout / label 1"/>
            <p:cNvSpPr txBox="1"/>
            <p:nvPr/>
          </p:nvSpPr>
          <p:spPr>
            <a:xfrm>
              <a:off x="7964424" y="4232574"/>
              <a:ext cx="46725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Rank body sink + distributed output</a:t>
              </a:r>
            </a:p>
          </p:txBody>
        </p:sp>
        <p:sp>
          <p:nvSpPr>
            <p:cNvPr id="56" name="Output and layout / label 2"/>
            <p:cNvSpPr txBox="1"/>
            <p:nvPr/>
          </p:nvSpPr>
          <p:spPr>
            <a:xfrm>
              <a:off x="7964424" y="4503420"/>
              <a:ext cx="46725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Memory / spool  →  Memory / MPI-IO</a:t>
              </a:r>
            </a:p>
          </p:txBody>
        </p:sp>
      </p:grpSp>
      <p:sp>
        <p:nvSpPr>
          <p:cNvPr id="57" name="Panel B / label 1"/>
          <p:cNvSpPr txBox="1"/>
          <p:nvPr/>
        </p:nvSpPr>
        <p:spPr>
          <a:xfrm>
            <a:off x="256032" y="5111496"/>
            <a:ext cx="10972800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22B33"/>
                </a:solidFill>
                <a:latin typeface="Arial"/>
              </a:rPr>
              <a:t>(b) Example batch-level compositions</a:t>
            </a:r>
          </a:p>
        </p:txBody>
      </p:sp>
      <p:sp>
        <p:nvSpPr>
          <p:cNvPr id="58" name="Record counting heading / label 1"/>
          <p:cNvSpPr txBox="1"/>
          <p:nvPr/>
        </p:nvSpPr>
        <p:spPr>
          <a:xfrm>
            <a:off x="448056" y="5577840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Record counting</a:t>
            </a:r>
          </a:p>
        </p:txBody>
      </p:sp>
      <p:grpSp>
        <p:nvGrpSpPr>
          <p:cNvPr id="59" name="Record counting / BAM read"/>
          <p:cNvGrpSpPr/>
          <p:nvPr/>
        </p:nvGrpSpPr>
        <p:grpSpPr>
          <a:xfrm>
            <a:off x="448056" y="5934456"/>
            <a:ext cx="1719072" cy="658368"/>
            <a:chOff x="448056" y="5934456"/>
            <a:chExt cx="1719072" cy="658368"/>
          </a:xfrm>
        </p:grpSpPr>
        <p:sp>
          <p:nvSpPr>
            <p:cNvPr id="60" name="Record counting / BAM read / frame"/>
            <p:cNvSpPr/>
            <p:nvPr/>
          </p:nvSpPr>
          <p:spPr>
            <a:xfrm>
              <a:off x="448056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ord counting / BAM read / label 1"/>
            <p:cNvSpPr txBox="1"/>
            <p:nvPr/>
          </p:nvSpPr>
          <p:spPr>
            <a:xfrm>
              <a:off x="521207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62" name="Record counting / BAM read / label 2"/>
            <p:cNvSpPr txBox="1"/>
            <p:nvPr/>
          </p:nvSpPr>
          <p:spPr>
            <a:xfrm>
              <a:off x="521207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Count (CPE)</a:t>
              </a:r>
            </a:p>
          </p:txBody>
        </p:sp>
      </p:grpSp>
      <p:cxnSp>
        <p:nvCxnSpPr>
          <p:cNvPr id="63" name="Record counting / batch 0"/>
          <p:cNvCxnSpPr/>
          <p:nvPr/>
        </p:nvCxnSpPr>
        <p:spPr>
          <a:xfrm>
            <a:off x="2167128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Record counting / Aggregate"/>
          <p:cNvGrpSpPr/>
          <p:nvPr/>
        </p:nvGrpSpPr>
        <p:grpSpPr>
          <a:xfrm>
            <a:off x="2514600" y="5934456"/>
            <a:ext cx="1719072" cy="658368"/>
            <a:chOff x="2514600" y="5934456"/>
            <a:chExt cx="1719072" cy="658368"/>
          </a:xfrm>
        </p:grpSpPr>
        <p:sp>
          <p:nvSpPr>
            <p:cNvPr id="65" name="Record counting / Aggregate / frame"/>
            <p:cNvSpPr/>
            <p:nvPr/>
          </p:nvSpPr>
          <p:spPr>
            <a:xfrm>
              <a:off x="2514600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ord counting / Aggregate / label 1"/>
            <p:cNvSpPr txBox="1"/>
            <p:nvPr/>
          </p:nvSpPr>
          <p:spPr>
            <a:xfrm>
              <a:off x="2587752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Aggregate</a:t>
              </a:r>
            </a:p>
          </p:txBody>
        </p:sp>
        <p:sp>
          <p:nvSpPr>
            <p:cNvPr id="67" name="Record counting / Aggregate / label 2"/>
            <p:cNvSpPr txBox="1"/>
            <p:nvPr/>
          </p:nvSpPr>
          <p:spPr>
            <a:xfrm>
              <a:off x="2587752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68" name="Record counting / batch 1"/>
          <p:cNvCxnSpPr/>
          <p:nvPr/>
        </p:nvCxnSpPr>
        <p:spPr>
          <a:xfrm>
            <a:off x="4233672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Record counting / MPI reduce"/>
          <p:cNvGrpSpPr/>
          <p:nvPr/>
        </p:nvGrpSpPr>
        <p:grpSpPr>
          <a:xfrm>
            <a:off x="4581144" y="5934456"/>
            <a:ext cx="1719072" cy="658368"/>
            <a:chOff x="4581144" y="5934456"/>
            <a:chExt cx="1719072" cy="658368"/>
          </a:xfrm>
        </p:grpSpPr>
        <p:sp>
          <p:nvSpPr>
            <p:cNvPr id="70" name="Record counting / MPI reduce / frame"/>
            <p:cNvSpPr/>
            <p:nvPr/>
          </p:nvSpPr>
          <p:spPr>
            <a:xfrm>
              <a:off x="4581144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ord counting / MPI reduce / label 1"/>
            <p:cNvSpPr txBox="1"/>
            <p:nvPr/>
          </p:nvSpPr>
          <p:spPr>
            <a:xfrm>
              <a:off x="4654296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MPI reduce</a:t>
              </a:r>
            </a:p>
          </p:txBody>
        </p:sp>
        <p:sp>
          <p:nvSpPr>
            <p:cNvPr id="72" name="Record counting / MPI reduce / label 2"/>
            <p:cNvSpPr txBox="1"/>
            <p:nvPr/>
          </p:nvSpPr>
          <p:spPr>
            <a:xfrm>
              <a:off x="4654296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Global count</a:t>
              </a:r>
            </a:p>
          </p:txBody>
        </p:sp>
      </p:grpSp>
      <p:sp>
        <p:nvSpPr>
          <p:cNvPr id="73" name="BAM filtering / rewriting heading / label 1"/>
          <p:cNvSpPr txBox="1"/>
          <p:nvPr/>
        </p:nvSpPr>
        <p:spPr>
          <a:xfrm>
            <a:off x="6885432" y="5577840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BAM filtering / rewriting</a:t>
            </a:r>
          </a:p>
        </p:txBody>
      </p:sp>
      <p:grpSp>
        <p:nvGrpSpPr>
          <p:cNvPr id="74" name="BAM filtering / rewriting / BAM read"/>
          <p:cNvGrpSpPr/>
          <p:nvPr/>
        </p:nvGrpSpPr>
        <p:grpSpPr>
          <a:xfrm>
            <a:off x="6885432" y="5934456"/>
            <a:ext cx="1719072" cy="658368"/>
            <a:chOff x="6885432" y="5934456"/>
            <a:chExt cx="1719072" cy="658368"/>
          </a:xfrm>
        </p:grpSpPr>
        <p:sp>
          <p:nvSpPr>
            <p:cNvPr id="75" name="BAM filtering / rewriting / BAM read / frame"/>
            <p:cNvSpPr/>
            <p:nvPr/>
          </p:nvSpPr>
          <p:spPr>
            <a:xfrm>
              <a:off x="6885432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BAM filtering / rewriting / BAM read / label 1"/>
            <p:cNvSpPr txBox="1"/>
            <p:nvPr/>
          </p:nvSpPr>
          <p:spPr>
            <a:xfrm>
              <a:off x="6958584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77" name="BAM filtering / rewriting / BAM read / label 2"/>
            <p:cNvSpPr txBox="1"/>
            <p:nvPr/>
          </p:nvSpPr>
          <p:spPr>
            <a:xfrm>
              <a:off x="6958584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Filter / retain</a:t>
              </a:r>
            </a:p>
          </p:txBody>
        </p:sp>
      </p:grpSp>
      <p:cxnSp>
        <p:nvCxnSpPr>
          <p:cNvPr id="78" name="BAM filtering / rewriting / batch 0"/>
          <p:cNvCxnSpPr/>
          <p:nvPr/>
        </p:nvCxnSpPr>
        <p:spPr>
          <a:xfrm>
            <a:off x="8604504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BAM filtering / rewriting / Packing plan"/>
          <p:cNvGrpSpPr/>
          <p:nvPr/>
        </p:nvGrpSpPr>
        <p:grpSpPr>
          <a:xfrm>
            <a:off x="8951976" y="5934456"/>
            <a:ext cx="1719072" cy="658368"/>
            <a:chOff x="8951976" y="5934456"/>
            <a:chExt cx="1719072" cy="658368"/>
          </a:xfrm>
        </p:grpSpPr>
        <p:sp>
          <p:nvSpPr>
            <p:cNvPr id="80" name="BAM filtering / rewriting / Packing plan / frame"/>
            <p:cNvSpPr/>
            <p:nvPr/>
          </p:nvSpPr>
          <p:spPr>
            <a:xfrm>
              <a:off x="8951976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BAM filtering / rewriting / Packing plan / label 1"/>
            <p:cNvSpPr txBox="1"/>
            <p:nvPr/>
          </p:nvSpPr>
          <p:spPr>
            <a:xfrm>
              <a:off x="9025128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Packing plan</a:t>
              </a:r>
            </a:p>
          </p:txBody>
        </p:sp>
        <p:sp>
          <p:nvSpPr>
            <p:cNvPr id="82" name="BAM filtering / rewriting / Packing plan / label 2"/>
            <p:cNvSpPr txBox="1"/>
            <p:nvPr/>
          </p:nvSpPr>
          <p:spPr>
            <a:xfrm>
              <a:off x="9025128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83" name="BAM filtering / rewriting / batch 1"/>
          <p:cNvCxnSpPr/>
          <p:nvPr/>
        </p:nvCxnSpPr>
        <p:spPr>
          <a:xfrm>
            <a:off x="10671048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BAM filtering / rewriting / BAM write"/>
          <p:cNvGrpSpPr/>
          <p:nvPr/>
        </p:nvGrpSpPr>
        <p:grpSpPr>
          <a:xfrm>
            <a:off x="11018520" y="5934456"/>
            <a:ext cx="1719072" cy="658368"/>
            <a:chOff x="11018520" y="5934456"/>
            <a:chExt cx="1719072" cy="658368"/>
          </a:xfrm>
        </p:grpSpPr>
        <p:sp>
          <p:nvSpPr>
            <p:cNvPr id="85" name="BAM filtering / rewriting / BAM write / frame"/>
            <p:cNvSpPr/>
            <p:nvPr/>
          </p:nvSpPr>
          <p:spPr>
            <a:xfrm>
              <a:off x="11018520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BAM filtering / rewriting / BAM write / label 1"/>
            <p:cNvSpPr txBox="1"/>
            <p:nvPr/>
          </p:nvSpPr>
          <p:spPr>
            <a:xfrm>
              <a:off x="11091672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87" name="BAM filtering / rewriting / BAM write / label 2"/>
            <p:cNvSpPr txBox="1"/>
            <p:nvPr/>
          </p:nvSpPr>
          <p:spPr>
            <a:xfrm>
              <a:off x="11091672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Encode (CPE)</a:t>
              </a:r>
            </a:p>
          </p:txBody>
        </p:sp>
      </p:grpSp>
      <p:sp>
        <p:nvSpPr>
          <p:cNvPr id="88" name="BAM-to-SAM conversion heading / label 1"/>
          <p:cNvSpPr txBox="1"/>
          <p:nvPr/>
        </p:nvSpPr>
        <p:spPr>
          <a:xfrm>
            <a:off x="448056" y="6848856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BAM-to-SAM conversion</a:t>
            </a:r>
          </a:p>
        </p:txBody>
      </p:sp>
      <p:grpSp>
        <p:nvGrpSpPr>
          <p:cNvPr id="89" name="BAM-to-SAM conversion / BAM read"/>
          <p:cNvGrpSpPr/>
          <p:nvPr/>
        </p:nvGrpSpPr>
        <p:grpSpPr>
          <a:xfrm>
            <a:off x="448056" y="7205472"/>
            <a:ext cx="1719072" cy="658368"/>
            <a:chOff x="448056" y="7205472"/>
            <a:chExt cx="1719072" cy="658368"/>
          </a:xfrm>
        </p:grpSpPr>
        <p:sp>
          <p:nvSpPr>
            <p:cNvPr id="90" name="BAM-to-SAM conversion / BAM read / frame"/>
            <p:cNvSpPr/>
            <p:nvPr/>
          </p:nvSpPr>
          <p:spPr>
            <a:xfrm>
              <a:off x="448056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BAM-to-SAM conversion / BAM read / label 1"/>
            <p:cNvSpPr txBox="1"/>
            <p:nvPr/>
          </p:nvSpPr>
          <p:spPr>
            <a:xfrm>
              <a:off x="521207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92" name="BAM-to-SAM conversion / BAM read / label 2"/>
            <p:cNvSpPr txBox="1"/>
            <p:nvPr/>
          </p:nvSpPr>
          <p:spPr>
            <a:xfrm>
              <a:off x="521207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Decode + parse</a:t>
              </a:r>
            </a:p>
          </p:txBody>
        </p:sp>
      </p:grpSp>
      <p:cxnSp>
        <p:nvCxnSpPr>
          <p:cNvPr id="93" name="BAM-to-SAM conversion / batch 0"/>
          <p:cNvCxnSpPr/>
          <p:nvPr/>
        </p:nvCxnSpPr>
        <p:spPr>
          <a:xfrm>
            <a:off x="2167128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BAM-to-SAM conversion / Batch handoff"/>
          <p:cNvGrpSpPr/>
          <p:nvPr/>
        </p:nvGrpSpPr>
        <p:grpSpPr>
          <a:xfrm>
            <a:off x="2514600" y="7205472"/>
            <a:ext cx="1719072" cy="658368"/>
            <a:chOff x="2514600" y="7205472"/>
            <a:chExt cx="1719072" cy="658368"/>
          </a:xfrm>
        </p:grpSpPr>
        <p:sp>
          <p:nvSpPr>
            <p:cNvPr id="95" name="BAM-to-SAM conversion / Batch handoff / frame"/>
            <p:cNvSpPr/>
            <p:nvPr/>
          </p:nvSpPr>
          <p:spPr>
            <a:xfrm>
              <a:off x="2514600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BAM-to-SAM conversion / Batch handoff / label 1"/>
            <p:cNvSpPr txBox="1"/>
            <p:nvPr/>
          </p:nvSpPr>
          <p:spPr>
            <a:xfrm>
              <a:off x="2587752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Batch handoff</a:t>
              </a:r>
            </a:p>
          </p:txBody>
        </p:sp>
        <p:sp>
          <p:nvSpPr>
            <p:cNvPr id="97" name="BAM-to-SAM conversion / Batch handoff / label 2"/>
            <p:cNvSpPr txBox="1"/>
            <p:nvPr/>
          </p:nvSpPr>
          <p:spPr>
            <a:xfrm>
              <a:off x="2587752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98" name="BAM-to-SAM conversion / batch 1"/>
          <p:cNvCxnSpPr/>
          <p:nvPr/>
        </p:nvCxnSpPr>
        <p:spPr>
          <a:xfrm>
            <a:off x="4233672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BAM-to-SAM conversion / SAM write"/>
          <p:cNvGrpSpPr/>
          <p:nvPr/>
        </p:nvGrpSpPr>
        <p:grpSpPr>
          <a:xfrm>
            <a:off x="4581144" y="7205472"/>
            <a:ext cx="1719072" cy="658368"/>
            <a:chOff x="4581144" y="7205472"/>
            <a:chExt cx="1719072" cy="658368"/>
          </a:xfrm>
        </p:grpSpPr>
        <p:sp>
          <p:nvSpPr>
            <p:cNvPr id="100" name="BAM-to-SAM conversion / SAM write / frame"/>
            <p:cNvSpPr/>
            <p:nvPr/>
          </p:nvSpPr>
          <p:spPr>
            <a:xfrm>
              <a:off x="4581144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AM-to-SAM conversion / SAM write / label 1"/>
            <p:cNvSpPr txBox="1"/>
            <p:nvPr/>
          </p:nvSpPr>
          <p:spPr>
            <a:xfrm>
              <a:off x="4654296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 write</a:t>
              </a:r>
            </a:p>
          </p:txBody>
        </p:sp>
        <p:sp>
          <p:nvSpPr>
            <p:cNvPr id="102" name="BAM-to-SAM conversion / SAM write / label 2"/>
            <p:cNvSpPr txBox="1"/>
            <p:nvPr/>
          </p:nvSpPr>
          <p:spPr>
            <a:xfrm>
              <a:off x="4654296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Format (CPE)</a:t>
              </a:r>
            </a:p>
          </p:txBody>
        </p:sp>
      </p:grpSp>
      <p:sp>
        <p:nvSpPr>
          <p:cNvPr id="103" name="SAM-to-BAM conversion heading / label 1"/>
          <p:cNvSpPr txBox="1"/>
          <p:nvPr/>
        </p:nvSpPr>
        <p:spPr>
          <a:xfrm>
            <a:off x="6885432" y="6848856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SAM-to-BAM conversion</a:t>
            </a:r>
          </a:p>
        </p:txBody>
      </p:sp>
      <p:grpSp>
        <p:nvGrpSpPr>
          <p:cNvPr id="104" name="SAM-to-BAM conversion / SAM read"/>
          <p:cNvGrpSpPr/>
          <p:nvPr/>
        </p:nvGrpSpPr>
        <p:grpSpPr>
          <a:xfrm>
            <a:off x="6885432" y="7205472"/>
            <a:ext cx="1719072" cy="658368"/>
            <a:chOff x="6885432" y="7205472"/>
            <a:chExt cx="1719072" cy="658368"/>
          </a:xfrm>
        </p:grpSpPr>
        <p:sp>
          <p:nvSpPr>
            <p:cNvPr id="105" name="SAM-to-BAM conversion / SAM read / frame"/>
            <p:cNvSpPr/>
            <p:nvPr/>
          </p:nvSpPr>
          <p:spPr>
            <a:xfrm>
              <a:off x="6885432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AM-to-BAM conversion / SAM read / label 1"/>
            <p:cNvSpPr txBox="1"/>
            <p:nvPr/>
          </p:nvSpPr>
          <p:spPr>
            <a:xfrm>
              <a:off x="6958584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 read</a:t>
              </a:r>
            </a:p>
          </p:txBody>
        </p:sp>
        <p:sp>
          <p:nvSpPr>
            <p:cNvPr id="107" name="SAM-to-BAM conversion / SAM read / label 2"/>
            <p:cNvSpPr txBox="1"/>
            <p:nvPr/>
          </p:nvSpPr>
          <p:spPr>
            <a:xfrm>
              <a:off x="6958584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Parse (CPE)</a:t>
              </a:r>
            </a:p>
          </p:txBody>
        </p:sp>
      </p:grpSp>
      <p:cxnSp>
        <p:nvCxnSpPr>
          <p:cNvPr id="108" name="SAM-to-BAM conversion / batch 0"/>
          <p:cNvCxnSpPr/>
          <p:nvPr/>
        </p:nvCxnSpPr>
        <p:spPr>
          <a:xfrm>
            <a:off x="8604504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AM-to-BAM conversion / Packing plan"/>
          <p:cNvGrpSpPr/>
          <p:nvPr/>
        </p:nvGrpSpPr>
        <p:grpSpPr>
          <a:xfrm>
            <a:off x="8951976" y="7205472"/>
            <a:ext cx="1719072" cy="658368"/>
            <a:chOff x="8951976" y="7205472"/>
            <a:chExt cx="1719072" cy="658368"/>
          </a:xfrm>
        </p:grpSpPr>
        <p:sp>
          <p:nvSpPr>
            <p:cNvPr id="110" name="SAM-to-BAM conversion / Packing plan / frame"/>
            <p:cNvSpPr/>
            <p:nvPr/>
          </p:nvSpPr>
          <p:spPr>
            <a:xfrm>
              <a:off x="8951976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AM-to-BAM conversion / Packing plan / label 1"/>
            <p:cNvSpPr txBox="1"/>
            <p:nvPr/>
          </p:nvSpPr>
          <p:spPr>
            <a:xfrm>
              <a:off x="9025128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Packing plan</a:t>
              </a:r>
            </a:p>
          </p:txBody>
        </p:sp>
        <p:sp>
          <p:nvSpPr>
            <p:cNvPr id="112" name="SAM-to-BAM conversion / Packing plan / label 2"/>
            <p:cNvSpPr txBox="1"/>
            <p:nvPr/>
          </p:nvSpPr>
          <p:spPr>
            <a:xfrm>
              <a:off x="9025128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113" name="SAM-to-BAM conversion / batch 1"/>
          <p:cNvCxnSpPr/>
          <p:nvPr/>
        </p:nvCxnSpPr>
        <p:spPr>
          <a:xfrm>
            <a:off x="10671048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SAM-to-BAM conversion / BAM write"/>
          <p:cNvGrpSpPr/>
          <p:nvPr/>
        </p:nvGrpSpPr>
        <p:grpSpPr>
          <a:xfrm>
            <a:off x="11018520" y="7205472"/>
            <a:ext cx="1719072" cy="658368"/>
            <a:chOff x="11018520" y="7205472"/>
            <a:chExt cx="1719072" cy="658368"/>
          </a:xfrm>
        </p:grpSpPr>
        <p:sp>
          <p:nvSpPr>
            <p:cNvPr id="115" name="SAM-to-BAM conversion / BAM write / frame"/>
            <p:cNvSpPr/>
            <p:nvPr/>
          </p:nvSpPr>
          <p:spPr>
            <a:xfrm>
              <a:off x="11018520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AM-to-BAM conversion / BAM write / label 1"/>
            <p:cNvSpPr txBox="1"/>
            <p:nvPr/>
          </p:nvSpPr>
          <p:spPr>
            <a:xfrm>
              <a:off x="11091672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117" name="SAM-to-BAM conversion / BAM write / label 2"/>
            <p:cNvSpPr txBox="1"/>
            <p:nvPr/>
          </p:nvSpPr>
          <p:spPr>
            <a:xfrm>
              <a:off x="11091672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Encode (CPE)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ad title / label 1"/>
          <p:cNvSpPr txBox="1"/>
          <p:nvPr/>
        </p:nvSpPr>
        <p:spPr>
          <a:xfrm>
            <a:off x="256032" y="15544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BAM read: next-batch input overlaps current CPE work</a:t>
            </a:r>
          </a:p>
        </p:txBody>
      </p:sp>
      <p:cxnSp>
        <p:nvCxnSpPr>
          <p:cNvPr id="3" name="Read time"/>
          <p:cNvCxnSpPr/>
          <p:nvPr/>
        </p:nvCxnSpPr>
        <p:spPr>
          <a:xfrm>
            <a:off x="1645920" y="795528"/>
            <a:ext cx="1115568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ad time label / label 1"/>
          <p:cNvSpPr txBox="1"/>
          <p:nvPr/>
        </p:nvSpPr>
        <p:spPr>
          <a:xfrm>
            <a:off x="10881360" y="493776"/>
            <a:ext cx="190195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Time (schematic)</a:t>
            </a:r>
          </a:p>
        </p:txBody>
      </p:sp>
      <p:sp>
        <p:nvSpPr>
          <p:cNvPr id="5" name="Read MPE lane / label 1"/>
          <p:cNvSpPr txBox="1"/>
          <p:nvPr/>
        </p:nvSpPr>
        <p:spPr>
          <a:xfrm>
            <a:off x="292608" y="1463040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MPE</a:t>
            </a:r>
          </a:p>
        </p:txBody>
      </p:sp>
      <p:sp>
        <p:nvSpPr>
          <p:cNvPr id="6" name="Read CPE lane / label 1"/>
          <p:cNvSpPr txBox="1"/>
          <p:nvPr/>
        </p:nvSpPr>
        <p:spPr>
          <a:xfrm>
            <a:off x="292608" y="2660904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CPEs</a:t>
            </a:r>
          </a:p>
        </p:txBody>
      </p:sp>
      <p:grpSp>
        <p:nvGrpSpPr>
          <p:cNvPr id="7" name="Read prepare i"/>
          <p:cNvGrpSpPr/>
          <p:nvPr/>
        </p:nvGrpSpPr>
        <p:grpSpPr>
          <a:xfrm>
            <a:off x="1645920" y="1325880"/>
            <a:ext cx="1463040" cy="594360"/>
            <a:chOff x="1645920" y="1325880"/>
            <a:chExt cx="1463040" cy="594360"/>
          </a:xfrm>
        </p:grpSpPr>
        <p:sp>
          <p:nvSpPr>
            <p:cNvPr id="8" name="Read prepare i / frame"/>
            <p:cNvSpPr/>
            <p:nvPr/>
          </p:nvSpPr>
          <p:spPr>
            <a:xfrm>
              <a:off x="1645920" y="1325880"/>
              <a:ext cx="14630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ead prepare i / label 1"/>
            <p:cNvSpPr txBox="1"/>
            <p:nvPr/>
          </p:nvSpPr>
          <p:spPr>
            <a:xfrm>
              <a:off x="1719072" y="1364924"/>
              <a:ext cx="13167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 i</a:t>
              </a:r>
            </a:p>
          </p:txBody>
        </p:sp>
        <p:sp>
          <p:nvSpPr>
            <p:cNvPr id="10" name="Read prepare i / label 2"/>
            <p:cNvSpPr txBox="1"/>
            <p:nvPr/>
          </p:nvSpPr>
          <p:spPr>
            <a:xfrm>
              <a:off x="1719072" y="1646925"/>
              <a:ext cx="13167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input A</a:t>
              </a:r>
            </a:p>
          </p:txBody>
        </p:sp>
      </p:grpSp>
      <p:grpSp>
        <p:nvGrpSpPr>
          <p:cNvPr id="11" name="Read i+1"/>
          <p:cNvGrpSpPr/>
          <p:nvPr/>
        </p:nvGrpSpPr>
        <p:grpSpPr>
          <a:xfrm>
            <a:off x="3108960" y="1325880"/>
            <a:ext cx="2788920" cy="594360"/>
            <a:chOff x="3108960" y="1325880"/>
            <a:chExt cx="2788920" cy="594360"/>
          </a:xfrm>
        </p:grpSpPr>
        <p:sp>
          <p:nvSpPr>
            <p:cNvPr id="12" name="Read i+1 / frame"/>
            <p:cNvSpPr/>
            <p:nvPr/>
          </p:nvSpPr>
          <p:spPr>
            <a:xfrm>
              <a:off x="3108960" y="1325880"/>
              <a:ext cx="278892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ad i+1 / label 1"/>
            <p:cNvSpPr txBox="1"/>
            <p:nvPr/>
          </p:nvSpPr>
          <p:spPr>
            <a:xfrm>
              <a:off x="3182112" y="1364924"/>
              <a:ext cx="26426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Read batch i+1</a:t>
              </a:r>
            </a:p>
          </p:txBody>
        </p:sp>
        <p:sp>
          <p:nvSpPr>
            <p:cNvPr id="14" name="Read i+1 / label 2"/>
            <p:cNvSpPr txBox="1"/>
            <p:nvPr/>
          </p:nvSpPr>
          <p:spPr>
            <a:xfrm>
              <a:off x="3182112" y="1646925"/>
              <a:ext cx="26426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next input: B</a:t>
              </a:r>
            </a:p>
          </p:txBody>
        </p:sp>
      </p:grpSp>
      <p:grpSp>
        <p:nvGrpSpPr>
          <p:cNvPr id="15" name="Read join i"/>
          <p:cNvGrpSpPr/>
          <p:nvPr/>
        </p:nvGrpSpPr>
        <p:grpSpPr>
          <a:xfrm>
            <a:off x="5897880" y="1325880"/>
            <a:ext cx="1143000" cy="594360"/>
            <a:chOff x="5897880" y="1325880"/>
            <a:chExt cx="1143000" cy="594360"/>
          </a:xfrm>
        </p:grpSpPr>
        <p:sp>
          <p:nvSpPr>
            <p:cNvPr id="16" name="Read join i / frame"/>
            <p:cNvSpPr/>
            <p:nvPr/>
          </p:nvSpPr>
          <p:spPr>
            <a:xfrm>
              <a:off x="5897880" y="1325880"/>
              <a:ext cx="1143000" cy="594360"/>
            </a:xfrm>
            <a:prstGeom prst="roundRect">
              <a:avLst>
                <a:gd name="adj" fmla="val 10769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ad join i / label 1"/>
            <p:cNvSpPr txBox="1"/>
            <p:nvPr/>
          </p:nvSpPr>
          <p:spPr>
            <a:xfrm>
              <a:off x="5971032" y="1364924"/>
              <a:ext cx="996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Wait</a:t>
              </a:r>
            </a:p>
          </p:txBody>
        </p:sp>
        <p:sp>
          <p:nvSpPr>
            <p:cNvPr id="18" name="Read join i / label 2"/>
            <p:cNvSpPr txBox="1"/>
            <p:nvPr/>
          </p:nvSpPr>
          <p:spPr>
            <a:xfrm>
              <a:off x="5971032" y="1646925"/>
              <a:ext cx="996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join</a:t>
              </a:r>
            </a:p>
          </p:txBody>
        </p:sp>
      </p:grpSp>
      <p:grpSp>
        <p:nvGrpSpPr>
          <p:cNvPr id="19" name="Read post i"/>
          <p:cNvGrpSpPr/>
          <p:nvPr/>
        </p:nvGrpSpPr>
        <p:grpSpPr>
          <a:xfrm>
            <a:off x="7040880" y="1325880"/>
            <a:ext cx="2194560" cy="594360"/>
            <a:chOff x="7040880" y="1325880"/>
            <a:chExt cx="2194560" cy="594360"/>
          </a:xfrm>
        </p:grpSpPr>
        <p:sp>
          <p:nvSpPr>
            <p:cNvPr id="20" name="Read post i / frame"/>
            <p:cNvSpPr/>
            <p:nvPr/>
          </p:nvSpPr>
          <p:spPr>
            <a:xfrm>
              <a:off x="7040880" y="1325880"/>
              <a:ext cx="21945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ead post i / label 1"/>
            <p:cNvSpPr txBox="1"/>
            <p:nvPr/>
          </p:nvSpPr>
          <p:spPr>
            <a:xfrm>
              <a:off x="7114032" y="1364924"/>
              <a:ext cx="20482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Post-process i</a:t>
              </a:r>
            </a:p>
          </p:txBody>
        </p:sp>
        <p:sp>
          <p:nvSpPr>
            <p:cNvPr id="22" name="Read post i / label 2"/>
            <p:cNvSpPr txBox="1"/>
            <p:nvPr/>
          </p:nvSpPr>
          <p:spPr>
            <a:xfrm>
              <a:off x="7114032" y="1646925"/>
              <a:ext cx="20482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after validation</a:t>
              </a:r>
            </a:p>
          </p:txBody>
        </p:sp>
      </p:grpSp>
      <p:grpSp>
        <p:nvGrpSpPr>
          <p:cNvPr id="23" name="Read prepare i+1"/>
          <p:cNvGrpSpPr/>
          <p:nvPr/>
        </p:nvGrpSpPr>
        <p:grpSpPr>
          <a:xfrm>
            <a:off x="9235440" y="1325880"/>
            <a:ext cx="1280160" cy="594360"/>
            <a:chOff x="9235440" y="1325880"/>
            <a:chExt cx="1280160" cy="594360"/>
          </a:xfrm>
        </p:grpSpPr>
        <p:sp>
          <p:nvSpPr>
            <p:cNvPr id="24" name="Read prepare i+1 / frame"/>
            <p:cNvSpPr/>
            <p:nvPr/>
          </p:nvSpPr>
          <p:spPr>
            <a:xfrm>
              <a:off x="9235440" y="1325880"/>
              <a:ext cx="12801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Read prepare i+1 / label 1"/>
            <p:cNvSpPr txBox="1"/>
            <p:nvPr/>
          </p:nvSpPr>
          <p:spPr>
            <a:xfrm>
              <a:off x="9308592" y="1364924"/>
              <a:ext cx="11338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</a:t>
              </a:r>
            </a:p>
          </p:txBody>
        </p:sp>
        <p:sp>
          <p:nvSpPr>
            <p:cNvPr id="26" name="Read prepare i+1 / label 2"/>
            <p:cNvSpPr txBox="1"/>
            <p:nvPr/>
          </p:nvSpPr>
          <p:spPr>
            <a:xfrm>
              <a:off x="9308592" y="1646925"/>
              <a:ext cx="11338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i+1</a:t>
              </a:r>
            </a:p>
          </p:txBody>
        </p:sp>
      </p:grpSp>
      <p:grpSp>
        <p:nvGrpSpPr>
          <p:cNvPr id="27" name="Read i+2"/>
          <p:cNvGrpSpPr/>
          <p:nvPr/>
        </p:nvGrpSpPr>
        <p:grpSpPr>
          <a:xfrm>
            <a:off x="10515600" y="1325880"/>
            <a:ext cx="2286000" cy="594360"/>
            <a:chOff x="10515600" y="1325880"/>
            <a:chExt cx="2286000" cy="594360"/>
          </a:xfrm>
        </p:grpSpPr>
        <p:sp>
          <p:nvSpPr>
            <p:cNvPr id="28" name="Read i+2 / frame"/>
            <p:cNvSpPr/>
            <p:nvPr/>
          </p:nvSpPr>
          <p:spPr>
            <a:xfrm>
              <a:off x="10515600" y="1325880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Read i+2 / label 1"/>
            <p:cNvSpPr txBox="1"/>
            <p:nvPr/>
          </p:nvSpPr>
          <p:spPr>
            <a:xfrm>
              <a:off x="10588752" y="1364924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Read batch i+2</a:t>
              </a:r>
            </a:p>
          </p:txBody>
        </p:sp>
        <p:sp>
          <p:nvSpPr>
            <p:cNvPr id="30" name="Read i+2 / label 2"/>
            <p:cNvSpPr txBox="1"/>
            <p:nvPr/>
          </p:nvSpPr>
          <p:spPr>
            <a:xfrm>
              <a:off x="10588752" y="1646925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next input: A</a:t>
              </a:r>
            </a:p>
          </p:txBody>
        </p:sp>
      </p:grpSp>
      <p:grpSp>
        <p:nvGrpSpPr>
          <p:cNvPr id="31" name="Read kernel i"/>
          <p:cNvGrpSpPr/>
          <p:nvPr/>
        </p:nvGrpSpPr>
        <p:grpSpPr>
          <a:xfrm>
            <a:off x="3108960" y="2514600"/>
            <a:ext cx="3931920" cy="594360"/>
            <a:chOff x="3108960" y="2514600"/>
            <a:chExt cx="3931920" cy="594360"/>
          </a:xfrm>
        </p:grpSpPr>
        <p:sp>
          <p:nvSpPr>
            <p:cNvPr id="32" name="Read kernel i / frame"/>
            <p:cNvSpPr/>
            <p:nvPr/>
          </p:nvSpPr>
          <p:spPr>
            <a:xfrm>
              <a:off x="3108960" y="2514600"/>
              <a:ext cx="393192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ead kernel i / label 1"/>
            <p:cNvSpPr txBox="1"/>
            <p:nvPr/>
          </p:nvSpPr>
          <p:spPr>
            <a:xfrm>
              <a:off x="3182112" y="2553644"/>
              <a:ext cx="3785615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Decode + parse + op</a:t>
              </a:r>
            </a:p>
          </p:txBody>
        </p:sp>
        <p:sp>
          <p:nvSpPr>
            <p:cNvPr id="34" name="Read kernel i / label 2"/>
            <p:cNvSpPr txBox="1"/>
            <p:nvPr/>
          </p:nvSpPr>
          <p:spPr>
            <a:xfrm>
              <a:off x="3182112" y="2835645"/>
              <a:ext cx="3785615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 / input A</a:t>
              </a:r>
            </a:p>
          </p:txBody>
        </p:sp>
      </p:grpSp>
      <p:grpSp>
        <p:nvGrpSpPr>
          <p:cNvPr id="35" name="Read kernel i+1"/>
          <p:cNvGrpSpPr/>
          <p:nvPr/>
        </p:nvGrpSpPr>
        <p:grpSpPr>
          <a:xfrm>
            <a:off x="10515600" y="2514600"/>
            <a:ext cx="2286000" cy="594360"/>
            <a:chOff x="10515600" y="2514600"/>
            <a:chExt cx="2286000" cy="594360"/>
          </a:xfrm>
        </p:grpSpPr>
        <p:sp>
          <p:nvSpPr>
            <p:cNvPr id="36" name="Read kernel i+1 / frame"/>
            <p:cNvSpPr/>
            <p:nvPr/>
          </p:nvSpPr>
          <p:spPr>
            <a:xfrm>
              <a:off x="10515600" y="2514600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ead kernel i+1 / label 1"/>
            <p:cNvSpPr txBox="1"/>
            <p:nvPr/>
          </p:nvSpPr>
          <p:spPr>
            <a:xfrm>
              <a:off x="10588752" y="2553644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Same kernel</a:t>
              </a:r>
            </a:p>
          </p:txBody>
        </p:sp>
        <p:sp>
          <p:nvSpPr>
            <p:cNvPr id="38" name="Read kernel i+1 / label 2"/>
            <p:cNvSpPr txBox="1"/>
            <p:nvPr/>
          </p:nvSpPr>
          <p:spPr>
            <a:xfrm>
              <a:off x="10588752" y="2835645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i+1 / input B</a:t>
              </a:r>
            </a:p>
          </p:txBody>
        </p:sp>
      </p:grpSp>
      <p:cxnSp>
        <p:nvCxnSpPr>
          <p:cNvPr id="39" name="Read launch i"/>
          <p:cNvCxnSpPr/>
          <p:nvPr/>
        </p:nvCxnSpPr>
        <p:spPr>
          <a:xfrm>
            <a:off x="310896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ad launch label / label 1"/>
          <p:cNvSpPr txBox="1"/>
          <p:nvPr/>
        </p:nvSpPr>
        <p:spPr>
          <a:xfrm>
            <a:off x="3154680" y="2103120"/>
            <a:ext cx="94183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launch</a:t>
            </a:r>
          </a:p>
        </p:txBody>
      </p:sp>
      <p:cxnSp>
        <p:nvCxnSpPr>
          <p:cNvPr id="41" name="Read complete i"/>
          <p:cNvCxnSpPr/>
          <p:nvPr/>
        </p:nvCxnSpPr>
        <p:spPr>
          <a:xfrm flipV="1">
            <a:off x="704088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ad complete label / label 1"/>
          <p:cNvSpPr txBox="1"/>
          <p:nvPr/>
        </p:nvSpPr>
        <p:spPr>
          <a:xfrm>
            <a:off x="7086600" y="2103120"/>
            <a:ext cx="1554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CPE complete</a:t>
            </a:r>
          </a:p>
        </p:txBody>
      </p:sp>
      <p:cxnSp>
        <p:nvCxnSpPr>
          <p:cNvPr id="43" name="Read launch i+1"/>
          <p:cNvCxnSpPr/>
          <p:nvPr/>
        </p:nvCxnSpPr>
        <p:spPr>
          <a:xfrm>
            <a:off x="10515600" y="1938528"/>
            <a:ext cx="0" cy="557784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Read overlap / 0"/>
          <p:cNvCxnSpPr/>
          <p:nvPr/>
        </p:nvCxnSpPr>
        <p:spPr>
          <a:xfrm>
            <a:off x="3108960" y="315468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Read overlap / 1"/>
          <p:cNvCxnSpPr/>
          <p:nvPr/>
        </p:nvCxnSpPr>
        <p:spPr>
          <a:xfrm>
            <a:off x="3108960" y="3218688"/>
            <a:ext cx="2788920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Read overlap / 2"/>
          <p:cNvCxnSpPr/>
          <p:nvPr/>
        </p:nvCxnSpPr>
        <p:spPr>
          <a:xfrm flipV="1">
            <a:off x="5897880" y="315468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ad overlap label / label 1"/>
          <p:cNvSpPr txBox="1"/>
          <p:nvPr/>
        </p:nvSpPr>
        <p:spPr>
          <a:xfrm>
            <a:off x="3108960" y="3273552"/>
            <a:ext cx="27889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Input / CPE overlap</a:t>
            </a:r>
          </a:p>
        </p:txBody>
      </p:sp>
      <p:sp>
        <p:nvSpPr>
          <p:cNvPr id="48" name="Read post dependency / label 1"/>
          <p:cNvSpPr txBox="1"/>
          <p:nvPr/>
        </p:nvSpPr>
        <p:spPr>
          <a:xfrm>
            <a:off x="6355080" y="3246120"/>
            <a:ext cx="64922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Post-processing starts after join and validation.</a:t>
            </a:r>
          </a:p>
        </p:txBody>
      </p:sp>
      <p:sp>
        <p:nvSpPr>
          <p:cNvPr id="49" name="Write title / label 1"/>
          <p:cNvSpPr txBox="1"/>
          <p:nvPr/>
        </p:nvSpPr>
        <p:spPr>
          <a:xfrm>
            <a:off x="256032" y="399592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BAM write: previous output overlaps current compression</a:t>
            </a:r>
          </a:p>
        </p:txBody>
      </p:sp>
      <p:cxnSp>
        <p:nvCxnSpPr>
          <p:cNvPr id="50" name="Write time"/>
          <p:cNvCxnSpPr/>
          <p:nvPr/>
        </p:nvCxnSpPr>
        <p:spPr>
          <a:xfrm>
            <a:off x="1645920" y="4636008"/>
            <a:ext cx="1115568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Write time label / label 1"/>
          <p:cNvSpPr txBox="1"/>
          <p:nvPr/>
        </p:nvSpPr>
        <p:spPr>
          <a:xfrm>
            <a:off x="10881360" y="4334256"/>
            <a:ext cx="190195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Time (schematic)</a:t>
            </a:r>
          </a:p>
        </p:txBody>
      </p:sp>
      <p:sp>
        <p:nvSpPr>
          <p:cNvPr id="52" name="Write MPE lane / label 1"/>
          <p:cNvSpPr txBox="1"/>
          <p:nvPr/>
        </p:nvSpPr>
        <p:spPr>
          <a:xfrm>
            <a:off x="292608" y="5330952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MPE</a:t>
            </a:r>
          </a:p>
        </p:txBody>
      </p:sp>
      <p:sp>
        <p:nvSpPr>
          <p:cNvPr id="53" name="Write CPE lane / label 1"/>
          <p:cNvSpPr txBox="1"/>
          <p:nvPr/>
        </p:nvSpPr>
        <p:spPr>
          <a:xfrm>
            <a:off x="292608" y="6483096"/>
            <a:ext cx="1133856" cy="30175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CPEs</a:t>
            </a:r>
          </a:p>
        </p:txBody>
      </p:sp>
      <p:grpSp>
        <p:nvGrpSpPr>
          <p:cNvPr id="54" name="Write prepare i"/>
          <p:cNvGrpSpPr/>
          <p:nvPr/>
        </p:nvGrpSpPr>
        <p:grpSpPr>
          <a:xfrm>
            <a:off x="1645920" y="5184648"/>
            <a:ext cx="1463040" cy="594360"/>
            <a:chOff x="1645920" y="5184648"/>
            <a:chExt cx="1463040" cy="594360"/>
          </a:xfrm>
        </p:grpSpPr>
        <p:sp>
          <p:nvSpPr>
            <p:cNvPr id="55" name="Write prepare i / frame"/>
            <p:cNvSpPr/>
            <p:nvPr/>
          </p:nvSpPr>
          <p:spPr>
            <a:xfrm>
              <a:off x="1645920" y="5184648"/>
              <a:ext cx="14630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Write prepare i / label 1"/>
            <p:cNvSpPr txBox="1"/>
            <p:nvPr/>
          </p:nvSpPr>
          <p:spPr>
            <a:xfrm>
              <a:off x="1719072" y="5223692"/>
              <a:ext cx="13167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 i</a:t>
              </a:r>
            </a:p>
          </p:txBody>
        </p:sp>
        <p:sp>
          <p:nvSpPr>
            <p:cNvPr id="57" name="Write prepare i / label 2"/>
            <p:cNvSpPr txBox="1"/>
            <p:nvPr/>
          </p:nvSpPr>
          <p:spPr>
            <a:xfrm>
              <a:off x="1719072" y="5505693"/>
              <a:ext cx="13167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output A</a:t>
              </a:r>
            </a:p>
          </p:txBody>
        </p:sp>
      </p:grpSp>
      <p:grpSp>
        <p:nvGrpSpPr>
          <p:cNvPr id="58" name="Write previous"/>
          <p:cNvGrpSpPr/>
          <p:nvPr/>
        </p:nvGrpSpPr>
        <p:grpSpPr>
          <a:xfrm>
            <a:off x="3108960" y="5184648"/>
            <a:ext cx="2377440" cy="594360"/>
            <a:chOff x="3108960" y="5184648"/>
            <a:chExt cx="2377440" cy="594360"/>
          </a:xfrm>
        </p:grpSpPr>
        <p:sp>
          <p:nvSpPr>
            <p:cNvPr id="59" name="Write previous / frame"/>
            <p:cNvSpPr/>
            <p:nvPr/>
          </p:nvSpPr>
          <p:spPr>
            <a:xfrm>
              <a:off x="3108960" y="5184648"/>
              <a:ext cx="2377440" cy="594360"/>
            </a:xfrm>
            <a:prstGeom prst="roundRect">
              <a:avLst>
                <a:gd name="adj" fmla="val 1076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Write previous / label 1"/>
            <p:cNvSpPr txBox="1"/>
            <p:nvPr/>
          </p:nvSpPr>
          <p:spPr>
            <a:xfrm>
              <a:off x="3182112" y="5223692"/>
              <a:ext cx="22311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Write batch i-1</a:t>
              </a:r>
            </a:p>
          </p:txBody>
        </p:sp>
        <p:sp>
          <p:nvSpPr>
            <p:cNvPr id="61" name="Write previous / label 2"/>
            <p:cNvSpPr txBox="1"/>
            <p:nvPr/>
          </p:nvSpPr>
          <p:spPr>
            <a:xfrm>
              <a:off x="3182112" y="5505693"/>
              <a:ext cx="22311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output: B</a:t>
              </a:r>
            </a:p>
          </p:txBody>
        </p:sp>
      </p:grpSp>
      <p:grpSp>
        <p:nvGrpSpPr>
          <p:cNvPr id="62" name="Write prefetch"/>
          <p:cNvGrpSpPr/>
          <p:nvPr/>
        </p:nvGrpSpPr>
        <p:grpSpPr>
          <a:xfrm>
            <a:off x="5486400" y="5184648"/>
            <a:ext cx="2057400" cy="594360"/>
            <a:chOff x="5486400" y="5184648"/>
            <a:chExt cx="2057400" cy="594360"/>
          </a:xfrm>
        </p:grpSpPr>
        <p:sp>
          <p:nvSpPr>
            <p:cNvPr id="63" name="Write prefetch / frame"/>
            <p:cNvSpPr/>
            <p:nvPr/>
          </p:nvSpPr>
          <p:spPr>
            <a:xfrm>
              <a:off x="5486400" y="5184648"/>
              <a:ext cx="2057400" cy="594360"/>
            </a:xfrm>
            <a:prstGeom prst="roundRect">
              <a:avLst>
                <a:gd name="adj" fmla="val 10769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Write prefetch / label 1"/>
            <p:cNvSpPr txBox="1"/>
            <p:nvPr/>
          </p:nvSpPr>
          <p:spPr>
            <a:xfrm>
              <a:off x="5559552" y="5223692"/>
              <a:ext cx="1911095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Prefetch i+1</a:t>
              </a:r>
            </a:p>
          </p:txBody>
        </p:sp>
        <p:sp>
          <p:nvSpPr>
            <p:cNvPr id="65" name="Write prefetch / label 2"/>
            <p:cNvSpPr txBox="1"/>
            <p:nvPr/>
          </p:nvSpPr>
          <p:spPr>
            <a:xfrm>
              <a:off x="5559552" y="5505693"/>
              <a:ext cx="1911095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optional input</a:t>
              </a:r>
            </a:p>
          </p:txBody>
        </p:sp>
      </p:grpSp>
      <p:grpSp>
        <p:nvGrpSpPr>
          <p:cNvPr id="66" name="Write validate"/>
          <p:cNvGrpSpPr/>
          <p:nvPr/>
        </p:nvGrpSpPr>
        <p:grpSpPr>
          <a:xfrm>
            <a:off x="7543800" y="5184648"/>
            <a:ext cx="1691640" cy="594360"/>
            <a:chOff x="7543800" y="5184648"/>
            <a:chExt cx="1691640" cy="594360"/>
          </a:xfrm>
        </p:grpSpPr>
        <p:sp>
          <p:nvSpPr>
            <p:cNvPr id="67" name="Write validate / frame"/>
            <p:cNvSpPr/>
            <p:nvPr/>
          </p:nvSpPr>
          <p:spPr>
            <a:xfrm>
              <a:off x="7543800" y="5184648"/>
              <a:ext cx="169164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" name="Write validate / label 1"/>
            <p:cNvSpPr txBox="1"/>
            <p:nvPr/>
          </p:nvSpPr>
          <p:spPr>
            <a:xfrm>
              <a:off x="7616952" y="5223692"/>
              <a:ext cx="15453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Join / validate</a:t>
              </a:r>
            </a:p>
          </p:txBody>
        </p:sp>
        <p:sp>
          <p:nvSpPr>
            <p:cNvPr id="69" name="Write validate / label 2"/>
            <p:cNvSpPr txBox="1"/>
            <p:nvPr/>
          </p:nvSpPr>
          <p:spPr>
            <a:xfrm>
              <a:off x="7616952" y="5505693"/>
              <a:ext cx="1545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A</a:t>
              </a:r>
            </a:p>
          </p:txBody>
        </p:sp>
      </p:grpSp>
      <p:grpSp>
        <p:nvGrpSpPr>
          <p:cNvPr id="70" name="Write prepare next"/>
          <p:cNvGrpSpPr/>
          <p:nvPr/>
        </p:nvGrpSpPr>
        <p:grpSpPr>
          <a:xfrm>
            <a:off x="9235440" y="5184648"/>
            <a:ext cx="1280160" cy="594360"/>
            <a:chOff x="9235440" y="5184648"/>
            <a:chExt cx="1280160" cy="594360"/>
          </a:xfrm>
        </p:grpSpPr>
        <p:sp>
          <p:nvSpPr>
            <p:cNvPr id="71" name="Write prepare next / frame"/>
            <p:cNvSpPr/>
            <p:nvPr/>
          </p:nvSpPr>
          <p:spPr>
            <a:xfrm>
              <a:off x="9235440" y="5184648"/>
              <a:ext cx="128016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Write prepare next / label 1"/>
            <p:cNvSpPr txBox="1"/>
            <p:nvPr/>
          </p:nvSpPr>
          <p:spPr>
            <a:xfrm>
              <a:off x="9308592" y="5223692"/>
              <a:ext cx="11338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Prepare</a:t>
              </a:r>
            </a:p>
          </p:txBody>
        </p:sp>
        <p:sp>
          <p:nvSpPr>
            <p:cNvPr id="73" name="Write prepare next / label 2"/>
            <p:cNvSpPr txBox="1"/>
            <p:nvPr/>
          </p:nvSpPr>
          <p:spPr>
            <a:xfrm>
              <a:off x="9308592" y="5505693"/>
              <a:ext cx="11338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i+1</a:t>
              </a:r>
            </a:p>
          </p:txBody>
        </p:sp>
      </p:grpSp>
      <p:grpSp>
        <p:nvGrpSpPr>
          <p:cNvPr id="74" name="Write current"/>
          <p:cNvGrpSpPr/>
          <p:nvPr/>
        </p:nvGrpSpPr>
        <p:grpSpPr>
          <a:xfrm>
            <a:off x="10515600" y="5184648"/>
            <a:ext cx="2286000" cy="594360"/>
            <a:chOff x="10515600" y="5184648"/>
            <a:chExt cx="2286000" cy="594360"/>
          </a:xfrm>
        </p:grpSpPr>
        <p:sp>
          <p:nvSpPr>
            <p:cNvPr id="75" name="Write current / frame"/>
            <p:cNvSpPr/>
            <p:nvPr/>
          </p:nvSpPr>
          <p:spPr>
            <a:xfrm>
              <a:off x="10515600" y="5184648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Write current / label 1"/>
            <p:cNvSpPr txBox="1"/>
            <p:nvPr/>
          </p:nvSpPr>
          <p:spPr>
            <a:xfrm>
              <a:off x="10588752" y="5223692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Write batch i</a:t>
              </a:r>
            </a:p>
          </p:txBody>
        </p:sp>
        <p:sp>
          <p:nvSpPr>
            <p:cNvPr id="77" name="Write current / label 2"/>
            <p:cNvSpPr txBox="1"/>
            <p:nvPr/>
          </p:nvSpPr>
          <p:spPr>
            <a:xfrm>
              <a:off x="10588752" y="5505693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pending output: A</a:t>
              </a:r>
            </a:p>
          </p:txBody>
        </p:sp>
      </p:grpSp>
      <p:grpSp>
        <p:nvGrpSpPr>
          <p:cNvPr id="78" name="Write kernel i"/>
          <p:cNvGrpSpPr/>
          <p:nvPr/>
        </p:nvGrpSpPr>
        <p:grpSpPr>
          <a:xfrm>
            <a:off x="3108960" y="6345936"/>
            <a:ext cx="4434840" cy="594360"/>
            <a:chOff x="3108960" y="6345936"/>
            <a:chExt cx="4434840" cy="594360"/>
          </a:xfrm>
        </p:grpSpPr>
        <p:sp>
          <p:nvSpPr>
            <p:cNvPr id="79" name="Write kernel i / frame"/>
            <p:cNvSpPr/>
            <p:nvPr/>
          </p:nvSpPr>
          <p:spPr>
            <a:xfrm>
              <a:off x="3108960" y="6345936"/>
              <a:ext cx="443484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Write kernel i / label 1"/>
            <p:cNvSpPr txBox="1"/>
            <p:nvPr/>
          </p:nvSpPr>
          <p:spPr>
            <a:xfrm>
              <a:off x="3182112" y="6384980"/>
              <a:ext cx="428853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Serialize + compress</a:t>
              </a:r>
            </a:p>
          </p:txBody>
        </p:sp>
        <p:sp>
          <p:nvSpPr>
            <p:cNvPr id="81" name="Write kernel i / label 2"/>
            <p:cNvSpPr txBox="1"/>
            <p:nvPr/>
          </p:nvSpPr>
          <p:spPr>
            <a:xfrm>
              <a:off x="3182112" y="6666981"/>
              <a:ext cx="42885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 / output A</a:t>
              </a:r>
            </a:p>
          </p:txBody>
        </p:sp>
      </p:grpSp>
      <p:grpSp>
        <p:nvGrpSpPr>
          <p:cNvPr id="82" name="Write kernel i+1"/>
          <p:cNvGrpSpPr/>
          <p:nvPr/>
        </p:nvGrpSpPr>
        <p:grpSpPr>
          <a:xfrm>
            <a:off x="10515600" y="6345936"/>
            <a:ext cx="2286000" cy="594360"/>
            <a:chOff x="10515600" y="6345936"/>
            <a:chExt cx="2286000" cy="594360"/>
          </a:xfrm>
        </p:grpSpPr>
        <p:sp>
          <p:nvSpPr>
            <p:cNvPr id="83" name="Write kernel i+1 / frame"/>
            <p:cNvSpPr/>
            <p:nvPr/>
          </p:nvSpPr>
          <p:spPr>
            <a:xfrm>
              <a:off x="10515600" y="6345936"/>
              <a:ext cx="2286000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Write kernel i+1 / label 1"/>
            <p:cNvSpPr txBox="1"/>
            <p:nvPr/>
          </p:nvSpPr>
          <p:spPr>
            <a:xfrm>
              <a:off x="10588752" y="6384980"/>
              <a:ext cx="213969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Same kernel</a:t>
              </a:r>
            </a:p>
          </p:txBody>
        </p:sp>
        <p:sp>
          <p:nvSpPr>
            <p:cNvPr id="85" name="Write kernel i+1 / label 2"/>
            <p:cNvSpPr txBox="1"/>
            <p:nvPr/>
          </p:nvSpPr>
          <p:spPr>
            <a:xfrm>
              <a:off x="10588752" y="6666981"/>
              <a:ext cx="21396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batch i+1 / output B</a:t>
              </a:r>
            </a:p>
          </p:txBody>
        </p:sp>
      </p:grpSp>
      <p:cxnSp>
        <p:nvCxnSpPr>
          <p:cNvPr id="86" name="Write launch i"/>
          <p:cNvCxnSpPr/>
          <p:nvPr/>
        </p:nvCxnSpPr>
        <p:spPr>
          <a:xfrm>
            <a:off x="310896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Write launch label / label 1"/>
          <p:cNvSpPr txBox="1"/>
          <p:nvPr/>
        </p:nvSpPr>
        <p:spPr>
          <a:xfrm>
            <a:off x="3154680" y="5934456"/>
            <a:ext cx="94183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launch</a:t>
            </a:r>
          </a:p>
        </p:txBody>
      </p:sp>
      <p:cxnSp>
        <p:nvCxnSpPr>
          <p:cNvPr id="88" name="Write complete i"/>
          <p:cNvCxnSpPr/>
          <p:nvPr/>
        </p:nvCxnSpPr>
        <p:spPr>
          <a:xfrm flipV="1">
            <a:off x="754380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Write complete label / label 1"/>
          <p:cNvSpPr txBox="1"/>
          <p:nvPr/>
        </p:nvSpPr>
        <p:spPr>
          <a:xfrm>
            <a:off x="7589520" y="5934456"/>
            <a:ext cx="1554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CPE complete</a:t>
            </a:r>
          </a:p>
        </p:txBody>
      </p:sp>
      <p:cxnSp>
        <p:nvCxnSpPr>
          <p:cNvPr id="90" name="Write launch next"/>
          <p:cNvCxnSpPr/>
          <p:nvPr/>
        </p:nvCxnSpPr>
        <p:spPr>
          <a:xfrm>
            <a:off x="10515600" y="5797296"/>
            <a:ext cx="0" cy="530352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Write overlap / 0"/>
          <p:cNvCxnSpPr/>
          <p:nvPr/>
        </p:nvCxnSpPr>
        <p:spPr>
          <a:xfrm>
            <a:off x="3108960" y="699516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Write overlap / 1"/>
          <p:cNvCxnSpPr/>
          <p:nvPr/>
        </p:nvCxnSpPr>
        <p:spPr>
          <a:xfrm>
            <a:off x="3108960" y="7059168"/>
            <a:ext cx="4434840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Write overlap / 2"/>
          <p:cNvCxnSpPr/>
          <p:nvPr/>
        </p:nvCxnSpPr>
        <p:spPr>
          <a:xfrm flipV="1">
            <a:off x="7543800" y="699516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Write overlap label / label 1"/>
          <p:cNvSpPr txBox="1"/>
          <p:nvPr/>
        </p:nvSpPr>
        <p:spPr>
          <a:xfrm>
            <a:off x="3108960" y="7114032"/>
            <a:ext cx="4434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Output / prefetch overlaps CPE work</a:t>
            </a:r>
          </a:p>
        </p:txBody>
      </p:sp>
      <p:sp>
        <p:nvSpPr>
          <p:cNvPr id="95" name="Write raw payload option / label 1"/>
          <p:cNvSpPr txBox="1"/>
          <p:nvPr/>
        </p:nvSpPr>
        <p:spPr>
          <a:xfrm>
            <a:off x="7955279" y="7095744"/>
            <a:ext cx="4846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Raw BGZF payloads: compression only.</a:t>
            </a:r>
          </a:p>
        </p:txBody>
      </p:sp>
      <p:sp>
        <p:nvSpPr>
          <p:cNvPr id="96" name="Schedule scope / label 1"/>
          <p:cNvSpPr txBox="1"/>
          <p:nvPr/>
        </p:nvSpPr>
        <p:spPr>
          <a:xfrm>
            <a:off x="365760" y="7799831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Independent read/write schedules for one core group; CPE kernels are not concurrent.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ort panel / label 1"/>
          <p:cNvSpPr txBox="1"/>
          <p:nvPr/>
        </p:nvSpPr>
        <p:spPr>
          <a:xfrm>
            <a:off x="256032" y="164592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Coordinate sort: partition by sampled coordinate splitters</a:t>
            </a:r>
          </a:p>
        </p:txBody>
      </p:sp>
      <p:grpSp>
        <p:nvGrpSpPr>
          <p:cNvPr id="3" name="Sort / BAM read / extract"/>
          <p:cNvGrpSpPr/>
          <p:nvPr/>
        </p:nvGrpSpPr>
        <p:grpSpPr>
          <a:xfrm>
            <a:off x="320040" y="795528"/>
            <a:ext cx="2103120" cy="713232"/>
            <a:chOff x="320040" y="795528"/>
            <a:chExt cx="2103120" cy="713232"/>
          </a:xfrm>
        </p:grpSpPr>
        <p:sp>
          <p:nvSpPr>
            <p:cNvPr id="4" name="Sort / BAM read / extract / frame"/>
            <p:cNvSpPr/>
            <p:nvPr/>
          </p:nvSpPr>
          <p:spPr>
            <a:xfrm>
              <a:off x="320040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Sort / BAM read / extract / label 1"/>
            <p:cNvSpPr txBox="1"/>
            <p:nvPr/>
          </p:nvSpPr>
          <p:spPr>
            <a:xfrm>
              <a:off x="393192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 / extract</a:t>
              </a:r>
            </a:p>
          </p:txBody>
        </p:sp>
        <p:sp>
          <p:nvSpPr>
            <p:cNvPr id="6" name="Sort / BAM read / extract / label 2"/>
            <p:cNvSpPr txBox="1"/>
            <p:nvPr/>
          </p:nvSpPr>
          <p:spPr>
            <a:xfrm>
              <a:off x="393192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Keys + raw records</a:t>
              </a:r>
            </a:p>
          </p:txBody>
        </p:sp>
      </p:grpSp>
      <p:cxnSp>
        <p:nvCxnSpPr>
          <p:cNvPr id="7" name="Sort / data 0"/>
          <p:cNvCxnSpPr/>
          <p:nvPr/>
        </p:nvCxnSpPr>
        <p:spPr>
          <a:xfrm>
            <a:off x="2423160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Sort / Local ordering"/>
          <p:cNvGrpSpPr/>
          <p:nvPr/>
        </p:nvGrpSpPr>
        <p:grpSpPr>
          <a:xfrm>
            <a:off x="2916936" y="795528"/>
            <a:ext cx="2103120" cy="713232"/>
            <a:chOff x="2916936" y="795528"/>
            <a:chExt cx="2103120" cy="713232"/>
          </a:xfrm>
        </p:grpSpPr>
        <p:sp>
          <p:nvSpPr>
            <p:cNvPr id="9" name="Sort / Local ordering / frame"/>
            <p:cNvSpPr/>
            <p:nvPr/>
          </p:nvSpPr>
          <p:spPr>
            <a:xfrm>
              <a:off x="2916936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Sort / Local ordering / label 1"/>
            <p:cNvSpPr txBox="1"/>
            <p:nvPr/>
          </p:nvSpPr>
          <p:spPr>
            <a:xfrm>
              <a:off x="2990088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Local ordering</a:t>
              </a:r>
            </a:p>
          </p:txBody>
        </p:sp>
        <p:sp>
          <p:nvSpPr>
            <p:cNvPr id="11" name="Sort / Local ordering / label 2"/>
            <p:cNvSpPr txBox="1"/>
            <p:nvPr/>
          </p:nvSpPr>
          <p:spPr>
            <a:xfrm>
              <a:off x="2990088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Sort metadata</a:t>
              </a:r>
            </a:p>
          </p:txBody>
        </p:sp>
      </p:grpSp>
      <p:cxnSp>
        <p:nvCxnSpPr>
          <p:cNvPr id="12" name="Sort / data 1"/>
          <p:cNvCxnSpPr/>
          <p:nvPr/>
        </p:nvCxnSpPr>
        <p:spPr>
          <a:xfrm>
            <a:off x="5020056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Sort / Partition / exchange"/>
          <p:cNvGrpSpPr/>
          <p:nvPr/>
        </p:nvGrpSpPr>
        <p:grpSpPr>
          <a:xfrm>
            <a:off x="5513832" y="795528"/>
            <a:ext cx="2103120" cy="713232"/>
            <a:chOff x="5513832" y="795528"/>
            <a:chExt cx="2103120" cy="713232"/>
          </a:xfrm>
        </p:grpSpPr>
        <p:sp>
          <p:nvSpPr>
            <p:cNvPr id="14" name="Sort / Partition / exchange / frame"/>
            <p:cNvSpPr/>
            <p:nvPr/>
          </p:nvSpPr>
          <p:spPr>
            <a:xfrm>
              <a:off x="5513832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Sort / Partition / exchange / label 1"/>
            <p:cNvSpPr txBox="1"/>
            <p:nvPr/>
          </p:nvSpPr>
          <p:spPr>
            <a:xfrm>
              <a:off x="5586984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Partition / exchange</a:t>
              </a:r>
            </a:p>
          </p:txBody>
        </p:sp>
        <p:sp>
          <p:nvSpPr>
            <p:cNvPr id="16" name="Sort / Partition / exchange / label 2"/>
            <p:cNvSpPr txBox="1"/>
            <p:nvPr/>
          </p:nvSpPr>
          <p:spPr>
            <a:xfrm>
              <a:off x="5586984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Sample-based ranges</a:t>
              </a:r>
            </a:p>
          </p:txBody>
        </p:sp>
      </p:grpSp>
      <p:cxnSp>
        <p:nvCxnSpPr>
          <p:cNvPr id="17" name="Sort / data 2"/>
          <p:cNvCxnSpPr/>
          <p:nvPr/>
        </p:nvCxnSpPr>
        <p:spPr>
          <a:xfrm>
            <a:off x="7616952" y="1152144"/>
            <a:ext cx="49377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Sort / k-way merge"/>
          <p:cNvGrpSpPr/>
          <p:nvPr/>
        </p:nvGrpSpPr>
        <p:grpSpPr>
          <a:xfrm>
            <a:off x="8110727" y="795528"/>
            <a:ext cx="2103120" cy="713232"/>
            <a:chOff x="8110727" y="795528"/>
            <a:chExt cx="2103120" cy="713232"/>
          </a:xfrm>
        </p:grpSpPr>
        <p:sp>
          <p:nvSpPr>
            <p:cNvPr id="19" name="Sort / k-way merge / frame"/>
            <p:cNvSpPr/>
            <p:nvPr/>
          </p:nvSpPr>
          <p:spPr>
            <a:xfrm>
              <a:off x="8110727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Sort / k-way merge / label 1"/>
            <p:cNvSpPr txBox="1"/>
            <p:nvPr/>
          </p:nvSpPr>
          <p:spPr>
            <a:xfrm>
              <a:off x="8183879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k-way merge</a:t>
              </a:r>
            </a:p>
          </p:txBody>
        </p:sp>
        <p:sp>
          <p:nvSpPr>
            <p:cNvPr id="21" name="Sort / k-way merge / label 2"/>
            <p:cNvSpPr txBox="1"/>
            <p:nvPr/>
          </p:nvSpPr>
          <p:spPr>
            <a:xfrm>
              <a:off x="8183879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Ordered segments</a:t>
              </a:r>
            </a:p>
          </p:txBody>
        </p:sp>
      </p:grpSp>
      <p:cxnSp>
        <p:nvCxnSpPr>
          <p:cNvPr id="22" name="Sort / data 3"/>
          <p:cNvCxnSpPr/>
          <p:nvPr/>
        </p:nvCxnSpPr>
        <p:spPr>
          <a:xfrm>
            <a:off x="10213848" y="1152144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Sort / BAM write"/>
          <p:cNvGrpSpPr/>
          <p:nvPr/>
        </p:nvGrpSpPr>
        <p:grpSpPr>
          <a:xfrm>
            <a:off x="10707624" y="795528"/>
            <a:ext cx="2103120" cy="713232"/>
            <a:chOff x="10707624" y="795528"/>
            <a:chExt cx="2103120" cy="713232"/>
          </a:xfrm>
        </p:grpSpPr>
        <p:sp>
          <p:nvSpPr>
            <p:cNvPr id="24" name="Sort / BAM write / frame"/>
            <p:cNvSpPr/>
            <p:nvPr/>
          </p:nvSpPr>
          <p:spPr>
            <a:xfrm>
              <a:off x="10707624" y="795528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ort / BAM write / label 1"/>
            <p:cNvSpPr txBox="1"/>
            <p:nvPr/>
          </p:nvSpPr>
          <p:spPr>
            <a:xfrm>
              <a:off x="10780776" y="894008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26" name="Sort / BAM write / label 2"/>
            <p:cNvSpPr txBox="1"/>
            <p:nvPr/>
          </p:nvSpPr>
          <p:spPr>
            <a:xfrm>
              <a:off x="10780776" y="1176009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BGZF compression</a:t>
              </a:r>
            </a:p>
          </p:txBody>
        </p:sp>
      </p:grpSp>
      <p:sp>
        <p:nvSpPr>
          <p:cNvPr id="27" name="Sort toy caption / label 1"/>
          <p:cNvSpPr txBox="1"/>
          <p:nvPr/>
        </p:nvSpPr>
        <p:spPr>
          <a:xfrm>
            <a:off x="356616" y="1709928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Illustrative result after merging (one chromosome; coordinate splitter at 25)</a:t>
            </a:r>
          </a:p>
        </p:txBody>
      </p:sp>
      <p:sp>
        <p:nvSpPr>
          <p:cNvPr id="28" name="Sort rank0 / label 1"/>
          <p:cNvSpPr txBox="1"/>
          <p:nvPr/>
        </p:nvSpPr>
        <p:spPr>
          <a:xfrm>
            <a:off x="640080" y="2194560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0</a:t>
            </a:r>
          </a:p>
        </p:txBody>
      </p:sp>
      <p:sp>
        <p:nvSpPr>
          <p:cNvPr id="29" name="Sort rank0 records / 0 / frame"/>
          <p:cNvSpPr/>
          <p:nvPr/>
        </p:nvSpPr>
        <p:spPr>
          <a:xfrm>
            <a:off x="226771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ort rank0 records / value 0 / label 1"/>
          <p:cNvSpPr txBox="1"/>
          <p:nvPr/>
        </p:nvSpPr>
        <p:spPr>
          <a:xfrm>
            <a:off x="226771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10</a:t>
            </a:r>
          </a:p>
        </p:txBody>
      </p:sp>
      <p:sp>
        <p:nvSpPr>
          <p:cNvPr id="31" name="Sort rank0 records / 1 / frame"/>
          <p:cNvSpPr/>
          <p:nvPr/>
        </p:nvSpPr>
        <p:spPr>
          <a:xfrm>
            <a:off x="313639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ort rank0 records / value 1 / label 1"/>
          <p:cNvSpPr txBox="1"/>
          <p:nvPr/>
        </p:nvSpPr>
        <p:spPr>
          <a:xfrm>
            <a:off x="313639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20</a:t>
            </a:r>
          </a:p>
        </p:txBody>
      </p:sp>
      <p:sp>
        <p:nvSpPr>
          <p:cNvPr id="33" name="Sort rank0 records / 2 / frame"/>
          <p:cNvSpPr/>
          <p:nvPr/>
        </p:nvSpPr>
        <p:spPr>
          <a:xfrm>
            <a:off x="4005072" y="213055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ort rank0 records / value 2 / label 1"/>
          <p:cNvSpPr txBox="1"/>
          <p:nvPr/>
        </p:nvSpPr>
        <p:spPr>
          <a:xfrm>
            <a:off x="400507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25</a:t>
            </a:r>
          </a:p>
        </p:txBody>
      </p:sp>
      <p:sp>
        <p:nvSpPr>
          <p:cNvPr id="35" name="Sort range order / label 1"/>
          <p:cNvSpPr txBox="1"/>
          <p:nvPr/>
        </p:nvSpPr>
        <p:spPr>
          <a:xfrm>
            <a:off x="5157216" y="2185416"/>
            <a:ext cx="142646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max &lt; min</a:t>
            </a:r>
          </a:p>
        </p:txBody>
      </p:sp>
      <p:sp>
        <p:nvSpPr>
          <p:cNvPr id="36" name="Sort rank1 / label 1"/>
          <p:cNvSpPr txBox="1"/>
          <p:nvPr/>
        </p:nvSpPr>
        <p:spPr>
          <a:xfrm>
            <a:off x="6803136" y="219456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1</a:t>
            </a:r>
          </a:p>
        </p:txBody>
      </p:sp>
      <p:sp>
        <p:nvSpPr>
          <p:cNvPr id="37" name="Sort rank1 records / 0 / frame"/>
          <p:cNvSpPr/>
          <p:nvPr/>
        </p:nvSpPr>
        <p:spPr>
          <a:xfrm>
            <a:off x="834847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ort rank1 records / value 0 / label 1"/>
          <p:cNvSpPr txBox="1"/>
          <p:nvPr/>
        </p:nvSpPr>
        <p:spPr>
          <a:xfrm>
            <a:off x="834847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70</a:t>
            </a:r>
          </a:p>
        </p:txBody>
      </p:sp>
      <p:sp>
        <p:nvSpPr>
          <p:cNvPr id="39" name="Sort rank1 records / 1 / frame"/>
          <p:cNvSpPr/>
          <p:nvPr/>
        </p:nvSpPr>
        <p:spPr>
          <a:xfrm>
            <a:off x="921715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ort rank1 records / value 1 / label 1"/>
          <p:cNvSpPr txBox="1"/>
          <p:nvPr/>
        </p:nvSpPr>
        <p:spPr>
          <a:xfrm>
            <a:off x="921715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75</a:t>
            </a:r>
          </a:p>
        </p:txBody>
      </p:sp>
      <p:sp>
        <p:nvSpPr>
          <p:cNvPr id="41" name="Sort rank1 records / 2 / frame"/>
          <p:cNvSpPr/>
          <p:nvPr/>
        </p:nvSpPr>
        <p:spPr>
          <a:xfrm>
            <a:off x="10085832" y="213055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ort rank1 records / value 2 / label 1"/>
          <p:cNvSpPr txBox="1"/>
          <p:nvPr/>
        </p:nvSpPr>
        <p:spPr>
          <a:xfrm>
            <a:off x="10085832" y="220370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90</a:t>
            </a:r>
          </a:p>
        </p:txBody>
      </p:sp>
      <p:sp>
        <p:nvSpPr>
          <p:cNvPr id="43" name="Sort range0 / label 1"/>
          <p:cNvSpPr txBox="1"/>
          <p:nvPr/>
        </p:nvSpPr>
        <p:spPr>
          <a:xfrm>
            <a:off x="1783080" y="2606040"/>
            <a:ext cx="36118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Lower coordinate range</a:t>
            </a:r>
          </a:p>
        </p:txBody>
      </p:sp>
      <p:sp>
        <p:nvSpPr>
          <p:cNvPr id="44" name="Sort range1 / label 1"/>
          <p:cNvSpPr txBox="1"/>
          <p:nvPr/>
        </p:nvSpPr>
        <p:spPr>
          <a:xfrm>
            <a:off x="7872983" y="2606040"/>
            <a:ext cx="366674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Higher coordinate range</a:t>
            </a:r>
          </a:p>
        </p:txBody>
      </p:sp>
      <p:sp>
        <p:nvSpPr>
          <p:cNvPr id="45" name="Sort property / label 1"/>
          <p:cNvSpPr txBox="1"/>
          <p:nvPr/>
        </p:nvSpPr>
        <p:spPr>
          <a:xfrm>
            <a:off x="320040" y="2953512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Concatenating rank bodies preserves global coordinate order.</a:t>
            </a:r>
          </a:p>
        </p:txBody>
      </p:sp>
      <p:sp>
        <p:nvSpPr>
          <p:cNvPr id="46" name="Collate panel / label 1"/>
          <p:cNvSpPr txBox="1"/>
          <p:nvPr/>
        </p:nvSpPr>
        <p:spPr>
          <a:xfrm>
            <a:off x="256032" y="3529584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Collate: partition by QNAME hash bins</a:t>
            </a:r>
          </a:p>
        </p:txBody>
      </p:sp>
      <p:grpSp>
        <p:nvGrpSpPr>
          <p:cNvPr id="47" name="Collate / BAM read / extract"/>
          <p:cNvGrpSpPr/>
          <p:nvPr/>
        </p:nvGrpSpPr>
        <p:grpSpPr>
          <a:xfrm>
            <a:off x="320040" y="4160520"/>
            <a:ext cx="2103120" cy="713232"/>
            <a:chOff x="320040" y="4160520"/>
            <a:chExt cx="2103120" cy="713232"/>
          </a:xfrm>
        </p:grpSpPr>
        <p:sp>
          <p:nvSpPr>
            <p:cNvPr id="48" name="Collate / BAM read / extract / frame"/>
            <p:cNvSpPr/>
            <p:nvPr/>
          </p:nvSpPr>
          <p:spPr>
            <a:xfrm>
              <a:off x="320040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Collate / BAM read / extract / label 1"/>
            <p:cNvSpPr txBox="1"/>
            <p:nvPr/>
          </p:nvSpPr>
          <p:spPr>
            <a:xfrm>
              <a:off x="393192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 / extract</a:t>
              </a:r>
            </a:p>
          </p:txBody>
        </p:sp>
        <p:sp>
          <p:nvSpPr>
            <p:cNvPr id="50" name="Collate / BAM read / extract / label 2"/>
            <p:cNvSpPr txBox="1"/>
            <p:nvPr/>
          </p:nvSpPr>
          <p:spPr>
            <a:xfrm>
              <a:off x="393192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Hash + raw records</a:t>
              </a:r>
            </a:p>
          </p:txBody>
        </p:sp>
      </p:grpSp>
      <p:cxnSp>
        <p:nvCxnSpPr>
          <p:cNvPr id="51" name="Collate / data 0"/>
          <p:cNvCxnSpPr/>
          <p:nvPr/>
        </p:nvCxnSpPr>
        <p:spPr>
          <a:xfrm>
            <a:off x="2423160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2" name="Collate / Local ordering"/>
          <p:cNvGrpSpPr/>
          <p:nvPr/>
        </p:nvGrpSpPr>
        <p:grpSpPr>
          <a:xfrm>
            <a:off x="2916936" y="4160520"/>
            <a:ext cx="2103120" cy="713232"/>
            <a:chOff x="2916936" y="4160520"/>
            <a:chExt cx="2103120" cy="713232"/>
          </a:xfrm>
        </p:grpSpPr>
        <p:sp>
          <p:nvSpPr>
            <p:cNvPr id="53" name="Collate / Local ordering / frame"/>
            <p:cNvSpPr/>
            <p:nvPr/>
          </p:nvSpPr>
          <p:spPr>
            <a:xfrm>
              <a:off x="2916936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Collate / Local ordering / label 1"/>
            <p:cNvSpPr txBox="1"/>
            <p:nvPr/>
          </p:nvSpPr>
          <p:spPr>
            <a:xfrm>
              <a:off x="2990088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Local ordering</a:t>
              </a:r>
            </a:p>
          </p:txBody>
        </p:sp>
        <p:sp>
          <p:nvSpPr>
            <p:cNvPr id="55" name="Collate / Local ordering / label 2"/>
            <p:cNvSpPr txBox="1"/>
            <p:nvPr/>
          </p:nvSpPr>
          <p:spPr>
            <a:xfrm>
              <a:off x="2990088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Bin / hash / QNAME</a:t>
              </a:r>
            </a:p>
          </p:txBody>
        </p:sp>
      </p:grpSp>
      <p:cxnSp>
        <p:nvCxnSpPr>
          <p:cNvPr id="56" name="Collate / data 1"/>
          <p:cNvCxnSpPr/>
          <p:nvPr/>
        </p:nvCxnSpPr>
        <p:spPr>
          <a:xfrm>
            <a:off x="5020056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Collate / Partition / exchange"/>
          <p:cNvGrpSpPr/>
          <p:nvPr/>
        </p:nvGrpSpPr>
        <p:grpSpPr>
          <a:xfrm>
            <a:off x="5513832" y="4160520"/>
            <a:ext cx="2103120" cy="713232"/>
            <a:chOff x="5513832" y="4160520"/>
            <a:chExt cx="2103120" cy="713232"/>
          </a:xfrm>
        </p:grpSpPr>
        <p:sp>
          <p:nvSpPr>
            <p:cNvPr id="58" name="Collate / Partition / exchange / frame"/>
            <p:cNvSpPr/>
            <p:nvPr/>
          </p:nvSpPr>
          <p:spPr>
            <a:xfrm>
              <a:off x="5513832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Collate / Partition / exchange / label 1"/>
            <p:cNvSpPr txBox="1"/>
            <p:nvPr/>
          </p:nvSpPr>
          <p:spPr>
            <a:xfrm>
              <a:off x="5586984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Partition / exchange</a:t>
              </a:r>
            </a:p>
          </p:txBody>
        </p:sp>
        <p:sp>
          <p:nvSpPr>
            <p:cNvPr id="60" name="Collate / Partition / exchange / label 2"/>
            <p:cNvSpPr txBox="1"/>
            <p:nvPr/>
          </p:nvSpPr>
          <p:spPr>
            <a:xfrm>
              <a:off x="5586984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Bin owner; chunks</a:t>
              </a:r>
            </a:p>
          </p:txBody>
        </p:sp>
      </p:grpSp>
      <p:cxnSp>
        <p:nvCxnSpPr>
          <p:cNvPr id="61" name="Collate / data 2"/>
          <p:cNvCxnSpPr/>
          <p:nvPr/>
        </p:nvCxnSpPr>
        <p:spPr>
          <a:xfrm>
            <a:off x="7616952" y="4517136"/>
            <a:ext cx="49377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2" name="Collate / Loser-tree merge"/>
          <p:cNvGrpSpPr/>
          <p:nvPr/>
        </p:nvGrpSpPr>
        <p:grpSpPr>
          <a:xfrm>
            <a:off x="8110727" y="4160520"/>
            <a:ext cx="2103120" cy="713232"/>
            <a:chOff x="8110727" y="4160520"/>
            <a:chExt cx="2103120" cy="713232"/>
          </a:xfrm>
        </p:grpSpPr>
        <p:sp>
          <p:nvSpPr>
            <p:cNvPr id="63" name="Collate / Loser-tree merge / frame"/>
            <p:cNvSpPr/>
            <p:nvPr/>
          </p:nvSpPr>
          <p:spPr>
            <a:xfrm>
              <a:off x="8110727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Collate / Loser-tree merge / label 1"/>
            <p:cNvSpPr txBox="1"/>
            <p:nvPr/>
          </p:nvSpPr>
          <p:spPr>
            <a:xfrm>
              <a:off x="8183879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Loser-tree merge</a:t>
              </a:r>
            </a:p>
          </p:txBody>
        </p:sp>
        <p:sp>
          <p:nvSpPr>
            <p:cNvPr id="65" name="Collate / Loser-tree merge / label 2"/>
            <p:cNvSpPr txBox="1"/>
            <p:nvPr/>
          </p:nvSpPr>
          <p:spPr>
            <a:xfrm>
              <a:off x="8183879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Contiguous groups</a:t>
              </a:r>
            </a:p>
          </p:txBody>
        </p:sp>
      </p:grpSp>
      <p:cxnSp>
        <p:nvCxnSpPr>
          <p:cNvPr id="66" name="Collate / data 3"/>
          <p:cNvCxnSpPr/>
          <p:nvPr/>
        </p:nvCxnSpPr>
        <p:spPr>
          <a:xfrm>
            <a:off x="10213848" y="4517136"/>
            <a:ext cx="49377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7" name="Collate / BAM write"/>
          <p:cNvGrpSpPr/>
          <p:nvPr/>
        </p:nvGrpSpPr>
        <p:grpSpPr>
          <a:xfrm>
            <a:off x="10707624" y="4160520"/>
            <a:ext cx="2103120" cy="713232"/>
            <a:chOff x="10707624" y="4160520"/>
            <a:chExt cx="2103120" cy="713232"/>
          </a:xfrm>
        </p:grpSpPr>
        <p:sp>
          <p:nvSpPr>
            <p:cNvPr id="68" name="Collate / BAM write / frame"/>
            <p:cNvSpPr/>
            <p:nvPr/>
          </p:nvSpPr>
          <p:spPr>
            <a:xfrm>
              <a:off x="10707624" y="4160520"/>
              <a:ext cx="2103120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Collate / BAM write / label 1"/>
            <p:cNvSpPr txBox="1"/>
            <p:nvPr/>
          </p:nvSpPr>
          <p:spPr>
            <a:xfrm>
              <a:off x="10780776" y="4259000"/>
              <a:ext cx="19568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70" name="Collate / BAM write / label 2"/>
            <p:cNvSpPr txBox="1"/>
            <p:nvPr/>
          </p:nvSpPr>
          <p:spPr>
            <a:xfrm>
              <a:off x="10780776" y="4541001"/>
              <a:ext cx="19568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BGZF compression</a:t>
              </a:r>
            </a:p>
          </p:txBody>
        </p:sp>
      </p:grpSp>
      <p:sp>
        <p:nvSpPr>
          <p:cNvPr id="71" name="Collate toy caption / label 1"/>
          <p:cNvSpPr txBox="1"/>
          <p:nvPr/>
        </p:nvSpPr>
        <p:spPr>
          <a:xfrm>
            <a:off x="365760" y="5038344"/>
            <a:ext cx="1234440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4E5B64"/>
                </a:solidFill>
                <a:latin typeface="Arial"/>
              </a:rPr>
              <a:t>Illustrative bin ownership: qB belongs to rank 0; qA and qC belong to rank 1</a:t>
            </a:r>
          </a:p>
        </p:txBody>
      </p:sp>
      <p:sp>
        <p:nvSpPr>
          <p:cNvPr id="72" name="Collate rank0 / label 1"/>
          <p:cNvSpPr txBox="1"/>
          <p:nvPr/>
        </p:nvSpPr>
        <p:spPr>
          <a:xfrm>
            <a:off x="640080" y="5532120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0</a:t>
            </a:r>
          </a:p>
        </p:txBody>
      </p:sp>
      <p:sp>
        <p:nvSpPr>
          <p:cNvPr id="73" name="Collate rank0 records / 0 / frame"/>
          <p:cNvSpPr/>
          <p:nvPr/>
        </p:nvSpPr>
        <p:spPr>
          <a:xfrm>
            <a:off x="2267712" y="546811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Collate rank0 records / value 0 / label 1"/>
          <p:cNvSpPr txBox="1"/>
          <p:nvPr/>
        </p:nvSpPr>
        <p:spPr>
          <a:xfrm>
            <a:off x="226771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qB</a:t>
            </a:r>
          </a:p>
        </p:txBody>
      </p:sp>
      <p:sp>
        <p:nvSpPr>
          <p:cNvPr id="75" name="Collate rank0 records / 1 / frame"/>
          <p:cNvSpPr/>
          <p:nvPr/>
        </p:nvSpPr>
        <p:spPr>
          <a:xfrm>
            <a:off x="3136392" y="5468112"/>
            <a:ext cx="832104" cy="411480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Collate rank0 records / value 1 / label 1"/>
          <p:cNvSpPr txBox="1"/>
          <p:nvPr/>
        </p:nvSpPr>
        <p:spPr>
          <a:xfrm>
            <a:off x="313639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qB</a:t>
            </a:r>
          </a:p>
        </p:txBody>
      </p:sp>
      <p:sp>
        <p:nvSpPr>
          <p:cNvPr id="77" name="Collate rank1 / label 1"/>
          <p:cNvSpPr txBox="1"/>
          <p:nvPr/>
        </p:nvSpPr>
        <p:spPr>
          <a:xfrm>
            <a:off x="6803136" y="5532120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1</a:t>
            </a:r>
          </a:p>
        </p:txBody>
      </p:sp>
      <p:sp>
        <p:nvSpPr>
          <p:cNvPr id="78" name="Collate rank1 records / 0 / frame"/>
          <p:cNvSpPr/>
          <p:nvPr/>
        </p:nvSpPr>
        <p:spPr>
          <a:xfrm>
            <a:off x="834847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Collate rank1 records / value 0 / label 1"/>
          <p:cNvSpPr txBox="1"/>
          <p:nvPr/>
        </p:nvSpPr>
        <p:spPr>
          <a:xfrm>
            <a:off x="834847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qA</a:t>
            </a:r>
          </a:p>
        </p:txBody>
      </p:sp>
      <p:sp>
        <p:nvSpPr>
          <p:cNvPr id="80" name="Collate rank1 records / 1 / frame"/>
          <p:cNvSpPr/>
          <p:nvPr/>
        </p:nvSpPr>
        <p:spPr>
          <a:xfrm>
            <a:off x="921715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Collate rank1 records / value 1 / label 1"/>
          <p:cNvSpPr txBox="1"/>
          <p:nvPr/>
        </p:nvSpPr>
        <p:spPr>
          <a:xfrm>
            <a:off x="921715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qA</a:t>
            </a:r>
          </a:p>
        </p:txBody>
      </p:sp>
      <p:sp>
        <p:nvSpPr>
          <p:cNvPr id="82" name="Collate rank1 records / 2 / frame"/>
          <p:cNvSpPr/>
          <p:nvPr/>
        </p:nvSpPr>
        <p:spPr>
          <a:xfrm>
            <a:off x="1008583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Collate rank1 records / value 2 / label 1"/>
          <p:cNvSpPr txBox="1"/>
          <p:nvPr/>
        </p:nvSpPr>
        <p:spPr>
          <a:xfrm>
            <a:off x="1008583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qC</a:t>
            </a:r>
          </a:p>
        </p:txBody>
      </p:sp>
      <p:sp>
        <p:nvSpPr>
          <p:cNvPr id="84" name="Collate rank1 records / 3 / frame"/>
          <p:cNvSpPr/>
          <p:nvPr/>
        </p:nvSpPr>
        <p:spPr>
          <a:xfrm>
            <a:off x="10954512" y="5468112"/>
            <a:ext cx="832104" cy="411480"/>
          </a:xfrm>
          <a:prstGeom prst="rect">
            <a:avLst/>
          </a:prstGeom>
          <a:solidFill>
            <a:srgbClr val="E1F2EA"/>
          </a:solidFill>
          <a:ln w="13716">
            <a:solidFill>
              <a:srgbClr val="217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Collate rank1 records / value 3 / label 1"/>
          <p:cNvSpPr txBox="1"/>
          <p:nvPr/>
        </p:nvSpPr>
        <p:spPr>
          <a:xfrm>
            <a:off x="10954512" y="5541264"/>
            <a:ext cx="83210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0">
                <a:solidFill>
                  <a:srgbClr val="222B33"/>
                </a:solidFill>
                <a:latin typeface="Arial"/>
              </a:rPr>
              <a:t>qC</a:t>
            </a:r>
          </a:p>
        </p:txBody>
      </p:sp>
      <p:cxnSp>
        <p:nvCxnSpPr>
          <p:cNvPr id="86" name="Qname B group / 0"/>
          <p:cNvCxnSpPr/>
          <p:nvPr/>
        </p:nvCxnSpPr>
        <p:spPr>
          <a:xfrm>
            <a:off x="2267712" y="594360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Qname B group / 1"/>
          <p:cNvCxnSpPr/>
          <p:nvPr/>
        </p:nvCxnSpPr>
        <p:spPr>
          <a:xfrm>
            <a:off x="2267712" y="6007608"/>
            <a:ext cx="1700784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Qname B group / 2"/>
          <p:cNvCxnSpPr/>
          <p:nvPr/>
        </p:nvCxnSpPr>
        <p:spPr>
          <a:xfrm flipV="1">
            <a:off x="3968496" y="5943600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Qname B group label / label 1"/>
          <p:cNvSpPr txBox="1"/>
          <p:nvPr/>
        </p:nvSpPr>
        <p:spPr>
          <a:xfrm>
            <a:off x="226771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One QNAME group</a:t>
            </a:r>
          </a:p>
        </p:txBody>
      </p:sp>
      <p:cxnSp>
        <p:nvCxnSpPr>
          <p:cNvPr id="90" name="Qname A group / 0"/>
          <p:cNvCxnSpPr/>
          <p:nvPr/>
        </p:nvCxnSpPr>
        <p:spPr>
          <a:xfrm>
            <a:off x="8348472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Qname A group / 1"/>
          <p:cNvCxnSpPr/>
          <p:nvPr/>
        </p:nvCxnSpPr>
        <p:spPr>
          <a:xfrm>
            <a:off x="8348472" y="6007608"/>
            <a:ext cx="1700784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Qname A group / 2"/>
          <p:cNvCxnSpPr/>
          <p:nvPr/>
        </p:nvCxnSpPr>
        <p:spPr>
          <a:xfrm flipV="1">
            <a:off x="10049256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Qname A group label / label 1"/>
          <p:cNvSpPr txBox="1"/>
          <p:nvPr/>
        </p:nvSpPr>
        <p:spPr>
          <a:xfrm>
            <a:off x="834847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qA group</a:t>
            </a:r>
          </a:p>
        </p:txBody>
      </p:sp>
      <p:cxnSp>
        <p:nvCxnSpPr>
          <p:cNvPr id="94" name="Qname C group / 0"/>
          <p:cNvCxnSpPr/>
          <p:nvPr/>
        </p:nvCxnSpPr>
        <p:spPr>
          <a:xfrm>
            <a:off x="10085832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Qname C group / 1"/>
          <p:cNvCxnSpPr/>
          <p:nvPr/>
        </p:nvCxnSpPr>
        <p:spPr>
          <a:xfrm>
            <a:off x="10085832" y="6007608"/>
            <a:ext cx="1700784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Qname C group / 2"/>
          <p:cNvCxnSpPr/>
          <p:nvPr/>
        </p:nvCxnSpPr>
        <p:spPr>
          <a:xfrm flipV="1">
            <a:off x="11786616" y="594360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Qname C group label / label 1"/>
          <p:cNvSpPr txBox="1"/>
          <p:nvPr/>
        </p:nvSpPr>
        <p:spPr>
          <a:xfrm>
            <a:off x="10085832" y="6062472"/>
            <a:ext cx="1700784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qC group</a:t>
            </a:r>
          </a:p>
        </p:txBody>
      </p:sp>
      <p:sp>
        <p:nvSpPr>
          <p:cNvPr id="98" name="Collate property / label 1"/>
          <p:cNvSpPr txBox="1"/>
          <p:nvPr/>
        </p:nvSpPr>
        <p:spPr>
          <a:xfrm>
            <a:off x="301752" y="6382512"/>
            <a:ext cx="1243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Equal QNAMEs stay together; global lexicographic QNAME order is not required.</a:t>
            </a:r>
          </a:p>
        </p:txBody>
      </p:sp>
      <p:sp>
        <p:nvSpPr>
          <p:cNvPr id="99" name="External panel / label 1"/>
          <p:cNvSpPr txBox="1"/>
          <p:nvPr/>
        </p:nvSpPr>
        <p:spPr>
          <a:xfrm>
            <a:off x="256032" y="6812280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(c) External mode: preserve the partition rule, bound the working set</a:t>
            </a:r>
          </a:p>
        </p:txBody>
      </p:sp>
      <p:grpSp>
        <p:nvGrpSpPr>
          <p:cNvPr id="100" name="External / Generate ordered runs"/>
          <p:cNvGrpSpPr/>
          <p:nvPr/>
        </p:nvGrpSpPr>
        <p:grpSpPr>
          <a:xfrm>
            <a:off x="320040" y="7306056"/>
            <a:ext cx="2761488" cy="713232"/>
            <a:chOff x="320040" y="7306056"/>
            <a:chExt cx="2761488" cy="713232"/>
          </a:xfrm>
        </p:grpSpPr>
        <p:sp>
          <p:nvSpPr>
            <p:cNvPr id="101" name="External / Generate ordered runs / frame"/>
            <p:cNvSpPr/>
            <p:nvPr/>
          </p:nvSpPr>
          <p:spPr>
            <a:xfrm>
              <a:off x="32004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2" name="External / Generate ordered runs / label 1"/>
            <p:cNvSpPr txBox="1"/>
            <p:nvPr/>
          </p:nvSpPr>
          <p:spPr>
            <a:xfrm>
              <a:off x="39319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Generate ordered runs</a:t>
              </a:r>
            </a:p>
          </p:txBody>
        </p:sp>
        <p:sp>
          <p:nvSpPr>
            <p:cNvPr id="103" name="External / Generate ordered runs / label 2"/>
            <p:cNvSpPr txBox="1"/>
            <p:nvPr/>
          </p:nvSpPr>
          <p:spPr>
            <a:xfrm>
              <a:off x="39319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Temporary run storage</a:t>
              </a:r>
            </a:p>
          </p:txBody>
        </p:sp>
      </p:grpSp>
      <p:cxnSp>
        <p:nvCxnSpPr>
          <p:cNvPr id="104" name="External transfer 0"/>
          <p:cNvCxnSpPr/>
          <p:nvPr/>
        </p:nvCxnSpPr>
        <p:spPr>
          <a:xfrm>
            <a:off x="308152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External / Bounded exchange"/>
          <p:cNvGrpSpPr/>
          <p:nvPr/>
        </p:nvGrpSpPr>
        <p:grpSpPr>
          <a:xfrm>
            <a:off x="3566160" y="7306056"/>
            <a:ext cx="2761488" cy="713232"/>
            <a:chOff x="3566160" y="7306056"/>
            <a:chExt cx="2761488" cy="713232"/>
          </a:xfrm>
        </p:grpSpPr>
        <p:sp>
          <p:nvSpPr>
            <p:cNvPr id="106" name="External / Bounded exchange / frame"/>
            <p:cNvSpPr/>
            <p:nvPr/>
          </p:nvSpPr>
          <p:spPr>
            <a:xfrm>
              <a:off x="356616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" name="External / Bounded exchange / label 1"/>
            <p:cNvSpPr txBox="1"/>
            <p:nvPr/>
          </p:nvSpPr>
          <p:spPr>
            <a:xfrm>
              <a:off x="363931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Bounded exchange</a:t>
              </a:r>
            </a:p>
          </p:txBody>
        </p:sp>
        <p:sp>
          <p:nvSpPr>
            <p:cNvPr id="108" name="External / Bounded exchange / label 2"/>
            <p:cNvSpPr txBox="1"/>
            <p:nvPr/>
          </p:nvSpPr>
          <p:spPr>
            <a:xfrm>
              <a:off x="363931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Owner-directed chunks</a:t>
              </a:r>
            </a:p>
          </p:txBody>
        </p:sp>
      </p:grpSp>
      <p:cxnSp>
        <p:nvCxnSpPr>
          <p:cNvPr id="109" name="External transfer 1"/>
          <p:cNvCxnSpPr/>
          <p:nvPr/>
        </p:nvCxnSpPr>
        <p:spPr>
          <a:xfrm>
            <a:off x="632764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0" name="External / Streaming merge"/>
          <p:cNvGrpSpPr/>
          <p:nvPr/>
        </p:nvGrpSpPr>
        <p:grpSpPr>
          <a:xfrm>
            <a:off x="6812280" y="7306056"/>
            <a:ext cx="2761488" cy="713232"/>
            <a:chOff x="6812280" y="7306056"/>
            <a:chExt cx="2761488" cy="713232"/>
          </a:xfrm>
        </p:grpSpPr>
        <p:sp>
          <p:nvSpPr>
            <p:cNvPr id="111" name="External / Streaming merge / frame"/>
            <p:cNvSpPr/>
            <p:nvPr/>
          </p:nvSpPr>
          <p:spPr>
            <a:xfrm>
              <a:off x="681228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External / Streaming merge / label 1"/>
            <p:cNvSpPr txBox="1"/>
            <p:nvPr/>
          </p:nvSpPr>
          <p:spPr>
            <a:xfrm>
              <a:off x="688543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Streaming merge</a:t>
              </a:r>
            </a:p>
          </p:txBody>
        </p:sp>
        <p:sp>
          <p:nvSpPr>
            <p:cNvPr id="113" name="External / Streaming merge / label 2"/>
            <p:cNvSpPr txBox="1"/>
            <p:nvPr/>
          </p:nvSpPr>
          <p:spPr>
            <a:xfrm>
              <a:off x="688543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Bounded merge fan-in</a:t>
              </a:r>
            </a:p>
          </p:txBody>
        </p:sp>
      </p:grpSp>
      <p:cxnSp>
        <p:nvCxnSpPr>
          <p:cNvPr id="114" name="External transfer 2"/>
          <p:cNvCxnSpPr/>
          <p:nvPr/>
        </p:nvCxnSpPr>
        <p:spPr>
          <a:xfrm>
            <a:off x="9573768" y="7662672"/>
            <a:ext cx="48463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External / Same BAM writer"/>
          <p:cNvGrpSpPr/>
          <p:nvPr/>
        </p:nvGrpSpPr>
        <p:grpSpPr>
          <a:xfrm>
            <a:off x="10058400" y="7306056"/>
            <a:ext cx="2761488" cy="713232"/>
            <a:chOff x="10058400" y="7306056"/>
            <a:chExt cx="2761488" cy="713232"/>
          </a:xfrm>
        </p:grpSpPr>
        <p:sp>
          <p:nvSpPr>
            <p:cNvPr id="116" name="External / Same BAM writer / frame"/>
            <p:cNvSpPr/>
            <p:nvPr/>
          </p:nvSpPr>
          <p:spPr>
            <a:xfrm>
              <a:off x="10058400" y="7306056"/>
              <a:ext cx="2761488" cy="713232"/>
            </a:xfrm>
            <a:prstGeom prst="roundRect">
              <a:avLst>
                <a:gd name="adj" fmla="val 8974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External / Same BAM writer / label 1"/>
            <p:cNvSpPr txBox="1"/>
            <p:nvPr/>
          </p:nvSpPr>
          <p:spPr>
            <a:xfrm>
              <a:off x="10131552" y="7398959"/>
              <a:ext cx="2615184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Same BAM writer</a:t>
              </a:r>
            </a:p>
          </p:txBody>
        </p:sp>
        <p:sp>
          <p:nvSpPr>
            <p:cNvPr id="118" name="External / Same BAM writer / label 2"/>
            <p:cNvSpPr txBox="1"/>
            <p:nvPr/>
          </p:nvSpPr>
          <p:spPr>
            <a:xfrm>
              <a:off x="10131552" y="7692115"/>
              <a:ext cx="26151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Rank-local output body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Boundary panel / label 1"/>
          <p:cNvSpPr txBox="1"/>
          <p:nvPr/>
        </p:nvSpPr>
        <p:spPr>
          <a:xfrm>
            <a:off x="256032" y="155448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(a) Boundary pre-resolution before the main stream</a:t>
            </a:r>
          </a:p>
        </p:txBody>
      </p:sp>
      <p:sp>
        <p:nvSpPr>
          <p:cNvPr id="3" name="Left rank / label 1"/>
          <p:cNvSpPr txBox="1"/>
          <p:nvPr/>
        </p:nvSpPr>
        <p:spPr>
          <a:xfrm>
            <a:off x="640080" y="557784"/>
            <a:ext cx="585216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r-1</a:t>
            </a:r>
          </a:p>
        </p:txBody>
      </p:sp>
      <p:sp>
        <p:nvSpPr>
          <p:cNvPr id="4" name="Right rank / label 1"/>
          <p:cNvSpPr txBox="1"/>
          <p:nvPr/>
        </p:nvSpPr>
        <p:spPr>
          <a:xfrm>
            <a:off x="6492240" y="557784"/>
            <a:ext cx="585216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8" b="0">
                <a:solidFill>
                  <a:srgbClr val="222B33"/>
                </a:solidFill>
                <a:latin typeface="Arial"/>
              </a:rPr>
              <a:t>Rank r</a:t>
            </a:r>
          </a:p>
        </p:txBody>
      </p:sp>
      <p:sp>
        <p:nvSpPr>
          <p:cNvPr id="5" name="Edge BGZF 0 / frame"/>
          <p:cNvSpPr/>
          <p:nvPr/>
        </p:nvSpPr>
        <p:spPr>
          <a:xfrm>
            <a:off x="640080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dge BGZF label 0 / label 1"/>
          <p:cNvSpPr txBox="1"/>
          <p:nvPr/>
        </p:nvSpPr>
        <p:spPr>
          <a:xfrm>
            <a:off x="640080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7" name="Edge BGZF 1 / frame"/>
          <p:cNvSpPr/>
          <p:nvPr/>
        </p:nvSpPr>
        <p:spPr>
          <a:xfrm>
            <a:off x="1810512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dge BGZF label 1 / label 1"/>
          <p:cNvSpPr txBox="1"/>
          <p:nvPr/>
        </p:nvSpPr>
        <p:spPr>
          <a:xfrm>
            <a:off x="1810512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9" name="Edge BGZF 2 / frame"/>
          <p:cNvSpPr/>
          <p:nvPr/>
        </p:nvSpPr>
        <p:spPr>
          <a:xfrm>
            <a:off x="2980944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dge BGZF label 2 / label 1"/>
          <p:cNvSpPr txBox="1"/>
          <p:nvPr/>
        </p:nvSpPr>
        <p:spPr>
          <a:xfrm>
            <a:off x="2980944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1" name="Edge BGZF 3 / frame"/>
          <p:cNvSpPr/>
          <p:nvPr/>
        </p:nvSpPr>
        <p:spPr>
          <a:xfrm>
            <a:off x="4151376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BGZF label 3 / label 1"/>
          <p:cNvSpPr txBox="1"/>
          <p:nvPr/>
        </p:nvSpPr>
        <p:spPr>
          <a:xfrm>
            <a:off x="4151376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3" name="Edge BGZF 4 / frame"/>
          <p:cNvSpPr/>
          <p:nvPr/>
        </p:nvSpPr>
        <p:spPr>
          <a:xfrm>
            <a:off x="5321808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Edge BGZF label 4 / label 1"/>
          <p:cNvSpPr txBox="1"/>
          <p:nvPr/>
        </p:nvSpPr>
        <p:spPr>
          <a:xfrm>
            <a:off x="5321808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5" name="Edge BGZF 5 / frame"/>
          <p:cNvSpPr/>
          <p:nvPr/>
        </p:nvSpPr>
        <p:spPr>
          <a:xfrm>
            <a:off x="6492240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BGZF label 5 / label 1"/>
          <p:cNvSpPr txBox="1"/>
          <p:nvPr/>
        </p:nvSpPr>
        <p:spPr>
          <a:xfrm>
            <a:off x="6492240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7" name="Edge BGZF 6 / frame"/>
          <p:cNvSpPr/>
          <p:nvPr/>
        </p:nvSpPr>
        <p:spPr>
          <a:xfrm>
            <a:off x="7662672" y="1005840"/>
            <a:ext cx="1133856" cy="475488"/>
          </a:xfrm>
          <a:prstGeom prst="rect">
            <a:avLst/>
          </a:prstGeom>
          <a:solidFill>
            <a:srgbClr val="E4EFFA"/>
          </a:solidFill>
          <a:ln w="13716">
            <a:solidFill>
              <a:srgbClr val="2873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Edge BGZF label 6 / label 1"/>
          <p:cNvSpPr txBox="1"/>
          <p:nvPr/>
        </p:nvSpPr>
        <p:spPr>
          <a:xfrm>
            <a:off x="7662672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19" name="Edge BGZF 7 / frame"/>
          <p:cNvSpPr/>
          <p:nvPr/>
        </p:nvSpPr>
        <p:spPr>
          <a:xfrm>
            <a:off x="8833104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BGZF label 7 / label 1"/>
          <p:cNvSpPr txBox="1"/>
          <p:nvPr/>
        </p:nvSpPr>
        <p:spPr>
          <a:xfrm>
            <a:off x="8833104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21" name="Edge BGZF 8 / frame"/>
          <p:cNvSpPr/>
          <p:nvPr/>
        </p:nvSpPr>
        <p:spPr>
          <a:xfrm>
            <a:off x="10003536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dge BGZF label 8 / label 1"/>
          <p:cNvSpPr txBox="1"/>
          <p:nvPr/>
        </p:nvSpPr>
        <p:spPr>
          <a:xfrm>
            <a:off x="10003536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sp>
        <p:nvSpPr>
          <p:cNvPr id="23" name="Edge BGZF 9 / frame"/>
          <p:cNvSpPr/>
          <p:nvPr/>
        </p:nvSpPr>
        <p:spPr>
          <a:xfrm>
            <a:off x="11173968" y="1005840"/>
            <a:ext cx="1133856" cy="475488"/>
          </a:xfrm>
          <a:prstGeom prst="rect">
            <a:avLst/>
          </a:prstGeom>
          <a:solidFill>
            <a:srgbClr val="F2F4F6"/>
          </a:solidFill>
          <a:ln w="13716">
            <a:solidFill>
              <a:srgbClr val="737D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dge BGZF label 9 / label 1"/>
          <p:cNvSpPr txBox="1"/>
          <p:nvPr/>
        </p:nvSpPr>
        <p:spPr>
          <a:xfrm>
            <a:off x="11173968" y="1124712"/>
            <a:ext cx="1133856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BGZF</a:t>
            </a:r>
          </a:p>
        </p:txBody>
      </p:sp>
      <p:cxnSp>
        <p:nvCxnSpPr>
          <p:cNvPr id="25" name="Tail probe / 0"/>
          <p:cNvCxnSpPr/>
          <p:nvPr/>
        </p:nvCxnSpPr>
        <p:spPr>
          <a:xfrm>
            <a:off x="4151376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ail probe / 1"/>
          <p:cNvCxnSpPr/>
          <p:nvPr/>
        </p:nvCxnSpPr>
        <p:spPr>
          <a:xfrm>
            <a:off x="4151376" y="1591056"/>
            <a:ext cx="2304288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ail probe / 2"/>
          <p:cNvCxnSpPr/>
          <p:nvPr/>
        </p:nvCxnSpPr>
        <p:spPr>
          <a:xfrm flipV="1">
            <a:off x="6455664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ail probe label / label 1"/>
          <p:cNvSpPr txBox="1"/>
          <p:nvPr/>
        </p:nvSpPr>
        <p:spPr>
          <a:xfrm>
            <a:off x="4151376" y="1645920"/>
            <a:ext cx="2304288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Tail probe</a:t>
            </a:r>
          </a:p>
        </p:txBody>
      </p:sp>
      <p:cxnSp>
        <p:nvCxnSpPr>
          <p:cNvPr id="29" name="Head probe / 0"/>
          <p:cNvCxnSpPr/>
          <p:nvPr/>
        </p:nvCxnSpPr>
        <p:spPr>
          <a:xfrm>
            <a:off x="6528816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Head probe / 1"/>
          <p:cNvCxnSpPr/>
          <p:nvPr/>
        </p:nvCxnSpPr>
        <p:spPr>
          <a:xfrm>
            <a:off x="6528816" y="1591056"/>
            <a:ext cx="2267712" cy="0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Head probe / 2"/>
          <p:cNvCxnSpPr/>
          <p:nvPr/>
        </p:nvCxnSpPr>
        <p:spPr>
          <a:xfrm flipV="1">
            <a:off x="8796528" y="1527048"/>
            <a:ext cx="0" cy="64008"/>
          </a:xfrm>
          <a:prstGeom prst="line">
            <a:avLst/>
          </a:prstGeom>
          <a:ln w="16459">
            <a:solidFill>
              <a:srgbClr val="2873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ad probe label / label 1"/>
          <p:cNvSpPr txBox="1"/>
          <p:nvPr/>
        </p:nvSpPr>
        <p:spPr>
          <a:xfrm>
            <a:off x="6528816" y="1645920"/>
            <a:ext cx="226771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873AC"/>
                </a:solidFill>
                <a:latin typeface="Arial"/>
              </a:rPr>
              <a:t>Head probe</a:t>
            </a:r>
          </a:p>
        </p:txBody>
      </p:sp>
      <p:cxnSp>
        <p:nvCxnSpPr>
          <p:cNvPr id="33" name="Rank cut"/>
          <p:cNvCxnSpPr/>
          <p:nvPr/>
        </p:nvCxnSpPr>
        <p:spPr>
          <a:xfrm>
            <a:off x="6492240" y="914400"/>
            <a:ext cx="0" cy="1271016"/>
          </a:xfrm>
          <a:prstGeom prst="line">
            <a:avLst/>
          </a:prstGeom>
          <a:ln w="16459">
            <a:solidFill>
              <a:srgbClr val="222B3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ordinate axis"/>
          <p:cNvCxnSpPr/>
          <p:nvPr/>
        </p:nvCxnSpPr>
        <p:spPr>
          <a:xfrm>
            <a:off x="640080" y="2185416"/>
            <a:ext cx="11722608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Tick b-L"/>
          <p:cNvCxnSpPr/>
          <p:nvPr/>
        </p:nvCxnSpPr>
        <p:spPr>
          <a:xfrm>
            <a:off x="4956048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oordinate b-L / label 1"/>
          <p:cNvSpPr txBox="1"/>
          <p:nvPr/>
        </p:nvSpPr>
        <p:spPr>
          <a:xfrm>
            <a:off x="4453128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b-L</a:t>
            </a:r>
          </a:p>
        </p:txBody>
      </p:sp>
      <p:cxnSp>
        <p:nvCxnSpPr>
          <p:cNvPr id="37" name="Tick b"/>
          <p:cNvCxnSpPr/>
          <p:nvPr/>
        </p:nvCxnSpPr>
        <p:spPr>
          <a:xfrm>
            <a:off x="6492240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oordinate b / label 1"/>
          <p:cNvSpPr txBox="1"/>
          <p:nvPr/>
        </p:nvSpPr>
        <p:spPr>
          <a:xfrm>
            <a:off x="5989320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</a:t>
            </a:r>
          </a:p>
        </p:txBody>
      </p:sp>
      <p:cxnSp>
        <p:nvCxnSpPr>
          <p:cNvPr id="39" name="Tick b+L"/>
          <p:cNvCxnSpPr/>
          <p:nvPr/>
        </p:nvCxnSpPr>
        <p:spPr>
          <a:xfrm>
            <a:off x="8028431" y="2093976"/>
            <a:ext cx="0" cy="146304"/>
          </a:xfrm>
          <a:prstGeom prst="line">
            <a:avLst/>
          </a:prstGeom>
          <a:ln w="16459">
            <a:solidFill>
              <a:srgbClr val="22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Coordinate b+L / label 1"/>
          <p:cNvSpPr txBox="1"/>
          <p:nvPr/>
        </p:nvSpPr>
        <p:spPr>
          <a:xfrm>
            <a:off x="7525512" y="2258568"/>
            <a:ext cx="10058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222B33"/>
                </a:solidFill>
                <a:latin typeface="Arial"/>
              </a:rPr>
              <a:t>b+L</a:t>
            </a:r>
          </a:p>
        </p:txBody>
      </p:sp>
      <p:sp>
        <p:nvSpPr>
          <p:cNvPr id="41" name="Coordinate meaning / label 1"/>
          <p:cNvSpPr txBox="1"/>
          <p:nvPr/>
        </p:nvSpPr>
        <p:spPr>
          <a:xfrm>
            <a:off x="9875520" y="1874519"/>
            <a:ext cx="24688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Genomic coordinate</a:t>
            </a:r>
          </a:p>
        </p:txBody>
      </p:sp>
      <p:grpSp>
        <p:nvGrpSpPr>
          <p:cNvPr id="42" name="Probe extract"/>
          <p:cNvGrpSpPr/>
          <p:nvPr/>
        </p:nvGrpSpPr>
        <p:grpSpPr>
          <a:xfrm>
            <a:off x="365760" y="2752344"/>
            <a:ext cx="2267712" cy="640080"/>
            <a:chOff x="365760" y="2752344"/>
            <a:chExt cx="2267712" cy="640080"/>
          </a:xfrm>
        </p:grpSpPr>
        <p:sp>
          <p:nvSpPr>
            <p:cNvPr id="43" name="Probe extract / frame"/>
            <p:cNvSpPr/>
            <p:nvPr/>
          </p:nvSpPr>
          <p:spPr>
            <a:xfrm>
              <a:off x="365760" y="2752344"/>
              <a:ext cx="2267712" cy="640080"/>
            </a:xfrm>
            <a:prstGeom prst="roundRect">
              <a:avLst>
                <a:gd name="adj" fmla="val 10000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Probe extract / label 1"/>
            <p:cNvSpPr txBox="1"/>
            <p:nvPr/>
          </p:nvSpPr>
          <p:spPr>
            <a:xfrm>
              <a:off x="438912" y="2808671"/>
              <a:ext cx="2121408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Probe + extract</a:t>
              </a:r>
            </a:p>
          </p:txBody>
        </p:sp>
        <p:sp>
          <p:nvSpPr>
            <p:cNvPr id="45" name="Probe extract / label 2"/>
            <p:cNvSpPr txBox="1"/>
            <p:nvPr/>
          </p:nvSpPr>
          <p:spPr>
            <a:xfrm>
              <a:off x="438912" y="3101827"/>
              <a:ext cx="212140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head/tail blocks</a:t>
              </a:r>
            </a:p>
          </p:txBody>
        </p:sp>
      </p:grpSp>
      <p:grpSp>
        <p:nvGrpSpPr>
          <p:cNvPr id="46" name="Coverage check"/>
          <p:cNvGrpSpPr/>
          <p:nvPr/>
        </p:nvGrpSpPr>
        <p:grpSpPr>
          <a:xfrm>
            <a:off x="3081528" y="2752344"/>
            <a:ext cx="2651760" cy="640080"/>
            <a:chOff x="3081528" y="2752344"/>
            <a:chExt cx="2651760" cy="640080"/>
          </a:xfrm>
        </p:grpSpPr>
        <p:sp>
          <p:nvSpPr>
            <p:cNvPr id="47" name="Coverage check / frame"/>
            <p:cNvSpPr/>
            <p:nvPr/>
          </p:nvSpPr>
          <p:spPr>
            <a:xfrm>
              <a:off x="3081528" y="2752344"/>
              <a:ext cx="2651760" cy="640080"/>
            </a:xfrm>
            <a:prstGeom prst="roundRect">
              <a:avLst>
                <a:gd name="adj" fmla="val 10000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Coverage check / label 1"/>
            <p:cNvSpPr txBox="1"/>
            <p:nvPr/>
          </p:nvSpPr>
          <p:spPr>
            <a:xfrm>
              <a:off x="3154680" y="2808671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Coverage check</a:t>
              </a:r>
            </a:p>
          </p:txBody>
        </p:sp>
        <p:sp>
          <p:nvSpPr>
            <p:cNvPr id="49" name="Coverage check / label 2"/>
            <p:cNvSpPr txBox="1"/>
            <p:nvPr/>
          </p:nvSpPr>
          <p:spPr>
            <a:xfrm>
              <a:off x="3154680" y="3101827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Collective over all ranks</a:t>
              </a:r>
            </a:p>
          </p:txBody>
        </p:sp>
      </p:grpSp>
      <p:grpSp>
        <p:nvGrpSpPr>
          <p:cNvPr id="50" name="Resolve boundary"/>
          <p:cNvGrpSpPr/>
          <p:nvPr/>
        </p:nvGrpSpPr>
        <p:grpSpPr>
          <a:xfrm>
            <a:off x="6327648" y="2752344"/>
            <a:ext cx="3099816" cy="640080"/>
            <a:chOff x="6327648" y="2752344"/>
            <a:chExt cx="3099816" cy="640080"/>
          </a:xfrm>
        </p:grpSpPr>
        <p:sp>
          <p:nvSpPr>
            <p:cNvPr id="51" name="Resolve boundary / frame"/>
            <p:cNvSpPr/>
            <p:nvPr/>
          </p:nvSpPr>
          <p:spPr>
            <a:xfrm>
              <a:off x="6327648" y="2752344"/>
              <a:ext cx="3099816" cy="640080"/>
            </a:xfrm>
            <a:prstGeom prst="roundRect">
              <a:avLst>
                <a:gd name="adj" fmla="val 10000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Resolve boundary / label 1"/>
            <p:cNvSpPr txBox="1"/>
            <p:nvPr/>
          </p:nvSpPr>
          <p:spPr>
            <a:xfrm>
              <a:off x="6400800" y="2808671"/>
              <a:ext cx="2953512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Select / route / resolve</a:t>
              </a:r>
            </a:p>
          </p:txBody>
        </p:sp>
        <p:sp>
          <p:nvSpPr>
            <p:cNvPr id="53" name="Resolve boundary / label 2"/>
            <p:cNvSpPr txBox="1"/>
            <p:nvPr/>
          </p:nvSpPr>
          <p:spPr>
            <a:xfrm>
              <a:off x="6400800" y="3101827"/>
              <a:ext cx="2953512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At coordinate owners</a:t>
              </a:r>
            </a:p>
          </p:txBody>
        </p:sp>
      </p:grpSp>
      <p:grpSp>
        <p:nvGrpSpPr>
          <p:cNvPr id="54" name="Build boundary plan"/>
          <p:cNvGrpSpPr/>
          <p:nvPr/>
        </p:nvGrpSpPr>
        <p:grpSpPr>
          <a:xfrm>
            <a:off x="9966960" y="2752344"/>
            <a:ext cx="2834640" cy="640080"/>
            <a:chOff x="9966960" y="2752344"/>
            <a:chExt cx="2834640" cy="640080"/>
          </a:xfrm>
        </p:grpSpPr>
        <p:sp>
          <p:nvSpPr>
            <p:cNvPr id="55" name="Build boundary plan / frame"/>
            <p:cNvSpPr/>
            <p:nvPr/>
          </p:nvSpPr>
          <p:spPr>
            <a:xfrm>
              <a:off x="9966960" y="2752344"/>
              <a:ext cx="2834640" cy="640080"/>
            </a:xfrm>
            <a:prstGeom prst="roundRect">
              <a:avLst>
                <a:gd name="adj" fmla="val 10000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Build boundary plan / label 1"/>
            <p:cNvSpPr txBox="1"/>
            <p:nvPr/>
          </p:nvSpPr>
          <p:spPr>
            <a:xfrm>
              <a:off x="10040112" y="2808671"/>
              <a:ext cx="268833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Boundary plan H_r</a:t>
              </a:r>
            </a:p>
          </p:txBody>
        </p:sp>
        <p:sp>
          <p:nvSpPr>
            <p:cNvPr id="57" name="Build boundary plan / label 2"/>
            <p:cNvSpPr txBox="1"/>
            <p:nvPr/>
          </p:nvSpPr>
          <p:spPr>
            <a:xfrm>
              <a:off x="10040112" y="3101827"/>
              <a:ext cx="2688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Source-local decisions</a:t>
              </a:r>
            </a:p>
          </p:txBody>
        </p:sp>
      </p:grpSp>
      <p:cxnSp>
        <p:nvCxnSpPr>
          <p:cNvPr id="58" name="Probe to coverage"/>
          <p:cNvCxnSpPr/>
          <p:nvPr/>
        </p:nvCxnSpPr>
        <p:spPr>
          <a:xfrm>
            <a:off x="2633472" y="3072384"/>
            <a:ext cx="44805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vered branch"/>
          <p:cNvCxnSpPr/>
          <p:nvPr/>
        </p:nvCxnSpPr>
        <p:spPr>
          <a:xfrm>
            <a:off x="5733288" y="3072384"/>
            <a:ext cx="59436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overed branch label / label 1"/>
          <p:cNvSpPr txBox="1"/>
          <p:nvPr/>
        </p:nvSpPr>
        <p:spPr>
          <a:xfrm>
            <a:off x="5715000" y="2478024"/>
            <a:ext cx="107899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Covered</a:t>
            </a:r>
          </a:p>
        </p:txBody>
      </p:sp>
      <p:cxnSp>
        <p:nvCxnSpPr>
          <p:cNvPr id="61" name="Return boundary decisions"/>
          <p:cNvCxnSpPr/>
          <p:nvPr/>
        </p:nvCxnSpPr>
        <p:spPr>
          <a:xfrm>
            <a:off x="9427464" y="3072384"/>
            <a:ext cx="53949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turn decisions label / label 1"/>
          <p:cNvSpPr txBox="1"/>
          <p:nvPr/>
        </p:nvSpPr>
        <p:spPr>
          <a:xfrm>
            <a:off x="9299448" y="2478024"/>
            <a:ext cx="80467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Return</a:t>
            </a:r>
          </a:p>
        </p:txBody>
      </p:sp>
      <p:cxnSp>
        <p:nvCxnSpPr>
          <p:cNvPr id="63" name="Fallback branch / 0"/>
          <p:cNvCxnSpPr/>
          <p:nvPr/>
        </p:nvCxnSpPr>
        <p:spPr>
          <a:xfrm>
            <a:off x="4416552" y="3392424"/>
            <a:ext cx="0" cy="265176"/>
          </a:xfrm>
          <a:prstGeom prst="line">
            <a:avLst/>
          </a:prstGeom>
          <a:ln w="16459">
            <a:solidFill>
              <a:srgbClr val="AB691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Fallback branch / 1"/>
          <p:cNvCxnSpPr/>
          <p:nvPr/>
        </p:nvCxnSpPr>
        <p:spPr>
          <a:xfrm>
            <a:off x="4416552" y="3657600"/>
            <a:ext cx="448056" cy="0"/>
          </a:xfrm>
          <a:prstGeom prst="line">
            <a:avLst/>
          </a:prstGeom>
          <a:ln w="16459">
            <a:solidFill>
              <a:srgbClr val="AB691B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allback explanation / label 1"/>
          <p:cNvSpPr txBox="1"/>
          <p:nvPr/>
        </p:nvSpPr>
        <p:spPr>
          <a:xfrm>
            <a:off x="4937760" y="3529584"/>
            <a:ext cx="777240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AB691B"/>
                </a:solidFill>
                <a:latin typeface="Arial"/>
              </a:rPr>
              <a:t>Not covered: retain boundary candidates in the conservative window.</a:t>
            </a:r>
          </a:p>
        </p:txBody>
      </p:sp>
      <p:sp>
        <p:nvSpPr>
          <p:cNvPr id="66" name="Candidate-only exchange / label 1"/>
          <p:cNvSpPr txBox="1"/>
          <p:nvPr/>
        </p:nvSpPr>
        <p:spPr>
          <a:xfrm>
            <a:off x="301752" y="3575304"/>
            <a:ext cx="3840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Exchange metadata, not BAM records.</a:t>
            </a:r>
          </a:p>
        </p:txBody>
      </p:sp>
      <p:sp>
        <p:nvSpPr>
          <p:cNvPr id="67" name="Pending panel / label 1"/>
          <p:cNvSpPr txBox="1"/>
          <p:nvPr/>
        </p:nvSpPr>
        <p:spPr>
          <a:xfrm>
            <a:off x="256032" y="4023360"/>
            <a:ext cx="12655296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2" b="1">
                <a:solidFill>
                  <a:srgbClr val="222B33"/>
                </a:solidFill>
                <a:latin typeface="Arial"/>
              </a:rPr>
              <a:t>(b) Resolve decisions, then emit only the ready prefix</a:t>
            </a:r>
          </a:p>
        </p:txBody>
      </p:sp>
      <p:grpSp>
        <p:nvGrpSpPr>
          <p:cNvPr id="68" name="Cached plan reference"/>
          <p:cNvGrpSpPr/>
          <p:nvPr/>
        </p:nvGrpSpPr>
        <p:grpSpPr>
          <a:xfrm>
            <a:off x="548640" y="4572000"/>
            <a:ext cx="2834640" cy="685800"/>
            <a:chOff x="548640" y="4572000"/>
            <a:chExt cx="2834640" cy="685800"/>
          </a:xfrm>
        </p:grpSpPr>
        <p:sp>
          <p:nvSpPr>
            <p:cNvPr id="69" name="Cached plan reference / frame"/>
            <p:cNvSpPr/>
            <p:nvPr/>
          </p:nvSpPr>
          <p:spPr>
            <a:xfrm>
              <a:off x="548640" y="4572000"/>
              <a:ext cx="2834640" cy="685800"/>
            </a:xfrm>
            <a:prstGeom prst="roundRect">
              <a:avLst>
                <a:gd name="adj" fmla="val 9333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Cached plan reference / label 1"/>
            <p:cNvSpPr txBox="1"/>
            <p:nvPr/>
          </p:nvSpPr>
          <p:spPr>
            <a:xfrm>
              <a:off x="621792" y="4645609"/>
              <a:ext cx="268833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Cached H_r</a:t>
              </a:r>
            </a:p>
          </p:txBody>
        </p:sp>
        <p:sp>
          <p:nvSpPr>
            <p:cNvPr id="71" name="Cached plan reference / label 2"/>
            <p:cNvSpPr txBox="1"/>
            <p:nvPr/>
          </p:nvSpPr>
          <p:spPr>
            <a:xfrm>
              <a:off x="621792" y="4949921"/>
              <a:ext cx="268833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Pre-resolved KEEP / DUP</a:t>
              </a:r>
            </a:p>
          </p:txBody>
        </p:sp>
      </p:grpSp>
      <p:grpSp>
        <p:nvGrpSpPr>
          <p:cNvPr id="72" name="Candidate window"/>
          <p:cNvGrpSpPr/>
          <p:nvPr/>
        </p:nvGrpSpPr>
        <p:grpSpPr>
          <a:xfrm>
            <a:off x="4572000" y="4572000"/>
            <a:ext cx="3657600" cy="685800"/>
            <a:chOff x="4572000" y="4572000"/>
            <a:chExt cx="3657600" cy="685800"/>
          </a:xfrm>
        </p:grpSpPr>
        <p:sp>
          <p:nvSpPr>
            <p:cNvPr id="73" name="Candidate window / frame"/>
            <p:cNvSpPr/>
            <p:nvPr/>
          </p:nvSpPr>
          <p:spPr>
            <a:xfrm>
              <a:off x="4572000" y="4572000"/>
              <a:ext cx="3657600" cy="685800"/>
            </a:xfrm>
            <a:prstGeom prst="roundRect">
              <a:avLst>
                <a:gd name="adj" fmla="val 9333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Candidate window / label 1"/>
            <p:cNvSpPr txBox="1"/>
            <p:nvPr/>
          </p:nvSpPr>
          <p:spPr>
            <a:xfrm>
              <a:off x="4645152" y="4645609"/>
              <a:ext cx="351129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Candidate window W_r</a:t>
              </a:r>
            </a:p>
          </p:txBody>
        </p:sp>
        <p:sp>
          <p:nvSpPr>
            <p:cNvPr id="75" name="Candidate window / label 2"/>
            <p:cNvSpPr txBox="1"/>
            <p:nvPr/>
          </p:nvSpPr>
          <p:spPr>
            <a:xfrm>
              <a:off x="4645152" y="4949921"/>
              <a:ext cx="351129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Local + remote owner decisions</a:t>
              </a:r>
            </a:p>
          </p:txBody>
        </p:sp>
      </p:grpSp>
      <p:grpSp>
        <p:nvGrpSpPr>
          <p:cNvPr id="76" name="Main batch extraction"/>
          <p:cNvGrpSpPr/>
          <p:nvPr/>
        </p:nvGrpSpPr>
        <p:grpSpPr>
          <a:xfrm>
            <a:off x="9646920" y="4572000"/>
            <a:ext cx="3154680" cy="685800"/>
            <a:chOff x="9646920" y="4572000"/>
            <a:chExt cx="3154680" cy="685800"/>
          </a:xfrm>
        </p:grpSpPr>
        <p:sp>
          <p:nvSpPr>
            <p:cNvPr id="77" name="Main batch extraction / frame"/>
            <p:cNvSpPr/>
            <p:nvPr/>
          </p:nvSpPr>
          <p:spPr>
            <a:xfrm>
              <a:off x="9646920" y="4572000"/>
              <a:ext cx="3154680" cy="685800"/>
            </a:xfrm>
            <a:prstGeom prst="roundRect">
              <a:avLst>
                <a:gd name="adj" fmla="val 9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Main batch extraction / label 1"/>
            <p:cNvSpPr txBox="1"/>
            <p:nvPr/>
          </p:nvSpPr>
          <p:spPr>
            <a:xfrm>
              <a:off x="9720072" y="4645609"/>
              <a:ext cx="300837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Decode + extract</a:t>
              </a:r>
            </a:p>
          </p:txBody>
        </p:sp>
        <p:sp>
          <p:nvSpPr>
            <p:cNvPr id="79" name="Main batch extraction / label 2"/>
            <p:cNvSpPr txBox="1"/>
            <p:nvPr/>
          </p:nvSpPr>
          <p:spPr>
            <a:xfrm>
              <a:off x="9720072" y="4949921"/>
              <a:ext cx="30083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current batch</a:t>
              </a:r>
            </a:p>
          </p:txBody>
        </p:sp>
      </p:grpSp>
      <p:cxnSp>
        <p:nvCxnSpPr>
          <p:cNvPr id="80" name="Main candidates"/>
          <p:cNvCxnSpPr/>
          <p:nvPr/>
        </p:nvCxnSpPr>
        <p:spPr>
          <a:xfrm flipH="1">
            <a:off x="8229600" y="4910328"/>
            <a:ext cx="141732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Main candidate label / label 1"/>
          <p:cNvSpPr txBox="1"/>
          <p:nvPr/>
        </p:nvSpPr>
        <p:spPr>
          <a:xfrm>
            <a:off x="8229600" y="4325112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Candidates</a:t>
            </a:r>
          </a:p>
        </p:txBody>
      </p:sp>
      <p:sp>
        <p:nvSpPr>
          <p:cNvPr id="82" name="Drop already resolved / label 1"/>
          <p:cNvSpPr txBox="1"/>
          <p:nvPr/>
        </p:nvSpPr>
        <p:spPr>
          <a:xfrm>
            <a:off x="8229600" y="5038344"/>
            <a:ext cx="14173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0">
                <a:solidFill>
                  <a:srgbClr val="4E5B64"/>
                </a:solidFill>
                <a:latin typeface="Arial"/>
              </a:rPr>
              <a:t>exclude H_r</a:t>
            </a:r>
          </a:p>
        </p:txBody>
      </p:sp>
      <p:cxnSp>
        <p:nvCxnSpPr>
          <p:cNvPr id="83" name="Cached decisions to queue"/>
          <p:cNvCxnSpPr/>
          <p:nvPr/>
        </p:nvCxnSpPr>
        <p:spPr>
          <a:xfrm>
            <a:off x="1965960" y="5257800"/>
            <a:ext cx="0" cy="658368"/>
          </a:xfrm>
          <a:prstGeom prst="line">
            <a:avLst/>
          </a:prstGeom>
          <a:ln w="16459">
            <a:solidFill>
              <a:srgbClr val="AB691B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Window decisions to queue / 0"/>
          <p:cNvCxnSpPr/>
          <p:nvPr/>
        </p:nvCxnSpPr>
        <p:spPr>
          <a:xfrm>
            <a:off x="6400800" y="5257800"/>
            <a:ext cx="0" cy="429768"/>
          </a:xfrm>
          <a:prstGeom prst="line">
            <a:avLst/>
          </a:prstGeom>
          <a:ln w="16459">
            <a:solidFill>
              <a:srgbClr val="7353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Window decisions to queue / 1"/>
          <p:cNvCxnSpPr/>
          <p:nvPr/>
        </p:nvCxnSpPr>
        <p:spPr>
          <a:xfrm>
            <a:off x="6400800" y="5687568"/>
            <a:ext cx="1691640" cy="0"/>
          </a:xfrm>
          <a:prstGeom prst="line">
            <a:avLst/>
          </a:prstGeom>
          <a:ln w="16459">
            <a:solidFill>
              <a:srgbClr val="73539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Window decisions to queue / 2"/>
          <p:cNvCxnSpPr/>
          <p:nvPr/>
        </p:nvCxnSpPr>
        <p:spPr>
          <a:xfrm>
            <a:off x="8092440" y="5687568"/>
            <a:ext cx="0" cy="228600"/>
          </a:xfrm>
          <a:prstGeom prst="line">
            <a:avLst/>
          </a:prstGeom>
          <a:ln w="16459">
            <a:solidFill>
              <a:srgbClr val="735396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Decoded blocks to tail"/>
          <p:cNvCxnSpPr/>
          <p:nvPr/>
        </p:nvCxnSpPr>
        <p:spPr>
          <a:xfrm>
            <a:off x="11228832" y="5257800"/>
            <a:ext cx="0" cy="658368"/>
          </a:xfrm>
          <a:prstGeom prst="line">
            <a:avLst/>
          </a:prstGeom>
          <a:ln w="16459">
            <a:solidFill>
              <a:srgbClr val="2873AC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Append decoded label / label 1"/>
          <p:cNvSpPr txBox="1"/>
          <p:nvPr/>
        </p:nvSpPr>
        <p:spPr>
          <a:xfrm>
            <a:off x="11338560" y="5486400"/>
            <a:ext cx="1481328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Decoded B</a:t>
            </a:r>
          </a:p>
        </p:txBody>
      </p:sp>
      <p:sp>
        <p:nvSpPr>
          <p:cNvPr id="89" name="Queue label / label 1"/>
          <p:cNvSpPr txBox="1"/>
          <p:nvPr/>
        </p:nvSpPr>
        <p:spPr>
          <a:xfrm>
            <a:off x="182880" y="5614416"/>
            <a:ext cx="146304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Q_r: head</a:t>
            </a:r>
          </a:p>
        </p:txBody>
      </p:sp>
      <p:grpSp>
        <p:nvGrpSpPr>
          <p:cNvPr id="90" name="Queue B_0"/>
          <p:cNvGrpSpPr/>
          <p:nvPr/>
        </p:nvGrpSpPr>
        <p:grpSpPr>
          <a:xfrm>
            <a:off x="548640" y="5952744"/>
            <a:ext cx="2651760" cy="685800"/>
            <a:chOff x="548640" y="5952744"/>
            <a:chExt cx="2651760" cy="685800"/>
          </a:xfrm>
        </p:grpSpPr>
        <p:sp>
          <p:nvSpPr>
            <p:cNvPr id="91" name="Queue B_0 / frame"/>
            <p:cNvSpPr/>
            <p:nvPr/>
          </p:nvSpPr>
          <p:spPr>
            <a:xfrm>
              <a:off x="54864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Queue B_0 / label 1"/>
            <p:cNvSpPr txBox="1"/>
            <p:nvPr/>
          </p:nvSpPr>
          <p:spPr>
            <a:xfrm>
              <a:off x="62179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B_0</a:t>
              </a:r>
            </a:p>
          </p:txBody>
        </p:sp>
        <p:sp>
          <p:nvSpPr>
            <p:cNvPr id="93" name="Queue B_0 / label 2"/>
            <p:cNvSpPr txBox="1"/>
            <p:nvPr/>
          </p:nvSpPr>
          <p:spPr>
            <a:xfrm>
              <a:off x="62179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</a:t>
              </a:r>
            </a:p>
          </p:txBody>
        </p:sp>
      </p:grpSp>
      <p:grpSp>
        <p:nvGrpSpPr>
          <p:cNvPr id="94" name="Queue B_1"/>
          <p:cNvGrpSpPr/>
          <p:nvPr/>
        </p:nvGrpSpPr>
        <p:grpSpPr>
          <a:xfrm>
            <a:off x="3657600" y="5952744"/>
            <a:ext cx="2651760" cy="685800"/>
            <a:chOff x="3657600" y="5952744"/>
            <a:chExt cx="2651760" cy="685800"/>
          </a:xfrm>
        </p:grpSpPr>
        <p:sp>
          <p:nvSpPr>
            <p:cNvPr id="95" name="Queue B_1 / frame"/>
            <p:cNvSpPr/>
            <p:nvPr/>
          </p:nvSpPr>
          <p:spPr>
            <a:xfrm>
              <a:off x="365760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Queue B_1 / label 1"/>
            <p:cNvSpPr txBox="1"/>
            <p:nvPr/>
          </p:nvSpPr>
          <p:spPr>
            <a:xfrm>
              <a:off x="373075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B_1</a:t>
              </a:r>
            </a:p>
          </p:txBody>
        </p:sp>
        <p:sp>
          <p:nvSpPr>
            <p:cNvPr id="97" name="Queue B_1 / label 2"/>
            <p:cNvSpPr txBox="1"/>
            <p:nvPr/>
          </p:nvSpPr>
          <p:spPr>
            <a:xfrm>
              <a:off x="373075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</a:t>
              </a:r>
            </a:p>
          </p:txBody>
        </p:sp>
      </p:grpSp>
      <p:grpSp>
        <p:nvGrpSpPr>
          <p:cNvPr id="98" name="Queue B_2"/>
          <p:cNvGrpSpPr/>
          <p:nvPr/>
        </p:nvGrpSpPr>
        <p:grpSpPr>
          <a:xfrm>
            <a:off x="6766560" y="5952744"/>
            <a:ext cx="2651760" cy="685800"/>
            <a:chOff x="6766560" y="5952744"/>
            <a:chExt cx="2651760" cy="685800"/>
          </a:xfrm>
        </p:grpSpPr>
        <p:sp>
          <p:nvSpPr>
            <p:cNvPr id="99" name="Queue B_2 / frame"/>
            <p:cNvSpPr/>
            <p:nvPr/>
          </p:nvSpPr>
          <p:spPr>
            <a:xfrm>
              <a:off x="676656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0" name="Queue B_2 / label 1"/>
            <p:cNvSpPr txBox="1"/>
            <p:nvPr/>
          </p:nvSpPr>
          <p:spPr>
            <a:xfrm>
              <a:off x="683971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B_2</a:t>
              </a:r>
            </a:p>
          </p:txBody>
        </p:sp>
        <p:sp>
          <p:nvSpPr>
            <p:cNvPr id="101" name="Queue B_2 / label 2"/>
            <p:cNvSpPr txBox="1"/>
            <p:nvPr/>
          </p:nvSpPr>
          <p:spPr>
            <a:xfrm>
              <a:off x="683971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Pending</a:t>
              </a:r>
            </a:p>
          </p:txBody>
        </p:sp>
      </p:grpSp>
      <p:grpSp>
        <p:nvGrpSpPr>
          <p:cNvPr id="102" name="Queue B_3"/>
          <p:cNvGrpSpPr/>
          <p:nvPr/>
        </p:nvGrpSpPr>
        <p:grpSpPr>
          <a:xfrm>
            <a:off x="9875520" y="5952744"/>
            <a:ext cx="2651760" cy="685800"/>
            <a:chOff x="9875520" y="5952744"/>
            <a:chExt cx="2651760" cy="685800"/>
          </a:xfrm>
        </p:grpSpPr>
        <p:sp>
          <p:nvSpPr>
            <p:cNvPr id="103" name="Queue B_3 / frame"/>
            <p:cNvSpPr/>
            <p:nvPr/>
          </p:nvSpPr>
          <p:spPr>
            <a:xfrm>
              <a:off x="9875520" y="5952744"/>
              <a:ext cx="2651760" cy="685800"/>
            </a:xfrm>
            <a:prstGeom prst="roundRect">
              <a:avLst>
                <a:gd name="adj" fmla="val 9333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4" name="Queue B_3 / label 1"/>
            <p:cNvSpPr txBox="1"/>
            <p:nvPr/>
          </p:nvSpPr>
          <p:spPr>
            <a:xfrm>
              <a:off x="9948672" y="6020775"/>
              <a:ext cx="2505456" cy="267736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28" b="1">
                  <a:solidFill>
                    <a:srgbClr val="222B33"/>
                  </a:solidFill>
                  <a:latin typeface="Arial"/>
                </a:rPr>
                <a:t>B_3</a:t>
              </a:r>
            </a:p>
          </p:txBody>
        </p:sp>
        <p:sp>
          <p:nvSpPr>
            <p:cNvPr id="105" name="Queue B_3 / label 2"/>
            <p:cNvSpPr txBox="1"/>
            <p:nvPr/>
          </p:nvSpPr>
          <p:spPr>
            <a:xfrm>
              <a:off x="9948672" y="6325087"/>
              <a:ext cx="250545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0">
                  <a:solidFill>
                    <a:srgbClr val="4E5B64"/>
                  </a:solidFill>
                  <a:latin typeface="Arial"/>
                </a:rPr>
                <a:t>Ready, but blocked</a:t>
              </a:r>
            </a:p>
          </p:txBody>
        </p:sp>
      </p:grpSp>
      <p:cxnSp>
        <p:nvCxnSpPr>
          <p:cNvPr id="106" name="Queue order 350"/>
          <p:cNvCxnSpPr/>
          <p:nvPr/>
        </p:nvCxnSpPr>
        <p:spPr>
          <a:xfrm>
            <a:off x="320040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Queue order 690"/>
          <p:cNvCxnSpPr/>
          <p:nvPr/>
        </p:nvCxnSpPr>
        <p:spPr>
          <a:xfrm>
            <a:off x="630936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Queue order 1030"/>
          <p:cNvCxnSpPr/>
          <p:nvPr/>
        </p:nvCxnSpPr>
        <p:spPr>
          <a:xfrm>
            <a:off x="9418320" y="6291072"/>
            <a:ext cx="457200" cy="0"/>
          </a:xfrm>
          <a:prstGeom prst="line">
            <a:avLst/>
          </a:prstGeom>
          <a:ln w="16459">
            <a:solidFill>
              <a:srgbClr val="6F7B84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Ready prefix / 0"/>
          <p:cNvCxnSpPr/>
          <p:nvPr/>
        </p:nvCxnSpPr>
        <p:spPr>
          <a:xfrm>
            <a:off x="548640" y="672084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Ready prefix / 1"/>
          <p:cNvCxnSpPr/>
          <p:nvPr/>
        </p:nvCxnSpPr>
        <p:spPr>
          <a:xfrm>
            <a:off x="548640" y="6784848"/>
            <a:ext cx="5760720" cy="0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Ready prefix / 2"/>
          <p:cNvCxnSpPr/>
          <p:nvPr/>
        </p:nvCxnSpPr>
        <p:spPr>
          <a:xfrm flipV="1">
            <a:off x="6309360" y="6720840"/>
            <a:ext cx="0" cy="64008"/>
          </a:xfrm>
          <a:prstGeom prst="line">
            <a:avLst/>
          </a:prstGeom>
          <a:ln w="16459">
            <a:solidFill>
              <a:srgbClr val="2179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Ready prefix label / label 1"/>
          <p:cNvSpPr txBox="1"/>
          <p:nvPr/>
        </p:nvSpPr>
        <p:spPr>
          <a:xfrm>
            <a:off x="548640" y="6839712"/>
            <a:ext cx="576072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17957"/>
                </a:solidFill>
                <a:latin typeface="Arial"/>
              </a:rPr>
              <a:t>Consecutive ready prefix</a:t>
            </a:r>
          </a:p>
        </p:txBody>
      </p:sp>
      <p:sp>
        <p:nvSpPr>
          <p:cNvPr id="113" name="Blocked suffix / label 1"/>
          <p:cNvSpPr txBox="1"/>
          <p:nvPr/>
        </p:nvSpPr>
        <p:spPr>
          <a:xfrm>
            <a:off x="6830568" y="6839712"/>
            <a:ext cx="5696712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0">
                <a:solidFill>
                  <a:srgbClr val="AB691B"/>
                </a:solidFill>
                <a:latin typeface="Arial"/>
              </a:rPr>
              <a:t>No block may pass the first unresolved block.</a:t>
            </a:r>
          </a:p>
        </p:txBody>
      </p:sp>
      <p:cxnSp>
        <p:nvCxnSpPr>
          <p:cNvPr id="114" name="Prefix to patch"/>
          <p:cNvCxnSpPr/>
          <p:nvPr/>
        </p:nvCxnSpPr>
        <p:spPr>
          <a:xfrm>
            <a:off x="1874519" y="6803136"/>
            <a:ext cx="0" cy="402336"/>
          </a:xfrm>
          <a:prstGeom prst="line">
            <a:avLst/>
          </a:prstGeom>
          <a:ln w="16459">
            <a:solidFill>
              <a:srgbClr val="217957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5" name="Patch duplicate flags"/>
          <p:cNvGrpSpPr/>
          <p:nvPr/>
        </p:nvGrpSpPr>
        <p:grpSpPr>
          <a:xfrm>
            <a:off x="548640" y="7223760"/>
            <a:ext cx="2651760" cy="676656"/>
            <a:chOff x="548640" y="7223760"/>
            <a:chExt cx="2651760" cy="676656"/>
          </a:xfrm>
        </p:grpSpPr>
        <p:sp>
          <p:nvSpPr>
            <p:cNvPr id="116" name="Patch duplicate flags / frame"/>
            <p:cNvSpPr/>
            <p:nvPr/>
          </p:nvSpPr>
          <p:spPr>
            <a:xfrm>
              <a:off x="54864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7" name="Patch duplicate flags / label 1"/>
            <p:cNvSpPr txBox="1"/>
            <p:nvPr/>
          </p:nvSpPr>
          <p:spPr>
            <a:xfrm>
              <a:off x="62179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Patch duplicate flags</a:t>
              </a:r>
            </a:p>
          </p:txBody>
        </p:sp>
        <p:sp>
          <p:nvSpPr>
            <p:cNvPr id="118" name="Patch duplicate flags / label 2"/>
            <p:cNvSpPr txBox="1"/>
            <p:nvPr/>
          </p:nvSpPr>
          <p:spPr>
            <a:xfrm>
              <a:off x="62179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MPE: decoded records</a:t>
              </a:r>
            </a:p>
          </p:txBody>
        </p:sp>
      </p:grpSp>
      <p:cxnSp>
        <p:nvCxnSpPr>
          <p:cNvPr id="119" name="Patch to writer"/>
          <p:cNvCxnSpPr/>
          <p:nvPr/>
        </p:nvCxnSpPr>
        <p:spPr>
          <a:xfrm>
            <a:off x="320040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0" name="Compress ready prefix"/>
          <p:cNvGrpSpPr/>
          <p:nvPr/>
        </p:nvGrpSpPr>
        <p:grpSpPr>
          <a:xfrm>
            <a:off x="3657600" y="7223760"/>
            <a:ext cx="2651760" cy="676656"/>
            <a:chOff x="3657600" y="7223760"/>
            <a:chExt cx="2651760" cy="676656"/>
          </a:xfrm>
        </p:grpSpPr>
        <p:sp>
          <p:nvSpPr>
            <p:cNvPr id="121" name="Compress ready prefix / frame"/>
            <p:cNvSpPr/>
            <p:nvPr/>
          </p:nvSpPr>
          <p:spPr>
            <a:xfrm>
              <a:off x="365760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Compress ready prefix / label 1"/>
            <p:cNvSpPr txBox="1"/>
            <p:nvPr/>
          </p:nvSpPr>
          <p:spPr>
            <a:xfrm>
              <a:off x="373075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write pipeline</a:t>
              </a:r>
            </a:p>
          </p:txBody>
        </p:sp>
        <p:sp>
          <p:nvSpPr>
            <p:cNvPr id="123" name="Compress ready prefix / label 2"/>
            <p:cNvSpPr txBox="1"/>
            <p:nvPr/>
          </p:nvSpPr>
          <p:spPr>
            <a:xfrm>
              <a:off x="373075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BGZF compression</a:t>
              </a:r>
            </a:p>
          </p:txBody>
        </p:sp>
      </p:grpSp>
      <p:cxnSp>
        <p:nvCxnSpPr>
          <p:cNvPr id="124" name="Writer to sink"/>
          <p:cNvCxnSpPr/>
          <p:nvPr/>
        </p:nvCxnSpPr>
        <p:spPr>
          <a:xfrm>
            <a:off x="630936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Commit ready output"/>
          <p:cNvGrpSpPr/>
          <p:nvPr/>
        </p:nvGrpSpPr>
        <p:grpSpPr>
          <a:xfrm>
            <a:off x="6766560" y="7223760"/>
            <a:ext cx="2651760" cy="676656"/>
            <a:chOff x="6766560" y="7223760"/>
            <a:chExt cx="2651760" cy="676656"/>
          </a:xfrm>
        </p:grpSpPr>
        <p:sp>
          <p:nvSpPr>
            <p:cNvPr id="126" name="Commit ready output / frame"/>
            <p:cNvSpPr/>
            <p:nvPr/>
          </p:nvSpPr>
          <p:spPr>
            <a:xfrm>
              <a:off x="676656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Commit ready output / label 1"/>
            <p:cNvSpPr txBox="1"/>
            <p:nvPr/>
          </p:nvSpPr>
          <p:spPr>
            <a:xfrm>
              <a:off x="683971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Append rank body</a:t>
              </a:r>
            </a:p>
          </p:txBody>
        </p:sp>
        <p:sp>
          <p:nvSpPr>
            <p:cNvPr id="128" name="Commit ready output / label 2"/>
            <p:cNvSpPr txBox="1"/>
            <p:nvPr/>
          </p:nvSpPr>
          <p:spPr>
            <a:xfrm>
              <a:off x="683971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After CPE completion</a:t>
              </a:r>
            </a:p>
          </p:txBody>
        </p:sp>
      </p:grpSp>
      <p:cxnSp>
        <p:nvCxnSpPr>
          <p:cNvPr id="129" name="Retire block storage"/>
          <p:cNvCxnSpPr/>
          <p:nvPr/>
        </p:nvCxnSpPr>
        <p:spPr>
          <a:xfrm>
            <a:off x="9418320" y="7562088"/>
            <a:ext cx="457200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0" name="Recycle storage"/>
          <p:cNvGrpSpPr/>
          <p:nvPr/>
        </p:nvGrpSpPr>
        <p:grpSpPr>
          <a:xfrm>
            <a:off x="9875520" y="7223760"/>
            <a:ext cx="2651760" cy="676656"/>
            <a:chOff x="9875520" y="7223760"/>
            <a:chExt cx="2651760" cy="676656"/>
          </a:xfrm>
        </p:grpSpPr>
        <p:sp>
          <p:nvSpPr>
            <p:cNvPr id="131" name="Recycle storage / frame"/>
            <p:cNvSpPr/>
            <p:nvPr/>
          </p:nvSpPr>
          <p:spPr>
            <a:xfrm>
              <a:off x="9875520" y="7223760"/>
              <a:ext cx="2651760" cy="676656"/>
            </a:xfrm>
            <a:prstGeom prst="roundRect">
              <a:avLst>
                <a:gd name="adj" fmla="val 9459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2" name="Recycle storage / label 1"/>
            <p:cNvSpPr txBox="1"/>
            <p:nvPr/>
          </p:nvSpPr>
          <p:spPr>
            <a:xfrm>
              <a:off x="9948672" y="7298375"/>
              <a:ext cx="2505456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Retire / recycle</a:t>
              </a:r>
            </a:p>
          </p:txBody>
        </p:sp>
        <p:sp>
          <p:nvSpPr>
            <p:cNvPr id="133" name="Recycle storage / label 2"/>
            <p:cNvSpPr txBox="1"/>
            <p:nvPr/>
          </p:nvSpPr>
          <p:spPr>
            <a:xfrm>
              <a:off x="9948672" y="7591531"/>
              <a:ext cx="250545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Decoded block storage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SWBAM Methods figures</dc:title>
  <dc:subject/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