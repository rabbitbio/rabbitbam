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16736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EDITING AND SCOPE</a:t>
            </a:r>
          </a:p>
          <a:p>
            <a:r>
              <a:t>All text, nodes, block strips and arrows are editable PowerPoint objects.</a:t>
            </a:r>
          </a:p>
          <a:p>
            <a:r>
              <a:t>Module frames and labels are grouped. Use the Selection Pane for named objects.</a:t>
            </a:r>
          </a:p>
          <a:p>
            <a:r>
              <a:t>PNG/PDF/SVG are matching exports from the original scene; after manual PPTX</a:t>
            </a:r>
          </a:p>
          <a:p>
            <a:r>
              <a:t>edits, export a new PDF/PNG in PowerPoint. The code and LaTeX manuscript are</a:t>
            </a:r>
          </a:p>
          <a:p>
            <a:r>
              <a:t>not modified by this figure generator. These diagrams show current supported</a:t>
            </a:r>
          </a:p>
          <a:p>
            <a:r>
              <a:t>BAM workflows under the block-aligned record assumption.</a:t>
            </a:r>
          </a:p>
          <a:p/>
          <a:p>
            <a:r>
              <a:t>CODE BASIS</a:t>
            </a:r>
          </a:p>
          <a:p>
            <a:r>
              <a:t>swbam-sdk/lib/cpe/swbam_cpe_bam_read_pipeline.cpp: RunCpeReadPipeline</a:t>
            </a:r>
          </a:p>
          <a:p>
            <a:r>
              <a:t>  Prepare -&gt; spawn -&gt; ReadNext(next) -&gt; DuringKernel -&gt; join -&gt; Validate</a:t>
            </a:r>
          </a:p>
          <a:p>
            <a:r>
              <a:t>  -&gt; PostProcessBatch -&gt; swap. Panel (a) depicts overlap_input=true and</a:t>
            </a:r>
          </a:p>
          <a:p>
            <a:r>
              <a:t>  prefetch_during_post_process=false. Other operator options exist.</a:t>
            </a:r>
          </a:p>
          <a:p>
            <a:r>
              <a:t>swbam-sdk/lib/cpe/swbam_cpe_bam_write_pipeline.cpp:</a:t>
            </a:r>
          </a:p>
          <a:p>
            <a:r>
              <a:t>  Start prepares output, spawns CPE work, then FlushPending() emits the</a:t>
            </a:r>
          </a:p>
          <a:p>
            <a:r>
              <a:t>  preceding batch. SubmitWithPrefetch may prepare the next source batch</a:t>
            </a:r>
          </a:p>
          <a:p>
            <a:r>
              <a:t>  before Complete() joins and validates. Completed output becomes pending.</a:t>
            </a:r>
          </a:p>
          <a:p>
            <a:r>
              <a:t>  Panel (b) depicts steady state with overlap_output=true; optional source</a:t>
            </a:r>
          </a:p>
          <a:p>
            <a:r>
              <a:t>  prefetch is shown. The first batch has no previous output to flush.</a:t>
            </a:r>
          </a:p>
          <a:p>
            <a:r>
              <a:t>  Input A/B in (a) and output A/B in (b) are separate buffer pairs.</a:t>
            </a:r>
          </a:p>
          <a:p>
            <a:r>
              <a:t>  Record input uses serialization + compression; raw payload input only</a:t>
            </a:r>
          </a:p>
          <a:p>
            <a:r>
              <a:t>  uses compression. Write denotes appending to the configured output sink,</a:t>
            </a:r>
          </a:p>
          <a:p>
            <a:r>
              <a:t>  not necessarily writing to physical disk. The final pending batch is</a:t>
            </a:r>
          </a:p>
          <a:p>
            <a:r>
              <a:t>  flushed at termination (not drawn). Batch durations are illustrative.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ad title / label 1"/>
          <p:cNvSpPr txBox="1"/>
          <p:nvPr/>
        </p:nvSpPr>
        <p:spPr>
          <a:xfrm>
            <a:off x="256032" y="155448"/>
            <a:ext cx="12655296" cy="34747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>
                <a:solidFill>
                  <a:srgbClr val="222B33"/>
                </a:solidFill>
                <a:latin typeface="Arial"/>
              </a:rPr>
              <a:t>(a) BAM read: next-batch input overlaps current CPE work</a:t>
            </a:r>
          </a:p>
        </p:txBody>
      </p:sp>
      <p:cxnSp>
        <p:nvCxnSpPr>
          <p:cNvPr id="3" name="Read time"/>
          <p:cNvCxnSpPr/>
          <p:nvPr/>
        </p:nvCxnSpPr>
        <p:spPr>
          <a:xfrm>
            <a:off x="1645920" y="795528"/>
            <a:ext cx="11155680" cy="0"/>
          </a:xfrm>
          <a:prstGeom prst="line">
            <a:avLst/>
          </a:prstGeom>
          <a:ln w="16459">
            <a:solidFill>
              <a:srgbClr val="6F7B84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ad time label / label 1"/>
          <p:cNvSpPr txBox="1"/>
          <p:nvPr/>
        </p:nvSpPr>
        <p:spPr>
          <a:xfrm>
            <a:off x="10881360" y="493776"/>
            <a:ext cx="1901952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4E5B64"/>
                </a:solidFill>
                <a:latin typeface="Arial"/>
              </a:rPr>
              <a:t>Time (schematic)</a:t>
            </a:r>
          </a:p>
        </p:txBody>
      </p:sp>
      <p:sp>
        <p:nvSpPr>
          <p:cNvPr id="5" name="Read MPE lane / label 1"/>
          <p:cNvSpPr txBox="1"/>
          <p:nvPr/>
        </p:nvSpPr>
        <p:spPr>
          <a:xfrm>
            <a:off x="292608" y="1463040"/>
            <a:ext cx="1133856" cy="30175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>
                <a:solidFill>
                  <a:srgbClr val="222B33"/>
                </a:solidFill>
                <a:latin typeface="Arial"/>
              </a:rPr>
              <a:t>MPE</a:t>
            </a:r>
          </a:p>
        </p:txBody>
      </p:sp>
      <p:sp>
        <p:nvSpPr>
          <p:cNvPr id="6" name="Read CPE lane / label 1"/>
          <p:cNvSpPr txBox="1"/>
          <p:nvPr/>
        </p:nvSpPr>
        <p:spPr>
          <a:xfrm>
            <a:off x="292608" y="2660904"/>
            <a:ext cx="1133856" cy="30175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>
                <a:solidFill>
                  <a:srgbClr val="222B33"/>
                </a:solidFill>
                <a:latin typeface="Arial"/>
              </a:rPr>
              <a:t>CPEs</a:t>
            </a:r>
          </a:p>
        </p:txBody>
      </p:sp>
      <p:grpSp>
        <p:nvGrpSpPr>
          <p:cNvPr id="7" name="Read prepare i"/>
          <p:cNvGrpSpPr/>
          <p:nvPr/>
        </p:nvGrpSpPr>
        <p:grpSpPr>
          <a:xfrm>
            <a:off x="1645920" y="1325880"/>
            <a:ext cx="1463040" cy="594360"/>
            <a:chOff x="1645920" y="1325880"/>
            <a:chExt cx="1463040" cy="594360"/>
          </a:xfrm>
        </p:grpSpPr>
        <p:sp>
          <p:nvSpPr>
            <p:cNvPr id="8" name="Read prepare i / frame"/>
            <p:cNvSpPr/>
            <p:nvPr/>
          </p:nvSpPr>
          <p:spPr>
            <a:xfrm>
              <a:off x="1645920" y="1325880"/>
              <a:ext cx="1463040" cy="594360"/>
            </a:xfrm>
            <a:prstGeom prst="roundRect">
              <a:avLst>
                <a:gd name="adj" fmla="val 10769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ad prepare i / label 1"/>
            <p:cNvSpPr txBox="1"/>
            <p:nvPr/>
          </p:nvSpPr>
          <p:spPr>
            <a:xfrm>
              <a:off x="1719072" y="1364924"/>
              <a:ext cx="131673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Prepare i</a:t>
              </a:r>
            </a:p>
          </p:txBody>
        </p:sp>
        <p:sp>
          <p:nvSpPr>
            <p:cNvPr id="10" name="Read prepare i / label 2"/>
            <p:cNvSpPr txBox="1"/>
            <p:nvPr/>
          </p:nvSpPr>
          <p:spPr>
            <a:xfrm>
              <a:off x="1719072" y="1646925"/>
              <a:ext cx="131673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input A</a:t>
              </a:r>
            </a:p>
          </p:txBody>
        </p:sp>
      </p:grpSp>
      <p:grpSp>
        <p:nvGrpSpPr>
          <p:cNvPr id="11" name="Read i+1"/>
          <p:cNvGrpSpPr/>
          <p:nvPr/>
        </p:nvGrpSpPr>
        <p:grpSpPr>
          <a:xfrm>
            <a:off x="3108960" y="1325880"/>
            <a:ext cx="2788920" cy="594360"/>
            <a:chOff x="3108960" y="1325880"/>
            <a:chExt cx="2788920" cy="594360"/>
          </a:xfrm>
        </p:grpSpPr>
        <p:sp>
          <p:nvSpPr>
            <p:cNvPr id="12" name="Read i+1 / frame"/>
            <p:cNvSpPr/>
            <p:nvPr/>
          </p:nvSpPr>
          <p:spPr>
            <a:xfrm>
              <a:off x="3108960" y="1325880"/>
              <a:ext cx="2788920" cy="594360"/>
            </a:xfrm>
            <a:prstGeom prst="roundRect">
              <a:avLst>
                <a:gd name="adj" fmla="val 10769"/>
              </a:avLst>
            </a:prstGeom>
            <a:solidFill>
              <a:srgbClr val="E4EFFA"/>
            </a:solidFill>
            <a:ln w="15544">
              <a:solidFill>
                <a:srgbClr val="2873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ad i+1 / label 1"/>
            <p:cNvSpPr txBox="1"/>
            <p:nvPr/>
          </p:nvSpPr>
          <p:spPr>
            <a:xfrm>
              <a:off x="3182112" y="1364924"/>
              <a:ext cx="264261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Read batch i+1</a:t>
              </a:r>
            </a:p>
          </p:txBody>
        </p:sp>
        <p:sp>
          <p:nvSpPr>
            <p:cNvPr id="14" name="Read i+1 / label 2"/>
            <p:cNvSpPr txBox="1"/>
            <p:nvPr/>
          </p:nvSpPr>
          <p:spPr>
            <a:xfrm>
              <a:off x="3182112" y="1646925"/>
              <a:ext cx="264261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next input: B</a:t>
              </a:r>
            </a:p>
          </p:txBody>
        </p:sp>
      </p:grpSp>
      <p:grpSp>
        <p:nvGrpSpPr>
          <p:cNvPr id="15" name="Read join i"/>
          <p:cNvGrpSpPr/>
          <p:nvPr/>
        </p:nvGrpSpPr>
        <p:grpSpPr>
          <a:xfrm>
            <a:off x="5897880" y="1325880"/>
            <a:ext cx="1143000" cy="594360"/>
            <a:chOff x="5897880" y="1325880"/>
            <a:chExt cx="1143000" cy="594360"/>
          </a:xfrm>
        </p:grpSpPr>
        <p:sp>
          <p:nvSpPr>
            <p:cNvPr id="16" name="Read join i / frame"/>
            <p:cNvSpPr/>
            <p:nvPr/>
          </p:nvSpPr>
          <p:spPr>
            <a:xfrm>
              <a:off x="5897880" y="1325880"/>
              <a:ext cx="1143000" cy="594360"/>
            </a:xfrm>
            <a:prstGeom prst="roundRect">
              <a:avLst>
                <a:gd name="adj" fmla="val 10769"/>
              </a:avLst>
            </a:prstGeom>
            <a:solidFill>
              <a:srgbClr val="F2F4F6"/>
            </a:solidFill>
            <a:ln w="15544">
              <a:solidFill>
                <a:srgbClr val="737D8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ad join i / label 1"/>
            <p:cNvSpPr txBox="1"/>
            <p:nvPr/>
          </p:nvSpPr>
          <p:spPr>
            <a:xfrm>
              <a:off x="5971032" y="1364924"/>
              <a:ext cx="99669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Wait</a:t>
              </a:r>
            </a:p>
          </p:txBody>
        </p:sp>
        <p:sp>
          <p:nvSpPr>
            <p:cNvPr id="18" name="Read join i / label 2"/>
            <p:cNvSpPr txBox="1"/>
            <p:nvPr/>
          </p:nvSpPr>
          <p:spPr>
            <a:xfrm>
              <a:off x="5971032" y="1646925"/>
              <a:ext cx="99669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join</a:t>
              </a:r>
            </a:p>
          </p:txBody>
        </p:sp>
      </p:grpSp>
      <p:grpSp>
        <p:nvGrpSpPr>
          <p:cNvPr id="19" name="Read post i"/>
          <p:cNvGrpSpPr/>
          <p:nvPr/>
        </p:nvGrpSpPr>
        <p:grpSpPr>
          <a:xfrm>
            <a:off x="7040880" y="1325880"/>
            <a:ext cx="2194560" cy="594360"/>
            <a:chOff x="7040880" y="1325880"/>
            <a:chExt cx="2194560" cy="594360"/>
          </a:xfrm>
        </p:grpSpPr>
        <p:sp>
          <p:nvSpPr>
            <p:cNvPr id="20" name="Read post i / frame"/>
            <p:cNvSpPr/>
            <p:nvPr/>
          </p:nvSpPr>
          <p:spPr>
            <a:xfrm>
              <a:off x="7040880" y="1325880"/>
              <a:ext cx="2194560" cy="594360"/>
            </a:xfrm>
            <a:prstGeom prst="roundRect">
              <a:avLst>
                <a:gd name="adj" fmla="val 10769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ad post i / label 1"/>
            <p:cNvSpPr txBox="1"/>
            <p:nvPr/>
          </p:nvSpPr>
          <p:spPr>
            <a:xfrm>
              <a:off x="7114032" y="1364924"/>
              <a:ext cx="204825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Post-process i</a:t>
              </a:r>
            </a:p>
          </p:txBody>
        </p:sp>
        <p:sp>
          <p:nvSpPr>
            <p:cNvPr id="22" name="Read post i / label 2"/>
            <p:cNvSpPr txBox="1"/>
            <p:nvPr/>
          </p:nvSpPr>
          <p:spPr>
            <a:xfrm>
              <a:off x="7114032" y="1646925"/>
              <a:ext cx="204825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after validation</a:t>
              </a:r>
            </a:p>
          </p:txBody>
        </p:sp>
      </p:grpSp>
      <p:grpSp>
        <p:nvGrpSpPr>
          <p:cNvPr id="23" name="Read prepare i+1"/>
          <p:cNvGrpSpPr/>
          <p:nvPr/>
        </p:nvGrpSpPr>
        <p:grpSpPr>
          <a:xfrm>
            <a:off x="9235440" y="1325880"/>
            <a:ext cx="1280160" cy="594360"/>
            <a:chOff x="9235440" y="1325880"/>
            <a:chExt cx="1280160" cy="594360"/>
          </a:xfrm>
        </p:grpSpPr>
        <p:sp>
          <p:nvSpPr>
            <p:cNvPr id="24" name="Read prepare i+1 / frame"/>
            <p:cNvSpPr/>
            <p:nvPr/>
          </p:nvSpPr>
          <p:spPr>
            <a:xfrm>
              <a:off x="9235440" y="1325880"/>
              <a:ext cx="1280160" cy="594360"/>
            </a:xfrm>
            <a:prstGeom prst="roundRect">
              <a:avLst>
                <a:gd name="adj" fmla="val 10769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ad prepare i+1 / label 1"/>
            <p:cNvSpPr txBox="1"/>
            <p:nvPr/>
          </p:nvSpPr>
          <p:spPr>
            <a:xfrm>
              <a:off x="9308592" y="1364924"/>
              <a:ext cx="113385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Prepare</a:t>
              </a:r>
            </a:p>
          </p:txBody>
        </p:sp>
        <p:sp>
          <p:nvSpPr>
            <p:cNvPr id="26" name="Read prepare i+1 / label 2"/>
            <p:cNvSpPr txBox="1"/>
            <p:nvPr/>
          </p:nvSpPr>
          <p:spPr>
            <a:xfrm>
              <a:off x="9308592" y="1646925"/>
              <a:ext cx="113385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i+1</a:t>
              </a:r>
            </a:p>
          </p:txBody>
        </p:sp>
      </p:grpSp>
      <p:grpSp>
        <p:nvGrpSpPr>
          <p:cNvPr id="27" name="Read i+2"/>
          <p:cNvGrpSpPr/>
          <p:nvPr/>
        </p:nvGrpSpPr>
        <p:grpSpPr>
          <a:xfrm>
            <a:off x="10515600" y="1325880"/>
            <a:ext cx="2286000" cy="594360"/>
            <a:chOff x="10515600" y="1325880"/>
            <a:chExt cx="2286000" cy="594360"/>
          </a:xfrm>
        </p:grpSpPr>
        <p:sp>
          <p:nvSpPr>
            <p:cNvPr id="28" name="Read i+2 / frame"/>
            <p:cNvSpPr/>
            <p:nvPr/>
          </p:nvSpPr>
          <p:spPr>
            <a:xfrm>
              <a:off x="10515600" y="1325880"/>
              <a:ext cx="2286000" cy="594360"/>
            </a:xfrm>
            <a:prstGeom prst="roundRect">
              <a:avLst>
                <a:gd name="adj" fmla="val 10769"/>
              </a:avLst>
            </a:prstGeom>
            <a:solidFill>
              <a:srgbClr val="E4EFFA"/>
            </a:solidFill>
            <a:ln w="15544">
              <a:solidFill>
                <a:srgbClr val="2873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ad i+2 / label 1"/>
            <p:cNvSpPr txBox="1"/>
            <p:nvPr/>
          </p:nvSpPr>
          <p:spPr>
            <a:xfrm>
              <a:off x="10588752" y="1364924"/>
              <a:ext cx="213969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Read batch i+2</a:t>
              </a:r>
            </a:p>
          </p:txBody>
        </p:sp>
        <p:sp>
          <p:nvSpPr>
            <p:cNvPr id="30" name="Read i+2 / label 2"/>
            <p:cNvSpPr txBox="1"/>
            <p:nvPr/>
          </p:nvSpPr>
          <p:spPr>
            <a:xfrm>
              <a:off x="10588752" y="1646925"/>
              <a:ext cx="213969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next input: A</a:t>
              </a:r>
            </a:p>
          </p:txBody>
        </p:sp>
      </p:grpSp>
      <p:grpSp>
        <p:nvGrpSpPr>
          <p:cNvPr id="31" name="Read kernel i"/>
          <p:cNvGrpSpPr/>
          <p:nvPr/>
        </p:nvGrpSpPr>
        <p:grpSpPr>
          <a:xfrm>
            <a:off x="3108960" y="2514600"/>
            <a:ext cx="3931920" cy="594360"/>
            <a:chOff x="3108960" y="2514600"/>
            <a:chExt cx="3931920" cy="594360"/>
          </a:xfrm>
        </p:grpSpPr>
        <p:sp>
          <p:nvSpPr>
            <p:cNvPr id="32" name="Read kernel i / frame"/>
            <p:cNvSpPr/>
            <p:nvPr/>
          </p:nvSpPr>
          <p:spPr>
            <a:xfrm>
              <a:off x="3108960" y="2514600"/>
              <a:ext cx="3931920" cy="594360"/>
            </a:xfrm>
            <a:prstGeom prst="roundRect">
              <a:avLst>
                <a:gd name="adj" fmla="val 10769"/>
              </a:avLst>
            </a:prstGeom>
            <a:solidFill>
              <a:srgbClr val="EEE9F6"/>
            </a:solidFill>
            <a:ln w="15544">
              <a:solidFill>
                <a:srgbClr val="7353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ead kernel i / label 1"/>
            <p:cNvSpPr txBox="1"/>
            <p:nvPr/>
          </p:nvSpPr>
          <p:spPr>
            <a:xfrm>
              <a:off x="3182112" y="2553644"/>
              <a:ext cx="3785615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Decode + parse + op</a:t>
              </a:r>
            </a:p>
          </p:txBody>
        </p:sp>
        <p:sp>
          <p:nvSpPr>
            <p:cNvPr id="34" name="Read kernel i / label 2"/>
            <p:cNvSpPr txBox="1"/>
            <p:nvPr/>
          </p:nvSpPr>
          <p:spPr>
            <a:xfrm>
              <a:off x="3182112" y="2835645"/>
              <a:ext cx="3785615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batch i / input A</a:t>
              </a:r>
            </a:p>
          </p:txBody>
        </p:sp>
      </p:grpSp>
      <p:grpSp>
        <p:nvGrpSpPr>
          <p:cNvPr id="35" name="Read kernel i+1"/>
          <p:cNvGrpSpPr/>
          <p:nvPr/>
        </p:nvGrpSpPr>
        <p:grpSpPr>
          <a:xfrm>
            <a:off x="10515600" y="2514600"/>
            <a:ext cx="2286000" cy="594360"/>
            <a:chOff x="10515600" y="2514600"/>
            <a:chExt cx="2286000" cy="594360"/>
          </a:xfrm>
        </p:grpSpPr>
        <p:sp>
          <p:nvSpPr>
            <p:cNvPr id="36" name="Read kernel i+1 / frame"/>
            <p:cNvSpPr/>
            <p:nvPr/>
          </p:nvSpPr>
          <p:spPr>
            <a:xfrm>
              <a:off x="10515600" y="2514600"/>
              <a:ext cx="2286000" cy="594360"/>
            </a:xfrm>
            <a:prstGeom prst="roundRect">
              <a:avLst>
                <a:gd name="adj" fmla="val 10769"/>
              </a:avLst>
            </a:prstGeom>
            <a:solidFill>
              <a:srgbClr val="EEE9F6"/>
            </a:solidFill>
            <a:ln w="15544">
              <a:solidFill>
                <a:srgbClr val="7353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ad kernel i+1 / label 1"/>
            <p:cNvSpPr txBox="1"/>
            <p:nvPr/>
          </p:nvSpPr>
          <p:spPr>
            <a:xfrm>
              <a:off x="10588752" y="2553644"/>
              <a:ext cx="213969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Same kernel</a:t>
              </a:r>
            </a:p>
          </p:txBody>
        </p:sp>
        <p:sp>
          <p:nvSpPr>
            <p:cNvPr id="38" name="Read kernel i+1 / label 2"/>
            <p:cNvSpPr txBox="1"/>
            <p:nvPr/>
          </p:nvSpPr>
          <p:spPr>
            <a:xfrm>
              <a:off x="10588752" y="2835645"/>
              <a:ext cx="213969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batch i+1 / input B</a:t>
              </a:r>
            </a:p>
          </p:txBody>
        </p:sp>
      </p:grpSp>
      <p:cxnSp>
        <p:nvCxnSpPr>
          <p:cNvPr id="39" name="Read launch i"/>
          <p:cNvCxnSpPr/>
          <p:nvPr/>
        </p:nvCxnSpPr>
        <p:spPr>
          <a:xfrm>
            <a:off x="3108960" y="1938528"/>
            <a:ext cx="0" cy="557784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ad launch label / label 1"/>
          <p:cNvSpPr txBox="1"/>
          <p:nvPr/>
        </p:nvSpPr>
        <p:spPr>
          <a:xfrm>
            <a:off x="3154680" y="2103120"/>
            <a:ext cx="941832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4E5B64"/>
                </a:solidFill>
                <a:latin typeface="Arial"/>
              </a:rPr>
              <a:t>launch</a:t>
            </a:r>
          </a:p>
        </p:txBody>
      </p:sp>
      <p:cxnSp>
        <p:nvCxnSpPr>
          <p:cNvPr id="41" name="Read complete i"/>
          <p:cNvCxnSpPr/>
          <p:nvPr/>
        </p:nvCxnSpPr>
        <p:spPr>
          <a:xfrm flipV="1">
            <a:off x="7040880" y="1938528"/>
            <a:ext cx="0" cy="557784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ad complete label / label 1"/>
          <p:cNvSpPr txBox="1"/>
          <p:nvPr/>
        </p:nvSpPr>
        <p:spPr>
          <a:xfrm>
            <a:off x="7086600" y="2103120"/>
            <a:ext cx="155448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4E5B64"/>
                </a:solidFill>
                <a:latin typeface="Arial"/>
              </a:rPr>
              <a:t>CPE complete</a:t>
            </a:r>
          </a:p>
        </p:txBody>
      </p:sp>
      <p:cxnSp>
        <p:nvCxnSpPr>
          <p:cNvPr id="43" name="Read launch i+1"/>
          <p:cNvCxnSpPr/>
          <p:nvPr/>
        </p:nvCxnSpPr>
        <p:spPr>
          <a:xfrm>
            <a:off x="10515600" y="1938528"/>
            <a:ext cx="0" cy="557784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Read overlap / 0"/>
          <p:cNvCxnSpPr/>
          <p:nvPr/>
        </p:nvCxnSpPr>
        <p:spPr>
          <a:xfrm>
            <a:off x="3108960" y="3154680"/>
            <a:ext cx="0" cy="64008"/>
          </a:xfrm>
          <a:prstGeom prst="line">
            <a:avLst/>
          </a:prstGeom>
          <a:ln w="16459">
            <a:solidFill>
              <a:srgbClr val="2873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Read overlap / 1"/>
          <p:cNvCxnSpPr/>
          <p:nvPr/>
        </p:nvCxnSpPr>
        <p:spPr>
          <a:xfrm>
            <a:off x="3108960" y="3218688"/>
            <a:ext cx="2788920" cy="0"/>
          </a:xfrm>
          <a:prstGeom prst="line">
            <a:avLst/>
          </a:prstGeom>
          <a:ln w="16459">
            <a:solidFill>
              <a:srgbClr val="2873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Read overlap / 2"/>
          <p:cNvCxnSpPr/>
          <p:nvPr/>
        </p:nvCxnSpPr>
        <p:spPr>
          <a:xfrm flipV="1">
            <a:off x="5897880" y="3154680"/>
            <a:ext cx="0" cy="64008"/>
          </a:xfrm>
          <a:prstGeom prst="line">
            <a:avLst/>
          </a:prstGeom>
          <a:ln w="16459">
            <a:solidFill>
              <a:srgbClr val="2873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ad overlap label / label 1"/>
          <p:cNvSpPr txBox="1"/>
          <p:nvPr/>
        </p:nvSpPr>
        <p:spPr>
          <a:xfrm>
            <a:off x="3108960" y="3273552"/>
            <a:ext cx="278892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873AC"/>
                </a:solidFill>
                <a:latin typeface="Arial"/>
              </a:rPr>
              <a:t>Input / CPE overlap</a:t>
            </a:r>
          </a:p>
        </p:txBody>
      </p:sp>
      <p:sp>
        <p:nvSpPr>
          <p:cNvPr id="48" name="Read post dependency / label 1"/>
          <p:cNvSpPr txBox="1"/>
          <p:nvPr/>
        </p:nvSpPr>
        <p:spPr>
          <a:xfrm>
            <a:off x="6355080" y="3246120"/>
            <a:ext cx="649224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4E5B64"/>
                </a:solidFill>
                <a:latin typeface="Arial"/>
              </a:rPr>
              <a:t>Post-processing starts after join and validation.</a:t>
            </a:r>
          </a:p>
        </p:txBody>
      </p:sp>
      <p:sp>
        <p:nvSpPr>
          <p:cNvPr id="49" name="Write title / label 1"/>
          <p:cNvSpPr txBox="1"/>
          <p:nvPr/>
        </p:nvSpPr>
        <p:spPr>
          <a:xfrm>
            <a:off x="256032" y="3995928"/>
            <a:ext cx="12655296" cy="34747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>
                <a:solidFill>
                  <a:srgbClr val="222B33"/>
                </a:solidFill>
                <a:latin typeface="Arial"/>
              </a:rPr>
              <a:t>(b) BAM write: previous output overlaps current compression</a:t>
            </a:r>
          </a:p>
        </p:txBody>
      </p:sp>
      <p:cxnSp>
        <p:nvCxnSpPr>
          <p:cNvPr id="50" name="Write time"/>
          <p:cNvCxnSpPr/>
          <p:nvPr/>
        </p:nvCxnSpPr>
        <p:spPr>
          <a:xfrm>
            <a:off x="1645920" y="4636008"/>
            <a:ext cx="11155680" cy="0"/>
          </a:xfrm>
          <a:prstGeom prst="line">
            <a:avLst/>
          </a:prstGeom>
          <a:ln w="16459">
            <a:solidFill>
              <a:srgbClr val="6F7B84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Write time label / label 1"/>
          <p:cNvSpPr txBox="1"/>
          <p:nvPr/>
        </p:nvSpPr>
        <p:spPr>
          <a:xfrm>
            <a:off x="10881360" y="4334256"/>
            <a:ext cx="1901952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4E5B64"/>
                </a:solidFill>
                <a:latin typeface="Arial"/>
              </a:rPr>
              <a:t>Time (schematic)</a:t>
            </a:r>
          </a:p>
        </p:txBody>
      </p:sp>
      <p:sp>
        <p:nvSpPr>
          <p:cNvPr id="52" name="Write MPE lane / label 1"/>
          <p:cNvSpPr txBox="1"/>
          <p:nvPr/>
        </p:nvSpPr>
        <p:spPr>
          <a:xfrm>
            <a:off x="292608" y="5330952"/>
            <a:ext cx="1133856" cy="30175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>
                <a:solidFill>
                  <a:srgbClr val="222B33"/>
                </a:solidFill>
                <a:latin typeface="Arial"/>
              </a:rPr>
              <a:t>MPE</a:t>
            </a:r>
          </a:p>
        </p:txBody>
      </p:sp>
      <p:sp>
        <p:nvSpPr>
          <p:cNvPr id="53" name="Write CPE lane / label 1"/>
          <p:cNvSpPr txBox="1"/>
          <p:nvPr/>
        </p:nvSpPr>
        <p:spPr>
          <a:xfrm>
            <a:off x="292608" y="6483096"/>
            <a:ext cx="1133856" cy="30175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>
                <a:solidFill>
                  <a:srgbClr val="222B33"/>
                </a:solidFill>
                <a:latin typeface="Arial"/>
              </a:rPr>
              <a:t>CPEs</a:t>
            </a:r>
          </a:p>
        </p:txBody>
      </p:sp>
      <p:grpSp>
        <p:nvGrpSpPr>
          <p:cNvPr id="54" name="Write prepare i"/>
          <p:cNvGrpSpPr/>
          <p:nvPr/>
        </p:nvGrpSpPr>
        <p:grpSpPr>
          <a:xfrm>
            <a:off x="1645920" y="5184648"/>
            <a:ext cx="1463040" cy="594360"/>
            <a:chOff x="1645920" y="5184648"/>
            <a:chExt cx="1463040" cy="594360"/>
          </a:xfrm>
        </p:grpSpPr>
        <p:sp>
          <p:nvSpPr>
            <p:cNvPr id="55" name="Write prepare i / frame"/>
            <p:cNvSpPr/>
            <p:nvPr/>
          </p:nvSpPr>
          <p:spPr>
            <a:xfrm>
              <a:off x="1645920" y="5184648"/>
              <a:ext cx="1463040" cy="594360"/>
            </a:xfrm>
            <a:prstGeom prst="roundRect">
              <a:avLst>
                <a:gd name="adj" fmla="val 10769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Write prepare i / label 1"/>
            <p:cNvSpPr txBox="1"/>
            <p:nvPr/>
          </p:nvSpPr>
          <p:spPr>
            <a:xfrm>
              <a:off x="1719072" y="5223692"/>
              <a:ext cx="131673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Prepare i</a:t>
              </a:r>
            </a:p>
          </p:txBody>
        </p:sp>
        <p:sp>
          <p:nvSpPr>
            <p:cNvPr id="57" name="Write prepare i / label 2"/>
            <p:cNvSpPr txBox="1"/>
            <p:nvPr/>
          </p:nvSpPr>
          <p:spPr>
            <a:xfrm>
              <a:off x="1719072" y="5505693"/>
              <a:ext cx="131673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output A</a:t>
              </a:r>
            </a:p>
          </p:txBody>
        </p:sp>
      </p:grpSp>
      <p:grpSp>
        <p:nvGrpSpPr>
          <p:cNvPr id="58" name="Write previous"/>
          <p:cNvGrpSpPr/>
          <p:nvPr/>
        </p:nvGrpSpPr>
        <p:grpSpPr>
          <a:xfrm>
            <a:off x="3108960" y="5184648"/>
            <a:ext cx="2377440" cy="594360"/>
            <a:chOff x="3108960" y="5184648"/>
            <a:chExt cx="2377440" cy="594360"/>
          </a:xfrm>
        </p:grpSpPr>
        <p:sp>
          <p:nvSpPr>
            <p:cNvPr id="59" name="Write previous / frame"/>
            <p:cNvSpPr/>
            <p:nvPr/>
          </p:nvSpPr>
          <p:spPr>
            <a:xfrm>
              <a:off x="3108960" y="5184648"/>
              <a:ext cx="2377440" cy="594360"/>
            </a:xfrm>
            <a:prstGeom prst="roundRect">
              <a:avLst>
                <a:gd name="adj" fmla="val 10769"/>
              </a:avLst>
            </a:prstGeom>
            <a:solidFill>
              <a:srgbClr val="E1F2EA"/>
            </a:solidFill>
            <a:ln w="15544">
              <a:solidFill>
                <a:srgbClr val="21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Write previous / label 1"/>
            <p:cNvSpPr txBox="1"/>
            <p:nvPr/>
          </p:nvSpPr>
          <p:spPr>
            <a:xfrm>
              <a:off x="3182112" y="5223692"/>
              <a:ext cx="223113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Write batch i-1</a:t>
              </a:r>
            </a:p>
          </p:txBody>
        </p:sp>
        <p:sp>
          <p:nvSpPr>
            <p:cNvPr id="61" name="Write previous / label 2"/>
            <p:cNvSpPr txBox="1"/>
            <p:nvPr/>
          </p:nvSpPr>
          <p:spPr>
            <a:xfrm>
              <a:off x="3182112" y="5505693"/>
              <a:ext cx="223113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pending output: B</a:t>
              </a:r>
            </a:p>
          </p:txBody>
        </p:sp>
      </p:grpSp>
      <p:grpSp>
        <p:nvGrpSpPr>
          <p:cNvPr id="62" name="Write prefetch"/>
          <p:cNvGrpSpPr/>
          <p:nvPr/>
        </p:nvGrpSpPr>
        <p:grpSpPr>
          <a:xfrm>
            <a:off x="5486400" y="5184648"/>
            <a:ext cx="2057400" cy="594360"/>
            <a:chOff x="5486400" y="5184648"/>
            <a:chExt cx="2057400" cy="594360"/>
          </a:xfrm>
        </p:grpSpPr>
        <p:sp>
          <p:nvSpPr>
            <p:cNvPr id="63" name="Write prefetch / frame"/>
            <p:cNvSpPr/>
            <p:nvPr/>
          </p:nvSpPr>
          <p:spPr>
            <a:xfrm>
              <a:off x="5486400" y="5184648"/>
              <a:ext cx="2057400" cy="594360"/>
            </a:xfrm>
            <a:prstGeom prst="roundRect">
              <a:avLst>
                <a:gd name="adj" fmla="val 10769"/>
              </a:avLst>
            </a:prstGeom>
            <a:solidFill>
              <a:srgbClr val="E4EFFA"/>
            </a:solidFill>
            <a:ln w="15544">
              <a:solidFill>
                <a:srgbClr val="2873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Write prefetch / label 1"/>
            <p:cNvSpPr txBox="1"/>
            <p:nvPr/>
          </p:nvSpPr>
          <p:spPr>
            <a:xfrm>
              <a:off x="5559552" y="5223692"/>
              <a:ext cx="1911095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Prefetch i+1</a:t>
              </a:r>
            </a:p>
          </p:txBody>
        </p:sp>
        <p:sp>
          <p:nvSpPr>
            <p:cNvPr id="65" name="Write prefetch / label 2"/>
            <p:cNvSpPr txBox="1"/>
            <p:nvPr/>
          </p:nvSpPr>
          <p:spPr>
            <a:xfrm>
              <a:off x="5559552" y="5505693"/>
              <a:ext cx="1911095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optional input</a:t>
              </a:r>
            </a:p>
          </p:txBody>
        </p:sp>
      </p:grpSp>
      <p:grpSp>
        <p:nvGrpSpPr>
          <p:cNvPr id="66" name="Write validate"/>
          <p:cNvGrpSpPr/>
          <p:nvPr/>
        </p:nvGrpSpPr>
        <p:grpSpPr>
          <a:xfrm>
            <a:off x="7543800" y="5184648"/>
            <a:ext cx="1691640" cy="594360"/>
            <a:chOff x="7543800" y="5184648"/>
            <a:chExt cx="1691640" cy="594360"/>
          </a:xfrm>
        </p:grpSpPr>
        <p:sp>
          <p:nvSpPr>
            <p:cNvPr id="67" name="Write validate / frame"/>
            <p:cNvSpPr/>
            <p:nvPr/>
          </p:nvSpPr>
          <p:spPr>
            <a:xfrm>
              <a:off x="7543800" y="5184648"/>
              <a:ext cx="1691640" cy="594360"/>
            </a:xfrm>
            <a:prstGeom prst="roundRect">
              <a:avLst>
                <a:gd name="adj" fmla="val 10769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Write validate / label 1"/>
            <p:cNvSpPr txBox="1"/>
            <p:nvPr/>
          </p:nvSpPr>
          <p:spPr>
            <a:xfrm>
              <a:off x="7616952" y="5223692"/>
              <a:ext cx="154533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Join / validate</a:t>
              </a:r>
            </a:p>
          </p:txBody>
        </p:sp>
        <p:sp>
          <p:nvSpPr>
            <p:cNvPr id="69" name="Write validate / label 2"/>
            <p:cNvSpPr txBox="1"/>
            <p:nvPr/>
          </p:nvSpPr>
          <p:spPr>
            <a:xfrm>
              <a:off x="7616952" y="5505693"/>
              <a:ext cx="154533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pending A</a:t>
              </a:r>
            </a:p>
          </p:txBody>
        </p:sp>
      </p:grpSp>
      <p:grpSp>
        <p:nvGrpSpPr>
          <p:cNvPr id="70" name="Write prepare next"/>
          <p:cNvGrpSpPr/>
          <p:nvPr/>
        </p:nvGrpSpPr>
        <p:grpSpPr>
          <a:xfrm>
            <a:off x="9235440" y="5184648"/>
            <a:ext cx="1280160" cy="594360"/>
            <a:chOff x="9235440" y="5184648"/>
            <a:chExt cx="1280160" cy="594360"/>
          </a:xfrm>
        </p:grpSpPr>
        <p:sp>
          <p:nvSpPr>
            <p:cNvPr id="71" name="Write prepare next / frame"/>
            <p:cNvSpPr/>
            <p:nvPr/>
          </p:nvSpPr>
          <p:spPr>
            <a:xfrm>
              <a:off x="9235440" y="5184648"/>
              <a:ext cx="1280160" cy="594360"/>
            </a:xfrm>
            <a:prstGeom prst="roundRect">
              <a:avLst>
                <a:gd name="adj" fmla="val 10769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Write prepare next / label 1"/>
            <p:cNvSpPr txBox="1"/>
            <p:nvPr/>
          </p:nvSpPr>
          <p:spPr>
            <a:xfrm>
              <a:off x="9308592" y="5223692"/>
              <a:ext cx="113385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Prepare</a:t>
              </a:r>
            </a:p>
          </p:txBody>
        </p:sp>
        <p:sp>
          <p:nvSpPr>
            <p:cNvPr id="73" name="Write prepare next / label 2"/>
            <p:cNvSpPr txBox="1"/>
            <p:nvPr/>
          </p:nvSpPr>
          <p:spPr>
            <a:xfrm>
              <a:off x="9308592" y="5505693"/>
              <a:ext cx="113385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i+1</a:t>
              </a:r>
            </a:p>
          </p:txBody>
        </p:sp>
      </p:grpSp>
      <p:grpSp>
        <p:nvGrpSpPr>
          <p:cNvPr id="74" name="Write current"/>
          <p:cNvGrpSpPr/>
          <p:nvPr/>
        </p:nvGrpSpPr>
        <p:grpSpPr>
          <a:xfrm>
            <a:off x="10515600" y="5184648"/>
            <a:ext cx="2286000" cy="594360"/>
            <a:chOff x="10515600" y="5184648"/>
            <a:chExt cx="2286000" cy="594360"/>
          </a:xfrm>
        </p:grpSpPr>
        <p:sp>
          <p:nvSpPr>
            <p:cNvPr id="75" name="Write current / frame"/>
            <p:cNvSpPr/>
            <p:nvPr/>
          </p:nvSpPr>
          <p:spPr>
            <a:xfrm>
              <a:off x="10515600" y="5184648"/>
              <a:ext cx="2286000" cy="594360"/>
            </a:xfrm>
            <a:prstGeom prst="roundRect">
              <a:avLst>
                <a:gd name="adj" fmla="val 10769"/>
              </a:avLst>
            </a:prstGeom>
            <a:solidFill>
              <a:srgbClr val="E1F2EA"/>
            </a:solidFill>
            <a:ln w="15544">
              <a:solidFill>
                <a:srgbClr val="21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Write current / label 1"/>
            <p:cNvSpPr txBox="1"/>
            <p:nvPr/>
          </p:nvSpPr>
          <p:spPr>
            <a:xfrm>
              <a:off x="10588752" y="5223692"/>
              <a:ext cx="213969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Write batch i</a:t>
              </a:r>
            </a:p>
          </p:txBody>
        </p:sp>
        <p:sp>
          <p:nvSpPr>
            <p:cNvPr id="77" name="Write current / label 2"/>
            <p:cNvSpPr txBox="1"/>
            <p:nvPr/>
          </p:nvSpPr>
          <p:spPr>
            <a:xfrm>
              <a:off x="10588752" y="5505693"/>
              <a:ext cx="213969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pending output: A</a:t>
              </a:r>
            </a:p>
          </p:txBody>
        </p:sp>
      </p:grpSp>
      <p:grpSp>
        <p:nvGrpSpPr>
          <p:cNvPr id="78" name="Write kernel i"/>
          <p:cNvGrpSpPr/>
          <p:nvPr/>
        </p:nvGrpSpPr>
        <p:grpSpPr>
          <a:xfrm>
            <a:off x="3108960" y="6345936"/>
            <a:ext cx="4434840" cy="594360"/>
            <a:chOff x="3108960" y="6345936"/>
            <a:chExt cx="4434840" cy="594360"/>
          </a:xfrm>
        </p:grpSpPr>
        <p:sp>
          <p:nvSpPr>
            <p:cNvPr id="79" name="Write kernel i / frame"/>
            <p:cNvSpPr/>
            <p:nvPr/>
          </p:nvSpPr>
          <p:spPr>
            <a:xfrm>
              <a:off x="3108960" y="6345936"/>
              <a:ext cx="4434840" cy="594360"/>
            </a:xfrm>
            <a:prstGeom prst="roundRect">
              <a:avLst>
                <a:gd name="adj" fmla="val 10769"/>
              </a:avLst>
            </a:prstGeom>
            <a:solidFill>
              <a:srgbClr val="EEE9F6"/>
            </a:solidFill>
            <a:ln w="15544">
              <a:solidFill>
                <a:srgbClr val="7353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Write kernel i / label 1"/>
            <p:cNvSpPr txBox="1"/>
            <p:nvPr/>
          </p:nvSpPr>
          <p:spPr>
            <a:xfrm>
              <a:off x="3182112" y="6384980"/>
              <a:ext cx="428853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Serialize + compress</a:t>
              </a:r>
            </a:p>
          </p:txBody>
        </p:sp>
        <p:sp>
          <p:nvSpPr>
            <p:cNvPr id="81" name="Write kernel i / label 2"/>
            <p:cNvSpPr txBox="1"/>
            <p:nvPr/>
          </p:nvSpPr>
          <p:spPr>
            <a:xfrm>
              <a:off x="3182112" y="6666981"/>
              <a:ext cx="428853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batch i / output A</a:t>
              </a:r>
            </a:p>
          </p:txBody>
        </p:sp>
      </p:grpSp>
      <p:grpSp>
        <p:nvGrpSpPr>
          <p:cNvPr id="82" name="Write kernel i+1"/>
          <p:cNvGrpSpPr/>
          <p:nvPr/>
        </p:nvGrpSpPr>
        <p:grpSpPr>
          <a:xfrm>
            <a:off x="10515600" y="6345936"/>
            <a:ext cx="2286000" cy="594360"/>
            <a:chOff x="10515600" y="6345936"/>
            <a:chExt cx="2286000" cy="594360"/>
          </a:xfrm>
        </p:grpSpPr>
        <p:sp>
          <p:nvSpPr>
            <p:cNvPr id="83" name="Write kernel i+1 / frame"/>
            <p:cNvSpPr/>
            <p:nvPr/>
          </p:nvSpPr>
          <p:spPr>
            <a:xfrm>
              <a:off x="10515600" y="6345936"/>
              <a:ext cx="2286000" cy="594360"/>
            </a:xfrm>
            <a:prstGeom prst="roundRect">
              <a:avLst>
                <a:gd name="adj" fmla="val 10769"/>
              </a:avLst>
            </a:prstGeom>
            <a:solidFill>
              <a:srgbClr val="EEE9F6"/>
            </a:solidFill>
            <a:ln w="15544">
              <a:solidFill>
                <a:srgbClr val="7353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Write kernel i+1 / label 1"/>
            <p:cNvSpPr txBox="1"/>
            <p:nvPr/>
          </p:nvSpPr>
          <p:spPr>
            <a:xfrm>
              <a:off x="10588752" y="6384980"/>
              <a:ext cx="213969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Same kernel</a:t>
              </a:r>
            </a:p>
          </p:txBody>
        </p:sp>
        <p:sp>
          <p:nvSpPr>
            <p:cNvPr id="85" name="Write kernel i+1 / label 2"/>
            <p:cNvSpPr txBox="1"/>
            <p:nvPr/>
          </p:nvSpPr>
          <p:spPr>
            <a:xfrm>
              <a:off x="10588752" y="6666981"/>
              <a:ext cx="213969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batch i+1 / output B</a:t>
              </a:r>
            </a:p>
          </p:txBody>
        </p:sp>
      </p:grpSp>
      <p:cxnSp>
        <p:nvCxnSpPr>
          <p:cNvPr id="86" name="Write launch i"/>
          <p:cNvCxnSpPr/>
          <p:nvPr/>
        </p:nvCxnSpPr>
        <p:spPr>
          <a:xfrm>
            <a:off x="3108960" y="5797296"/>
            <a:ext cx="0" cy="530352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Write launch label / label 1"/>
          <p:cNvSpPr txBox="1"/>
          <p:nvPr/>
        </p:nvSpPr>
        <p:spPr>
          <a:xfrm>
            <a:off x="3154680" y="5934456"/>
            <a:ext cx="941832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4E5B64"/>
                </a:solidFill>
                <a:latin typeface="Arial"/>
              </a:rPr>
              <a:t>launch</a:t>
            </a:r>
          </a:p>
        </p:txBody>
      </p:sp>
      <p:cxnSp>
        <p:nvCxnSpPr>
          <p:cNvPr id="88" name="Write complete i"/>
          <p:cNvCxnSpPr/>
          <p:nvPr/>
        </p:nvCxnSpPr>
        <p:spPr>
          <a:xfrm flipV="1">
            <a:off x="7543800" y="5797296"/>
            <a:ext cx="0" cy="530352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Write complete label / label 1"/>
          <p:cNvSpPr txBox="1"/>
          <p:nvPr/>
        </p:nvSpPr>
        <p:spPr>
          <a:xfrm>
            <a:off x="7589520" y="5934456"/>
            <a:ext cx="155448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4E5B64"/>
                </a:solidFill>
                <a:latin typeface="Arial"/>
              </a:rPr>
              <a:t>CPE complete</a:t>
            </a:r>
          </a:p>
        </p:txBody>
      </p:sp>
      <p:cxnSp>
        <p:nvCxnSpPr>
          <p:cNvPr id="90" name="Write launch next"/>
          <p:cNvCxnSpPr/>
          <p:nvPr/>
        </p:nvCxnSpPr>
        <p:spPr>
          <a:xfrm>
            <a:off x="10515600" y="5797296"/>
            <a:ext cx="0" cy="530352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Write overlap / 0"/>
          <p:cNvCxnSpPr/>
          <p:nvPr/>
        </p:nvCxnSpPr>
        <p:spPr>
          <a:xfrm>
            <a:off x="3108960" y="6995160"/>
            <a:ext cx="0" cy="64008"/>
          </a:xfrm>
          <a:prstGeom prst="line">
            <a:avLst/>
          </a:prstGeom>
          <a:ln w="16459">
            <a:solidFill>
              <a:srgbClr val="2179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Write overlap / 1"/>
          <p:cNvCxnSpPr/>
          <p:nvPr/>
        </p:nvCxnSpPr>
        <p:spPr>
          <a:xfrm>
            <a:off x="3108960" y="7059168"/>
            <a:ext cx="4434840" cy="0"/>
          </a:xfrm>
          <a:prstGeom prst="line">
            <a:avLst/>
          </a:prstGeom>
          <a:ln w="16459">
            <a:solidFill>
              <a:srgbClr val="2179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Write overlap / 2"/>
          <p:cNvCxnSpPr/>
          <p:nvPr/>
        </p:nvCxnSpPr>
        <p:spPr>
          <a:xfrm flipV="1">
            <a:off x="7543800" y="6995160"/>
            <a:ext cx="0" cy="64008"/>
          </a:xfrm>
          <a:prstGeom prst="line">
            <a:avLst/>
          </a:prstGeom>
          <a:ln w="16459">
            <a:solidFill>
              <a:srgbClr val="2179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Write overlap label / label 1"/>
          <p:cNvSpPr txBox="1"/>
          <p:nvPr/>
        </p:nvSpPr>
        <p:spPr>
          <a:xfrm>
            <a:off x="3108960" y="7114032"/>
            <a:ext cx="443484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17957"/>
                </a:solidFill>
                <a:latin typeface="Arial"/>
              </a:rPr>
              <a:t>Output / prefetch overlaps CPE work</a:t>
            </a:r>
          </a:p>
        </p:txBody>
      </p:sp>
      <p:sp>
        <p:nvSpPr>
          <p:cNvPr id="95" name="Write raw payload option / label 1"/>
          <p:cNvSpPr txBox="1"/>
          <p:nvPr/>
        </p:nvSpPr>
        <p:spPr>
          <a:xfrm>
            <a:off x="7955279" y="7095744"/>
            <a:ext cx="484632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4E5B64"/>
                </a:solidFill>
                <a:latin typeface="Arial"/>
              </a:rPr>
              <a:t>Raw BGZF payloads: compression only.</a:t>
            </a:r>
          </a:p>
        </p:txBody>
      </p:sp>
      <p:sp>
        <p:nvSpPr>
          <p:cNvPr id="96" name="Schedule scope / label 1"/>
          <p:cNvSpPr txBox="1"/>
          <p:nvPr/>
        </p:nvSpPr>
        <p:spPr>
          <a:xfrm>
            <a:off x="365760" y="7799831"/>
            <a:ext cx="1243584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4E5B64"/>
                </a:solidFill>
                <a:latin typeface="Arial"/>
              </a:rPr>
              <a:t>Independent read/write schedules for one core group; CPE kernels are not concurrent.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Batch-level overlap between MPE and CPE execution</dc:title>
  <dc:subject>Editable Method figure; all elements are native shapes</dc:subject>
  <dc:creator>SWBAM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