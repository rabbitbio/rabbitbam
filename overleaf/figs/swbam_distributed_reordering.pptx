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16736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AND SCOPE</a:t>
            </a:r>
          </a:p>
          <a:p>
            <a:r>
              <a:t>All text, nodes, block strips and arrows are editable PowerPoint objects.</a:t>
            </a:r>
          </a:p>
          <a:p>
            <a:r>
              <a:t>Module frames and labels are grouped. Use the Selection Pane for named objects.</a:t>
            </a:r>
          </a:p>
          <a:p>
            <a:r>
              <a:t>PNG/PDF/SVG are matching exports from the original scene; after manual PPTX</a:t>
            </a:r>
          </a:p>
          <a:p>
            <a:r>
              <a:t>edits, export a new PDF/PNG in PowerPoint. The code and LaTeX manuscript are</a:t>
            </a:r>
          </a:p>
          <a:p>
            <a:r>
              <a:t>not modified by this figure generator. These diagrams show current supported</a:t>
            </a:r>
          </a:p>
          <a:p>
            <a:r>
              <a:t>BAM workflows under the block-aligned record assumption.</a:t>
            </a:r>
          </a:p>
          <a:p/>
          <a:p>
            <a:r>
              <a:t>CODE BASIS</a:t>
            </a:r>
          </a:p>
          <a:p>
            <a:r>
              <a:t>swbam-app/algorithms/sort/swbam_sort_optimized_mpi.cpp:</a:t>
            </a:r>
          </a:p>
          <a:p>
            <a:r>
              <a:t>  OptimizedBamSortMPIImpl sorts metadata, makes local samples, chooses and</a:t>
            </a:r>
          </a:p>
          <a:p>
            <a:r>
              <a:t>  broadcasts splitters, exchanges buckets, then k-way merges source segments.</a:t>
            </a:r>
          </a:p>
          <a:p>
            <a:r>
              <a:t>  Stable tie information is retained in full keys; the figure's numeric toy</a:t>
            </a:r>
          </a:p>
          <a:p>
            <a:r>
              <a:t>  uses distinct positions on one reference and omits those tie fields.</a:t>
            </a:r>
          </a:p>
          <a:p>
            <a:r>
              <a:t>  External mode generates runs and streams owner-partitioned segments through</a:t>
            </a:r>
          </a:p>
          <a:p>
            <a:r>
              <a:t>  bounded exchanges and merges. The bottom panel summarizes dataflow and does</a:t>
            </a:r>
          </a:p>
          <a:p>
            <a:r>
              <a:t>  not replace its sample/splitter selection step.</a:t>
            </a:r>
          </a:p>
          <a:p>
            <a:r>
              <a:t>swbam-app/algorithms/collate/swbam_collate_mpi.cpp:</a:t>
            </a:r>
          </a:p>
          <a:p>
            <a:r>
              <a:t>  CollateOwner(bin,bins,ranks) = floor(bin*ranks/bins), clamped to the last</a:t>
            </a:r>
          </a:p>
          <a:p>
            <a:r>
              <a:t>  rank, NOT bin % ranks. CollateCompare orders by bin, hash, QNAME, flag_order,</a:t>
            </a:r>
          </a:p>
          <a:p>
            <a:r>
              <a:t>  then global_order. Full QNAME comparison resolves hash collisions.</a:t>
            </a:r>
          </a:p>
          <a:p>
            <a:r>
              <a:t>  CollateExchangeMemory retains self-owned data locally and exchanges remote</a:t>
            </a:r>
          </a:p>
          <a:p>
            <a:r>
              <a:t>  records in bounded ring chunks; received raw bytes go to their final arena.</a:t>
            </a:r>
          </a:p>
          <a:p>
            <a:r>
              <a:t>  CollateMemoryLoserTree merges ordered segments into grouped output.</a:t>
            </a:r>
          </a:p>
          <a:p>
            <a:r>
              <a:t>  CollateExtractRuns / CollateExchangeRuns / CollateMergeExternal use bounded</a:t>
            </a:r>
          </a:p>
          <a:p>
            <a:r>
              <a:t>  arena and merge fan-in. The example qA/qB/qC ownership is illustrative;</a:t>
            </a:r>
          </a:p>
          <a:p>
            <a:r>
              <a:t>  no specific hash value is asserted. Memory-mode diagrams use both metadata</a:t>
            </a:r>
          </a:p>
          <a:p>
            <a:r>
              <a:t>  and raw record payloads, not candidate-only traffic as in markdup.</a:t>
            </a:r>
          </a:p>
          <a:p>
            <a:r>
              <a:t>  Source-local order is preserved within sent segments. Both algorithms use</a:t>
            </a:r>
          </a:p>
          <a:p>
            <a:r>
              <a:t>  common read/write pipelines; external temp runs and RankBodySink spool are</a:t>
            </a:r>
          </a:p>
          <a:p>
            <a:r>
              <a:t>  separate storage mechanisms. I/O backend or spool policy is not prescribed.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rt panel / label 1"/>
          <p:cNvSpPr txBox="1"/>
          <p:nvPr/>
        </p:nvSpPr>
        <p:spPr>
          <a:xfrm>
            <a:off x="256032" y="164592"/>
            <a:ext cx="12655296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(a) Coordinate sort: partition by sampled coordinate splitters</a:t>
            </a:r>
          </a:p>
        </p:txBody>
      </p:sp>
      <p:grpSp>
        <p:nvGrpSpPr>
          <p:cNvPr id="3" name="Sort / BAM read / extract"/>
          <p:cNvGrpSpPr/>
          <p:nvPr/>
        </p:nvGrpSpPr>
        <p:grpSpPr>
          <a:xfrm>
            <a:off x="320040" y="795528"/>
            <a:ext cx="2103120" cy="713232"/>
            <a:chOff x="320040" y="795528"/>
            <a:chExt cx="2103120" cy="713232"/>
          </a:xfrm>
        </p:grpSpPr>
        <p:sp>
          <p:nvSpPr>
            <p:cNvPr id="4" name="Sort / BAM read / extract / frame"/>
            <p:cNvSpPr/>
            <p:nvPr/>
          </p:nvSpPr>
          <p:spPr>
            <a:xfrm>
              <a:off x="320040" y="795528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ort / BAM read / extract / label 1"/>
            <p:cNvSpPr txBox="1"/>
            <p:nvPr/>
          </p:nvSpPr>
          <p:spPr>
            <a:xfrm>
              <a:off x="393192" y="894008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read / extract</a:t>
              </a:r>
            </a:p>
          </p:txBody>
        </p:sp>
        <p:sp>
          <p:nvSpPr>
            <p:cNvPr id="6" name="Sort / BAM read / extract / label 2"/>
            <p:cNvSpPr txBox="1"/>
            <p:nvPr/>
          </p:nvSpPr>
          <p:spPr>
            <a:xfrm>
              <a:off x="393192" y="1176009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Keys + raw records</a:t>
              </a:r>
            </a:p>
          </p:txBody>
        </p:sp>
      </p:grpSp>
      <p:cxnSp>
        <p:nvCxnSpPr>
          <p:cNvPr id="7" name="Sort / data 0"/>
          <p:cNvCxnSpPr/>
          <p:nvPr/>
        </p:nvCxnSpPr>
        <p:spPr>
          <a:xfrm>
            <a:off x="2423160" y="1152144"/>
            <a:ext cx="49377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Sort / Local ordering"/>
          <p:cNvGrpSpPr/>
          <p:nvPr/>
        </p:nvGrpSpPr>
        <p:grpSpPr>
          <a:xfrm>
            <a:off x="2916936" y="795528"/>
            <a:ext cx="2103120" cy="713232"/>
            <a:chOff x="2916936" y="795528"/>
            <a:chExt cx="2103120" cy="713232"/>
          </a:xfrm>
        </p:grpSpPr>
        <p:sp>
          <p:nvSpPr>
            <p:cNvPr id="9" name="Sort / Local ordering / frame"/>
            <p:cNvSpPr/>
            <p:nvPr/>
          </p:nvSpPr>
          <p:spPr>
            <a:xfrm>
              <a:off x="2916936" y="795528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Sort / Local ordering / label 1"/>
            <p:cNvSpPr txBox="1"/>
            <p:nvPr/>
          </p:nvSpPr>
          <p:spPr>
            <a:xfrm>
              <a:off x="2990088" y="894008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Local ordering</a:t>
              </a:r>
            </a:p>
          </p:txBody>
        </p:sp>
        <p:sp>
          <p:nvSpPr>
            <p:cNvPr id="11" name="Sort / Local ordering / label 2"/>
            <p:cNvSpPr txBox="1"/>
            <p:nvPr/>
          </p:nvSpPr>
          <p:spPr>
            <a:xfrm>
              <a:off x="2990088" y="1176009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Sort metadata</a:t>
              </a:r>
            </a:p>
          </p:txBody>
        </p:sp>
      </p:grpSp>
      <p:cxnSp>
        <p:nvCxnSpPr>
          <p:cNvPr id="12" name="Sort / data 1"/>
          <p:cNvCxnSpPr/>
          <p:nvPr/>
        </p:nvCxnSpPr>
        <p:spPr>
          <a:xfrm>
            <a:off x="5020056" y="1152144"/>
            <a:ext cx="49377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Sort / Partition / exchange"/>
          <p:cNvGrpSpPr/>
          <p:nvPr/>
        </p:nvGrpSpPr>
        <p:grpSpPr>
          <a:xfrm>
            <a:off x="5513832" y="795528"/>
            <a:ext cx="2103120" cy="713232"/>
            <a:chOff x="5513832" y="795528"/>
            <a:chExt cx="2103120" cy="713232"/>
          </a:xfrm>
        </p:grpSpPr>
        <p:sp>
          <p:nvSpPr>
            <p:cNvPr id="14" name="Sort / Partition / exchange / frame"/>
            <p:cNvSpPr/>
            <p:nvPr/>
          </p:nvSpPr>
          <p:spPr>
            <a:xfrm>
              <a:off x="5513832" y="795528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Sort / Partition / exchange / label 1"/>
            <p:cNvSpPr txBox="1"/>
            <p:nvPr/>
          </p:nvSpPr>
          <p:spPr>
            <a:xfrm>
              <a:off x="5586984" y="894008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Partition / exchange</a:t>
              </a:r>
            </a:p>
          </p:txBody>
        </p:sp>
        <p:sp>
          <p:nvSpPr>
            <p:cNvPr id="16" name="Sort / Partition / exchange / label 2"/>
            <p:cNvSpPr txBox="1"/>
            <p:nvPr/>
          </p:nvSpPr>
          <p:spPr>
            <a:xfrm>
              <a:off x="5586984" y="1176009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Sample-based ranges</a:t>
              </a:r>
            </a:p>
          </p:txBody>
        </p:sp>
      </p:grpSp>
      <p:cxnSp>
        <p:nvCxnSpPr>
          <p:cNvPr id="17" name="Sort / data 2"/>
          <p:cNvCxnSpPr/>
          <p:nvPr/>
        </p:nvCxnSpPr>
        <p:spPr>
          <a:xfrm>
            <a:off x="7616952" y="1152144"/>
            <a:ext cx="493775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Sort / k-way merge"/>
          <p:cNvGrpSpPr/>
          <p:nvPr/>
        </p:nvGrpSpPr>
        <p:grpSpPr>
          <a:xfrm>
            <a:off x="8110727" y="795528"/>
            <a:ext cx="2103120" cy="713232"/>
            <a:chOff x="8110727" y="795528"/>
            <a:chExt cx="2103120" cy="713232"/>
          </a:xfrm>
        </p:grpSpPr>
        <p:sp>
          <p:nvSpPr>
            <p:cNvPr id="19" name="Sort / k-way merge / frame"/>
            <p:cNvSpPr/>
            <p:nvPr/>
          </p:nvSpPr>
          <p:spPr>
            <a:xfrm>
              <a:off x="8110727" y="795528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Sort / k-way merge / label 1"/>
            <p:cNvSpPr txBox="1"/>
            <p:nvPr/>
          </p:nvSpPr>
          <p:spPr>
            <a:xfrm>
              <a:off x="8183879" y="894008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k-way merge</a:t>
              </a:r>
            </a:p>
          </p:txBody>
        </p:sp>
        <p:sp>
          <p:nvSpPr>
            <p:cNvPr id="21" name="Sort / k-way merge / label 2"/>
            <p:cNvSpPr txBox="1"/>
            <p:nvPr/>
          </p:nvSpPr>
          <p:spPr>
            <a:xfrm>
              <a:off x="8183879" y="1176009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Ordered segments</a:t>
              </a:r>
            </a:p>
          </p:txBody>
        </p:sp>
      </p:grpSp>
      <p:cxnSp>
        <p:nvCxnSpPr>
          <p:cNvPr id="22" name="Sort / data 3"/>
          <p:cNvCxnSpPr/>
          <p:nvPr/>
        </p:nvCxnSpPr>
        <p:spPr>
          <a:xfrm>
            <a:off x="10213848" y="1152144"/>
            <a:ext cx="49377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Sort / BAM write"/>
          <p:cNvGrpSpPr/>
          <p:nvPr/>
        </p:nvGrpSpPr>
        <p:grpSpPr>
          <a:xfrm>
            <a:off x="10707624" y="795528"/>
            <a:ext cx="2103120" cy="713232"/>
            <a:chOff x="10707624" y="795528"/>
            <a:chExt cx="2103120" cy="713232"/>
          </a:xfrm>
        </p:grpSpPr>
        <p:sp>
          <p:nvSpPr>
            <p:cNvPr id="24" name="Sort / BAM write / frame"/>
            <p:cNvSpPr/>
            <p:nvPr/>
          </p:nvSpPr>
          <p:spPr>
            <a:xfrm>
              <a:off x="10707624" y="795528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ort / BAM write / label 1"/>
            <p:cNvSpPr txBox="1"/>
            <p:nvPr/>
          </p:nvSpPr>
          <p:spPr>
            <a:xfrm>
              <a:off x="10780776" y="894008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write</a:t>
              </a:r>
            </a:p>
          </p:txBody>
        </p:sp>
        <p:sp>
          <p:nvSpPr>
            <p:cNvPr id="26" name="Sort / BAM write / label 2"/>
            <p:cNvSpPr txBox="1"/>
            <p:nvPr/>
          </p:nvSpPr>
          <p:spPr>
            <a:xfrm>
              <a:off x="10780776" y="1176009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BGZF compression</a:t>
              </a:r>
            </a:p>
          </p:txBody>
        </p:sp>
      </p:grpSp>
      <p:sp>
        <p:nvSpPr>
          <p:cNvPr id="27" name="Sort toy caption / label 1"/>
          <p:cNvSpPr txBox="1"/>
          <p:nvPr/>
        </p:nvSpPr>
        <p:spPr>
          <a:xfrm>
            <a:off x="356616" y="1709928"/>
            <a:ext cx="12435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4E5B64"/>
                </a:solidFill>
                <a:latin typeface="Arial"/>
              </a:rPr>
              <a:t>Illustrative result after merging (one chromosome; coordinate splitter at 25)</a:t>
            </a:r>
          </a:p>
        </p:txBody>
      </p:sp>
      <p:sp>
        <p:nvSpPr>
          <p:cNvPr id="28" name="Sort rank0 / label 1"/>
          <p:cNvSpPr txBox="1"/>
          <p:nvPr/>
        </p:nvSpPr>
        <p:spPr>
          <a:xfrm>
            <a:off x="640080" y="2194560"/>
            <a:ext cx="14630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22B33"/>
                </a:solidFill>
                <a:latin typeface="Arial"/>
              </a:rPr>
              <a:t>Rank 0</a:t>
            </a:r>
          </a:p>
        </p:txBody>
      </p:sp>
      <p:sp>
        <p:nvSpPr>
          <p:cNvPr id="29" name="Sort rank0 records / 0 / frame"/>
          <p:cNvSpPr/>
          <p:nvPr/>
        </p:nvSpPr>
        <p:spPr>
          <a:xfrm>
            <a:off x="2267712" y="2130552"/>
            <a:ext cx="832104" cy="411480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ort rank0 records / value 0 / label 1"/>
          <p:cNvSpPr txBox="1"/>
          <p:nvPr/>
        </p:nvSpPr>
        <p:spPr>
          <a:xfrm>
            <a:off x="2267712" y="220370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10</a:t>
            </a:r>
          </a:p>
        </p:txBody>
      </p:sp>
      <p:sp>
        <p:nvSpPr>
          <p:cNvPr id="31" name="Sort rank0 records / 1 / frame"/>
          <p:cNvSpPr/>
          <p:nvPr/>
        </p:nvSpPr>
        <p:spPr>
          <a:xfrm>
            <a:off x="3136392" y="2130552"/>
            <a:ext cx="832104" cy="411480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ort rank0 records / value 1 / label 1"/>
          <p:cNvSpPr txBox="1"/>
          <p:nvPr/>
        </p:nvSpPr>
        <p:spPr>
          <a:xfrm>
            <a:off x="3136392" y="220370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20</a:t>
            </a:r>
          </a:p>
        </p:txBody>
      </p:sp>
      <p:sp>
        <p:nvSpPr>
          <p:cNvPr id="33" name="Sort rank0 records / 2 / frame"/>
          <p:cNvSpPr/>
          <p:nvPr/>
        </p:nvSpPr>
        <p:spPr>
          <a:xfrm>
            <a:off x="4005072" y="2130552"/>
            <a:ext cx="832104" cy="411480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ort rank0 records / value 2 / label 1"/>
          <p:cNvSpPr txBox="1"/>
          <p:nvPr/>
        </p:nvSpPr>
        <p:spPr>
          <a:xfrm>
            <a:off x="4005072" y="220370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25</a:t>
            </a:r>
          </a:p>
        </p:txBody>
      </p:sp>
      <p:sp>
        <p:nvSpPr>
          <p:cNvPr id="35" name="Sort range order / label 1"/>
          <p:cNvSpPr txBox="1"/>
          <p:nvPr/>
        </p:nvSpPr>
        <p:spPr>
          <a:xfrm>
            <a:off x="5157216" y="2185416"/>
            <a:ext cx="142646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max &lt; min</a:t>
            </a:r>
          </a:p>
        </p:txBody>
      </p:sp>
      <p:sp>
        <p:nvSpPr>
          <p:cNvPr id="36" name="Sort rank1 / label 1"/>
          <p:cNvSpPr txBox="1"/>
          <p:nvPr/>
        </p:nvSpPr>
        <p:spPr>
          <a:xfrm>
            <a:off x="6803136" y="2194560"/>
            <a:ext cx="141732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22B33"/>
                </a:solidFill>
                <a:latin typeface="Arial"/>
              </a:rPr>
              <a:t>Rank 1</a:t>
            </a:r>
          </a:p>
        </p:txBody>
      </p:sp>
      <p:sp>
        <p:nvSpPr>
          <p:cNvPr id="37" name="Sort rank1 records / 0 / frame"/>
          <p:cNvSpPr/>
          <p:nvPr/>
        </p:nvSpPr>
        <p:spPr>
          <a:xfrm>
            <a:off x="8348472" y="2130552"/>
            <a:ext cx="832104" cy="411480"/>
          </a:xfrm>
          <a:prstGeom prst="rect">
            <a:avLst/>
          </a:prstGeom>
          <a:solidFill>
            <a:srgbClr val="E1F2EA"/>
          </a:solidFill>
          <a:ln w="13716">
            <a:solidFill>
              <a:srgbClr val="217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ort rank1 records / value 0 / label 1"/>
          <p:cNvSpPr txBox="1"/>
          <p:nvPr/>
        </p:nvSpPr>
        <p:spPr>
          <a:xfrm>
            <a:off x="8348472" y="220370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70</a:t>
            </a:r>
          </a:p>
        </p:txBody>
      </p:sp>
      <p:sp>
        <p:nvSpPr>
          <p:cNvPr id="39" name="Sort rank1 records / 1 / frame"/>
          <p:cNvSpPr/>
          <p:nvPr/>
        </p:nvSpPr>
        <p:spPr>
          <a:xfrm>
            <a:off x="9217152" y="2130552"/>
            <a:ext cx="832104" cy="411480"/>
          </a:xfrm>
          <a:prstGeom prst="rect">
            <a:avLst/>
          </a:prstGeom>
          <a:solidFill>
            <a:srgbClr val="E1F2EA"/>
          </a:solidFill>
          <a:ln w="13716">
            <a:solidFill>
              <a:srgbClr val="217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ort rank1 records / value 1 / label 1"/>
          <p:cNvSpPr txBox="1"/>
          <p:nvPr/>
        </p:nvSpPr>
        <p:spPr>
          <a:xfrm>
            <a:off x="9217152" y="220370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75</a:t>
            </a:r>
          </a:p>
        </p:txBody>
      </p:sp>
      <p:sp>
        <p:nvSpPr>
          <p:cNvPr id="41" name="Sort rank1 records / 2 / frame"/>
          <p:cNvSpPr/>
          <p:nvPr/>
        </p:nvSpPr>
        <p:spPr>
          <a:xfrm>
            <a:off x="10085832" y="2130552"/>
            <a:ext cx="832104" cy="411480"/>
          </a:xfrm>
          <a:prstGeom prst="rect">
            <a:avLst/>
          </a:prstGeom>
          <a:solidFill>
            <a:srgbClr val="E1F2EA"/>
          </a:solidFill>
          <a:ln w="13716">
            <a:solidFill>
              <a:srgbClr val="217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ort rank1 records / value 2 / label 1"/>
          <p:cNvSpPr txBox="1"/>
          <p:nvPr/>
        </p:nvSpPr>
        <p:spPr>
          <a:xfrm>
            <a:off x="10085832" y="220370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90</a:t>
            </a:r>
          </a:p>
        </p:txBody>
      </p:sp>
      <p:sp>
        <p:nvSpPr>
          <p:cNvPr id="43" name="Sort range0 / label 1"/>
          <p:cNvSpPr txBox="1"/>
          <p:nvPr/>
        </p:nvSpPr>
        <p:spPr>
          <a:xfrm>
            <a:off x="1783080" y="2606040"/>
            <a:ext cx="361188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Lower coordinate range</a:t>
            </a:r>
          </a:p>
        </p:txBody>
      </p:sp>
      <p:sp>
        <p:nvSpPr>
          <p:cNvPr id="44" name="Sort range1 / label 1"/>
          <p:cNvSpPr txBox="1"/>
          <p:nvPr/>
        </p:nvSpPr>
        <p:spPr>
          <a:xfrm>
            <a:off x="7872983" y="2606040"/>
            <a:ext cx="366674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Higher coordinate range</a:t>
            </a:r>
          </a:p>
        </p:txBody>
      </p:sp>
      <p:sp>
        <p:nvSpPr>
          <p:cNvPr id="45" name="Sort property / label 1"/>
          <p:cNvSpPr txBox="1"/>
          <p:nvPr/>
        </p:nvSpPr>
        <p:spPr>
          <a:xfrm>
            <a:off x="320040" y="2953512"/>
            <a:ext cx="12435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222B33"/>
                </a:solidFill>
                <a:latin typeface="Arial"/>
              </a:rPr>
              <a:t>Concatenating rank bodies preserves global coordinate order.</a:t>
            </a:r>
          </a:p>
        </p:txBody>
      </p:sp>
      <p:sp>
        <p:nvSpPr>
          <p:cNvPr id="46" name="Collate panel / label 1"/>
          <p:cNvSpPr txBox="1"/>
          <p:nvPr/>
        </p:nvSpPr>
        <p:spPr>
          <a:xfrm>
            <a:off x="256032" y="3529584"/>
            <a:ext cx="12655296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(b) Collate: partition by QNAME hash bins</a:t>
            </a:r>
          </a:p>
        </p:txBody>
      </p:sp>
      <p:grpSp>
        <p:nvGrpSpPr>
          <p:cNvPr id="47" name="Collate / BAM read / extract"/>
          <p:cNvGrpSpPr/>
          <p:nvPr/>
        </p:nvGrpSpPr>
        <p:grpSpPr>
          <a:xfrm>
            <a:off x="320040" y="4160520"/>
            <a:ext cx="2103120" cy="713232"/>
            <a:chOff x="320040" y="4160520"/>
            <a:chExt cx="2103120" cy="713232"/>
          </a:xfrm>
        </p:grpSpPr>
        <p:sp>
          <p:nvSpPr>
            <p:cNvPr id="48" name="Collate / BAM read / extract / frame"/>
            <p:cNvSpPr/>
            <p:nvPr/>
          </p:nvSpPr>
          <p:spPr>
            <a:xfrm>
              <a:off x="320040" y="4160520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Collate / BAM read / extract / label 1"/>
            <p:cNvSpPr txBox="1"/>
            <p:nvPr/>
          </p:nvSpPr>
          <p:spPr>
            <a:xfrm>
              <a:off x="393192" y="4259000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read / extract</a:t>
              </a:r>
            </a:p>
          </p:txBody>
        </p:sp>
        <p:sp>
          <p:nvSpPr>
            <p:cNvPr id="50" name="Collate / BAM read / extract / label 2"/>
            <p:cNvSpPr txBox="1"/>
            <p:nvPr/>
          </p:nvSpPr>
          <p:spPr>
            <a:xfrm>
              <a:off x="393192" y="4541001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Hash + raw records</a:t>
              </a:r>
            </a:p>
          </p:txBody>
        </p:sp>
      </p:grpSp>
      <p:cxnSp>
        <p:nvCxnSpPr>
          <p:cNvPr id="51" name="Collate / data 0"/>
          <p:cNvCxnSpPr/>
          <p:nvPr/>
        </p:nvCxnSpPr>
        <p:spPr>
          <a:xfrm>
            <a:off x="2423160" y="4517136"/>
            <a:ext cx="49377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Collate / Local ordering"/>
          <p:cNvGrpSpPr/>
          <p:nvPr/>
        </p:nvGrpSpPr>
        <p:grpSpPr>
          <a:xfrm>
            <a:off x="2916936" y="4160520"/>
            <a:ext cx="2103120" cy="713232"/>
            <a:chOff x="2916936" y="4160520"/>
            <a:chExt cx="2103120" cy="713232"/>
          </a:xfrm>
        </p:grpSpPr>
        <p:sp>
          <p:nvSpPr>
            <p:cNvPr id="53" name="Collate / Local ordering / frame"/>
            <p:cNvSpPr/>
            <p:nvPr/>
          </p:nvSpPr>
          <p:spPr>
            <a:xfrm>
              <a:off x="2916936" y="4160520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ollate / Local ordering / label 1"/>
            <p:cNvSpPr txBox="1"/>
            <p:nvPr/>
          </p:nvSpPr>
          <p:spPr>
            <a:xfrm>
              <a:off x="2990088" y="4259000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Local ordering</a:t>
              </a:r>
            </a:p>
          </p:txBody>
        </p:sp>
        <p:sp>
          <p:nvSpPr>
            <p:cNvPr id="55" name="Collate / Local ordering / label 2"/>
            <p:cNvSpPr txBox="1"/>
            <p:nvPr/>
          </p:nvSpPr>
          <p:spPr>
            <a:xfrm>
              <a:off x="2990088" y="4541001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Bin / hash / QNAME</a:t>
              </a:r>
            </a:p>
          </p:txBody>
        </p:sp>
      </p:grpSp>
      <p:cxnSp>
        <p:nvCxnSpPr>
          <p:cNvPr id="56" name="Collate / data 1"/>
          <p:cNvCxnSpPr/>
          <p:nvPr/>
        </p:nvCxnSpPr>
        <p:spPr>
          <a:xfrm>
            <a:off x="5020056" y="4517136"/>
            <a:ext cx="49377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Collate / Partition / exchange"/>
          <p:cNvGrpSpPr/>
          <p:nvPr/>
        </p:nvGrpSpPr>
        <p:grpSpPr>
          <a:xfrm>
            <a:off x="5513832" y="4160520"/>
            <a:ext cx="2103120" cy="713232"/>
            <a:chOff x="5513832" y="4160520"/>
            <a:chExt cx="2103120" cy="713232"/>
          </a:xfrm>
        </p:grpSpPr>
        <p:sp>
          <p:nvSpPr>
            <p:cNvPr id="58" name="Collate / Partition / exchange / frame"/>
            <p:cNvSpPr/>
            <p:nvPr/>
          </p:nvSpPr>
          <p:spPr>
            <a:xfrm>
              <a:off x="5513832" y="4160520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Collate / Partition / exchange / label 1"/>
            <p:cNvSpPr txBox="1"/>
            <p:nvPr/>
          </p:nvSpPr>
          <p:spPr>
            <a:xfrm>
              <a:off x="5586984" y="4259000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Partition / exchange</a:t>
              </a:r>
            </a:p>
          </p:txBody>
        </p:sp>
        <p:sp>
          <p:nvSpPr>
            <p:cNvPr id="60" name="Collate / Partition / exchange / label 2"/>
            <p:cNvSpPr txBox="1"/>
            <p:nvPr/>
          </p:nvSpPr>
          <p:spPr>
            <a:xfrm>
              <a:off x="5586984" y="4541001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Bin owner; chunks</a:t>
              </a:r>
            </a:p>
          </p:txBody>
        </p:sp>
      </p:grpSp>
      <p:cxnSp>
        <p:nvCxnSpPr>
          <p:cNvPr id="61" name="Collate / data 2"/>
          <p:cNvCxnSpPr/>
          <p:nvPr/>
        </p:nvCxnSpPr>
        <p:spPr>
          <a:xfrm>
            <a:off x="7616952" y="4517136"/>
            <a:ext cx="493775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Collate / Loser-tree merge"/>
          <p:cNvGrpSpPr/>
          <p:nvPr/>
        </p:nvGrpSpPr>
        <p:grpSpPr>
          <a:xfrm>
            <a:off x="8110727" y="4160520"/>
            <a:ext cx="2103120" cy="713232"/>
            <a:chOff x="8110727" y="4160520"/>
            <a:chExt cx="2103120" cy="713232"/>
          </a:xfrm>
        </p:grpSpPr>
        <p:sp>
          <p:nvSpPr>
            <p:cNvPr id="63" name="Collate / Loser-tree merge / frame"/>
            <p:cNvSpPr/>
            <p:nvPr/>
          </p:nvSpPr>
          <p:spPr>
            <a:xfrm>
              <a:off x="8110727" y="4160520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Collate / Loser-tree merge / label 1"/>
            <p:cNvSpPr txBox="1"/>
            <p:nvPr/>
          </p:nvSpPr>
          <p:spPr>
            <a:xfrm>
              <a:off x="8183879" y="4259000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Loser-tree merge</a:t>
              </a:r>
            </a:p>
          </p:txBody>
        </p:sp>
        <p:sp>
          <p:nvSpPr>
            <p:cNvPr id="65" name="Collate / Loser-tree merge / label 2"/>
            <p:cNvSpPr txBox="1"/>
            <p:nvPr/>
          </p:nvSpPr>
          <p:spPr>
            <a:xfrm>
              <a:off x="8183879" y="4541001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Contiguous groups</a:t>
              </a:r>
            </a:p>
          </p:txBody>
        </p:sp>
      </p:grpSp>
      <p:cxnSp>
        <p:nvCxnSpPr>
          <p:cNvPr id="66" name="Collate / data 3"/>
          <p:cNvCxnSpPr/>
          <p:nvPr/>
        </p:nvCxnSpPr>
        <p:spPr>
          <a:xfrm>
            <a:off x="10213848" y="4517136"/>
            <a:ext cx="49377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" name="Collate / BAM write"/>
          <p:cNvGrpSpPr/>
          <p:nvPr/>
        </p:nvGrpSpPr>
        <p:grpSpPr>
          <a:xfrm>
            <a:off x="10707624" y="4160520"/>
            <a:ext cx="2103120" cy="713232"/>
            <a:chOff x="10707624" y="4160520"/>
            <a:chExt cx="2103120" cy="713232"/>
          </a:xfrm>
        </p:grpSpPr>
        <p:sp>
          <p:nvSpPr>
            <p:cNvPr id="68" name="Collate / BAM write / frame"/>
            <p:cNvSpPr/>
            <p:nvPr/>
          </p:nvSpPr>
          <p:spPr>
            <a:xfrm>
              <a:off x="10707624" y="4160520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Collate / BAM write / label 1"/>
            <p:cNvSpPr txBox="1"/>
            <p:nvPr/>
          </p:nvSpPr>
          <p:spPr>
            <a:xfrm>
              <a:off x="10780776" y="4259000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write</a:t>
              </a:r>
            </a:p>
          </p:txBody>
        </p:sp>
        <p:sp>
          <p:nvSpPr>
            <p:cNvPr id="70" name="Collate / BAM write / label 2"/>
            <p:cNvSpPr txBox="1"/>
            <p:nvPr/>
          </p:nvSpPr>
          <p:spPr>
            <a:xfrm>
              <a:off x="10780776" y="4541001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BGZF compression</a:t>
              </a:r>
            </a:p>
          </p:txBody>
        </p:sp>
      </p:grpSp>
      <p:sp>
        <p:nvSpPr>
          <p:cNvPr id="71" name="Collate toy caption / label 1"/>
          <p:cNvSpPr txBox="1"/>
          <p:nvPr/>
        </p:nvSpPr>
        <p:spPr>
          <a:xfrm>
            <a:off x="365760" y="5038344"/>
            <a:ext cx="1234440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4E5B64"/>
                </a:solidFill>
                <a:latin typeface="Arial"/>
              </a:rPr>
              <a:t>Illustrative bin ownership: qB belongs to rank 0; qA and qC belong to rank 1</a:t>
            </a:r>
          </a:p>
        </p:txBody>
      </p:sp>
      <p:sp>
        <p:nvSpPr>
          <p:cNvPr id="72" name="Collate rank0 / label 1"/>
          <p:cNvSpPr txBox="1"/>
          <p:nvPr/>
        </p:nvSpPr>
        <p:spPr>
          <a:xfrm>
            <a:off x="640080" y="5532120"/>
            <a:ext cx="14630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22B33"/>
                </a:solidFill>
                <a:latin typeface="Arial"/>
              </a:rPr>
              <a:t>Rank 0</a:t>
            </a:r>
          </a:p>
        </p:txBody>
      </p:sp>
      <p:sp>
        <p:nvSpPr>
          <p:cNvPr id="73" name="Collate rank0 records / 0 / frame"/>
          <p:cNvSpPr/>
          <p:nvPr/>
        </p:nvSpPr>
        <p:spPr>
          <a:xfrm>
            <a:off x="2267712" y="5468112"/>
            <a:ext cx="832104" cy="411480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ollate rank0 records / value 0 / label 1"/>
          <p:cNvSpPr txBox="1"/>
          <p:nvPr/>
        </p:nvSpPr>
        <p:spPr>
          <a:xfrm>
            <a:off x="2267712" y="554126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qB</a:t>
            </a:r>
          </a:p>
        </p:txBody>
      </p:sp>
      <p:sp>
        <p:nvSpPr>
          <p:cNvPr id="75" name="Collate rank0 records / 1 / frame"/>
          <p:cNvSpPr/>
          <p:nvPr/>
        </p:nvSpPr>
        <p:spPr>
          <a:xfrm>
            <a:off x="3136392" y="5468112"/>
            <a:ext cx="832104" cy="411480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ollate rank0 records / value 1 / label 1"/>
          <p:cNvSpPr txBox="1"/>
          <p:nvPr/>
        </p:nvSpPr>
        <p:spPr>
          <a:xfrm>
            <a:off x="3136392" y="554126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qB</a:t>
            </a:r>
          </a:p>
        </p:txBody>
      </p:sp>
      <p:sp>
        <p:nvSpPr>
          <p:cNvPr id="77" name="Collate rank1 / label 1"/>
          <p:cNvSpPr txBox="1"/>
          <p:nvPr/>
        </p:nvSpPr>
        <p:spPr>
          <a:xfrm>
            <a:off x="6803136" y="5532120"/>
            <a:ext cx="141732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22B33"/>
                </a:solidFill>
                <a:latin typeface="Arial"/>
              </a:rPr>
              <a:t>Rank 1</a:t>
            </a:r>
          </a:p>
        </p:txBody>
      </p:sp>
      <p:sp>
        <p:nvSpPr>
          <p:cNvPr id="78" name="Collate rank1 records / 0 / frame"/>
          <p:cNvSpPr/>
          <p:nvPr/>
        </p:nvSpPr>
        <p:spPr>
          <a:xfrm>
            <a:off x="8348472" y="5468112"/>
            <a:ext cx="832104" cy="411480"/>
          </a:xfrm>
          <a:prstGeom prst="rect">
            <a:avLst/>
          </a:prstGeom>
          <a:solidFill>
            <a:srgbClr val="E1F2EA"/>
          </a:solidFill>
          <a:ln w="13716">
            <a:solidFill>
              <a:srgbClr val="217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ollate rank1 records / value 0 / label 1"/>
          <p:cNvSpPr txBox="1"/>
          <p:nvPr/>
        </p:nvSpPr>
        <p:spPr>
          <a:xfrm>
            <a:off x="8348472" y="554126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qA</a:t>
            </a:r>
          </a:p>
        </p:txBody>
      </p:sp>
      <p:sp>
        <p:nvSpPr>
          <p:cNvPr id="80" name="Collate rank1 records / 1 / frame"/>
          <p:cNvSpPr/>
          <p:nvPr/>
        </p:nvSpPr>
        <p:spPr>
          <a:xfrm>
            <a:off x="9217152" y="5468112"/>
            <a:ext cx="832104" cy="411480"/>
          </a:xfrm>
          <a:prstGeom prst="rect">
            <a:avLst/>
          </a:prstGeom>
          <a:solidFill>
            <a:srgbClr val="E1F2EA"/>
          </a:solidFill>
          <a:ln w="13716">
            <a:solidFill>
              <a:srgbClr val="217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ollate rank1 records / value 1 / label 1"/>
          <p:cNvSpPr txBox="1"/>
          <p:nvPr/>
        </p:nvSpPr>
        <p:spPr>
          <a:xfrm>
            <a:off x="9217152" y="554126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qA</a:t>
            </a:r>
          </a:p>
        </p:txBody>
      </p:sp>
      <p:sp>
        <p:nvSpPr>
          <p:cNvPr id="82" name="Collate rank1 records / 2 / frame"/>
          <p:cNvSpPr/>
          <p:nvPr/>
        </p:nvSpPr>
        <p:spPr>
          <a:xfrm>
            <a:off x="10085832" y="5468112"/>
            <a:ext cx="832104" cy="411480"/>
          </a:xfrm>
          <a:prstGeom prst="rect">
            <a:avLst/>
          </a:prstGeom>
          <a:solidFill>
            <a:srgbClr val="E1F2EA"/>
          </a:solidFill>
          <a:ln w="13716">
            <a:solidFill>
              <a:srgbClr val="217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ollate rank1 records / value 2 / label 1"/>
          <p:cNvSpPr txBox="1"/>
          <p:nvPr/>
        </p:nvSpPr>
        <p:spPr>
          <a:xfrm>
            <a:off x="10085832" y="554126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qC</a:t>
            </a:r>
          </a:p>
        </p:txBody>
      </p:sp>
      <p:sp>
        <p:nvSpPr>
          <p:cNvPr id="84" name="Collate rank1 records / 3 / frame"/>
          <p:cNvSpPr/>
          <p:nvPr/>
        </p:nvSpPr>
        <p:spPr>
          <a:xfrm>
            <a:off x="10954512" y="5468112"/>
            <a:ext cx="832104" cy="411480"/>
          </a:xfrm>
          <a:prstGeom prst="rect">
            <a:avLst/>
          </a:prstGeom>
          <a:solidFill>
            <a:srgbClr val="E1F2EA"/>
          </a:solidFill>
          <a:ln w="13716">
            <a:solidFill>
              <a:srgbClr val="217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ollate rank1 records / value 3 / label 1"/>
          <p:cNvSpPr txBox="1"/>
          <p:nvPr/>
        </p:nvSpPr>
        <p:spPr>
          <a:xfrm>
            <a:off x="10954512" y="554126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qC</a:t>
            </a:r>
          </a:p>
        </p:txBody>
      </p:sp>
      <p:cxnSp>
        <p:nvCxnSpPr>
          <p:cNvPr id="86" name="Qname B group / 0"/>
          <p:cNvCxnSpPr/>
          <p:nvPr/>
        </p:nvCxnSpPr>
        <p:spPr>
          <a:xfrm>
            <a:off x="2267712" y="5943600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Qname B group / 1"/>
          <p:cNvCxnSpPr/>
          <p:nvPr/>
        </p:nvCxnSpPr>
        <p:spPr>
          <a:xfrm>
            <a:off x="2267712" y="6007608"/>
            <a:ext cx="1700784" cy="0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Qname B group / 2"/>
          <p:cNvCxnSpPr/>
          <p:nvPr/>
        </p:nvCxnSpPr>
        <p:spPr>
          <a:xfrm flipV="1">
            <a:off x="3968496" y="5943600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Qname B group label / label 1"/>
          <p:cNvSpPr txBox="1"/>
          <p:nvPr/>
        </p:nvSpPr>
        <p:spPr>
          <a:xfrm>
            <a:off x="2267712" y="6062472"/>
            <a:ext cx="170078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873AC"/>
                </a:solidFill>
                <a:latin typeface="Arial"/>
              </a:rPr>
              <a:t>One QNAME group</a:t>
            </a:r>
          </a:p>
        </p:txBody>
      </p:sp>
      <p:cxnSp>
        <p:nvCxnSpPr>
          <p:cNvPr id="90" name="Qname A group / 0"/>
          <p:cNvCxnSpPr/>
          <p:nvPr/>
        </p:nvCxnSpPr>
        <p:spPr>
          <a:xfrm>
            <a:off x="8348472" y="594360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Qname A group / 1"/>
          <p:cNvCxnSpPr/>
          <p:nvPr/>
        </p:nvCxnSpPr>
        <p:spPr>
          <a:xfrm>
            <a:off x="8348472" y="6007608"/>
            <a:ext cx="1700784" cy="0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Qname A group / 2"/>
          <p:cNvCxnSpPr/>
          <p:nvPr/>
        </p:nvCxnSpPr>
        <p:spPr>
          <a:xfrm flipV="1">
            <a:off x="10049256" y="594360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Qname A group label / label 1"/>
          <p:cNvSpPr txBox="1"/>
          <p:nvPr/>
        </p:nvSpPr>
        <p:spPr>
          <a:xfrm>
            <a:off x="8348472" y="6062472"/>
            <a:ext cx="170078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17957"/>
                </a:solidFill>
                <a:latin typeface="Arial"/>
              </a:rPr>
              <a:t>qA group</a:t>
            </a:r>
          </a:p>
        </p:txBody>
      </p:sp>
      <p:cxnSp>
        <p:nvCxnSpPr>
          <p:cNvPr id="94" name="Qname C group / 0"/>
          <p:cNvCxnSpPr/>
          <p:nvPr/>
        </p:nvCxnSpPr>
        <p:spPr>
          <a:xfrm>
            <a:off x="10085832" y="594360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Qname C group / 1"/>
          <p:cNvCxnSpPr/>
          <p:nvPr/>
        </p:nvCxnSpPr>
        <p:spPr>
          <a:xfrm>
            <a:off x="10085832" y="6007608"/>
            <a:ext cx="1700784" cy="0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Qname C group / 2"/>
          <p:cNvCxnSpPr/>
          <p:nvPr/>
        </p:nvCxnSpPr>
        <p:spPr>
          <a:xfrm flipV="1">
            <a:off x="11786616" y="594360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Qname C group label / label 1"/>
          <p:cNvSpPr txBox="1"/>
          <p:nvPr/>
        </p:nvSpPr>
        <p:spPr>
          <a:xfrm>
            <a:off x="10085832" y="6062472"/>
            <a:ext cx="170078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17957"/>
                </a:solidFill>
                <a:latin typeface="Arial"/>
              </a:rPr>
              <a:t>qC group</a:t>
            </a:r>
          </a:p>
        </p:txBody>
      </p:sp>
      <p:sp>
        <p:nvSpPr>
          <p:cNvPr id="98" name="Collate property / label 1"/>
          <p:cNvSpPr txBox="1"/>
          <p:nvPr/>
        </p:nvSpPr>
        <p:spPr>
          <a:xfrm>
            <a:off x="301752" y="6382512"/>
            <a:ext cx="12435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222B33"/>
                </a:solidFill>
                <a:latin typeface="Arial"/>
              </a:rPr>
              <a:t>Equal QNAMEs stay together; global lexicographic QNAME order is not required.</a:t>
            </a:r>
          </a:p>
        </p:txBody>
      </p:sp>
      <p:sp>
        <p:nvSpPr>
          <p:cNvPr id="99" name="External panel / label 1"/>
          <p:cNvSpPr txBox="1"/>
          <p:nvPr/>
        </p:nvSpPr>
        <p:spPr>
          <a:xfrm>
            <a:off x="256032" y="6812280"/>
            <a:ext cx="12655296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(c) External mode: preserve the partition rule, bound the working set</a:t>
            </a:r>
          </a:p>
        </p:txBody>
      </p:sp>
      <p:grpSp>
        <p:nvGrpSpPr>
          <p:cNvPr id="100" name="External / Generate ordered runs"/>
          <p:cNvGrpSpPr/>
          <p:nvPr/>
        </p:nvGrpSpPr>
        <p:grpSpPr>
          <a:xfrm>
            <a:off x="320040" y="7306056"/>
            <a:ext cx="2761488" cy="713232"/>
            <a:chOff x="320040" y="7306056"/>
            <a:chExt cx="2761488" cy="713232"/>
          </a:xfrm>
        </p:grpSpPr>
        <p:sp>
          <p:nvSpPr>
            <p:cNvPr id="101" name="External / Generate ordered runs / frame"/>
            <p:cNvSpPr/>
            <p:nvPr/>
          </p:nvSpPr>
          <p:spPr>
            <a:xfrm>
              <a:off x="320040" y="7306056"/>
              <a:ext cx="2761488" cy="713232"/>
            </a:xfrm>
            <a:prstGeom prst="roundRect">
              <a:avLst>
                <a:gd name="adj" fmla="val 8974"/>
              </a:avLst>
            </a:prstGeom>
            <a:solidFill>
              <a:srgbClr val="F2F4F6"/>
            </a:solidFill>
            <a:ln w="15544">
              <a:solidFill>
                <a:srgbClr val="737D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External / Generate ordered runs / label 1"/>
            <p:cNvSpPr txBox="1"/>
            <p:nvPr/>
          </p:nvSpPr>
          <p:spPr>
            <a:xfrm>
              <a:off x="393192" y="7398959"/>
              <a:ext cx="2615184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Generate ordered runs</a:t>
              </a:r>
            </a:p>
          </p:txBody>
        </p:sp>
        <p:sp>
          <p:nvSpPr>
            <p:cNvPr id="103" name="External / Generate ordered runs / label 2"/>
            <p:cNvSpPr txBox="1"/>
            <p:nvPr/>
          </p:nvSpPr>
          <p:spPr>
            <a:xfrm>
              <a:off x="393192" y="7692115"/>
              <a:ext cx="261518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Temporary run storage</a:t>
              </a:r>
            </a:p>
          </p:txBody>
        </p:sp>
      </p:grpSp>
      <p:cxnSp>
        <p:nvCxnSpPr>
          <p:cNvPr id="104" name="External transfer 0"/>
          <p:cNvCxnSpPr/>
          <p:nvPr/>
        </p:nvCxnSpPr>
        <p:spPr>
          <a:xfrm>
            <a:off x="3081528" y="7662672"/>
            <a:ext cx="48463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External / Bounded exchange"/>
          <p:cNvGrpSpPr/>
          <p:nvPr/>
        </p:nvGrpSpPr>
        <p:grpSpPr>
          <a:xfrm>
            <a:off x="3566160" y="7306056"/>
            <a:ext cx="2761488" cy="713232"/>
            <a:chOff x="3566160" y="7306056"/>
            <a:chExt cx="2761488" cy="713232"/>
          </a:xfrm>
        </p:grpSpPr>
        <p:sp>
          <p:nvSpPr>
            <p:cNvPr id="106" name="External / Bounded exchange / frame"/>
            <p:cNvSpPr/>
            <p:nvPr/>
          </p:nvSpPr>
          <p:spPr>
            <a:xfrm>
              <a:off x="3566160" y="7306056"/>
              <a:ext cx="2761488" cy="713232"/>
            </a:xfrm>
            <a:prstGeom prst="roundRect">
              <a:avLst>
                <a:gd name="adj" fmla="val 8974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External / Bounded exchange / label 1"/>
            <p:cNvSpPr txBox="1"/>
            <p:nvPr/>
          </p:nvSpPr>
          <p:spPr>
            <a:xfrm>
              <a:off x="3639312" y="7398959"/>
              <a:ext cx="2615184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Bounded exchange</a:t>
              </a:r>
            </a:p>
          </p:txBody>
        </p:sp>
        <p:sp>
          <p:nvSpPr>
            <p:cNvPr id="108" name="External / Bounded exchange / label 2"/>
            <p:cNvSpPr txBox="1"/>
            <p:nvPr/>
          </p:nvSpPr>
          <p:spPr>
            <a:xfrm>
              <a:off x="3639312" y="7692115"/>
              <a:ext cx="261518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Owner-directed chunks</a:t>
              </a:r>
            </a:p>
          </p:txBody>
        </p:sp>
      </p:grpSp>
      <p:cxnSp>
        <p:nvCxnSpPr>
          <p:cNvPr id="109" name="External transfer 1"/>
          <p:cNvCxnSpPr/>
          <p:nvPr/>
        </p:nvCxnSpPr>
        <p:spPr>
          <a:xfrm>
            <a:off x="6327648" y="7662672"/>
            <a:ext cx="48463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External / Streaming merge"/>
          <p:cNvGrpSpPr/>
          <p:nvPr/>
        </p:nvGrpSpPr>
        <p:grpSpPr>
          <a:xfrm>
            <a:off x="6812280" y="7306056"/>
            <a:ext cx="2761488" cy="713232"/>
            <a:chOff x="6812280" y="7306056"/>
            <a:chExt cx="2761488" cy="713232"/>
          </a:xfrm>
        </p:grpSpPr>
        <p:sp>
          <p:nvSpPr>
            <p:cNvPr id="111" name="External / Streaming merge / frame"/>
            <p:cNvSpPr/>
            <p:nvPr/>
          </p:nvSpPr>
          <p:spPr>
            <a:xfrm>
              <a:off x="6812280" y="7306056"/>
              <a:ext cx="2761488" cy="713232"/>
            </a:xfrm>
            <a:prstGeom prst="roundRect">
              <a:avLst>
                <a:gd name="adj" fmla="val 8974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External / Streaming merge / label 1"/>
            <p:cNvSpPr txBox="1"/>
            <p:nvPr/>
          </p:nvSpPr>
          <p:spPr>
            <a:xfrm>
              <a:off x="6885432" y="7398959"/>
              <a:ext cx="2615184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Streaming merge</a:t>
              </a:r>
            </a:p>
          </p:txBody>
        </p:sp>
        <p:sp>
          <p:nvSpPr>
            <p:cNvPr id="113" name="External / Streaming merge / label 2"/>
            <p:cNvSpPr txBox="1"/>
            <p:nvPr/>
          </p:nvSpPr>
          <p:spPr>
            <a:xfrm>
              <a:off x="6885432" y="7692115"/>
              <a:ext cx="261518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Bounded merge fan-in</a:t>
              </a:r>
            </a:p>
          </p:txBody>
        </p:sp>
      </p:grpSp>
      <p:cxnSp>
        <p:nvCxnSpPr>
          <p:cNvPr id="114" name="External transfer 2"/>
          <p:cNvCxnSpPr/>
          <p:nvPr/>
        </p:nvCxnSpPr>
        <p:spPr>
          <a:xfrm>
            <a:off x="9573768" y="7662672"/>
            <a:ext cx="48463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5" name="External / Same BAM writer"/>
          <p:cNvGrpSpPr/>
          <p:nvPr/>
        </p:nvGrpSpPr>
        <p:grpSpPr>
          <a:xfrm>
            <a:off x="10058400" y="7306056"/>
            <a:ext cx="2761488" cy="713232"/>
            <a:chOff x="10058400" y="7306056"/>
            <a:chExt cx="2761488" cy="713232"/>
          </a:xfrm>
        </p:grpSpPr>
        <p:sp>
          <p:nvSpPr>
            <p:cNvPr id="116" name="External / Same BAM writer / frame"/>
            <p:cNvSpPr/>
            <p:nvPr/>
          </p:nvSpPr>
          <p:spPr>
            <a:xfrm>
              <a:off x="10058400" y="7306056"/>
              <a:ext cx="2761488" cy="713232"/>
            </a:xfrm>
            <a:prstGeom prst="roundRect">
              <a:avLst>
                <a:gd name="adj" fmla="val 8974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External / Same BAM writer / label 1"/>
            <p:cNvSpPr txBox="1"/>
            <p:nvPr/>
          </p:nvSpPr>
          <p:spPr>
            <a:xfrm>
              <a:off x="10131552" y="7398959"/>
              <a:ext cx="2615184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Same BAM writer</a:t>
              </a:r>
            </a:p>
          </p:txBody>
        </p:sp>
        <p:sp>
          <p:nvSpPr>
            <p:cNvPr id="118" name="External / Same BAM writer / label 2"/>
            <p:cNvSpPr txBox="1"/>
            <p:nvPr/>
          </p:nvSpPr>
          <p:spPr>
            <a:xfrm>
              <a:off x="10131552" y="7692115"/>
              <a:ext cx="261518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Rank-local output body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sorting and collation built on SWBAM</dc:title>
  <dc:subject>Editable Method figure; all elements are native shapes</dc:subject>
  <dc:creator>SWBAM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