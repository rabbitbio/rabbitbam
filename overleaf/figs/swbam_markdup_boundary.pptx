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16736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AND SCOPE</a:t>
            </a:r>
          </a:p>
          <a:p>
            <a:r>
              <a:t>All text, nodes, block strips and arrows are editable PowerPoint objects.</a:t>
            </a:r>
          </a:p>
          <a:p>
            <a:r>
              <a:t>Module frames and labels are grouped. Use the Selection Pane for named objects.</a:t>
            </a:r>
          </a:p>
          <a:p>
            <a:r>
              <a:t>PNG/PDF/SVG are matching exports from the original scene; after manual PPTX</a:t>
            </a:r>
          </a:p>
          <a:p>
            <a:r>
              <a:t>edits, export a new PDF/PNG in PowerPoint. The code and LaTeX manuscript are</a:t>
            </a:r>
          </a:p>
          <a:p>
            <a:r>
              <a:t>not modified by this figure generator. These diagrams show current supported</a:t>
            </a:r>
          </a:p>
          <a:p>
            <a:r>
              <a:t>BAM workflows under the block-aligned record assumption.</a:t>
            </a:r>
          </a:p>
          <a:p/>
          <a:p>
            <a:r>
              <a:t>CODE BASIS</a:t>
            </a:r>
          </a:p>
          <a:p>
            <a:r>
              <a:t>swbam-app/algorithms/markdup/swbam_markdup_mpi.cpp:</a:t>
            </a:r>
          </a:p>
          <a:p>
            <a:r>
              <a:t>  MdBuildOnePassBoundaryPlan: probes min(span_count, 32) blocks at each end</a:t>
            </a:r>
          </a:p>
          <a:p>
            <a:r>
              <a:t>  (overlapping probes are deduplicated). It builds rank coordinate boundaries,</a:t>
            </a:r>
          </a:p>
          <a:p>
            <a:r>
              <a:t>  checks coverage by MPI_Allreduce(MIN), selects boundary candidates, routes</a:t>
            </a:r>
          </a:p>
          <a:p>
            <a:r>
              <a:t>  them by coordinate owner, resolves duplicates and returns duplicate orders.</a:t>
            </a:r>
          </a:p>
          <a:p>
            <a:r>
              <a:t>  MdAppendBoundaryCandidates / MdRouteBoundaryDuplicateOrders: metadata and</a:t>
            </a:r>
          </a:p>
          <a:p>
            <a:r>
              <a:t>  QNAME information are exchanged, not complete decoded BAM records. H_r also</a:t>
            </a:r>
          </a:p>
          <a:p>
            <a:r>
              <a:t>  identifies pre-resolved candidates. Empty ranks can trigger fallback.</a:t>
            </a:r>
          </a:p>
          <a:p>
            <a:r>
              <a:t>  Probe extents are schematic and need not be exactly b +/- L. The top panel</a:t>
            </a:r>
          </a:p>
          <a:p>
            <a:r>
              <a:t>  illustrates adjacent ranks on one reference, not every reference/empty-rank</a:t>
            </a:r>
          </a:p>
          <a:p>
            <a:r>
              <a:t>  edge case. Owner routing is not restricted to only immediate neighbors.</a:t>
            </a:r>
          </a:p>
          <a:p>
            <a:r>
              <a:t>  MdOnePassCaptureBatch: retains decoded storage; initializes provisional KEEP</a:t>
            </a:r>
          </a:p>
          <a:p>
            <a:r>
              <a:t>  and applies cached boundary decisions. The main path suppresses candidates</a:t>
            </a:r>
          </a:p>
          <a:p>
            <a:r>
              <a:t>  already resolved by the boundary plan. Window/local actions and routed remote</a:t>
            </a:r>
          </a:p>
          <a:p>
            <a:r>
              <a:t>  decisions update per-record state and each block's unresolved count.</a:t>
            </a:r>
          </a:p>
          <a:p>
            <a:r>
              <a:t>  MdOnePassPrepareOutput stops at the first unresolved block, patches flags,</a:t>
            </a:r>
          </a:p>
          <a:p>
            <a:r>
              <a:t>  and builds output payload views; oversized legal payloads can be repacked.</a:t>
            </a:r>
          </a:p>
          <a:p>
            <a:r>
              <a:t>  MdOnePassFinishOutput completes compression and flushes the body sink before</a:t>
            </a:r>
          </a:p>
          <a:p>
            <a:r>
              <a:t>  retiring blocks; backing storage can be recycled at batch granularity.</a:t>
            </a:r>
          </a:p>
          <a:p>
            <a:r>
              <a:t>swbam-app/algorithms/markdup/swbam_markdup_stream_mpi.cpp:</a:t>
            </a:r>
          </a:p>
          <a:p>
            <a:r>
              <a:t>  MdWindowExpired / MdWindowKeepKey implement coordinate expiration and</a:t>
            </a:r>
          </a:p>
          <a:p>
            <a:r>
              <a:t>  conservative boundary retention. This queue is controlled by the memory</a:t>
            </a:r>
          </a:p>
          <a:p>
            <a:r>
              <a:t>  budget, not a claim of a fixed number of blocks for all inputs.</a:t>
            </a:r>
          </a:p>
          <a:p>
            <a:r>
              <a:t>  Pending/ready states refer to unresolved duplicate decisions, not BGZF CRC</a:t>
            </a:r>
          </a:p>
          <a:p>
            <a:r>
              <a:t>  or decode completion. A ready block cannot overtake an earlier pending one.</a:t>
            </a:r>
          </a:p>
          <a:p>
            <a:r>
              <a:t>  This figure depicts default marking, not record removal or tag clearing.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oundary panel / label 1"/>
          <p:cNvSpPr txBox="1"/>
          <p:nvPr/>
        </p:nvSpPr>
        <p:spPr>
          <a:xfrm>
            <a:off x="256032" y="155448"/>
            <a:ext cx="12655296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(a) Boundary pre-resolution before the main stream</a:t>
            </a:r>
          </a:p>
        </p:txBody>
      </p:sp>
      <p:sp>
        <p:nvSpPr>
          <p:cNvPr id="3" name="Left rank / label 1"/>
          <p:cNvSpPr txBox="1"/>
          <p:nvPr/>
        </p:nvSpPr>
        <p:spPr>
          <a:xfrm>
            <a:off x="640080" y="557784"/>
            <a:ext cx="585216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222B33"/>
                </a:solidFill>
                <a:latin typeface="Arial"/>
              </a:rPr>
              <a:t>Rank r-1</a:t>
            </a:r>
          </a:p>
        </p:txBody>
      </p:sp>
      <p:sp>
        <p:nvSpPr>
          <p:cNvPr id="4" name="Right rank / label 1"/>
          <p:cNvSpPr txBox="1"/>
          <p:nvPr/>
        </p:nvSpPr>
        <p:spPr>
          <a:xfrm>
            <a:off x="6492240" y="557784"/>
            <a:ext cx="585216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222B33"/>
                </a:solidFill>
                <a:latin typeface="Arial"/>
              </a:rPr>
              <a:t>Rank r</a:t>
            </a:r>
          </a:p>
        </p:txBody>
      </p:sp>
      <p:sp>
        <p:nvSpPr>
          <p:cNvPr id="5" name="Edge BGZF 0 / frame"/>
          <p:cNvSpPr/>
          <p:nvPr/>
        </p:nvSpPr>
        <p:spPr>
          <a:xfrm>
            <a:off x="640080" y="1005840"/>
            <a:ext cx="1133856" cy="475488"/>
          </a:xfrm>
          <a:prstGeom prst="rect">
            <a:avLst/>
          </a:prstGeom>
          <a:solidFill>
            <a:srgbClr val="F2F4F6"/>
          </a:solidFill>
          <a:ln w="13716">
            <a:solidFill>
              <a:srgbClr val="737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ge BGZF label 0 / label 1"/>
          <p:cNvSpPr txBox="1"/>
          <p:nvPr/>
        </p:nvSpPr>
        <p:spPr>
          <a:xfrm>
            <a:off x="640080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sp>
        <p:nvSpPr>
          <p:cNvPr id="7" name="Edge BGZF 1 / frame"/>
          <p:cNvSpPr/>
          <p:nvPr/>
        </p:nvSpPr>
        <p:spPr>
          <a:xfrm>
            <a:off x="1810512" y="1005840"/>
            <a:ext cx="1133856" cy="475488"/>
          </a:xfrm>
          <a:prstGeom prst="rect">
            <a:avLst/>
          </a:prstGeom>
          <a:solidFill>
            <a:srgbClr val="F2F4F6"/>
          </a:solidFill>
          <a:ln w="13716">
            <a:solidFill>
              <a:srgbClr val="737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ge BGZF label 1 / label 1"/>
          <p:cNvSpPr txBox="1"/>
          <p:nvPr/>
        </p:nvSpPr>
        <p:spPr>
          <a:xfrm>
            <a:off x="1810512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sp>
        <p:nvSpPr>
          <p:cNvPr id="9" name="Edge BGZF 2 / frame"/>
          <p:cNvSpPr/>
          <p:nvPr/>
        </p:nvSpPr>
        <p:spPr>
          <a:xfrm>
            <a:off x="2980944" y="1005840"/>
            <a:ext cx="1133856" cy="475488"/>
          </a:xfrm>
          <a:prstGeom prst="rect">
            <a:avLst/>
          </a:prstGeom>
          <a:solidFill>
            <a:srgbClr val="F2F4F6"/>
          </a:solidFill>
          <a:ln w="13716">
            <a:solidFill>
              <a:srgbClr val="737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BGZF label 2 / label 1"/>
          <p:cNvSpPr txBox="1"/>
          <p:nvPr/>
        </p:nvSpPr>
        <p:spPr>
          <a:xfrm>
            <a:off x="2980944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sp>
        <p:nvSpPr>
          <p:cNvPr id="11" name="Edge BGZF 3 / frame"/>
          <p:cNvSpPr/>
          <p:nvPr/>
        </p:nvSpPr>
        <p:spPr>
          <a:xfrm>
            <a:off x="4151376" y="1005840"/>
            <a:ext cx="1133856" cy="475488"/>
          </a:xfrm>
          <a:prstGeom prst="rect">
            <a:avLst/>
          </a:prstGeom>
          <a:solidFill>
            <a:srgbClr val="E4EFFA"/>
          </a:solidFill>
          <a:ln w="13716">
            <a:solidFill>
              <a:srgbClr val="287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BGZF label 3 / label 1"/>
          <p:cNvSpPr txBox="1"/>
          <p:nvPr/>
        </p:nvSpPr>
        <p:spPr>
          <a:xfrm>
            <a:off x="4151376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sp>
        <p:nvSpPr>
          <p:cNvPr id="13" name="Edge BGZF 4 / frame"/>
          <p:cNvSpPr/>
          <p:nvPr/>
        </p:nvSpPr>
        <p:spPr>
          <a:xfrm>
            <a:off x="5321808" y="1005840"/>
            <a:ext cx="1133856" cy="475488"/>
          </a:xfrm>
          <a:prstGeom prst="rect">
            <a:avLst/>
          </a:prstGeom>
          <a:solidFill>
            <a:srgbClr val="E4EFFA"/>
          </a:solidFill>
          <a:ln w="13716">
            <a:solidFill>
              <a:srgbClr val="287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BGZF label 4 / label 1"/>
          <p:cNvSpPr txBox="1"/>
          <p:nvPr/>
        </p:nvSpPr>
        <p:spPr>
          <a:xfrm>
            <a:off x="5321808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sp>
        <p:nvSpPr>
          <p:cNvPr id="15" name="Edge BGZF 5 / frame"/>
          <p:cNvSpPr/>
          <p:nvPr/>
        </p:nvSpPr>
        <p:spPr>
          <a:xfrm>
            <a:off x="6492240" y="1005840"/>
            <a:ext cx="1133856" cy="475488"/>
          </a:xfrm>
          <a:prstGeom prst="rect">
            <a:avLst/>
          </a:prstGeom>
          <a:solidFill>
            <a:srgbClr val="E4EFFA"/>
          </a:solidFill>
          <a:ln w="13716">
            <a:solidFill>
              <a:srgbClr val="287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BGZF label 5 / label 1"/>
          <p:cNvSpPr txBox="1"/>
          <p:nvPr/>
        </p:nvSpPr>
        <p:spPr>
          <a:xfrm>
            <a:off x="6492240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sp>
        <p:nvSpPr>
          <p:cNvPr id="17" name="Edge BGZF 6 / frame"/>
          <p:cNvSpPr/>
          <p:nvPr/>
        </p:nvSpPr>
        <p:spPr>
          <a:xfrm>
            <a:off x="7662672" y="1005840"/>
            <a:ext cx="1133856" cy="475488"/>
          </a:xfrm>
          <a:prstGeom prst="rect">
            <a:avLst/>
          </a:prstGeom>
          <a:solidFill>
            <a:srgbClr val="E4EFFA"/>
          </a:solidFill>
          <a:ln w="13716">
            <a:solidFill>
              <a:srgbClr val="287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ge BGZF label 6 / label 1"/>
          <p:cNvSpPr txBox="1"/>
          <p:nvPr/>
        </p:nvSpPr>
        <p:spPr>
          <a:xfrm>
            <a:off x="7662672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sp>
        <p:nvSpPr>
          <p:cNvPr id="19" name="Edge BGZF 7 / frame"/>
          <p:cNvSpPr/>
          <p:nvPr/>
        </p:nvSpPr>
        <p:spPr>
          <a:xfrm>
            <a:off x="8833104" y="1005840"/>
            <a:ext cx="1133856" cy="475488"/>
          </a:xfrm>
          <a:prstGeom prst="rect">
            <a:avLst/>
          </a:prstGeom>
          <a:solidFill>
            <a:srgbClr val="F2F4F6"/>
          </a:solidFill>
          <a:ln w="13716">
            <a:solidFill>
              <a:srgbClr val="737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BGZF label 7 / label 1"/>
          <p:cNvSpPr txBox="1"/>
          <p:nvPr/>
        </p:nvSpPr>
        <p:spPr>
          <a:xfrm>
            <a:off x="8833104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sp>
        <p:nvSpPr>
          <p:cNvPr id="21" name="Edge BGZF 8 / frame"/>
          <p:cNvSpPr/>
          <p:nvPr/>
        </p:nvSpPr>
        <p:spPr>
          <a:xfrm>
            <a:off x="10003536" y="1005840"/>
            <a:ext cx="1133856" cy="475488"/>
          </a:xfrm>
          <a:prstGeom prst="rect">
            <a:avLst/>
          </a:prstGeom>
          <a:solidFill>
            <a:srgbClr val="F2F4F6"/>
          </a:solidFill>
          <a:ln w="13716">
            <a:solidFill>
              <a:srgbClr val="737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ge BGZF label 8 / label 1"/>
          <p:cNvSpPr txBox="1"/>
          <p:nvPr/>
        </p:nvSpPr>
        <p:spPr>
          <a:xfrm>
            <a:off x="10003536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sp>
        <p:nvSpPr>
          <p:cNvPr id="23" name="Edge BGZF 9 / frame"/>
          <p:cNvSpPr/>
          <p:nvPr/>
        </p:nvSpPr>
        <p:spPr>
          <a:xfrm>
            <a:off x="11173968" y="1005840"/>
            <a:ext cx="1133856" cy="475488"/>
          </a:xfrm>
          <a:prstGeom prst="rect">
            <a:avLst/>
          </a:prstGeom>
          <a:solidFill>
            <a:srgbClr val="F2F4F6"/>
          </a:solidFill>
          <a:ln w="13716">
            <a:solidFill>
              <a:srgbClr val="737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ge BGZF label 9 / label 1"/>
          <p:cNvSpPr txBox="1"/>
          <p:nvPr/>
        </p:nvSpPr>
        <p:spPr>
          <a:xfrm>
            <a:off x="11173968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cxnSp>
        <p:nvCxnSpPr>
          <p:cNvPr id="25" name="Tail probe / 0"/>
          <p:cNvCxnSpPr/>
          <p:nvPr/>
        </p:nvCxnSpPr>
        <p:spPr>
          <a:xfrm>
            <a:off x="4151376" y="1527048"/>
            <a:ext cx="0" cy="64008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ail probe / 1"/>
          <p:cNvCxnSpPr/>
          <p:nvPr/>
        </p:nvCxnSpPr>
        <p:spPr>
          <a:xfrm>
            <a:off x="4151376" y="1591056"/>
            <a:ext cx="2304288" cy="0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ail probe / 2"/>
          <p:cNvCxnSpPr/>
          <p:nvPr/>
        </p:nvCxnSpPr>
        <p:spPr>
          <a:xfrm flipV="1">
            <a:off x="6455664" y="1527048"/>
            <a:ext cx="0" cy="64008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ail probe label / label 1"/>
          <p:cNvSpPr txBox="1"/>
          <p:nvPr/>
        </p:nvSpPr>
        <p:spPr>
          <a:xfrm>
            <a:off x="4151376" y="1645920"/>
            <a:ext cx="2304288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873AC"/>
                </a:solidFill>
                <a:latin typeface="Arial"/>
              </a:rPr>
              <a:t>Tail probe</a:t>
            </a:r>
          </a:p>
        </p:txBody>
      </p:sp>
      <p:cxnSp>
        <p:nvCxnSpPr>
          <p:cNvPr id="29" name="Head probe / 0"/>
          <p:cNvCxnSpPr/>
          <p:nvPr/>
        </p:nvCxnSpPr>
        <p:spPr>
          <a:xfrm>
            <a:off x="6528816" y="1527048"/>
            <a:ext cx="0" cy="64008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Head probe / 1"/>
          <p:cNvCxnSpPr/>
          <p:nvPr/>
        </p:nvCxnSpPr>
        <p:spPr>
          <a:xfrm>
            <a:off x="6528816" y="1591056"/>
            <a:ext cx="2267712" cy="0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Head probe / 2"/>
          <p:cNvCxnSpPr/>
          <p:nvPr/>
        </p:nvCxnSpPr>
        <p:spPr>
          <a:xfrm flipV="1">
            <a:off x="8796528" y="1527048"/>
            <a:ext cx="0" cy="64008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Head probe label / label 1"/>
          <p:cNvSpPr txBox="1"/>
          <p:nvPr/>
        </p:nvSpPr>
        <p:spPr>
          <a:xfrm>
            <a:off x="6528816" y="1645920"/>
            <a:ext cx="2267712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873AC"/>
                </a:solidFill>
                <a:latin typeface="Arial"/>
              </a:rPr>
              <a:t>Head probe</a:t>
            </a:r>
          </a:p>
        </p:txBody>
      </p:sp>
      <p:cxnSp>
        <p:nvCxnSpPr>
          <p:cNvPr id="33" name="Rank cut"/>
          <p:cNvCxnSpPr/>
          <p:nvPr/>
        </p:nvCxnSpPr>
        <p:spPr>
          <a:xfrm>
            <a:off x="6492240" y="914400"/>
            <a:ext cx="0" cy="1271016"/>
          </a:xfrm>
          <a:prstGeom prst="line">
            <a:avLst/>
          </a:prstGeom>
          <a:ln w="16459">
            <a:solidFill>
              <a:srgbClr val="222B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ordinate axis"/>
          <p:cNvCxnSpPr/>
          <p:nvPr/>
        </p:nvCxnSpPr>
        <p:spPr>
          <a:xfrm>
            <a:off x="640080" y="2185416"/>
            <a:ext cx="11722608" cy="0"/>
          </a:xfrm>
          <a:prstGeom prst="line">
            <a:avLst/>
          </a:prstGeom>
          <a:ln w="16459">
            <a:solidFill>
              <a:srgbClr val="6F7B8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Tick b-L"/>
          <p:cNvCxnSpPr/>
          <p:nvPr/>
        </p:nvCxnSpPr>
        <p:spPr>
          <a:xfrm>
            <a:off x="4956048" y="2093976"/>
            <a:ext cx="0" cy="146304"/>
          </a:xfrm>
          <a:prstGeom prst="line">
            <a:avLst/>
          </a:prstGeom>
          <a:ln w="16459">
            <a:solidFill>
              <a:srgbClr val="22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ordinate b-L / label 1"/>
          <p:cNvSpPr txBox="1"/>
          <p:nvPr/>
        </p:nvSpPr>
        <p:spPr>
          <a:xfrm>
            <a:off x="4453128" y="2258568"/>
            <a:ext cx="10058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222B33"/>
                </a:solidFill>
                <a:latin typeface="Arial"/>
              </a:rPr>
              <a:t>b-L</a:t>
            </a:r>
          </a:p>
        </p:txBody>
      </p:sp>
      <p:cxnSp>
        <p:nvCxnSpPr>
          <p:cNvPr id="37" name="Tick b"/>
          <p:cNvCxnSpPr/>
          <p:nvPr/>
        </p:nvCxnSpPr>
        <p:spPr>
          <a:xfrm>
            <a:off x="6492240" y="2093976"/>
            <a:ext cx="0" cy="146304"/>
          </a:xfrm>
          <a:prstGeom prst="line">
            <a:avLst/>
          </a:prstGeom>
          <a:ln w="16459">
            <a:solidFill>
              <a:srgbClr val="22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oordinate b / label 1"/>
          <p:cNvSpPr txBox="1"/>
          <p:nvPr/>
        </p:nvSpPr>
        <p:spPr>
          <a:xfrm>
            <a:off x="5989320" y="2258568"/>
            <a:ext cx="10058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222B33"/>
                </a:solidFill>
                <a:latin typeface="Arial"/>
              </a:rPr>
              <a:t>b</a:t>
            </a:r>
          </a:p>
        </p:txBody>
      </p:sp>
      <p:cxnSp>
        <p:nvCxnSpPr>
          <p:cNvPr id="39" name="Tick b+L"/>
          <p:cNvCxnSpPr/>
          <p:nvPr/>
        </p:nvCxnSpPr>
        <p:spPr>
          <a:xfrm>
            <a:off x="8028431" y="2093976"/>
            <a:ext cx="0" cy="146304"/>
          </a:xfrm>
          <a:prstGeom prst="line">
            <a:avLst/>
          </a:prstGeom>
          <a:ln w="16459">
            <a:solidFill>
              <a:srgbClr val="22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oordinate b+L / label 1"/>
          <p:cNvSpPr txBox="1"/>
          <p:nvPr/>
        </p:nvSpPr>
        <p:spPr>
          <a:xfrm>
            <a:off x="7525512" y="2258568"/>
            <a:ext cx="10058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222B33"/>
                </a:solidFill>
                <a:latin typeface="Arial"/>
              </a:rPr>
              <a:t>b+L</a:t>
            </a:r>
          </a:p>
        </p:txBody>
      </p:sp>
      <p:sp>
        <p:nvSpPr>
          <p:cNvPr id="41" name="Coordinate meaning / label 1"/>
          <p:cNvSpPr txBox="1"/>
          <p:nvPr/>
        </p:nvSpPr>
        <p:spPr>
          <a:xfrm>
            <a:off x="9875520" y="1874519"/>
            <a:ext cx="246888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Genomic coordinate</a:t>
            </a:r>
          </a:p>
        </p:txBody>
      </p:sp>
      <p:grpSp>
        <p:nvGrpSpPr>
          <p:cNvPr id="42" name="Probe extract"/>
          <p:cNvGrpSpPr/>
          <p:nvPr/>
        </p:nvGrpSpPr>
        <p:grpSpPr>
          <a:xfrm>
            <a:off x="365760" y="2752344"/>
            <a:ext cx="2267712" cy="640080"/>
            <a:chOff x="365760" y="2752344"/>
            <a:chExt cx="2267712" cy="640080"/>
          </a:xfrm>
        </p:grpSpPr>
        <p:sp>
          <p:nvSpPr>
            <p:cNvPr id="43" name="Probe extract / frame"/>
            <p:cNvSpPr/>
            <p:nvPr/>
          </p:nvSpPr>
          <p:spPr>
            <a:xfrm>
              <a:off x="365760" y="2752344"/>
              <a:ext cx="2267712" cy="640080"/>
            </a:xfrm>
            <a:prstGeom prst="roundRect">
              <a:avLst>
                <a:gd name="adj" fmla="val 10000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Probe extract / label 1"/>
            <p:cNvSpPr txBox="1"/>
            <p:nvPr/>
          </p:nvSpPr>
          <p:spPr>
            <a:xfrm>
              <a:off x="438912" y="2808671"/>
              <a:ext cx="2121408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Probe + extract</a:t>
              </a:r>
            </a:p>
          </p:txBody>
        </p:sp>
        <p:sp>
          <p:nvSpPr>
            <p:cNvPr id="45" name="Probe extract / label 2"/>
            <p:cNvSpPr txBox="1"/>
            <p:nvPr/>
          </p:nvSpPr>
          <p:spPr>
            <a:xfrm>
              <a:off x="438912" y="3101827"/>
              <a:ext cx="212140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CPE: head/tail blocks</a:t>
              </a:r>
            </a:p>
          </p:txBody>
        </p:sp>
      </p:grpSp>
      <p:grpSp>
        <p:nvGrpSpPr>
          <p:cNvPr id="46" name="Coverage check"/>
          <p:cNvGrpSpPr/>
          <p:nvPr/>
        </p:nvGrpSpPr>
        <p:grpSpPr>
          <a:xfrm>
            <a:off x="3081528" y="2752344"/>
            <a:ext cx="2651760" cy="640080"/>
            <a:chOff x="3081528" y="2752344"/>
            <a:chExt cx="2651760" cy="640080"/>
          </a:xfrm>
        </p:grpSpPr>
        <p:sp>
          <p:nvSpPr>
            <p:cNvPr id="47" name="Coverage check / frame"/>
            <p:cNvSpPr/>
            <p:nvPr/>
          </p:nvSpPr>
          <p:spPr>
            <a:xfrm>
              <a:off x="3081528" y="2752344"/>
              <a:ext cx="2651760" cy="640080"/>
            </a:xfrm>
            <a:prstGeom prst="roundRect">
              <a:avLst>
                <a:gd name="adj" fmla="val 10000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Coverage check / label 1"/>
            <p:cNvSpPr txBox="1"/>
            <p:nvPr/>
          </p:nvSpPr>
          <p:spPr>
            <a:xfrm>
              <a:off x="3154680" y="2808671"/>
              <a:ext cx="2505456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Coverage check</a:t>
              </a:r>
            </a:p>
          </p:txBody>
        </p:sp>
        <p:sp>
          <p:nvSpPr>
            <p:cNvPr id="49" name="Coverage check / label 2"/>
            <p:cNvSpPr txBox="1"/>
            <p:nvPr/>
          </p:nvSpPr>
          <p:spPr>
            <a:xfrm>
              <a:off x="3154680" y="3101827"/>
              <a:ext cx="250545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Collective over all ranks</a:t>
              </a:r>
            </a:p>
          </p:txBody>
        </p:sp>
      </p:grpSp>
      <p:grpSp>
        <p:nvGrpSpPr>
          <p:cNvPr id="50" name="Resolve boundary"/>
          <p:cNvGrpSpPr/>
          <p:nvPr/>
        </p:nvGrpSpPr>
        <p:grpSpPr>
          <a:xfrm>
            <a:off x="6327648" y="2752344"/>
            <a:ext cx="3099816" cy="640080"/>
            <a:chOff x="6327648" y="2752344"/>
            <a:chExt cx="3099816" cy="640080"/>
          </a:xfrm>
        </p:grpSpPr>
        <p:sp>
          <p:nvSpPr>
            <p:cNvPr id="51" name="Resolve boundary / frame"/>
            <p:cNvSpPr/>
            <p:nvPr/>
          </p:nvSpPr>
          <p:spPr>
            <a:xfrm>
              <a:off x="6327648" y="2752344"/>
              <a:ext cx="3099816" cy="640080"/>
            </a:xfrm>
            <a:prstGeom prst="roundRect">
              <a:avLst>
                <a:gd name="adj" fmla="val 10000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solve boundary / label 1"/>
            <p:cNvSpPr txBox="1"/>
            <p:nvPr/>
          </p:nvSpPr>
          <p:spPr>
            <a:xfrm>
              <a:off x="6400800" y="2808671"/>
              <a:ext cx="2953512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Select / route / resolve</a:t>
              </a:r>
            </a:p>
          </p:txBody>
        </p:sp>
        <p:sp>
          <p:nvSpPr>
            <p:cNvPr id="53" name="Resolve boundary / label 2"/>
            <p:cNvSpPr txBox="1"/>
            <p:nvPr/>
          </p:nvSpPr>
          <p:spPr>
            <a:xfrm>
              <a:off x="6400800" y="3101827"/>
              <a:ext cx="2953512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At coordinate owners</a:t>
              </a:r>
            </a:p>
          </p:txBody>
        </p:sp>
      </p:grpSp>
      <p:grpSp>
        <p:nvGrpSpPr>
          <p:cNvPr id="54" name="Build boundary plan"/>
          <p:cNvGrpSpPr/>
          <p:nvPr/>
        </p:nvGrpSpPr>
        <p:grpSpPr>
          <a:xfrm>
            <a:off x="9966960" y="2752344"/>
            <a:ext cx="2834640" cy="640080"/>
            <a:chOff x="9966960" y="2752344"/>
            <a:chExt cx="2834640" cy="640080"/>
          </a:xfrm>
        </p:grpSpPr>
        <p:sp>
          <p:nvSpPr>
            <p:cNvPr id="55" name="Build boundary plan / frame"/>
            <p:cNvSpPr/>
            <p:nvPr/>
          </p:nvSpPr>
          <p:spPr>
            <a:xfrm>
              <a:off x="9966960" y="2752344"/>
              <a:ext cx="2834640" cy="640080"/>
            </a:xfrm>
            <a:prstGeom prst="roundRect">
              <a:avLst>
                <a:gd name="adj" fmla="val 10000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Build boundary plan / label 1"/>
            <p:cNvSpPr txBox="1"/>
            <p:nvPr/>
          </p:nvSpPr>
          <p:spPr>
            <a:xfrm>
              <a:off x="10040112" y="2808671"/>
              <a:ext cx="2688336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Boundary plan H_r</a:t>
              </a:r>
            </a:p>
          </p:txBody>
        </p:sp>
        <p:sp>
          <p:nvSpPr>
            <p:cNvPr id="57" name="Build boundary plan / label 2"/>
            <p:cNvSpPr txBox="1"/>
            <p:nvPr/>
          </p:nvSpPr>
          <p:spPr>
            <a:xfrm>
              <a:off x="10040112" y="3101827"/>
              <a:ext cx="268833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Source-local decisions</a:t>
              </a:r>
            </a:p>
          </p:txBody>
        </p:sp>
      </p:grpSp>
      <p:cxnSp>
        <p:nvCxnSpPr>
          <p:cNvPr id="58" name="Probe to coverage"/>
          <p:cNvCxnSpPr/>
          <p:nvPr/>
        </p:nvCxnSpPr>
        <p:spPr>
          <a:xfrm>
            <a:off x="2633472" y="3072384"/>
            <a:ext cx="448056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vered branch"/>
          <p:cNvCxnSpPr/>
          <p:nvPr/>
        </p:nvCxnSpPr>
        <p:spPr>
          <a:xfrm>
            <a:off x="5733288" y="3072384"/>
            <a:ext cx="594360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overed branch label / label 1"/>
          <p:cNvSpPr txBox="1"/>
          <p:nvPr/>
        </p:nvSpPr>
        <p:spPr>
          <a:xfrm>
            <a:off x="5715000" y="2478024"/>
            <a:ext cx="1078992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4E5B64"/>
                </a:solidFill>
                <a:latin typeface="Arial"/>
              </a:rPr>
              <a:t>Covered</a:t>
            </a:r>
          </a:p>
        </p:txBody>
      </p:sp>
      <p:cxnSp>
        <p:nvCxnSpPr>
          <p:cNvPr id="61" name="Return boundary decisions"/>
          <p:cNvCxnSpPr/>
          <p:nvPr/>
        </p:nvCxnSpPr>
        <p:spPr>
          <a:xfrm>
            <a:off x="9427464" y="3072384"/>
            <a:ext cx="539496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turn decisions label / label 1"/>
          <p:cNvSpPr txBox="1"/>
          <p:nvPr/>
        </p:nvSpPr>
        <p:spPr>
          <a:xfrm>
            <a:off x="9299448" y="2478024"/>
            <a:ext cx="804672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4E5B64"/>
                </a:solidFill>
                <a:latin typeface="Arial"/>
              </a:rPr>
              <a:t>Return</a:t>
            </a:r>
          </a:p>
        </p:txBody>
      </p:sp>
      <p:cxnSp>
        <p:nvCxnSpPr>
          <p:cNvPr id="63" name="Fallback branch / 0"/>
          <p:cNvCxnSpPr/>
          <p:nvPr/>
        </p:nvCxnSpPr>
        <p:spPr>
          <a:xfrm>
            <a:off x="4416552" y="3392424"/>
            <a:ext cx="0" cy="265176"/>
          </a:xfrm>
          <a:prstGeom prst="line">
            <a:avLst/>
          </a:prstGeom>
          <a:ln w="16459">
            <a:solidFill>
              <a:srgbClr val="AB691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Fallback branch / 1"/>
          <p:cNvCxnSpPr/>
          <p:nvPr/>
        </p:nvCxnSpPr>
        <p:spPr>
          <a:xfrm>
            <a:off x="4416552" y="3657600"/>
            <a:ext cx="448056" cy="0"/>
          </a:xfrm>
          <a:prstGeom prst="line">
            <a:avLst/>
          </a:prstGeom>
          <a:ln w="16459">
            <a:solidFill>
              <a:srgbClr val="AB691B"/>
            </a:solidFill>
            <a:prstDash val="dash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allback explanation / label 1"/>
          <p:cNvSpPr txBox="1"/>
          <p:nvPr/>
        </p:nvSpPr>
        <p:spPr>
          <a:xfrm>
            <a:off x="4937760" y="3529584"/>
            <a:ext cx="777240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AB691B"/>
                </a:solidFill>
                <a:latin typeface="Arial"/>
              </a:rPr>
              <a:t>Not covered: retain boundary candidates in the conservative window.</a:t>
            </a:r>
          </a:p>
        </p:txBody>
      </p:sp>
      <p:sp>
        <p:nvSpPr>
          <p:cNvPr id="66" name="Candidate-only exchange / label 1"/>
          <p:cNvSpPr txBox="1"/>
          <p:nvPr/>
        </p:nvSpPr>
        <p:spPr>
          <a:xfrm>
            <a:off x="301752" y="3575304"/>
            <a:ext cx="384048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Exchange metadata, not BAM records.</a:t>
            </a:r>
          </a:p>
        </p:txBody>
      </p:sp>
      <p:sp>
        <p:nvSpPr>
          <p:cNvPr id="67" name="Pending panel / label 1"/>
          <p:cNvSpPr txBox="1"/>
          <p:nvPr/>
        </p:nvSpPr>
        <p:spPr>
          <a:xfrm>
            <a:off x="256032" y="4023360"/>
            <a:ext cx="12655296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(b) Resolve decisions, then emit only the ready prefix</a:t>
            </a:r>
          </a:p>
        </p:txBody>
      </p:sp>
      <p:grpSp>
        <p:nvGrpSpPr>
          <p:cNvPr id="68" name="Cached plan reference"/>
          <p:cNvGrpSpPr/>
          <p:nvPr/>
        </p:nvGrpSpPr>
        <p:grpSpPr>
          <a:xfrm>
            <a:off x="548640" y="4572000"/>
            <a:ext cx="2834640" cy="685800"/>
            <a:chOff x="548640" y="4572000"/>
            <a:chExt cx="2834640" cy="685800"/>
          </a:xfrm>
        </p:grpSpPr>
        <p:sp>
          <p:nvSpPr>
            <p:cNvPr id="69" name="Cached plan reference / frame"/>
            <p:cNvSpPr/>
            <p:nvPr/>
          </p:nvSpPr>
          <p:spPr>
            <a:xfrm>
              <a:off x="548640" y="4572000"/>
              <a:ext cx="2834640" cy="685800"/>
            </a:xfrm>
            <a:prstGeom prst="roundRect">
              <a:avLst>
                <a:gd name="adj" fmla="val 9333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Cached plan reference / label 1"/>
            <p:cNvSpPr txBox="1"/>
            <p:nvPr/>
          </p:nvSpPr>
          <p:spPr>
            <a:xfrm>
              <a:off x="621792" y="4645609"/>
              <a:ext cx="2688336" cy="26773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>
                  <a:solidFill>
                    <a:srgbClr val="222B33"/>
                  </a:solidFill>
                  <a:latin typeface="Arial"/>
                </a:rPr>
                <a:t>Cached H_r</a:t>
              </a:r>
            </a:p>
          </p:txBody>
        </p:sp>
        <p:sp>
          <p:nvSpPr>
            <p:cNvPr id="71" name="Cached plan reference / label 2"/>
            <p:cNvSpPr txBox="1"/>
            <p:nvPr/>
          </p:nvSpPr>
          <p:spPr>
            <a:xfrm>
              <a:off x="621792" y="4949921"/>
              <a:ext cx="268833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Pre-resolved KEEP / DUP</a:t>
              </a:r>
            </a:p>
          </p:txBody>
        </p:sp>
      </p:grpSp>
      <p:grpSp>
        <p:nvGrpSpPr>
          <p:cNvPr id="72" name="Candidate window"/>
          <p:cNvGrpSpPr/>
          <p:nvPr/>
        </p:nvGrpSpPr>
        <p:grpSpPr>
          <a:xfrm>
            <a:off x="4572000" y="4572000"/>
            <a:ext cx="3657600" cy="685800"/>
            <a:chOff x="4572000" y="4572000"/>
            <a:chExt cx="3657600" cy="685800"/>
          </a:xfrm>
        </p:grpSpPr>
        <p:sp>
          <p:nvSpPr>
            <p:cNvPr id="73" name="Candidate window / frame"/>
            <p:cNvSpPr/>
            <p:nvPr/>
          </p:nvSpPr>
          <p:spPr>
            <a:xfrm>
              <a:off x="4572000" y="4572000"/>
              <a:ext cx="3657600" cy="685800"/>
            </a:xfrm>
            <a:prstGeom prst="roundRect">
              <a:avLst>
                <a:gd name="adj" fmla="val 9333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Candidate window / label 1"/>
            <p:cNvSpPr txBox="1"/>
            <p:nvPr/>
          </p:nvSpPr>
          <p:spPr>
            <a:xfrm>
              <a:off x="4645152" y="4645609"/>
              <a:ext cx="3511296" cy="26773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>
                  <a:solidFill>
                    <a:srgbClr val="222B33"/>
                  </a:solidFill>
                  <a:latin typeface="Arial"/>
                </a:rPr>
                <a:t>Candidate window W_r</a:t>
              </a:r>
            </a:p>
          </p:txBody>
        </p:sp>
        <p:sp>
          <p:nvSpPr>
            <p:cNvPr id="75" name="Candidate window / label 2"/>
            <p:cNvSpPr txBox="1"/>
            <p:nvPr/>
          </p:nvSpPr>
          <p:spPr>
            <a:xfrm>
              <a:off x="4645152" y="4949921"/>
              <a:ext cx="351129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Local + remote owner decisions</a:t>
              </a:r>
            </a:p>
          </p:txBody>
        </p:sp>
      </p:grpSp>
      <p:grpSp>
        <p:nvGrpSpPr>
          <p:cNvPr id="76" name="Main batch extraction"/>
          <p:cNvGrpSpPr/>
          <p:nvPr/>
        </p:nvGrpSpPr>
        <p:grpSpPr>
          <a:xfrm>
            <a:off x="9646920" y="4572000"/>
            <a:ext cx="3154680" cy="685800"/>
            <a:chOff x="9646920" y="4572000"/>
            <a:chExt cx="3154680" cy="685800"/>
          </a:xfrm>
        </p:grpSpPr>
        <p:sp>
          <p:nvSpPr>
            <p:cNvPr id="77" name="Main batch extraction / frame"/>
            <p:cNvSpPr/>
            <p:nvPr/>
          </p:nvSpPr>
          <p:spPr>
            <a:xfrm>
              <a:off x="9646920" y="4572000"/>
              <a:ext cx="3154680" cy="685800"/>
            </a:xfrm>
            <a:prstGeom prst="roundRect">
              <a:avLst>
                <a:gd name="adj" fmla="val 9333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Main batch extraction / label 1"/>
            <p:cNvSpPr txBox="1"/>
            <p:nvPr/>
          </p:nvSpPr>
          <p:spPr>
            <a:xfrm>
              <a:off x="9720072" y="4645609"/>
              <a:ext cx="3008376" cy="26773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>
                  <a:solidFill>
                    <a:srgbClr val="222B33"/>
                  </a:solidFill>
                  <a:latin typeface="Arial"/>
                </a:rPr>
                <a:t>Decode + extract</a:t>
              </a:r>
            </a:p>
          </p:txBody>
        </p:sp>
        <p:sp>
          <p:nvSpPr>
            <p:cNvPr id="79" name="Main batch extraction / label 2"/>
            <p:cNvSpPr txBox="1"/>
            <p:nvPr/>
          </p:nvSpPr>
          <p:spPr>
            <a:xfrm>
              <a:off x="9720072" y="4949921"/>
              <a:ext cx="300837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CPE: current batch</a:t>
              </a:r>
            </a:p>
          </p:txBody>
        </p:sp>
      </p:grpSp>
      <p:cxnSp>
        <p:nvCxnSpPr>
          <p:cNvPr id="80" name="Main candidates"/>
          <p:cNvCxnSpPr/>
          <p:nvPr/>
        </p:nvCxnSpPr>
        <p:spPr>
          <a:xfrm flipH="1">
            <a:off x="8229600" y="4910328"/>
            <a:ext cx="1417320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Main candidate label / label 1"/>
          <p:cNvSpPr txBox="1"/>
          <p:nvPr/>
        </p:nvSpPr>
        <p:spPr>
          <a:xfrm>
            <a:off x="8229600" y="4325112"/>
            <a:ext cx="141732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4E5B64"/>
                </a:solidFill>
                <a:latin typeface="Arial"/>
              </a:rPr>
              <a:t>Candidates</a:t>
            </a:r>
          </a:p>
        </p:txBody>
      </p:sp>
      <p:sp>
        <p:nvSpPr>
          <p:cNvPr id="82" name="Drop already resolved / label 1"/>
          <p:cNvSpPr txBox="1"/>
          <p:nvPr/>
        </p:nvSpPr>
        <p:spPr>
          <a:xfrm>
            <a:off x="8229600" y="5038344"/>
            <a:ext cx="141732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4E5B64"/>
                </a:solidFill>
                <a:latin typeface="Arial"/>
              </a:rPr>
              <a:t>exclude H_r</a:t>
            </a:r>
          </a:p>
        </p:txBody>
      </p:sp>
      <p:cxnSp>
        <p:nvCxnSpPr>
          <p:cNvPr id="83" name="Cached decisions to queue"/>
          <p:cNvCxnSpPr/>
          <p:nvPr/>
        </p:nvCxnSpPr>
        <p:spPr>
          <a:xfrm>
            <a:off x="1965960" y="5257800"/>
            <a:ext cx="0" cy="658368"/>
          </a:xfrm>
          <a:prstGeom prst="line">
            <a:avLst/>
          </a:prstGeom>
          <a:ln w="16459">
            <a:solidFill>
              <a:srgbClr val="AB691B"/>
            </a:solidFill>
            <a:prstDash val="dash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Window decisions to queue / 0"/>
          <p:cNvCxnSpPr/>
          <p:nvPr/>
        </p:nvCxnSpPr>
        <p:spPr>
          <a:xfrm>
            <a:off x="6400800" y="5257800"/>
            <a:ext cx="0" cy="429768"/>
          </a:xfrm>
          <a:prstGeom prst="line">
            <a:avLst/>
          </a:prstGeom>
          <a:ln w="16459">
            <a:solidFill>
              <a:srgbClr val="7353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Window decisions to queue / 1"/>
          <p:cNvCxnSpPr/>
          <p:nvPr/>
        </p:nvCxnSpPr>
        <p:spPr>
          <a:xfrm>
            <a:off x="6400800" y="5687568"/>
            <a:ext cx="1691640" cy="0"/>
          </a:xfrm>
          <a:prstGeom prst="line">
            <a:avLst/>
          </a:prstGeom>
          <a:ln w="16459">
            <a:solidFill>
              <a:srgbClr val="7353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Window decisions to queue / 2"/>
          <p:cNvCxnSpPr/>
          <p:nvPr/>
        </p:nvCxnSpPr>
        <p:spPr>
          <a:xfrm>
            <a:off x="8092440" y="5687568"/>
            <a:ext cx="0" cy="228600"/>
          </a:xfrm>
          <a:prstGeom prst="line">
            <a:avLst/>
          </a:prstGeom>
          <a:ln w="16459">
            <a:solidFill>
              <a:srgbClr val="735396"/>
            </a:solidFill>
            <a:prstDash val="dash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Decoded blocks to tail"/>
          <p:cNvCxnSpPr/>
          <p:nvPr/>
        </p:nvCxnSpPr>
        <p:spPr>
          <a:xfrm>
            <a:off x="11228832" y="5257800"/>
            <a:ext cx="0" cy="658368"/>
          </a:xfrm>
          <a:prstGeom prst="line">
            <a:avLst/>
          </a:prstGeom>
          <a:ln w="16459">
            <a:solidFill>
              <a:srgbClr val="2873AC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Append decoded label / label 1"/>
          <p:cNvSpPr txBox="1"/>
          <p:nvPr/>
        </p:nvSpPr>
        <p:spPr>
          <a:xfrm>
            <a:off x="11338560" y="5486400"/>
            <a:ext cx="1481328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Decoded B</a:t>
            </a:r>
          </a:p>
        </p:txBody>
      </p:sp>
      <p:sp>
        <p:nvSpPr>
          <p:cNvPr id="89" name="Queue label / label 1"/>
          <p:cNvSpPr txBox="1"/>
          <p:nvPr/>
        </p:nvSpPr>
        <p:spPr>
          <a:xfrm>
            <a:off x="182880" y="5614416"/>
            <a:ext cx="14630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Q_r: head</a:t>
            </a:r>
          </a:p>
        </p:txBody>
      </p:sp>
      <p:grpSp>
        <p:nvGrpSpPr>
          <p:cNvPr id="90" name="Queue B_0"/>
          <p:cNvGrpSpPr/>
          <p:nvPr/>
        </p:nvGrpSpPr>
        <p:grpSpPr>
          <a:xfrm>
            <a:off x="548640" y="5952744"/>
            <a:ext cx="2651760" cy="685800"/>
            <a:chOff x="548640" y="5952744"/>
            <a:chExt cx="2651760" cy="685800"/>
          </a:xfrm>
        </p:grpSpPr>
        <p:sp>
          <p:nvSpPr>
            <p:cNvPr id="91" name="Queue B_0 / frame"/>
            <p:cNvSpPr/>
            <p:nvPr/>
          </p:nvSpPr>
          <p:spPr>
            <a:xfrm>
              <a:off x="548640" y="5952744"/>
              <a:ext cx="2651760" cy="685800"/>
            </a:xfrm>
            <a:prstGeom prst="roundRect">
              <a:avLst>
                <a:gd name="adj" fmla="val 9333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Queue B_0 / label 1"/>
            <p:cNvSpPr txBox="1"/>
            <p:nvPr/>
          </p:nvSpPr>
          <p:spPr>
            <a:xfrm>
              <a:off x="621792" y="6020775"/>
              <a:ext cx="2505456" cy="26773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>
                  <a:solidFill>
                    <a:srgbClr val="222B33"/>
                  </a:solidFill>
                  <a:latin typeface="Arial"/>
                </a:rPr>
                <a:t>B_0</a:t>
              </a:r>
            </a:p>
          </p:txBody>
        </p:sp>
        <p:sp>
          <p:nvSpPr>
            <p:cNvPr id="93" name="Queue B_0 / label 2"/>
            <p:cNvSpPr txBox="1"/>
            <p:nvPr/>
          </p:nvSpPr>
          <p:spPr>
            <a:xfrm>
              <a:off x="621792" y="6325087"/>
              <a:ext cx="250545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>
                  <a:solidFill>
                    <a:srgbClr val="4E5B64"/>
                  </a:solidFill>
                  <a:latin typeface="Arial"/>
                </a:rPr>
                <a:t>Ready</a:t>
              </a:r>
            </a:p>
          </p:txBody>
        </p:sp>
      </p:grpSp>
      <p:grpSp>
        <p:nvGrpSpPr>
          <p:cNvPr id="94" name="Queue B_1"/>
          <p:cNvGrpSpPr/>
          <p:nvPr/>
        </p:nvGrpSpPr>
        <p:grpSpPr>
          <a:xfrm>
            <a:off x="3657600" y="5952744"/>
            <a:ext cx="2651760" cy="685800"/>
            <a:chOff x="3657600" y="5952744"/>
            <a:chExt cx="2651760" cy="685800"/>
          </a:xfrm>
        </p:grpSpPr>
        <p:sp>
          <p:nvSpPr>
            <p:cNvPr id="95" name="Queue B_1 / frame"/>
            <p:cNvSpPr/>
            <p:nvPr/>
          </p:nvSpPr>
          <p:spPr>
            <a:xfrm>
              <a:off x="3657600" y="5952744"/>
              <a:ext cx="2651760" cy="685800"/>
            </a:xfrm>
            <a:prstGeom prst="roundRect">
              <a:avLst>
                <a:gd name="adj" fmla="val 9333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Queue B_1 / label 1"/>
            <p:cNvSpPr txBox="1"/>
            <p:nvPr/>
          </p:nvSpPr>
          <p:spPr>
            <a:xfrm>
              <a:off x="3730752" y="6020775"/>
              <a:ext cx="2505456" cy="26773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>
                  <a:solidFill>
                    <a:srgbClr val="222B33"/>
                  </a:solidFill>
                  <a:latin typeface="Arial"/>
                </a:rPr>
                <a:t>B_1</a:t>
              </a:r>
            </a:p>
          </p:txBody>
        </p:sp>
        <p:sp>
          <p:nvSpPr>
            <p:cNvPr id="97" name="Queue B_1 / label 2"/>
            <p:cNvSpPr txBox="1"/>
            <p:nvPr/>
          </p:nvSpPr>
          <p:spPr>
            <a:xfrm>
              <a:off x="3730752" y="6325087"/>
              <a:ext cx="250545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>
                  <a:solidFill>
                    <a:srgbClr val="4E5B64"/>
                  </a:solidFill>
                  <a:latin typeface="Arial"/>
                </a:rPr>
                <a:t>Ready</a:t>
              </a:r>
            </a:p>
          </p:txBody>
        </p:sp>
      </p:grpSp>
      <p:grpSp>
        <p:nvGrpSpPr>
          <p:cNvPr id="98" name="Queue B_2"/>
          <p:cNvGrpSpPr/>
          <p:nvPr/>
        </p:nvGrpSpPr>
        <p:grpSpPr>
          <a:xfrm>
            <a:off x="6766560" y="5952744"/>
            <a:ext cx="2651760" cy="685800"/>
            <a:chOff x="6766560" y="5952744"/>
            <a:chExt cx="2651760" cy="685800"/>
          </a:xfrm>
        </p:grpSpPr>
        <p:sp>
          <p:nvSpPr>
            <p:cNvPr id="99" name="Queue B_2 / frame"/>
            <p:cNvSpPr/>
            <p:nvPr/>
          </p:nvSpPr>
          <p:spPr>
            <a:xfrm>
              <a:off x="6766560" y="5952744"/>
              <a:ext cx="2651760" cy="685800"/>
            </a:xfrm>
            <a:prstGeom prst="roundRect">
              <a:avLst>
                <a:gd name="adj" fmla="val 9333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Queue B_2 / label 1"/>
            <p:cNvSpPr txBox="1"/>
            <p:nvPr/>
          </p:nvSpPr>
          <p:spPr>
            <a:xfrm>
              <a:off x="6839712" y="6020775"/>
              <a:ext cx="2505456" cy="26773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>
                  <a:solidFill>
                    <a:srgbClr val="222B33"/>
                  </a:solidFill>
                  <a:latin typeface="Arial"/>
                </a:rPr>
                <a:t>B_2</a:t>
              </a:r>
            </a:p>
          </p:txBody>
        </p:sp>
        <p:sp>
          <p:nvSpPr>
            <p:cNvPr id="101" name="Queue B_2 / label 2"/>
            <p:cNvSpPr txBox="1"/>
            <p:nvPr/>
          </p:nvSpPr>
          <p:spPr>
            <a:xfrm>
              <a:off x="6839712" y="6325087"/>
              <a:ext cx="250545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>
                  <a:solidFill>
                    <a:srgbClr val="4E5B64"/>
                  </a:solidFill>
                  <a:latin typeface="Arial"/>
                </a:rPr>
                <a:t>Pending</a:t>
              </a:r>
            </a:p>
          </p:txBody>
        </p:sp>
      </p:grpSp>
      <p:grpSp>
        <p:nvGrpSpPr>
          <p:cNvPr id="102" name="Queue B_3"/>
          <p:cNvGrpSpPr/>
          <p:nvPr/>
        </p:nvGrpSpPr>
        <p:grpSpPr>
          <a:xfrm>
            <a:off x="9875520" y="5952744"/>
            <a:ext cx="2651760" cy="685800"/>
            <a:chOff x="9875520" y="5952744"/>
            <a:chExt cx="2651760" cy="685800"/>
          </a:xfrm>
        </p:grpSpPr>
        <p:sp>
          <p:nvSpPr>
            <p:cNvPr id="103" name="Queue B_3 / frame"/>
            <p:cNvSpPr/>
            <p:nvPr/>
          </p:nvSpPr>
          <p:spPr>
            <a:xfrm>
              <a:off x="9875520" y="5952744"/>
              <a:ext cx="2651760" cy="685800"/>
            </a:xfrm>
            <a:prstGeom prst="roundRect">
              <a:avLst>
                <a:gd name="adj" fmla="val 9333"/>
              </a:avLst>
            </a:prstGeom>
            <a:solidFill>
              <a:srgbClr val="F2F4F6"/>
            </a:solidFill>
            <a:ln w="15544">
              <a:solidFill>
                <a:srgbClr val="737D8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Queue B_3 / label 1"/>
            <p:cNvSpPr txBox="1"/>
            <p:nvPr/>
          </p:nvSpPr>
          <p:spPr>
            <a:xfrm>
              <a:off x="9948672" y="6020775"/>
              <a:ext cx="2505456" cy="26773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>
                  <a:solidFill>
                    <a:srgbClr val="222B33"/>
                  </a:solidFill>
                  <a:latin typeface="Arial"/>
                </a:rPr>
                <a:t>B_3</a:t>
              </a:r>
            </a:p>
          </p:txBody>
        </p:sp>
        <p:sp>
          <p:nvSpPr>
            <p:cNvPr id="105" name="Queue B_3 / label 2"/>
            <p:cNvSpPr txBox="1"/>
            <p:nvPr/>
          </p:nvSpPr>
          <p:spPr>
            <a:xfrm>
              <a:off x="9948672" y="6325087"/>
              <a:ext cx="250545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>
                  <a:solidFill>
                    <a:srgbClr val="4E5B64"/>
                  </a:solidFill>
                  <a:latin typeface="Arial"/>
                </a:rPr>
                <a:t>Ready, but blocked</a:t>
              </a:r>
            </a:p>
          </p:txBody>
        </p:sp>
      </p:grpSp>
      <p:cxnSp>
        <p:nvCxnSpPr>
          <p:cNvPr id="106" name="Queue order 350"/>
          <p:cNvCxnSpPr/>
          <p:nvPr/>
        </p:nvCxnSpPr>
        <p:spPr>
          <a:xfrm>
            <a:off x="3200400" y="6291072"/>
            <a:ext cx="457200" cy="0"/>
          </a:xfrm>
          <a:prstGeom prst="line">
            <a:avLst/>
          </a:prstGeom>
          <a:ln w="16459">
            <a:solidFill>
              <a:srgbClr val="6F7B8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Queue order 690"/>
          <p:cNvCxnSpPr/>
          <p:nvPr/>
        </p:nvCxnSpPr>
        <p:spPr>
          <a:xfrm>
            <a:off x="6309360" y="6291072"/>
            <a:ext cx="457200" cy="0"/>
          </a:xfrm>
          <a:prstGeom prst="line">
            <a:avLst/>
          </a:prstGeom>
          <a:ln w="16459">
            <a:solidFill>
              <a:srgbClr val="6F7B8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Queue order 1030"/>
          <p:cNvCxnSpPr/>
          <p:nvPr/>
        </p:nvCxnSpPr>
        <p:spPr>
          <a:xfrm>
            <a:off x="9418320" y="6291072"/>
            <a:ext cx="457200" cy="0"/>
          </a:xfrm>
          <a:prstGeom prst="line">
            <a:avLst/>
          </a:prstGeom>
          <a:ln w="16459">
            <a:solidFill>
              <a:srgbClr val="6F7B8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Ready prefix / 0"/>
          <p:cNvCxnSpPr/>
          <p:nvPr/>
        </p:nvCxnSpPr>
        <p:spPr>
          <a:xfrm>
            <a:off x="548640" y="6720840"/>
            <a:ext cx="0" cy="64008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Ready prefix / 1"/>
          <p:cNvCxnSpPr/>
          <p:nvPr/>
        </p:nvCxnSpPr>
        <p:spPr>
          <a:xfrm>
            <a:off x="548640" y="6784848"/>
            <a:ext cx="5760720" cy="0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Ready prefix / 2"/>
          <p:cNvCxnSpPr/>
          <p:nvPr/>
        </p:nvCxnSpPr>
        <p:spPr>
          <a:xfrm flipV="1">
            <a:off x="6309360" y="6720840"/>
            <a:ext cx="0" cy="64008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ady prefix label / label 1"/>
          <p:cNvSpPr txBox="1"/>
          <p:nvPr/>
        </p:nvSpPr>
        <p:spPr>
          <a:xfrm>
            <a:off x="548640" y="6839712"/>
            <a:ext cx="576072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17957"/>
                </a:solidFill>
                <a:latin typeface="Arial"/>
              </a:rPr>
              <a:t>Consecutive ready prefix</a:t>
            </a:r>
          </a:p>
        </p:txBody>
      </p:sp>
      <p:sp>
        <p:nvSpPr>
          <p:cNvPr id="113" name="Blocked suffix / label 1"/>
          <p:cNvSpPr txBox="1"/>
          <p:nvPr/>
        </p:nvSpPr>
        <p:spPr>
          <a:xfrm>
            <a:off x="6830568" y="6839712"/>
            <a:ext cx="5696712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AB691B"/>
                </a:solidFill>
                <a:latin typeface="Arial"/>
              </a:rPr>
              <a:t>No block may pass the first unresolved block.</a:t>
            </a:r>
          </a:p>
        </p:txBody>
      </p:sp>
      <p:cxnSp>
        <p:nvCxnSpPr>
          <p:cNvPr id="114" name="Prefix to patch"/>
          <p:cNvCxnSpPr/>
          <p:nvPr/>
        </p:nvCxnSpPr>
        <p:spPr>
          <a:xfrm>
            <a:off x="1874519" y="6803136"/>
            <a:ext cx="0" cy="402336"/>
          </a:xfrm>
          <a:prstGeom prst="line">
            <a:avLst/>
          </a:prstGeom>
          <a:ln w="16459">
            <a:solidFill>
              <a:srgbClr val="217957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5" name="Patch duplicate flags"/>
          <p:cNvGrpSpPr/>
          <p:nvPr/>
        </p:nvGrpSpPr>
        <p:grpSpPr>
          <a:xfrm>
            <a:off x="548640" y="7223760"/>
            <a:ext cx="2651760" cy="676656"/>
            <a:chOff x="548640" y="7223760"/>
            <a:chExt cx="2651760" cy="676656"/>
          </a:xfrm>
        </p:grpSpPr>
        <p:sp>
          <p:nvSpPr>
            <p:cNvPr id="116" name="Patch duplicate flags / frame"/>
            <p:cNvSpPr/>
            <p:nvPr/>
          </p:nvSpPr>
          <p:spPr>
            <a:xfrm>
              <a:off x="548640" y="7223760"/>
              <a:ext cx="2651760" cy="676656"/>
            </a:xfrm>
            <a:prstGeom prst="roundRect">
              <a:avLst>
                <a:gd name="adj" fmla="val 9459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Patch duplicate flags / label 1"/>
            <p:cNvSpPr txBox="1"/>
            <p:nvPr/>
          </p:nvSpPr>
          <p:spPr>
            <a:xfrm>
              <a:off x="621792" y="7298375"/>
              <a:ext cx="2505456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Patch duplicate flags</a:t>
              </a:r>
            </a:p>
          </p:txBody>
        </p:sp>
        <p:sp>
          <p:nvSpPr>
            <p:cNvPr id="118" name="Patch duplicate flags / label 2"/>
            <p:cNvSpPr txBox="1"/>
            <p:nvPr/>
          </p:nvSpPr>
          <p:spPr>
            <a:xfrm>
              <a:off x="621792" y="7591531"/>
              <a:ext cx="250545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MPE: decoded records</a:t>
              </a:r>
            </a:p>
          </p:txBody>
        </p:sp>
      </p:grpSp>
      <p:cxnSp>
        <p:nvCxnSpPr>
          <p:cNvPr id="119" name="Patch to writer"/>
          <p:cNvCxnSpPr/>
          <p:nvPr/>
        </p:nvCxnSpPr>
        <p:spPr>
          <a:xfrm>
            <a:off x="3200400" y="7562088"/>
            <a:ext cx="457200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0" name="Compress ready prefix"/>
          <p:cNvGrpSpPr/>
          <p:nvPr/>
        </p:nvGrpSpPr>
        <p:grpSpPr>
          <a:xfrm>
            <a:off x="3657600" y="7223760"/>
            <a:ext cx="2651760" cy="676656"/>
            <a:chOff x="3657600" y="7223760"/>
            <a:chExt cx="2651760" cy="676656"/>
          </a:xfrm>
        </p:grpSpPr>
        <p:sp>
          <p:nvSpPr>
            <p:cNvPr id="121" name="Compress ready prefix / frame"/>
            <p:cNvSpPr/>
            <p:nvPr/>
          </p:nvSpPr>
          <p:spPr>
            <a:xfrm>
              <a:off x="3657600" y="7223760"/>
              <a:ext cx="2651760" cy="676656"/>
            </a:xfrm>
            <a:prstGeom prst="roundRect">
              <a:avLst>
                <a:gd name="adj" fmla="val 9459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Compress ready prefix / label 1"/>
            <p:cNvSpPr txBox="1"/>
            <p:nvPr/>
          </p:nvSpPr>
          <p:spPr>
            <a:xfrm>
              <a:off x="3730752" y="7298375"/>
              <a:ext cx="2505456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BAM write pipeline</a:t>
              </a:r>
            </a:p>
          </p:txBody>
        </p:sp>
        <p:sp>
          <p:nvSpPr>
            <p:cNvPr id="123" name="Compress ready prefix / label 2"/>
            <p:cNvSpPr txBox="1"/>
            <p:nvPr/>
          </p:nvSpPr>
          <p:spPr>
            <a:xfrm>
              <a:off x="3730752" y="7591531"/>
              <a:ext cx="250545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CPE: BGZF compression</a:t>
              </a:r>
            </a:p>
          </p:txBody>
        </p:sp>
      </p:grpSp>
      <p:cxnSp>
        <p:nvCxnSpPr>
          <p:cNvPr id="124" name="Writer to sink"/>
          <p:cNvCxnSpPr/>
          <p:nvPr/>
        </p:nvCxnSpPr>
        <p:spPr>
          <a:xfrm>
            <a:off x="6309360" y="7562088"/>
            <a:ext cx="457200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5" name="Commit ready output"/>
          <p:cNvGrpSpPr/>
          <p:nvPr/>
        </p:nvGrpSpPr>
        <p:grpSpPr>
          <a:xfrm>
            <a:off x="6766560" y="7223760"/>
            <a:ext cx="2651760" cy="676656"/>
            <a:chOff x="6766560" y="7223760"/>
            <a:chExt cx="2651760" cy="676656"/>
          </a:xfrm>
        </p:grpSpPr>
        <p:sp>
          <p:nvSpPr>
            <p:cNvPr id="126" name="Commit ready output / frame"/>
            <p:cNvSpPr/>
            <p:nvPr/>
          </p:nvSpPr>
          <p:spPr>
            <a:xfrm>
              <a:off x="6766560" y="7223760"/>
              <a:ext cx="2651760" cy="676656"/>
            </a:xfrm>
            <a:prstGeom prst="roundRect">
              <a:avLst>
                <a:gd name="adj" fmla="val 9459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Commit ready output / label 1"/>
            <p:cNvSpPr txBox="1"/>
            <p:nvPr/>
          </p:nvSpPr>
          <p:spPr>
            <a:xfrm>
              <a:off x="6839712" y="7298375"/>
              <a:ext cx="2505456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Append rank body</a:t>
              </a:r>
            </a:p>
          </p:txBody>
        </p:sp>
        <p:sp>
          <p:nvSpPr>
            <p:cNvPr id="128" name="Commit ready output / label 2"/>
            <p:cNvSpPr txBox="1"/>
            <p:nvPr/>
          </p:nvSpPr>
          <p:spPr>
            <a:xfrm>
              <a:off x="6839712" y="7591531"/>
              <a:ext cx="250545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After CPE completion</a:t>
              </a:r>
            </a:p>
          </p:txBody>
        </p:sp>
      </p:grpSp>
      <p:cxnSp>
        <p:nvCxnSpPr>
          <p:cNvPr id="129" name="Retire block storage"/>
          <p:cNvCxnSpPr/>
          <p:nvPr/>
        </p:nvCxnSpPr>
        <p:spPr>
          <a:xfrm>
            <a:off x="9418320" y="7562088"/>
            <a:ext cx="457200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0" name="Recycle storage"/>
          <p:cNvGrpSpPr/>
          <p:nvPr/>
        </p:nvGrpSpPr>
        <p:grpSpPr>
          <a:xfrm>
            <a:off x="9875520" y="7223760"/>
            <a:ext cx="2651760" cy="676656"/>
            <a:chOff x="9875520" y="7223760"/>
            <a:chExt cx="2651760" cy="676656"/>
          </a:xfrm>
        </p:grpSpPr>
        <p:sp>
          <p:nvSpPr>
            <p:cNvPr id="131" name="Recycle storage / frame"/>
            <p:cNvSpPr/>
            <p:nvPr/>
          </p:nvSpPr>
          <p:spPr>
            <a:xfrm>
              <a:off x="9875520" y="7223760"/>
              <a:ext cx="2651760" cy="676656"/>
            </a:xfrm>
            <a:prstGeom prst="roundRect">
              <a:avLst>
                <a:gd name="adj" fmla="val 9459"/>
              </a:avLst>
            </a:prstGeom>
            <a:solidFill>
              <a:srgbClr val="F2F4F6"/>
            </a:solidFill>
            <a:ln w="15544">
              <a:solidFill>
                <a:srgbClr val="737D8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Recycle storage / label 1"/>
            <p:cNvSpPr txBox="1"/>
            <p:nvPr/>
          </p:nvSpPr>
          <p:spPr>
            <a:xfrm>
              <a:off x="9948672" y="7298375"/>
              <a:ext cx="2505456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Retire / recycle</a:t>
              </a:r>
            </a:p>
          </p:txBody>
        </p:sp>
        <p:sp>
          <p:nvSpPr>
            <p:cNvPr id="133" name="Recycle storage / label 2"/>
            <p:cNvSpPr txBox="1"/>
            <p:nvPr/>
          </p:nvSpPr>
          <p:spPr>
            <a:xfrm>
              <a:off x="9948672" y="7591531"/>
              <a:ext cx="250545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Decoded block storage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Boundary resolution and ordered emission in distributed markdup</dc:title>
  <dc:subject>Editable Method figure; all elements are native shapes</dc:subject>
  <dc:creator>SWBAM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