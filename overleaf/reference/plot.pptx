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1AA"/>
    <a:srgbClr val="FFFFBD"/>
    <a:srgbClr val="FFF2A1"/>
    <a:srgbClr val="FF6878"/>
    <a:srgbClr val="FFF1A2"/>
    <a:srgbClr val="FF3D78"/>
    <a:srgbClr val="FF3C5E"/>
    <a:srgbClr val="FFFAD0"/>
    <a:srgbClr val="FFF1B9"/>
    <a:srgbClr val="FFDE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912"/>
  </p:normalViewPr>
  <p:slideViewPr>
    <p:cSldViewPr snapToGrid="0">
      <p:cViewPr>
        <p:scale>
          <a:sx n="154" d="100"/>
          <a:sy n="154" d="100"/>
        </p:scale>
        <p:origin x="-2640" y="14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4DA4F-FEEF-0747-884A-DD8FEFC1F51B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EF930-C4B5-2C45-9F5F-D46BDB8924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164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EF930-C4B5-2C45-9F5F-D46BDB8924C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715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EF930-C4B5-2C45-9F5F-D46BDB8924C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232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6606D-D2D4-0E16-D9E6-2DACB4E9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57E80E-DBCC-1DE8-D3FD-A6EB619AF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957356-11D3-1558-A4F7-608D66FF4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4B4EF5-6089-99CD-4AA2-899352D11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EF930-C4B5-2C45-9F5F-D46BDB8924C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825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40126-3740-0867-2DAF-B6F768C43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D01983-FBF8-7F7A-D81F-03CE27E82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A50B8-4ADA-56C3-C09F-4AF96851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99E1F-6785-B351-8779-83B0D4AD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BDDDCA-7564-9081-02E3-0083A121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394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FE4F1-4072-317C-FE39-46DA2050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929B09-0610-FD05-F43F-DFB3B2D5B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636E3E-61A7-FA53-5C9F-40828B91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0C35F4-6FF6-D3AD-F2ED-9EC51CB3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3E952-E923-7747-93B9-CB8A8E77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8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EEB0B-27EE-CDA5-B36B-1FC475F3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608C10-F031-93FF-ADE6-68690A35D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7F6D3A-7ADE-2886-7721-4B33E991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510ED-2F2A-BC2E-B426-0391CC2E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2E862-8EEF-8090-929A-15DB9639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176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FC526-D74C-11EB-480A-7C940A9D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08202-E7B7-6108-CC9B-7235AC8BC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A72D5A-0024-4225-9272-A42A8E9EB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F66915-4E94-581F-BA22-BA9E32C69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46D86C-23B7-A8EC-347B-FAD1B7C5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DA912-AD7A-50D2-3836-AFCE5EDB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548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13764-DE23-462A-FB75-FC22C629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44EC6B-1D79-7C50-7C3C-BA0CF1C67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04C50A-31DB-E8C7-41D6-2CDC3CC42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212B06-C3C1-0619-E49B-DE8C185F3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FFEA36-19B7-E4E3-47BC-96D83C6C8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CB6467-2D0D-650F-06A3-46713943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D8BD18-DBE1-618B-7415-3B0CD15F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20E7A7-DCA4-0E9B-9D5B-C8AB8AF6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848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7CB49-ED13-F4BC-38CE-D9322919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8E9C31-2DDB-5D0F-5DD2-F66ABACF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5799D8-0896-8872-0214-23856D56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0544F-6840-8A41-B0CC-BAF176F2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364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FB4AED-9EB7-C021-7C95-53F89DE8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5EF2EB-137C-A72B-47D4-171BC1AF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D19636-2722-F4AF-7672-1E99063D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775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5A886-57F8-917E-D67E-329920C7C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AA9D85-C87C-9D1D-27C5-BCB80030A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AD6C06-6413-76CE-B08B-BDFC58103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8ECB72-7C98-8204-948F-F927346E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CF64A8-71CA-4AA4-B964-1AEACB532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87F67F-7925-2DFB-01E4-AB1DDF88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04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94265-0847-84A9-0DC1-6EF64FF18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53D0D8-F47C-2F33-0D7F-13317F18FE0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2B4127-976C-AEA6-06C3-5178A4A0F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0480E0-230F-F22C-EC6B-F87F90100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D9CD2A-F2E5-155A-A389-F0238EC2D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EB229-5C6B-FC25-054C-47CC1AB7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19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7C7F4F-A6FC-4C36-D6B4-7E06FDAA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3A83E1-34F6-F3DC-3D19-CC1C86E4E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EA1F8-CD70-01CE-6CE2-F8719FDC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446C9D-0A12-D40F-58EA-187D221E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2677F1-E14A-8CBA-2514-30B6095A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4628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9C974F-F8DA-C533-2E00-723FEED99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0E74F8-0003-5C2A-8F56-21A49624F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74B42-E630-B042-AA22-5DCDE622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01A949-A130-1A5F-E9A1-8C559EDE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EB8730-674D-069B-9F72-E67BA7D26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644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17FC6F-4011-EB10-34DB-94BEBBD4B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0E745E-9412-F2CC-3C2D-D7B4944D8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E8DE3C-6E99-13AD-7DBB-790514C9F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A317C-88AE-8240-BC7C-30263D2EFC4D}" type="datetimeFigureOut">
              <a:rPr kumimoji="1" lang="zh-CN" altLang="en-US" smtClean="0"/>
              <a:t>2026/10/2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5BCA7-26F5-15D4-D82B-42198CF5D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1B3E7-C6FA-41C6-B851-67D4A5686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B10A5-5B8D-754A-8BE0-C0BA19E1700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51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6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50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41.png"/><Relationship Id="rId30" Type="http://schemas.openxmlformats.org/officeDocument/2006/relationships/image" Target="../media/image42.png"/><Relationship Id="rId35" Type="http://schemas.openxmlformats.org/officeDocument/2006/relationships/image" Target="../media/image33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8" Type="http://schemas.openxmlformats.org/officeDocument/2006/relationships/image" Target="../media/image40.png"/><Relationship Id="rId51" Type="http://schemas.openxmlformats.org/officeDocument/2006/relationships/image" Target="../media/image52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7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矩形 405">
            <a:extLst>
              <a:ext uri="{FF2B5EF4-FFF2-40B4-BE49-F238E27FC236}">
                <a16:creationId xmlns:a16="http://schemas.microsoft.com/office/drawing/2014/main" id="{CF7B5D39-C406-8ADE-18EC-3FC34C26BCE1}"/>
              </a:ext>
            </a:extLst>
          </p:cNvPr>
          <p:cNvSpPr/>
          <p:nvPr/>
        </p:nvSpPr>
        <p:spPr>
          <a:xfrm>
            <a:off x="521494" y="257175"/>
            <a:ext cx="11244262" cy="11797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05" name="组合 404">
            <a:extLst>
              <a:ext uri="{FF2B5EF4-FFF2-40B4-BE49-F238E27FC236}">
                <a16:creationId xmlns:a16="http://schemas.microsoft.com/office/drawing/2014/main" id="{134A1595-7D0D-8986-A601-1C3CFFDCA9CD}"/>
              </a:ext>
            </a:extLst>
          </p:cNvPr>
          <p:cNvGrpSpPr>
            <a:grpSpLocks noChangeAspect="1"/>
          </p:cNvGrpSpPr>
          <p:nvPr/>
        </p:nvGrpSpPr>
        <p:grpSpPr>
          <a:xfrm>
            <a:off x="3762987" y="323050"/>
            <a:ext cx="2099803" cy="1039823"/>
            <a:chOff x="1127190" y="247924"/>
            <a:chExt cx="3413043" cy="1690140"/>
          </a:xfrm>
          <a:solidFill>
            <a:schemeClr val="tx2">
              <a:lumMod val="10000"/>
              <a:lumOff val="90000"/>
            </a:schemeClr>
          </a:solidFill>
        </p:grpSpPr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EC95EC6E-E22A-53FA-BB20-81A5E48AD8B1}"/>
                </a:ext>
              </a:extLst>
            </p:cNvPr>
            <p:cNvGrpSpPr/>
            <p:nvPr/>
          </p:nvGrpSpPr>
          <p:grpSpPr>
            <a:xfrm>
              <a:off x="1136869" y="339694"/>
              <a:ext cx="1440000" cy="1438900"/>
              <a:chOff x="3330000" y="2790000"/>
              <a:chExt cx="1440000" cy="1438900"/>
            </a:xfrm>
            <a:grpFill/>
          </p:grpSpPr>
          <p:grpSp>
            <p:nvGrpSpPr>
              <p:cNvPr id="202" name="组合 201">
                <a:extLst>
                  <a:ext uri="{FF2B5EF4-FFF2-40B4-BE49-F238E27FC236}">
                    <a16:creationId xmlns:a16="http://schemas.microsoft.com/office/drawing/2014/main" id="{44434924-2A9B-4D1C-B44E-747FBC087AEF}"/>
                  </a:ext>
                </a:extLst>
              </p:cNvPr>
              <p:cNvGrpSpPr/>
              <p:nvPr/>
            </p:nvGrpSpPr>
            <p:grpSpPr>
              <a:xfrm>
                <a:off x="3330000" y="3330000"/>
                <a:ext cx="1440000" cy="898900"/>
                <a:chOff x="3330000" y="3330000"/>
                <a:chExt cx="1440000" cy="898900"/>
              </a:xfrm>
              <a:grpFill/>
            </p:grpSpPr>
            <p:grpSp>
              <p:nvGrpSpPr>
                <p:cNvPr id="170" name="组合 169">
                  <a:extLst>
                    <a:ext uri="{FF2B5EF4-FFF2-40B4-BE49-F238E27FC236}">
                      <a16:creationId xmlns:a16="http://schemas.microsoft.com/office/drawing/2014/main" id="{610E019A-A698-8FAB-BDF6-2EC338EB3BF0}"/>
                    </a:ext>
                  </a:extLst>
                </p:cNvPr>
                <p:cNvGrpSpPr/>
                <p:nvPr/>
              </p:nvGrpSpPr>
              <p:grpSpPr>
                <a:xfrm>
                  <a:off x="3330000" y="360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154" name="组合 153">
                    <a:extLst>
                      <a:ext uri="{FF2B5EF4-FFF2-40B4-BE49-F238E27FC236}">
                        <a16:creationId xmlns:a16="http://schemas.microsoft.com/office/drawing/2014/main" id="{327CFD77-6AD9-78B3-ACEA-BB24DD1B7FFE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46" name="组合 145">
                      <a:extLst>
                        <a:ext uri="{FF2B5EF4-FFF2-40B4-BE49-F238E27FC236}">
                          <a16:creationId xmlns:a16="http://schemas.microsoft.com/office/drawing/2014/main" id="{FBF69FDE-73B2-3D17-81A3-29FE180ED8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39" name="组合 138">
                        <a:extLst>
                          <a:ext uri="{FF2B5EF4-FFF2-40B4-BE49-F238E27FC236}">
                            <a16:creationId xmlns:a16="http://schemas.microsoft.com/office/drawing/2014/main" id="{4879E3D3-CCBF-586A-F41E-52734EBFA6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35" name="立方体 134">
                          <a:extLst>
                            <a:ext uri="{FF2B5EF4-FFF2-40B4-BE49-F238E27FC236}">
                              <a16:creationId xmlns:a16="http://schemas.microsoft.com/office/drawing/2014/main" id="{B575212B-1099-55EB-B133-B852EB220A0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36" name="立方体 135">
                          <a:extLst>
                            <a:ext uri="{FF2B5EF4-FFF2-40B4-BE49-F238E27FC236}">
                              <a16:creationId xmlns:a16="http://schemas.microsoft.com/office/drawing/2014/main" id="{6C333621-7EB4-A8D8-11BE-E27E0CCFBA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40" name="组合 139">
                        <a:extLst>
                          <a:ext uri="{FF2B5EF4-FFF2-40B4-BE49-F238E27FC236}">
                            <a16:creationId xmlns:a16="http://schemas.microsoft.com/office/drawing/2014/main" id="{F41BF612-282E-825B-DFC6-8ADACED215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41" name="立方体 140">
                          <a:extLst>
                            <a:ext uri="{FF2B5EF4-FFF2-40B4-BE49-F238E27FC236}">
                              <a16:creationId xmlns:a16="http://schemas.microsoft.com/office/drawing/2014/main" id="{FEF51151-5628-948C-CF5C-96E20F78E2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42" name="立方体 141">
                          <a:extLst>
                            <a:ext uri="{FF2B5EF4-FFF2-40B4-BE49-F238E27FC236}">
                              <a16:creationId xmlns:a16="http://schemas.microsoft.com/office/drawing/2014/main" id="{8C08F3EA-2B3A-9ED4-CCB4-03DB48DDCF0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47" name="组合 146">
                      <a:extLst>
                        <a:ext uri="{FF2B5EF4-FFF2-40B4-BE49-F238E27FC236}">
                          <a16:creationId xmlns:a16="http://schemas.microsoft.com/office/drawing/2014/main" id="{F8220FC3-CD80-6821-9105-E404A32AD7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48" name="组合 147">
                        <a:extLst>
                          <a:ext uri="{FF2B5EF4-FFF2-40B4-BE49-F238E27FC236}">
                            <a16:creationId xmlns:a16="http://schemas.microsoft.com/office/drawing/2014/main" id="{6EF1413B-5BED-7ABA-E345-9D2E0BE533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52" name="立方体 151">
                          <a:extLst>
                            <a:ext uri="{FF2B5EF4-FFF2-40B4-BE49-F238E27FC236}">
                              <a16:creationId xmlns:a16="http://schemas.microsoft.com/office/drawing/2014/main" id="{E02503ED-BB11-16AD-E3B0-A78CA9E5B4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53" name="立方体 152">
                          <a:extLst>
                            <a:ext uri="{FF2B5EF4-FFF2-40B4-BE49-F238E27FC236}">
                              <a16:creationId xmlns:a16="http://schemas.microsoft.com/office/drawing/2014/main" id="{0BA21683-4AEB-8F08-3511-292700307B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49" name="组合 148">
                        <a:extLst>
                          <a:ext uri="{FF2B5EF4-FFF2-40B4-BE49-F238E27FC236}">
                            <a16:creationId xmlns:a16="http://schemas.microsoft.com/office/drawing/2014/main" id="{DE351C89-B9FC-6AB4-DF31-88F1332503D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50" name="立方体 149">
                          <a:extLst>
                            <a:ext uri="{FF2B5EF4-FFF2-40B4-BE49-F238E27FC236}">
                              <a16:creationId xmlns:a16="http://schemas.microsoft.com/office/drawing/2014/main" id="{4266915B-4D18-57DD-BF23-A933F8E546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51" name="立方体 150">
                          <a:extLst>
                            <a:ext uri="{FF2B5EF4-FFF2-40B4-BE49-F238E27FC236}">
                              <a16:creationId xmlns:a16="http://schemas.microsoft.com/office/drawing/2014/main" id="{C99F9462-DEE8-0C7C-2963-034C6E6E9D2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155" name="组合 154">
                    <a:extLst>
                      <a:ext uri="{FF2B5EF4-FFF2-40B4-BE49-F238E27FC236}">
                        <a16:creationId xmlns:a16="http://schemas.microsoft.com/office/drawing/2014/main" id="{5F8A4280-71D1-2852-B24E-5957D222046F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56" name="组合 155">
                      <a:extLst>
                        <a:ext uri="{FF2B5EF4-FFF2-40B4-BE49-F238E27FC236}">
                          <a16:creationId xmlns:a16="http://schemas.microsoft.com/office/drawing/2014/main" id="{A40151A7-7BD8-3977-2596-2B7F24D89A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64" name="组合 163">
                        <a:extLst>
                          <a:ext uri="{FF2B5EF4-FFF2-40B4-BE49-F238E27FC236}">
                            <a16:creationId xmlns:a16="http://schemas.microsoft.com/office/drawing/2014/main" id="{4C738E50-55C3-C5A8-DAED-BECCA778F6A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68" name="立方体 167">
                          <a:extLst>
                            <a:ext uri="{FF2B5EF4-FFF2-40B4-BE49-F238E27FC236}">
                              <a16:creationId xmlns:a16="http://schemas.microsoft.com/office/drawing/2014/main" id="{DFF2E0F5-1309-AE15-70FA-4D22AB99A2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9" name="立方体 168">
                          <a:extLst>
                            <a:ext uri="{FF2B5EF4-FFF2-40B4-BE49-F238E27FC236}">
                              <a16:creationId xmlns:a16="http://schemas.microsoft.com/office/drawing/2014/main" id="{303C0867-A7BC-A4E5-411B-75725CE3B4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65" name="组合 164">
                        <a:extLst>
                          <a:ext uri="{FF2B5EF4-FFF2-40B4-BE49-F238E27FC236}">
                            <a16:creationId xmlns:a16="http://schemas.microsoft.com/office/drawing/2014/main" id="{D3C74C17-DC15-1298-2039-E6DB4D3A059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66" name="立方体 165">
                          <a:extLst>
                            <a:ext uri="{FF2B5EF4-FFF2-40B4-BE49-F238E27FC236}">
                              <a16:creationId xmlns:a16="http://schemas.microsoft.com/office/drawing/2014/main" id="{E96A9CAE-F75B-6B3B-95BE-D2A55211FE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7" name="立方体 166">
                          <a:extLst>
                            <a:ext uri="{FF2B5EF4-FFF2-40B4-BE49-F238E27FC236}">
                              <a16:creationId xmlns:a16="http://schemas.microsoft.com/office/drawing/2014/main" id="{D31B606E-E06A-00A7-332B-8E9EEDD0C04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57" name="组合 156">
                      <a:extLst>
                        <a:ext uri="{FF2B5EF4-FFF2-40B4-BE49-F238E27FC236}">
                          <a16:creationId xmlns:a16="http://schemas.microsoft.com/office/drawing/2014/main" id="{DC878C4A-FE6E-95D5-0349-67DFDB6D15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58" name="组合 157">
                        <a:extLst>
                          <a:ext uri="{FF2B5EF4-FFF2-40B4-BE49-F238E27FC236}">
                            <a16:creationId xmlns:a16="http://schemas.microsoft.com/office/drawing/2014/main" id="{02F17BB2-BE6D-36B6-C76E-C08712D67C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62" name="立方体 161">
                          <a:extLst>
                            <a:ext uri="{FF2B5EF4-FFF2-40B4-BE49-F238E27FC236}">
                              <a16:creationId xmlns:a16="http://schemas.microsoft.com/office/drawing/2014/main" id="{D63DA493-29B7-28D0-20F8-FF0C8D980C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3" name="立方体 162">
                          <a:extLst>
                            <a:ext uri="{FF2B5EF4-FFF2-40B4-BE49-F238E27FC236}">
                              <a16:creationId xmlns:a16="http://schemas.microsoft.com/office/drawing/2014/main" id="{371B6F86-D699-D1A4-DD10-BB23D0F27A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59" name="组合 158">
                        <a:extLst>
                          <a:ext uri="{FF2B5EF4-FFF2-40B4-BE49-F238E27FC236}">
                            <a16:creationId xmlns:a16="http://schemas.microsoft.com/office/drawing/2014/main" id="{D4BABB85-770B-7E8A-629E-DAEBBC305E6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60" name="立方体 159">
                          <a:extLst>
                            <a:ext uri="{FF2B5EF4-FFF2-40B4-BE49-F238E27FC236}">
                              <a16:creationId xmlns:a16="http://schemas.microsoft.com/office/drawing/2014/main" id="{DF032323-6CF5-6933-6C5B-A23ED1BECF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1" name="立方体 160">
                          <a:extLst>
                            <a:ext uri="{FF2B5EF4-FFF2-40B4-BE49-F238E27FC236}">
                              <a16:creationId xmlns:a16="http://schemas.microsoft.com/office/drawing/2014/main" id="{29C8F5B3-1E07-8C78-6803-154FEE72E3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1" name="组合 170">
                  <a:extLst>
                    <a:ext uri="{FF2B5EF4-FFF2-40B4-BE49-F238E27FC236}">
                      <a16:creationId xmlns:a16="http://schemas.microsoft.com/office/drawing/2014/main" id="{BAF8D8C7-AD16-69DB-52A2-846FF605BE32}"/>
                    </a:ext>
                  </a:extLst>
                </p:cNvPr>
                <p:cNvGrpSpPr/>
                <p:nvPr/>
              </p:nvGrpSpPr>
              <p:grpSpPr>
                <a:xfrm>
                  <a:off x="3330000" y="333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172" name="组合 171">
                    <a:extLst>
                      <a:ext uri="{FF2B5EF4-FFF2-40B4-BE49-F238E27FC236}">
                        <a16:creationId xmlns:a16="http://schemas.microsoft.com/office/drawing/2014/main" id="{726FC788-633A-836B-9411-C6050D7432F1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88" name="组合 187">
                      <a:extLst>
                        <a:ext uri="{FF2B5EF4-FFF2-40B4-BE49-F238E27FC236}">
                          <a16:creationId xmlns:a16="http://schemas.microsoft.com/office/drawing/2014/main" id="{958DA27D-A010-F0E8-8B9D-40BB6AEC49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96" name="组合 195">
                        <a:extLst>
                          <a:ext uri="{FF2B5EF4-FFF2-40B4-BE49-F238E27FC236}">
                            <a16:creationId xmlns:a16="http://schemas.microsoft.com/office/drawing/2014/main" id="{55785CAA-33E4-3B30-DBDE-DB62EF30E33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00" name="立方体 199">
                          <a:extLst>
                            <a:ext uri="{FF2B5EF4-FFF2-40B4-BE49-F238E27FC236}">
                              <a16:creationId xmlns:a16="http://schemas.microsoft.com/office/drawing/2014/main" id="{AD07D15B-86A9-1B40-52B2-27E8B546FF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01" name="立方体 200">
                          <a:extLst>
                            <a:ext uri="{FF2B5EF4-FFF2-40B4-BE49-F238E27FC236}">
                              <a16:creationId xmlns:a16="http://schemas.microsoft.com/office/drawing/2014/main" id="{0E783495-D481-8A36-81F5-743064E3573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97" name="组合 196">
                        <a:extLst>
                          <a:ext uri="{FF2B5EF4-FFF2-40B4-BE49-F238E27FC236}">
                            <a16:creationId xmlns:a16="http://schemas.microsoft.com/office/drawing/2014/main" id="{FA0E43B9-8608-3CB8-CC8B-DF66922E44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98" name="立方体 197">
                          <a:extLst>
                            <a:ext uri="{FF2B5EF4-FFF2-40B4-BE49-F238E27FC236}">
                              <a16:creationId xmlns:a16="http://schemas.microsoft.com/office/drawing/2014/main" id="{98ED042C-FBB9-8559-BA76-71592D1BF9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99" name="立方体 198">
                          <a:extLst>
                            <a:ext uri="{FF2B5EF4-FFF2-40B4-BE49-F238E27FC236}">
                              <a16:creationId xmlns:a16="http://schemas.microsoft.com/office/drawing/2014/main" id="{139C22A2-C32D-9DA7-A332-55DD206244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89" name="组合 188">
                      <a:extLst>
                        <a:ext uri="{FF2B5EF4-FFF2-40B4-BE49-F238E27FC236}">
                          <a16:creationId xmlns:a16="http://schemas.microsoft.com/office/drawing/2014/main" id="{C2F8A854-F12A-690A-F4E8-697625C22F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90" name="组合 189">
                        <a:extLst>
                          <a:ext uri="{FF2B5EF4-FFF2-40B4-BE49-F238E27FC236}">
                            <a16:creationId xmlns:a16="http://schemas.microsoft.com/office/drawing/2014/main" id="{0BE60D33-C302-1254-F664-12F909EAF7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94" name="立方体 193">
                          <a:extLst>
                            <a:ext uri="{FF2B5EF4-FFF2-40B4-BE49-F238E27FC236}">
                              <a16:creationId xmlns:a16="http://schemas.microsoft.com/office/drawing/2014/main" id="{1D5D2AB3-4D1B-1D2B-5A89-2784E0F007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95" name="立方体 194">
                          <a:extLst>
                            <a:ext uri="{FF2B5EF4-FFF2-40B4-BE49-F238E27FC236}">
                              <a16:creationId xmlns:a16="http://schemas.microsoft.com/office/drawing/2014/main" id="{F996F2DD-9E3A-7913-F1B5-BE93572EAC0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91" name="组合 190">
                        <a:extLst>
                          <a:ext uri="{FF2B5EF4-FFF2-40B4-BE49-F238E27FC236}">
                            <a16:creationId xmlns:a16="http://schemas.microsoft.com/office/drawing/2014/main" id="{981D1B34-65FB-ADCF-F9CB-D112FA4C037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92" name="立方体 191">
                          <a:extLst>
                            <a:ext uri="{FF2B5EF4-FFF2-40B4-BE49-F238E27FC236}">
                              <a16:creationId xmlns:a16="http://schemas.microsoft.com/office/drawing/2014/main" id="{EC19901D-BCF9-7368-0B2C-86E1EA7FAE4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93" name="立方体 192">
                          <a:extLst>
                            <a:ext uri="{FF2B5EF4-FFF2-40B4-BE49-F238E27FC236}">
                              <a16:creationId xmlns:a16="http://schemas.microsoft.com/office/drawing/2014/main" id="{3FE06758-EE94-4445-BDC7-8E1ECE61B0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173" name="组合 172">
                    <a:extLst>
                      <a:ext uri="{FF2B5EF4-FFF2-40B4-BE49-F238E27FC236}">
                        <a16:creationId xmlns:a16="http://schemas.microsoft.com/office/drawing/2014/main" id="{49E9A35F-F900-946F-178A-5BF60529A95A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74" name="组合 173">
                      <a:extLst>
                        <a:ext uri="{FF2B5EF4-FFF2-40B4-BE49-F238E27FC236}">
                          <a16:creationId xmlns:a16="http://schemas.microsoft.com/office/drawing/2014/main" id="{BBA7E8FF-6BD4-DCE7-95E2-90C803F114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82" name="组合 181">
                        <a:extLst>
                          <a:ext uri="{FF2B5EF4-FFF2-40B4-BE49-F238E27FC236}">
                            <a16:creationId xmlns:a16="http://schemas.microsoft.com/office/drawing/2014/main" id="{94D4C6CD-F84F-5C69-8FA0-683BD9987C8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86" name="立方体 185">
                          <a:extLst>
                            <a:ext uri="{FF2B5EF4-FFF2-40B4-BE49-F238E27FC236}">
                              <a16:creationId xmlns:a16="http://schemas.microsoft.com/office/drawing/2014/main" id="{96B6B24D-B859-B42E-39CB-5FECD7259B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87" name="立方体 186">
                          <a:extLst>
                            <a:ext uri="{FF2B5EF4-FFF2-40B4-BE49-F238E27FC236}">
                              <a16:creationId xmlns:a16="http://schemas.microsoft.com/office/drawing/2014/main" id="{87832401-C36D-6A75-7F68-E74165A1DE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83" name="组合 182">
                        <a:extLst>
                          <a:ext uri="{FF2B5EF4-FFF2-40B4-BE49-F238E27FC236}">
                            <a16:creationId xmlns:a16="http://schemas.microsoft.com/office/drawing/2014/main" id="{446950FD-B328-73AA-D420-205246DFB77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84" name="立方体 183">
                          <a:extLst>
                            <a:ext uri="{FF2B5EF4-FFF2-40B4-BE49-F238E27FC236}">
                              <a16:creationId xmlns:a16="http://schemas.microsoft.com/office/drawing/2014/main" id="{E1D74F19-BF9A-CEFB-BB19-C33F1D6AEF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85" name="立方体 184">
                          <a:extLst>
                            <a:ext uri="{FF2B5EF4-FFF2-40B4-BE49-F238E27FC236}">
                              <a16:creationId xmlns:a16="http://schemas.microsoft.com/office/drawing/2014/main" id="{496EC3E3-0ECF-573F-C6F1-FC9BE826C4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75" name="组合 174">
                      <a:extLst>
                        <a:ext uri="{FF2B5EF4-FFF2-40B4-BE49-F238E27FC236}">
                          <a16:creationId xmlns:a16="http://schemas.microsoft.com/office/drawing/2014/main" id="{1FF94686-1D7A-CD0C-F77B-039360A0BA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76" name="组合 175">
                        <a:extLst>
                          <a:ext uri="{FF2B5EF4-FFF2-40B4-BE49-F238E27FC236}">
                            <a16:creationId xmlns:a16="http://schemas.microsoft.com/office/drawing/2014/main" id="{2974F3CD-C38F-8722-25A6-1F89C15A8CF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80" name="立方体 179">
                          <a:extLst>
                            <a:ext uri="{FF2B5EF4-FFF2-40B4-BE49-F238E27FC236}">
                              <a16:creationId xmlns:a16="http://schemas.microsoft.com/office/drawing/2014/main" id="{D2A5A3C8-873C-9D7D-D95D-DEEB8929FE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81" name="立方体 180">
                          <a:extLst>
                            <a:ext uri="{FF2B5EF4-FFF2-40B4-BE49-F238E27FC236}">
                              <a16:creationId xmlns:a16="http://schemas.microsoft.com/office/drawing/2014/main" id="{7E9524BB-B2DB-163C-1A24-86874F5577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77" name="组合 176">
                        <a:extLst>
                          <a:ext uri="{FF2B5EF4-FFF2-40B4-BE49-F238E27FC236}">
                            <a16:creationId xmlns:a16="http://schemas.microsoft.com/office/drawing/2014/main" id="{7F1BC595-FDE2-A958-B233-FCD35B1597F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78" name="立方体 177">
                          <a:extLst>
                            <a:ext uri="{FF2B5EF4-FFF2-40B4-BE49-F238E27FC236}">
                              <a16:creationId xmlns:a16="http://schemas.microsoft.com/office/drawing/2014/main" id="{FBEE1289-36B0-3527-B242-D044A65F1F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79" name="立方体 178">
                          <a:extLst>
                            <a:ext uri="{FF2B5EF4-FFF2-40B4-BE49-F238E27FC236}">
                              <a16:creationId xmlns:a16="http://schemas.microsoft.com/office/drawing/2014/main" id="{F70EEC51-82CF-FA7B-A8AD-7DE26DF823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03" name="组合 202">
                <a:extLst>
                  <a:ext uri="{FF2B5EF4-FFF2-40B4-BE49-F238E27FC236}">
                    <a16:creationId xmlns:a16="http://schemas.microsoft.com/office/drawing/2014/main" id="{66F6DC4C-7AA4-8C70-4C10-462EBBD7E325}"/>
                  </a:ext>
                </a:extLst>
              </p:cNvPr>
              <p:cNvGrpSpPr/>
              <p:nvPr/>
            </p:nvGrpSpPr>
            <p:grpSpPr>
              <a:xfrm>
                <a:off x="3330000" y="2790000"/>
                <a:ext cx="1440000" cy="898900"/>
                <a:chOff x="3330000" y="3330000"/>
                <a:chExt cx="1440000" cy="898900"/>
              </a:xfrm>
              <a:grpFill/>
            </p:grpSpPr>
            <p:grpSp>
              <p:nvGrpSpPr>
                <p:cNvPr id="204" name="组合 203">
                  <a:extLst>
                    <a:ext uri="{FF2B5EF4-FFF2-40B4-BE49-F238E27FC236}">
                      <a16:creationId xmlns:a16="http://schemas.microsoft.com/office/drawing/2014/main" id="{0C9E8BFB-0D91-0CAA-5DF6-33ECFEF7B88B}"/>
                    </a:ext>
                  </a:extLst>
                </p:cNvPr>
                <p:cNvGrpSpPr/>
                <p:nvPr/>
              </p:nvGrpSpPr>
              <p:grpSpPr>
                <a:xfrm>
                  <a:off x="3330000" y="360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236" name="组合 235">
                    <a:extLst>
                      <a:ext uri="{FF2B5EF4-FFF2-40B4-BE49-F238E27FC236}">
                        <a16:creationId xmlns:a16="http://schemas.microsoft.com/office/drawing/2014/main" id="{19A8B370-29AC-35F6-A302-D3958CA7C241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252" name="组合 251">
                      <a:extLst>
                        <a:ext uri="{FF2B5EF4-FFF2-40B4-BE49-F238E27FC236}">
                          <a16:creationId xmlns:a16="http://schemas.microsoft.com/office/drawing/2014/main" id="{68136F27-4732-1E5B-748B-3B452B836C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60" name="组合 259">
                        <a:extLst>
                          <a:ext uri="{FF2B5EF4-FFF2-40B4-BE49-F238E27FC236}">
                            <a16:creationId xmlns:a16="http://schemas.microsoft.com/office/drawing/2014/main" id="{8F880554-541C-207E-15FF-E088549AE47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64" name="立方体 263">
                          <a:extLst>
                            <a:ext uri="{FF2B5EF4-FFF2-40B4-BE49-F238E27FC236}">
                              <a16:creationId xmlns:a16="http://schemas.microsoft.com/office/drawing/2014/main" id="{C4C1A6E0-8DE6-ACA7-547A-E0BAB81C53B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65" name="立方体 264">
                          <a:extLst>
                            <a:ext uri="{FF2B5EF4-FFF2-40B4-BE49-F238E27FC236}">
                              <a16:creationId xmlns:a16="http://schemas.microsoft.com/office/drawing/2014/main" id="{69BCD6E8-818C-67FD-4723-580B5CE3B5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61" name="组合 260">
                        <a:extLst>
                          <a:ext uri="{FF2B5EF4-FFF2-40B4-BE49-F238E27FC236}">
                            <a16:creationId xmlns:a16="http://schemas.microsoft.com/office/drawing/2014/main" id="{E49C4276-2CCA-5E30-EAFE-2CEC63F867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62" name="立方体 261">
                          <a:extLst>
                            <a:ext uri="{FF2B5EF4-FFF2-40B4-BE49-F238E27FC236}">
                              <a16:creationId xmlns:a16="http://schemas.microsoft.com/office/drawing/2014/main" id="{4A04CF53-4924-B030-418A-7992ED5D258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63" name="立方体 262">
                          <a:extLst>
                            <a:ext uri="{FF2B5EF4-FFF2-40B4-BE49-F238E27FC236}">
                              <a16:creationId xmlns:a16="http://schemas.microsoft.com/office/drawing/2014/main" id="{92EAE706-B6FC-A6D6-B605-D1853FC6BC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253" name="组合 252">
                      <a:extLst>
                        <a:ext uri="{FF2B5EF4-FFF2-40B4-BE49-F238E27FC236}">
                          <a16:creationId xmlns:a16="http://schemas.microsoft.com/office/drawing/2014/main" id="{C8DD808E-F17A-E57C-515E-4AC703B8A3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54" name="组合 253">
                        <a:extLst>
                          <a:ext uri="{FF2B5EF4-FFF2-40B4-BE49-F238E27FC236}">
                            <a16:creationId xmlns:a16="http://schemas.microsoft.com/office/drawing/2014/main" id="{619FFD72-75E6-F766-E1AC-A1DD318616E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58" name="立方体 257">
                          <a:extLst>
                            <a:ext uri="{FF2B5EF4-FFF2-40B4-BE49-F238E27FC236}">
                              <a16:creationId xmlns:a16="http://schemas.microsoft.com/office/drawing/2014/main" id="{98D20487-5E8A-79AC-9560-52CBB4A35A4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59" name="立方体 258">
                          <a:extLst>
                            <a:ext uri="{FF2B5EF4-FFF2-40B4-BE49-F238E27FC236}">
                              <a16:creationId xmlns:a16="http://schemas.microsoft.com/office/drawing/2014/main" id="{A1DD885E-18C7-1F5A-6F20-B37C5EBB0A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55" name="组合 254">
                        <a:extLst>
                          <a:ext uri="{FF2B5EF4-FFF2-40B4-BE49-F238E27FC236}">
                            <a16:creationId xmlns:a16="http://schemas.microsoft.com/office/drawing/2014/main" id="{F29214E8-E920-304F-0845-29593C27CB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56" name="立方体 255">
                          <a:extLst>
                            <a:ext uri="{FF2B5EF4-FFF2-40B4-BE49-F238E27FC236}">
                              <a16:creationId xmlns:a16="http://schemas.microsoft.com/office/drawing/2014/main" id="{4F7AC410-98D4-A878-E51D-91ACA32797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57" name="立方体 256">
                          <a:extLst>
                            <a:ext uri="{FF2B5EF4-FFF2-40B4-BE49-F238E27FC236}">
                              <a16:creationId xmlns:a16="http://schemas.microsoft.com/office/drawing/2014/main" id="{C28E75EE-F77B-E0CA-99EE-86D6379FCC4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237" name="组合 236">
                    <a:extLst>
                      <a:ext uri="{FF2B5EF4-FFF2-40B4-BE49-F238E27FC236}">
                        <a16:creationId xmlns:a16="http://schemas.microsoft.com/office/drawing/2014/main" id="{13CB56B8-3506-100A-B499-1107D7AF89F0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238" name="组合 237">
                      <a:extLst>
                        <a:ext uri="{FF2B5EF4-FFF2-40B4-BE49-F238E27FC236}">
                          <a16:creationId xmlns:a16="http://schemas.microsoft.com/office/drawing/2014/main" id="{774128A4-C579-403F-FFA8-829747911E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46" name="组合 245">
                        <a:extLst>
                          <a:ext uri="{FF2B5EF4-FFF2-40B4-BE49-F238E27FC236}">
                            <a16:creationId xmlns:a16="http://schemas.microsoft.com/office/drawing/2014/main" id="{AFD446AF-1700-6D73-A278-CE6F4A99B34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50" name="立方体 249">
                          <a:extLst>
                            <a:ext uri="{FF2B5EF4-FFF2-40B4-BE49-F238E27FC236}">
                              <a16:creationId xmlns:a16="http://schemas.microsoft.com/office/drawing/2014/main" id="{AFE6CBF3-64BB-FD71-DC0B-DFDD150D69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51" name="立方体 250">
                          <a:extLst>
                            <a:ext uri="{FF2B5EF4-FFF2-40B4-BE49-F238E27FC236}">
                              <a16:creationId xmlns:a16="http://schemas.microsoft.com/office/drawing/2014/main" id="{5AE6878F-B631-DAF9-CE9C-FE547278A77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47" name="组合 246">
                        <a:extLst>
                          <a:ext uri="{FF2B5EF4-FFF2-40B4-BE49-F238E27FC236}">
                            <a16:creationId xmlns:a16="http://schemas.microsoft.com/office/drawing/2014/main" id="{3C33D105-2B5C-EA2B-353C-EB30F227753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48" name="立方体 247">
                          <a:extLst>
                            <a:ext uri="{FF2B5EF4-FFF2-40B4-BE49-F238E27FC236}">
                              <a16:creationId xmlns:a16="http://schemas.microsoft.com/office/drawing/2014/main" id="{FBDF0C82-D785-A5A8-76C1-F1C7661CCA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49" name="立方体 248">
                          <a:extLst>
                            <a:ext uri="{FF2B5EF4-FFF2-40B4-BE49-F238E27FC236}">
                              <a16:creationId xmlns:a16="http://schemas.microsoft.com/office/drawing/2014/main" id="{922B2716-1E9A-3E9E-4008-7905C438DE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239" name="组合 238">
                      <a:extLst>
                        <a:ext uri="{FF2B5EF4-FFF2-40B4-BE49-F238E27FC236}">
                          <a16:creationId xmlns:a16="http://schemas.microsoft.com/office/drawing/2014/main" id="{58E71C36-C9AE-C0C0-4CDC-7B52FFA6C0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40" name="组合 239">
                        <a:extLst>
                          <a:ext uri="{FF2B5EF4-FFF2-40B4-BE49-F238E27FC236}">
                            <a16:creationId xmlns:a16="http://schemas.microsoft.com/office/drawing/2014/main" id="{95C6067B-C0EF-854D-3140-F2C25C87E9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44" name="立方体 243">
                          <a:extLst>
                            <a:ext uri="{FF2B5EF4-FFF2-40B4-BE49-F238E27FC236}">
                              <a16:creationId xmlns:a16="http://schemas.microsoft.com/office/drawing/2014/main" id="{6B30BCC4-3C1D-3E7C-6CEC-D711FD02267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45" name="立方体 244">
                          <a:extLst>
                            <a:ext uri="{FF2B5EF4-FFF2-40B4-BE49-F238E27FC236}">
                              <a16:creationId xmlns:a16="http://schemas.microsoft.com/office/drawing/2014/main" id="{F135B269-3026-F43A-8556-9305A7C827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41" name="组合 240">
                        <a:extLst>
                          <a:ext uri="{FF2B5EF4-FFF2-40B4-BE49-F238E27FC236}">
                            <a16:creationId xmlns:a16="http://schemas.microsoft.com/office/drawing/2014/main" id="{073C4043-052E-2AD2-6834-5B34797C1DA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42" name="立方体 241">
                          <a:extLst>
                            <a:ext uri="{FF2B5EF4-FFF2-40B4-BE49-F238E27FC236}">
                              <a16:creationId xmlns:a16="http://schemas.microsoft.com/office/drawing/2014/main" id="{ED2590FB-1FF3-740A-2E2E-405DEAB3E7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43" name="立方体 242">
                          <a:extLst>
                            <a:ext uri="{FF2B5EF4-FFF2-40B4-BE49-F238E27FC236}">
                              <a16:creationId xmlns:a16="http://schemas.microsoft.com/office/drawing/2014/main" id="{9AA77C9B-0405-BCEF-DDAA-9ABF14C845F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5" name="组合 204">
                  <a:extLst>
                    <a:ext uri="{FF2B5EF4-FFF2-40B4-BE49-F238E27FC236}">
                      <a16:creationId xmlns:a16="http://schemas.microsoft.com/office/drawing/2014/main" id="{FA9E93D7-3971-9E26-5B6C-7491F71AB711}"/>
                    </a:ext>
                  </a:extLst>
                </p:cNvPr>
                <p:cNvGrpSpPr/>
                <p:nvPr/>
              </p:nvGrpSpPr>
              <p:grpSpPr>
                <a:xfrm>
                  <a:off x="3330000" y="333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206" name="组合 205">
                    <a:extLst>
                      <a:ext uri="{FF2B5EF4-FFF2-40B4-BE49-F238E27FC236}">
                        <a16:creationId xmlns:a16="http://schemas.microsoft.com/office/drawing/2014/main" id="{68D9C0FE-D694-9065-2C56-2A981380B235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222" name="组合 221">
                      <a:extLst>
                        <a:ext uri="{FF2B5EF4-FFF2-40B4-BE49-F238E27FC236}">
                          <a16:creationId xmlns:a16="http://schemas.microsoft.com/office/drawing/2014/main" id="{DC1EFB7A-525C-E6C2-A160-4075C31E5B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30" name="组合 229">
                        <a:extLst>
                          <a:ext uri="{FF2B5EF4-FFF2-40B4-BE49-F238E27FC236}">
                            <a16:creationId xmlns:a16="http://schemas.microsoft.com/office/drawing/2014/main" id="{B0DC1FF8-230D-6D18-8C66-B6C4E23E9F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34" name="立方体 233">
                          <a:extLst>
                            <a:ext uri="{FF2B5EF4-FFF2-40B4-BE49-F238E27FC236}">
                              <a16:creationId xmlns:a16="http://schemas.microsoft.com/office/drawing/2014/main" id="{A4877841-7108-1E80-0D0F-CE9B5B2B33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35" name="立方体 234">
                          <a:extLst>
                            <a:ext uri="{FF2B5EF4-FFF2-40B4-BE49-F238E27FC236}">
                              <a16:creationId xmlns:a16="http://schemas.microsoft.com/office/drawing/2014/main" id="{57D04D85-0AA1-408D-6911-01D2D3CB091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31" name="组合 230">
                        <a:extLst>
                          <a:ext uri="{FF2B5EF4-FFF2-40B4-BE49-F238E27FC236}">
                            <a16:creationId xmlns:a16="http://schemas.microsoft.com/office/drawing/2014/main" id="{2B817774-59D6-FA8F-68B0-650E3B52C37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32" name="立方体 231">
                          <a:extLst>
                            <a:ext uri="{FF2B5EF4-FFF2-40B4-BE49-F238E27FC236}">
                              <a16:creationId xmlns:a16="http://schemas.microsoft.com/office/drawing/2014/main" id="{94B6305C-4C94-DC25-36D5-698F79428C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33" name="立方体 232">
                          <a:extLst>
                            <a:ext uri="{FF2B5EF4-FFF2-40B4-BE49-F238E27FC236}">
                              <a16:creationId xmlns:a16="http://schemas.microsoft.com/office/drawing/2014/main" id="{D0391FFD-F083-B792-8681-AC38465BC4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223" name="组合 222">
                      <a:extLst>
                        <a:ext uri="{FF2B5EF4-FFF2-40B4-BE49-F238E27FC236}">
                          <a16:creationId xmlns:a16="http://schemas.microsoft.com/office/drawing/2014/main" id="{CD32BC3A-3AAD-19CB-F7BB-6B1603AB5B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24" name="组合 223">
                        <a:extLst>
                          <a:ext uri="{FF2B5EF4-FFF2-40B4-BE49-F238E27FC236}">
                            <a16:creationId xmlns:a16="http://schemas.microsoft.com/office/drawing/2014/main" id="{CED6DEA4-EAC0-D9A9-6FBA-01C8B59024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28" name="立方体 227">
                          <a:extLst>
                            <a:ext uri="{FF2B5EF4-FFF2-40B4-BE49-F238E27FC236}">
                              <a16:creationId xmlns:a16="http://schemas.microsoft.com/office/drawing/2014/main" id="{AF140FAB-0D0E-3F5A-63F2-47F3539E83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29" name="立方体 228">
                          <a:extLst>
                            <a:ext uri="{FF2B5EF4-FFF2-40B4-BE49-F238E27FC236}">
                              <a16:creationId xmlns:a16="http://schemas.microsoft.com/office/drawing/2014/main" id="{A87601F4-F1AD-6548-72C0-417E1034298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25" name="组合 224">
                        <a:extLst>
                          <a:ext uri="{FF2B5EF4-FFF2-40B4-BE49-F238E27FC236}">
                            <a16:creationId xmlns:a16="http://schemas.microsoft.com/office/drawing/2014/main" id="{F0DF5C4D-2F96-220E-58D8-E566BFACBC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26" name="立方体 225">
                          <a:extLst>
                            <a:ext uri="{FF2B5EF4-FFF2-40B4-BE49-F238E27FC236}">
                              <a16:creationId xmlns:a16="http://schemas.microsoft.com/office/drawing/2014/main" id="{1F84E552-EC6F-4738-60C3-39D0FACDD50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27" name="立方体 226">
                          <a:extLst>
                            <a:ext uri="{FF2B5EF4-FFF2-40B4-BE49-F238E27FC236}">
                              <a16:creationId xmlns:a16="http://schemas.microsoft.com/office/drawing/2014/main" id="{5C29AA76-25AF-F139-1A9D-44B9344FEC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207" name="组合 206">
                    <a:extLst>
                      <a:ext uri="{FF2B5EF4-FFF2-40B4-BE49-F238E27FC236}">
                        <a16:creationId xmlns:a16="http://schemas.microsoft.com/office/drawing/2014/main" id="{CD233B4A-2224-4CC9-F6A8-EC4690E51848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208" name="组合 207">
                      <a:extLst>
                        <a:ext uri="{FF2B5EF4-FFF2-40B4-BE49-F238E27FC236}">
                          <a16:creationId xmlns:a16="http://schemas.microsoft.com/office/drawing/2014/main" id="{7E77E924-32A2-EE71-31E1-ACC72E7ED2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16" name="组合 215">
                        <a:extLst>
                          <a:ext uri="{FF2B5EF4-FFF2-40B4-BE49-F238E27FC236}">
                            <a16:creationId xmlns:a16="http://schemas.microsoft.com/office/drawing/2014/main" id="{A1D783C7-0475-7E4B-E905-D5E218A8919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20" name="立方体 219">
                          <a:extLst>
                            <a:ext uri="{FF2B5EF4-FFF2-40B4-BE49-F238E27FC236}">
                              <a16:creationId xmlns:a16="http://schemas.microsoft.com/office/drawing/2014/main" id="{04BFB655-71B1-84C6-C11C-97C907AD26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21" name="立方体 220">
                          <a:extLst>
                            <a:ext uri="{FF2B5EF4-FFF2-40B4-BE49-F238E27FC236}">
                              <a16:creationId xmlns:a16="http://schemas.microsoft.com/office/drawing/2014/main" id="{01FC5141-D772-970F-7718-504A920675A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17" name="组合 216">
                        <a:extLst>
                          <a:ext uri="{FF2B5EF4-FFF2-40B4-BE49-F238E27FC236}">
                            <a16:creationId xmlns:a16="http://schemas.microsoft.com/office/drawing/2014/main" id="{A99491B1-102B-DB50-D6D1-EFC95DB1782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18" name="立方体 217">
                          <a:extLst>
                            <a:ext uri="{FF2B5EF4-FFF2-40B4-BE49-F238E27FC236}">
                              <a16:creationId xmlns:a16="http://schemas.microsoft.com/office/drawing/2014/main" id="{3E5363C4-4673-ADD1-E1D3-9B18495A93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19" name="立方体 218">
                          <a:extLst>
                            <a:ext uri="{FF2B5EF4-FFF2-40B4-BE49-F238E27FC236}">
                              <a16:creationId xmlns:a16="http://schemas.microsoft.com/office/drawing/2014/main" id="{283A3414-651A-FF2D-ECC5-D5F31F87F9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209" name="组合 208">
                      <a:extLst>
                        <a:ext uri="{FF2B5EF4-FFF2-40B4-BE49-F238E27FC236}">
                          <a16:creationId xmlns:a16="http://schemas.microsoft.com/office/drawing/2014/main" id="{3D4F4E5A-45D8-D1E5-E370-BD2F4C8332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210" name="组合 209">
                        <a:extLst>
                          <a:ext uri="{FF2B5EF4-FFF2-40B4-BE49-F238E27FC236}">
                            <a16:creationId xmlns:a16="http://schemas.microsoft.com/office/drawing/2014/main" id="{8505CE7A-8442-C295-0BBE-E794032FB8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14" name="立方体 213">
                          <a:extLst>
                            <a:ext uri="{FF2B5EF4-FFF2-40B4-BE49-F238E27FC236}">
                              <a16:creationId xmlns:a16="http://schemas.microsoft.com/office/drawing/2014/main" id="{606CBAE2-CCB3-D915-35D8-BAB9449A314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  <p:sp>
                      <p:nvSpPr>
                        <p:cNvPr id="215" name="立方体 214">
                          <a:extLst>
                            <a:ext uri="{FF2B5EF4-FFF2-40B4-BE49-F238E27FC236}">
                              <a16:creationId xmlns:a16="http://schemas.microsoft.com/office/drawing/2014/main" id="{F635F781-9714-EC11-908D-78BB86C5E26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211" name="组合 210">
                        <a:extLst>
                          <a:ext uri="{FF2B5EF4-FFF2-40B4-BE49-F238E27FC236}">
                            <a16:creationId xmlns:a16="http://schemas.microsoft.com/office/drawing/2014/main" id="{EEA6ADE0-CE47-2543-A241-812EA346442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212" name="立方体 211">
                          <a:extLst>
                            <a:ext uri="{FF2B5EF4-FFF2-40B4-BE49-F238E27FC236}">
                              <a16:creationId xmlns:a16="http://schemas.microsoft.com/office/drawing/2014/main" id="{BDD82663-78B2-7A20-8FE0-D4A5797D85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213" name="立方体 212">
                          <a:extLst>
                            <a:ext uri="{FF2B5EF4-FFF2-40B4-BE49-F238E27FC236}">
                              <a16:creationId xmlns:a16="http://schemas.microsoft.com/office/drawing/2014/main" id="{95EFCCC1-348B-F6A3-AC9D-43E9C5D534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392" name="立方体 391">
              <a:extLst>
                <a:ext uri="{FF2B5EF4-FFF2-40B4-BE49-F238E27FC236}">
                  <a16:creationId xmlns:a16="http://schemas.microsoft.com/office/drawing/2014/main" id="{90F9059E-6F13-D2BE-363B-2860CF414726}"/>
                </a:ext>
              </a:extLst>
            </p:cNvPr>
            <p:cNvSpPr/>
            <p:nvPr/>
          </p:nvSpPr>
          <p:spPr>
            <a:xfrm>
              <a:off x="2486869" y="114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3" name="立方体 392">
              <a:extLst>
                <a:ext uri="{FF2B5EF4-FFF2-40B4-BE49-F238E27FC236}">
                  <a16:creationId xmlns:a16="http://schemas.microsoft.com/office/drawing/2014/main" id="{26CFD120-E06E-A6C4-170B-4523215E3F1A}"/>
                </a:ext>
              </a:extLst>
            </p:cNvPr>
            <p:cNvSpPr/>
            <p:nvPr/>
          </p:nvSpPr>
          <p:spPr>
            <a:xfrm>
              <a:off x="2756869" y="114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86" name="立方体 385">
              <a:extLst>
                <a:ext uri="{FF2B5EF4-FFF2-40B4-BE49-F238E27FC236}">
                  <a16:creationId xmlns:a16="http://schemas.microsoft.com/office/drawing/2014/main" id="{8CA5545D-E5BE-5639-47EC-56E2E944BCCD}"/>
                </a:ext>
              </a:extLst>
            </p:cNvPr>
            <p:cNvSpPr/>
            <p:nvPr/>
          </p:nvSpPr>
          <p:spPr>
            <a:xfrm>
              <a:off x="2396869" y="123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7" name="立方体 386">
              <a:extLst>
                <a:ext uri="{FF2B5EF4-FFF2-40B4-BE49-F238E27FC236}">
                  <a16:creationId xmlns:a16="http://schemas.microsoft.com/office/drawing/2014/main" id="{493F5DA5-FA0E-BAB1-1469-7C0EAB65B53A}"/>
                </a:ext>
              </a:extLst>
            </p:cNvPr>
            <p:cNvSpPr/>
            <p:nvPr/>
          </p:nvSpPr>
          <p:spPr>
            <a:xfrm>
              <a:off x="2666869" y="123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78" name="立方体 377">
              <a:extLst>
                <a:ext uri="{FF2B5EF4-FFF2-40B4-BE49-F238E27FC236}">
                  <a16:creationId xmlns:a16="http://schemas.microsoft.com/office/drawing/2014/main" id="{F8EC1D3E-87E4-6B2F-02B8-991DBC17C952}"/>
                </a:ext>
              </a:extLst>
            </p:cNvPr>
            <p:cNvSpPr/>
            <p:nvPr/>
          </p:nvSpPr>
          <p:spPr>
            <a:xfrm>
              <a:off x="2306869" y="132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9" name="立方体 378">
              <a:extLst>
                <a:ext uri="{FF2B5EF4-FFF2-40B4-BE49-F238E27FC236}">
                  <a16:creationId xmlns:a16="http://schemas.microsoft.com/office/drawing/2014/main" id="{2E89EA69-2FC6-E9D6-D6DB-40281B60779E}"/>
                </a:ext>
              </a:extLst>
            </p:cNvPr>
            <p:cNvSpPr/>
            <p:nvPr/>
          </p:nvSpPr>
          <p:spPr>
            <a:xfrm>
              <a:off x="2576869" y="132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72" name="立方体 371">
              <a:extLst>
                <a:ext uri="{FF2B5EF4-FFF2-40B4-BE49-F238E27FC236}">
                  <a16:creationId xmlns:a16="http://schemas.microsoft.com/office/drawing/2014/main" id="{52226951-17CA-0B43-A08A-ED460BE62D7B}"/>
                </a:ext>
              </a:extLst>
            </p:cNvPr>
            <p:cNvSpPr/>
            <p:nvPr/>
          </p:nvSpPr>
          <p:spPr>
            <a:xfrm>
              <a:off x="2216869" y="141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3" name="立方体 372">
              <a:extLst>
                <a:ext uri="{FF2B5EF4-FFF2-40B4-BE49-F238E27FC236}">
                  <a16:creationId xmlns:a16="http://schemas.microsoft.com/office/drawing/2014/main" id="{DE0AA89E-8433-B4E4-2F75-E34FDE30A926}"/>
                </a:ext>
              </a:extLst>
            </p:cNvPr>
            <p:cNvSpPr/>
            <p:nvPr/>
          </p:nvSpPr>
          <p:spPr>
            <a:xfrm>
              <a:off x="2486869" y="141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2" name="立方体 361">
              <a:extLst>
                <a:ext uri="{FF2B5EF4-FFF2-40B4-BE49-F238E27FC236}">
                  <a16:creationId xmlns:a16="http://schemas.microsoft.com/office/drawing/2014/main" id="{02AC0DF8-754B-29AE-0C82-8B4DE8CCDF1D}"/>
                </a:ext>
              </a:extLst>
            </p:cNvPr>
            <p:cNvSpPr/>
            <p:nvPr/>
          </p:nvSpPr>
          <p:spPr>
            <a:xfrm>
              <a:off x="2486869" y="87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3" name="立方体 362">
              <a:extLst>
                <a:ext uri="{FF2B5EF4-FFF2-40B4-BE49-F238E27FC236}">
                  <a16:creationId xmlns:a16="http://schemas.microsoft.com/office/drawing/2014/main" id="{42292ABC-3165-62F9-04BC-517DBE6A5F58}"/>
                </a:ext>
              </a:extLst>
            </p:cNvPr>
            <p:cNvSpPr/>
            <p:nvPr/>
          </p:nvSpPr>
          <p:spPr>
            <a:xfrm>
              <a:off x="2756869" y="87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56" name="立方体 355">
              <a:extLst>
                <a:ext uri="{FF2B5EF4-FFF2-40B4-BE49-F238E27FC236}">
                  <a16:creationId xmlns:a16="http://schemas.microsoft.com/office/drawing/2014/main" id="{8E9786DF-0DEA-C42D-3A47-3ABECDF48C57}"/>
                </a:ext>
              </a:extLst>
            </p:cNvPr>
            <p:cNvSpPr/>
            <p:nvPr/>
          </p:nvSpPr>
          <p:spPr>
            <a:xfrm>
              <a:off x="2396869" y="96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7" name="立方体 356">
              <a:extLst>
                <a:ext uri="{FF2B5EF4-FFF2-40B4-BE49-F238E27FC236}">
                  <a16:creationId xmlns:a16="http://schemas.microsoft.com/office/drawing/2014/main" id="{E344B3DC-C986-2D3D-E086-DF04B0F70EE4}"/>
                </a:ext>
              </a:extLst>
            </p:cNvPr>
            <p:cNvSpPr/>
            <p:nvPr/>
          </p:nvSpPr>
          <p:spPr>
            <a:xfrm>
              <a:off x="2666869" y="96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48" name="立方体 347">
              <a:extLst>
                <a:ext uri="{FF2B5EF4-FFF2-40B4-BE49-F238E27FC236}">
                  <a16:creationId xmlns:a16="http://schemas.microsoft.com/office/drawing/2014/main" id="{AF1F5B50-C9C9-D0F7-D660-FB58F09405C2}"/>
                </a:ext>
              </a:extLst>
            </p:cNvPr>
            <p:cNvSpPr/>
            <p:nvPr/>
          </p:nvSpPr>
          <p:spPr>
            <a:xfrm>
              <a:off x="2306869" y="105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9" name="立方体 348">
              <a:extLst>
                <a:ext uri="{FF2B5EF4-FFF2-40B4-BE49-F238E27FC236}">
                  <a16:creationId xmlns:a16="http://schemas.microsoft.com/office/drawing/2014/main" id="{D70A0A36-FC45-5DC2-CCF5-42DEFED61138}"/>
                </a:ext>
              </a:extLst>
            </p:cNvPr>
            <p:cNvSpPr/>
            <p:nvPr/>
          </p:nvSpPr>
          <p:spPr>
            <a:xfrm>
              <a:off x="2576869" y="105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42" name="立方体 341">
              <a:extLst>
                <a:ext uri="{FF2B5EF4-FFF2-40B4-BE49-F238E27FC236}">
                  <a16:creationId xmlns:a16="http://schemas.microsoft.com/office/drawing/2014/main" id="{9773BA52-8C71-E021-1983-ADF7221CC18C}"/>
                </a:ext>
              </a:extLst>
            </p:cNvPr>
            <p:cNvSpPr/>
            <p:nvPr/>
          </p:nvSpPr>
          <p:spPr>
            <a:xfrm>
              <a:off x="2216869" y="114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3" name="立方体 342">
              <a:extLst>
                <a:ext uri="{FF2B5EF4-FFF2-40B4-BE49-F238E27FC236}">
                  <a16:creationId xmlns:a16="http://schemas.microsoft.com/office/drawing/2014/main" id="{ED281207-2789-5A58-DA16-80D65D1E73A1}"/>
                </a:ext>
              </a:extLst>
            </p:cNvPr>
            <p:cNvSpPr/>
            <p:nvPr/>
          </p:nvSpPr>
          <p:spPr>
            <a:xfrm>
              <a:off x="2486869" y="114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30" name="立方体 329">
              <a:extLst>
                <a:ext uri="{FF2B5EF4-FFF2-40B4-BE49-F238E27FC236}">
                  <a16:creationId xmlns:a16="http://schemas.microsoft.com/office/drawing/2014/main" id="{FA8527FA-C175-7767-1BD3-C8FCF4DD0647}"/>
                </a:ext>
              </a:extLst>
            </p:cNvPr>
            <p:cNvSpPr/>
            <p:nvPr/>
          </p:nvSpPr>
          <p:spPr>
            <a:xfrm>
              <a:off x="2486869" y="60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1" name="立方体 330">
              <a:extLst>
                <a:ext uri="{FF2B5EF4-FFF2-40B4-BE49-F238E27FC236}">
                  <a16:creationId xmlns:a16="http://schemas.microsoft.com/office/drawing/2014/main" id="{7EAC0669-1C9B-BEE9-6D8D-CD46F93A1926}"/>
                </a:ext>
              </a:extLst>
            </p:cNvPr>
            <p:cNvSpPr/>
            <p:nvPr/>
          </p:nvSpPr>
          <p:spPr>
            <a:xfrm>
              <a:off x="2756869" y="60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24" name="立方体 323">
              <a:extLst>
                <a:ext uri="{FF2B5EF4-FFF2-40B4-BE49-F238E27FC236}">
                  <a16:creationId xmlns:a16="http://schemas.microsoft.com/office/drawing/2014/main" id="{0A471119-1307-C605-ACA2-FD4BAEDE8536}"/>
                </a:ext>
              </a:extLst>
            </p:cNvPr>
            <p:cNvSpPr/>
            <p:nvPr/>
          </p:nvSpPr>
          <p:spPr>
            <a:xfrm>
              <a:off x="2396869" y="69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5" name="立方体 324">
              <a:extLst>
                <a:ext uri="{FF2B5EF4-FFF2-40B4-BE49-F238E27FC236}">
                  <a16:creationId xmlns:a16="http://schemas.microsoft.com/office/drawing/2014/main" id="{F3759286-BA33-526B-149B-A8247EF607F2}"/>
                </a:ext>
              </a:extLst>
            </p:cNvPr>
            <p:cNvSpPr/>
            <p:nvPr/>
          </p:nvSpPr>
          <p:spPr>
            <a:xfrm>
              <a:off x="2666869" y="69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6" name="立方体 315">
              <a:extLst>
                <a:ext uri="{FF2B5EF4-FFF2-40B4-BE49-F238E27FC236}">
                  <a16:creationId xmlns:a16="http://schemas.microsoft.com/office/drawing/2014/main" id="{940DB769-E8AE-4C97-8B5F-960993925F34}"/>
                </a:ext>
              </a:extLst>
            </p:cNvPr>
            <p:cNvSpPr/>
            <p:nvPr/>
          </p:nvSpPr>
          <p:spPr>
            <a:xfrm>
              <a:off x="2306869" y="78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7" name="立方体 316">
              <a:extLst>
                <a:ext uri="{FF2B5EF4-FFF2-40B4-BE49-F238E27FC236}">
                  <a16:creationId xmlns:a16="http://schemas.microsoft.com/office/drawing/2014/main" id="{F142BB3C-635F-D34C-95CF-7D04500374A9}"/>
                </a:ext>
              </a:extLst>
            </p:cNvPr>
            <p:cNvSpPr/>
            <p:nvPr/>
          </p:nvSpPr>
          <p:spPr>
            <a:xfrm>
              <a:off x="2576869" y="78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0" name="立方体 309">
              <a:extLst>
                <a:ext uri="{FF2B5EF4-FFF2-40B4-BE49-F238E27FC236}">
                  <a16:creationId xmlns:a16="http://schemas.microsoft.com/office/drawing/2014/main" id="{7E66F6FF-0916-7262-882D-0D7B418658B8}"/>
                </a:ext>
              </a:extLst>
            </p:cNvPr>
            <p:cNvSpPr/>
            <p:nvPr/>
          </p:nvSpPr>
          <p:spPr>
            <a:xfrm>
              <a:off x="2216869" y="87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1" name="立方体 310">
              <a:extLst>
                <a:ext uri="{FF2B5EF4-FFF2-40B4-BE49-F238E27FC236}">
                  <a16:creationId xmlns:a16="http://schemas.microsoft.com/office/drawing/2014/main" id="{407C64D6-789B-08A4-D740-886B524823F4}"/>
                </a:ext>
              </a:extLst>
            </p:cNvPr>
            <p:cNvSpPr/>
            <p:nvPr/>
          </p:nvSpPr>
          <p:spPr>
            <a:xfrm>
              <a:off x="2486869" y="87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0" name="立方体 299">
              <a:extLst>
                <a:ext uri="{FF2B5EF4-FFF2-40B4-BE49-F238E27FC236}">
                  <a16:creationId xmlns:a16="http://schemas.microsoft.com/office/drawing/2014/main" id="{E2FC2096-71DE-2223-0830-31CF22A9035C}"/>
                </a:ext>
              </a:extLst>
            </p:cNvPr>
            <p:cNvSpPr/>
            <p:nvPr/>
          </p:nvSpPr>
          <p:spPr>
            <a:xfrm>
              <a:off x="2486869" y="33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1" name="立方体 300">
              <a:extLst>
                <a:ext uri="{FF2B5EF4-FFF2-40B4-BE49-F238E27FC236}">
                  <a16:creationId xmlns:a16="http://schemas.microsoft.com/office/drawing/2014/main" id="{07D2A3F4-4EA9-BF6E-5C0C-2D973A16A680}"/>
                </a:ext>
              </a:extLst>
            </p:cNvPr>
            <p:cNvSpPr/>
            <p:nvPr/>
          </p:nvSpPr>
          <p:spPr>
            <a:xfrm>
              <a:off x="2756869" y="33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94" name="立方体 293">
              <a:extLst>
                <a:ext uri="{FF2B5EF4-FFF2-40B4-BE49-F238E27FC236}">
                  <a16:creationId xmlns:a16="http://schemas.microsoft.com/office/drawing/2014/main" id="{CD334E05-AFAD-8FCE-6A0C-1A3E20F8CCC1}"/>
                </a:ext>
              </a:extLst>
            </p:cNvPr>
            <p:cNvSpPr/>
            <p:nvPr/>
          </p:nvSpPr>
          <p:spPr>
            <a:xfrm>
              <a:off x="2396869" y="42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5" name="立方体 294">
              <a:extLst>
                <a:ext uri="{FF2B5EF4-FFF2-40B4-BE49-F238E27FC236}">
                  <a16:creationId xmlns:a16="http://schemas.microsoft.com/office/drawing/2014/main" id="{F6263807-A9EC-CC9A-8257-E109C039F5B1}"/>
                </a:ext>
              </a:extLst>
            </p:cNvPr>
            <p:cNvSpPr/>
            <p:nvPr/>
          </p:nvSpPr>
          <p:spPr>
            <a:xfrm>
              <a:off x="2666869" y="42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86" name="立方体 285">
              <a:extLst>
                <a:ext uri="{FF2B5EF4-FFF2-40B4-BE49-F238E27FC236}">
                  <a16:creationId xmlns:a16="http://schemas.microsoft.com/office/drawing/2014/main" id="{1976EA27-28C5-0A21-6FA7-7CA636810E46}"/>
                </a:ext>
              </a:extLst>
            </p:cNvPr>
            <p:cNvSpPr/>
            <p:nvPr/>
          </p:nvSpPr>
          <p:spPr>
            <a:xfrm>
              <a:off x="2306869" y="51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7" name="立方体 286">
              <a:extLst>
                <a:ext uri="{FF2B5EF4-FFF2-40B4-BE49-F238E27FC236}">
                  <a16:creationId xmlns:a16="http://schemas.microsoft.com/office/drawing/2014/main" id="{791BA124-078D-D680-0347-0B17C9C60A36}"/>
                </a:ext>
              </a:extLst>
            </p:cNvPr>
            <p:cNvSpPr/>
            <p:nvPr/>
          </p:nvSpPr>
          <p:spPr>
            <a:xfrm>
              <a:off x="2576869" y="51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80" name="立方体 279">
              <a:extLst>
                <a:ext uri="{FF2B5EF4-FFF2-40B4-BE49-F238E27FC236}">
                  <a16:creationId xmlns:a16="http://schemas.microsoft.com/office/drawing/2014/main" id="{5F1AE8E7-5DE8-777B-BD9D-F7BA1D089FB8}"/>
                </a:ext>
              </a:extLst>
            </p:cNvPr>
            <p:cNvSpPr/>
            <p:nvPr/>
          </p:nvSpPr>
          <p:spPr>
            <a:xfrm>
              <a:off x="2216869" y="607345"/>
              <a:ext cx="360000" cy="360000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1" name="立方体 280">
              <a:extLst>
                <a:ext uri="{FF2B5EF4-FFF2-40B4-BE49-F238E27FC236}">
                  <a16:creationId xmlns:a16="http://schemas.microsoft.com/office/drawing/2014/main" id="{EB76537B-4FCD-52F1-B5D3-F303EB8D56F6}"/>
                </a:ext>
              </a:extLst>
            </p:cNvPr>
            <p:cNvSpPr/>
            <p:nvPr/>
          </p:nvSpPr>
          <p:spPr>
            <a:xfrm>
              <a:off x="2486869" y="607345"/>
              <a:ext cx="360000" cy="360000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99" name="直线箭头连接符 398">
              <a:extLst>
                <a:ext uri="{FF2B5EF4-FFF2-40B4-BE49-F238E27FC236}">
                  <a16:creationId xmlns:a16="http://schemas.microsoft.com/office/drawing/2014/main" id="{4A064BB0-F6E9-56C1-9824-0973081DC4AA}"/>
                </a:ext>
              </a:extLst>
            </p:cNvPr>
            <p:cNvCxnSpPr/>
            <p:nvPr/>
          </p:nvCxnSpPr>
          <p:spPr>
            <a:xfrm flipV="1">
              <a:off x="1130938" y="247924"/>
              <a:ext cx="430967" cy="43471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线箭头连接符 400">
              <a:extLst>
                <a:ext uri="{FF2B5EF4-FFF2-40B4-BE49-F238E27FC236}">
                  <a16:creationId xmlns:a16="http://schemas.microsoft.com/office/drawing/2014/main" id="{5BFE4B9C-6B98-C2FC-6406-3256042E5253}"/>
                </a:ext>
              </a:extLst>
            </p:cNvPr>
            <p:cNvCxnSpPr>
              <a:cxnSpLocks/>
            </p:cNvCxnSpPr>
            <p:nvPr/>
          </p:nvCxnSpPr>
          <p:spPr>
            <a:xfrm>
              <a:off x="1130938" y="675143"/>
              <a:ext cx="0" cy="1262921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线箭头连接符 394">
              <a:extLst>
                <a:ext uri="{FF2B5EF4-FFF2-40B4-BE49-F238E27FC236}">
                  <a16:creationId xmlns:a16="http://schemas.microsoft.com/office/drawing/2014/main" id="{B7E4A831-1C4A-F4BF-1630-4B275FFA94C8}"/>
                </a:ext>
              </a:extLst>
            </p:cNvPr>
            <p:cNvCxnSpPr>
              <a:cxnSpLocks/>
            </p:cNvCxnSpPr>
            <p:nvPr/>
          </p:nvCxnSpPr>
          <p:spPr>
            <a:xfrm>
              <a:off x="1127190" y="686386"/>
              <a:ext cx="2113613" cy="0"/>
            </a:xfrm>
            <a:prstGeom prst="straightConnector1">
              <a:avLst/>
            </a:prstGeom>
            <a:grp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4" name="文本框 403">
              <a:extLst>
                <a:ext uri="{FF2B5EF4-FFF2-40B4-BE49-F238E27FC236}">
                  <a16:creationId xmlns:a16="http://schemas.microsoft.com/office/drawing/2014/main" id="{A87C5616-001E-F29F-C0D4-C6D70E17B16F}"/>
                </a:ext>
              </a:extLst>
            </p:cNvPr>
            <p:cNvSpPr txBox="1"/>
            <p:nvPr/>
          </p:nvSpPr>
          <p:spPr>
            <a:xfrm>
              <a:off x="3014843" y="321736"/>
              <a:ext cx="1525390" cy="350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FF0000"/>
                  </a:solidFill>
                  <a:latin typeface="Helvetica" pitchFamily="2" charset="0"/>
                </a:rPr>
                <a:t>Fast-axis</a:t>
              </a:r>
              <a:endParaRPr kumimoji="1" lang="zh-CN" altLang="en-US" sz="800" dirty="0">
                <a:solidFill>
                  <a:srgbClr val="FF0000"/>
                </a:solidFill>
                <a:latin typeface="Helvetica" pitchFamily="2" charset="0"/>
              </a:endParaRPr>
            </a:p>
          </p:txBody>
        </p:sp>
      </p:grpSp>
      <p:sp>
        <p:nvSpPr>
          <p:cNvPr id="407" name="文本框 406">
            <a:extLst>
              <a:ext uri="{FF2B5EF4-FFF2-40B4-BE49-F238E27FC236}">
                <a16:creationId xmlns:a16="http://schemas.microsoft.com/office/drawing/2014/main" id="{8CF1B0DE-4B7C-48ED-AE6A-B48F15453F27}"/>
              </a:ext>
            </a:extLst>
          </p:cNvPr>
          <p:cNvSpPr txBox="1"/>
          <p:nvPr/>
        </p:nvSpPr>
        <p:spPr>
          <a:xfrm>
            <a:off x="628033" y="691942"/>
            <a:ext cx="1953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Main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Memory</a:t>
            </a:r>
          </a:p>
        </p:txBody>
      </p:sp>
      <p:grpSp>
        <p:nvGrpSpPr>
          <p:cNvPr id="572" name="组合 571">
            <a:extLst>
              <a:ext uri="{FF2B5EF4-FFF2-40B4-BE49-F238E27FC236}">
                <a16:creationId xmlns:a16="http://schemas.microsoft.com/office/drawing/2014/main" id="{4A3595E1-EAE8-0FB7-8F54-E5DB6182866A}"/>
              </a:ext>
            </a:extLst>
          </p:cNvPr>
          <p:cNvGrpSpPr/>
          <p:nvPr/>
        </p:nvGrpSpPr>
        <p:grpSpPr>
          <a:xfrm>
            <a:off x="5646911" y="1043973"/>
            <a:ext cx="1052041" cy="222251"/>
            <a:chOff x="3066145" y="3888703"/>
            <a:chExt cx="1052041" cy="22225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478" name="立方体 477">
              <a:extLst>
                <a:ext uri="{FF2B5EF4-FFF2-40B4-BE49-F238E27FC236}">
                  <a16:creationId xmlns:a16="http://schemas.microsoft.com/office/drawing/2014/main" id="{6B9B87CF-85C6-8ED2-9B7B-2F891CFC26AF}"/>
                </a:ext>
              </a:extLst>
            </p:cNvPr>
            <p:cNvSpPr/>
            <p:nvPr/>
          </p:nvSpPr>
          <p:spPr>
            <a:xfrm>
              <a:off x="3066145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9" name="立方体 478">
              <a:extLst>
                <a:ext uri="{FF2B5EF4-FFF2-40B4-BE49-F238E27FC236}">
                  <a16:creationId xmlns:a16="http://schemas.microsoft.com/office/drawing/2014/main" id="{1D951A82-DEAC-F205-B158-1E4A309C63C2}"/>
                </a:ext>
              </a:extLst>
            </p:cNvPr>
            <p:cNvSpPr/>
            <p:nvPr/>
          </p:nvSpPr>
          <p:spPr>
            <a:xfrm>
              <a:off x="3232257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76" name="立方体 475">
              <a:extLst>
                <a:ext uri="{FF2B5EF4-FFF2-40B4-BE49-F238E27FC236}">
                  <a16:creationId xmlns:a16="http://schemas.microsoft.com/office/drawing/2014/main" id="{2FF54F74-DCA1-5202-E828-75A1D9C8D5EF}"/>
                </a:ext>
              </a:extLst>
            </p:cNvPr>
            <p:cNvSpPr/>
            <p:nvPr/>
          </p:nvSpPr>
          <p:spPr>
            <a:xfrm>
              <a:off x="3398369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77" name="立方体 476">
              <a:extLst>
                <a:ext uri="{FF2B5EF4-FFF2-40B4-BE49-F238E27FC236}">
                  <a16:creationId xmlns:a16="http://schemas.microsoft.com/office/drawing/2014/main" id="{79C2DE3C-F23F-7C5B-E54C-BFA6460F6561}"/>
                </a:ext>
              </a:extLst>
            </p:cNvPr>
            <p:cNvSpPr/>
            <p:nvPr/>
          </p:nvSpPr>
          <p:spPr>
            <a:xfrm>
              <a:off x="3564481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34" name="立方体 433">
              <a:extLst>
                <a:ext uri="{FF2B5EF4-FFF2-40B4-BE49-F238E27FC236}">
                  <a16:creationId xmlns:a16="http://schemas.microsoft.com/office/drawing/2014/main" id="{115E0AEF-1333-4AE8-9379-4A7D66630FB3}"/>
                </a:ext>
              </a:extLst>
            </p:cNvPr>
            <p:cNvSpPr/>
            <p:nvPr/>
          </p:nvSpPr>
          <p:spPr>
            <a:xfrm>
              <a:off x="3730592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5" name="立方体 434">
              <a:extLst>
                <a:ext uri="{FF2B5EF4-FFF2-40B4-BE49-F238E27FC236}">
                  <a16:creationId xmlns:a16="http://schemas.microsoft.com/office/drawing/2014/main" id="{0413986C-0D56-7D93-5914-2444CAB933AB}"/>
                </a:ext>
              </a:extLst>
            </p:cNvPr>
            <p:cNvSpPr/>
            <p:nvPr/>
          </p:nvSpPr>
          <p:spPr>
            <a:xfrm>
              <a:off x="3896704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574" name="直线连接符 573">
            <a:extLst>
              <a:ext uri="{FF2B5EF4-FFF2-40B4-BE49-F238E27FC236}">
                <a16:creationId xmlns:a16="http://schemas.microsoft.com/office/drawing/2014/main" id="{62C941B4-07A4-B962-A4C6-4DFFD741BBF9}"/>
              </a:ext>
            </a:extLst>
          </p:cNvPr>
          <p:cNvCxnSpPr>
            <a:cxnSpLocks/>
            <a:stCxn id="281" idx="4"/>
          </p:cNvCxnSpPr>
          <p:nvPr/>
        </p:nvCxnSpPr>
        <p:spPr>
          <a:xfrm>
            <a:off x="4765613" y="682602"/>
            <a:ext cx="893187" cy="5179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6" name="文本框 575">
            <a:extLst>
              <a:ext uri="{FF2B5EF4-FFF2-40B4-BE49-F238E27FC236}">
                <a16:creationId xmlns:a16="http://schemas.microsoft.com/office/drawing/2014/main" id="{901D21E2-781F-898B-34EF-FEE36AFEB802}"/>
              </a:ext>
            </a:extLst>
          </p:cNvPr>
          <p:cNvSpPr txBox="1"/>
          <p:nvPr/>
        </p:nvSpPr>
        <p:spPr>
          <a:xfrm>
            <a:off x="5479403" y="596152"/>
            <a:ext cx="1928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1000" b="1" baseline="-25000" dirty="0" err="1">
                <a:latin typeface="Helvetica" pitchFamily="2" charset="0"/>
              </a:rPr>
              <a:t>batch</a:t>
            </a:r>
            <a:r>
              <a:rPr kumimoji="1" lang="zh-CN" altLang="en-US" sz="1000" b="1" dirty="0">
                <a:latin typeface="Helvetica" pitchFamily="2" charset="0"/>
              </a:rPr>
              <a:t> </a:t>
            </a:r>
            <a:r>
              <a:rPr lang="zh-CN" altLang="zh-CN" sz="1000" b="1" dirty="0">
                <a:latin typeface="Helvetica" pitchFamily="2" charset="0"/>
              </a:rPr>
              <a:t>adjacent fast-axis blocks assigned to </a:t>
            </a:r>
            <a:r>
              <a:rPr lang="en-US" altLang="zh-CN" sz="1000" b="1" dirty="0">
                <a:latin typeface="Helvetica" pitchFamily="2" charset="0"/>
              </a:rPr>
              <a:t>1</a:t>
            </a:r>
            <a:r>
              <a:rPr lang="zh-CN" altLang="zh-CN" sz="1000" b="1" dirty="0">
                <a:latin typeface="Helvetica" pitchFamily="2" charset="0"/>
              </a:rPr>
              <a:t> CPE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581" name="文本框 580">
            <a:extLst>
              <a:ext uri="{FF2B5EF4-FFF2-40B4-BE49-F238E27FC236}">
                <a16:creationId xmlns:a16="http://schemas.microsoft.com/office/drawing/2014/main" id="{AB3E5C89-74FF-96D1-B5A2-FCAF78277EF2}"/>
              </a:ext>
            </a:extLst>
          </p:cNvPr>
          <p:cNvSpPr txBox="1"/>
          <p:nvPr/>
        </p:nvSpPr>
        <p:spPr>
          <a:xfrm>
            <a:off x="2551328" y="573131"/>
            <a:ext cx="11598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Original or</a:t>
            </a:r>
          </a:p>
          <a:p>
            <a:pPr algn="ctr"/>
            <a:r>
              <a:rPr kumimoji="1" lang="en-US" altLang="zh-CN" sz="1000" b="1" dirty="0">
                <a:latin typeface="Helvetica" pitchFamily="2" charset="0"/>
              </a:rPr>
              <a:t>Reconstructed</a:t>
            </a:r>
          </a:p>
          <a:p>
            <a:pPr algn="ctr"/>
            <a:r>
              <a:rPr kumimoji="1" lang="en-US" altLang="zh-CN" sz="1000" b="1" dirty="0">
                <a:latin typeface="Helvetica" pitchFamily="2" charset="0"/>
              </a:rPr>
              <a:t>Data</a:t>
            </a:r>
          </a:p>
        </p:txBody>
      </p:sp>
      <p:sp>
        <p:nvSpPr>
          <p:cNvPr id="583" name="圆角矩形 582">
            <a:extLst>
              <a:ext uri="{FF2B5EF4-FFF2-40B4-BE49-F238E27FC236}">
                <a16:creationId xmlns:a16="http://schemas.microsoft.com/office/drawing/2014/main" id="{9B3CE85A-00FF-C6AC-900F-3E0B9A1903EC}"/>
              </a:ext>
            </a:extLst>
          </p:cNvPr>
          <p:cNvSpPr/>
          <p:nvPr/>
        </p:nvSpPr>
        <p:spPr>
          <a:xfrm>
            <a:off x="521495" y="1638666"/>
            <a:ext cx="11244262" cy="3520831"/>
          </a:xfrm>
          <a:prstGeom prst="roundRect">
            <a:avLst>
              <a:gd name="adj" fmla="val 401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5" name="文本框 584">
            <a:extLst>
              <a:ext uri="{FF2B5EF4-FFF2-40B4-BE49-F238E27FC236}">
                <a16:creationId xmlns:a16="http://schemas.microsoft.com/office/drawing/2014/main" id="{A77454F7-B011-35C4-B99E-21C35F89D065}"/>
              </a:ext>
            </a:extLst>
          </p:cNvPr>
          <p:cNvSpPr txBox="1"/>
          <p:nvPr/>
        </p:nvSpPr>
        <p:spPr>
          <a:xfrm>
            <a:off x="628033" y="1698503"/>
            <a:ext cx="346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>
                <a:latin typeface="Helvetica" pitchFamily="2" charset="0"/>
              </a:rPr>
              <a:t>Core Group (CG): 1 MPE + 64 CPEs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582" name="圆角矩形 581">
            <a:extLst>
              <a:ext uri="{FF2B5EF4-FFF2-40B4-BE49-F238E27FC236}">
                <a16:creationId xmlns:a16="http://schemas.microsoft.com/office/drawing/2014/main" id="{093493F7-AC05-BA42-33D1-306D01AA2F21}"/>
              </a:ext>
            </a:extLst>
          </p:cNvPr>
          <p:cNvSpPr/>
          <p:nvPr/>
        </p:nvSpPr>
        <p:spPr>
          <a:xfrm>
            <a:off x="692168" y="2006282"/>
            <a:ext cx="2202286" cy="2980700"/>
          </a:xfrm>
          <a:prstGeom prst="roundRect">
            <a:avLst>
              <a:gd name="adj" fmla="val 8676"/>
            </a:avLst>
          </a:prstGeom>
          <a:solidFill>
            <a:srgbClr val="FFFFE4">
              <a:alpha val="8823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4" name="文本框 583">
            <a:extLst>
              <a:ext uri="{FF2B5EF4-FFF2-40B4-BE49-F238E27FC236}">
                <a16:creationId xmlns:a16="http://schemas.microsoft.com/office/drawing/2014/main" id="{A47CC7F2-F5E8-F35F-C77C-6ACBBFDB1E0A}"/>
              </a:ext>
            </a:extLst>
          </p:cNvPr>
          <p:cNvSpPr txBox="1"/>
          <p:nvPr/>
        </p:nvSpPr>
        <p:spPr>
          <a:xfrm>
            <a:off x="838097" y="2066117"/>
            <a:ext cx="754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MPE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586" name="圆角矩形 585">
            <a:extLst>
              <a:ext uri="{FF2B5EF4-FFF2-40B4-BE49-F238E27FC236}">
                <a16:creationId xmlns:a16="http://schemas.microsoft.com/office/drawing/2014/main" id="{BC4D34BD-2B4D-A765-B611-DB1997E0671B}"/>
              </a:ext>
            </a:extLst>
          </p:cNvPr>
          <p:cNvSpPr/>
          <p:nvPr/>
        </p:nvSpPr>
        <p:spPr>
          <a:xfrm>
            <a:off x="823829" y="2629007"/>
            <a:ext cx="1938964" cy="444053"/>
          </a:xfrm>
          <a:prstGeom prst="roundRect">
            <a:avLst>
              <a:gd name="adj" fmla="val 8676"/>
            </a:avLst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Parameter</a:t>
            </a:r>
            <a:r>
              <a:rPr kumimoji="1" lang="zh-CN" altLang="en-US" sz="12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checking</a:t>
            </a:r>
          </a:p>
        </p:txBody>
      </p:sp>
      <p:sp>
        <p:nvSpPr>
          <p:cNvPr id="587" name="圆角矩形 586">
            <a:extLst>
              <a:ext uri="{FF2B5EF4-FFF2-40B4-BE49-F238E27FC236}">
                <a16:creationId xmlns:a16="http://schemas.microsoft.com/office/drawing/2014/main" id="{66358049-336D-6580-B49A-D8B56A1D6766}"/>
              </a:ext>
            </a:extLst>
          </p:cNvPr>
          <p:cNvSpPr/>
          <p:nvPr/>
        </p:nvSpPr>
        <p:spPr>
          <a:xfrm>
            <a:off x="823829" y="3168754"/>
            <a:ext cx="1938964" cy="444053"/>
          </a:xfrm>
          <a:prstGeom prst="roundRect">
            <a:avLst>
              <a:gd name="adj" fmla="val 8676"/>
            </a:avLst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Task construction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88" name="圆角矩形 587">
            <a:extLst>
              <a:ext uri="{FF2B5EF4-FFF2-40B4-BE49-F238E27FC236}">
                <a16:creationId xmlns:a16="http://schemas.microsoft.com/office/drawing/2014/main" id="{093741A2-D9E6-13CB-9A7A-89B3B06292CD}"/>
              </a:ext>
            </a:extLst>
          </p:cNvPr>
          <p:cNvSpPr/>
          <p:nvPr/>
        </p:nvSpPr>
        <p:spPr>
          <a:xfrm>
            <a:off x="817810" y="3743606"/>
            <a:ext cx="1938964" cy="442800"/>
          </a:xfrm>
          <a:prstGeom prst="roundRect">
            <a:avLst>
              <a:gd name="adj" fmla="val 8676"/>
            </a:avLst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 launch &amp;</a:t>
            </a:r>
          </a:p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synchronization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89" name="圆角矩形 588">
            <a:extLst>
              <a:ext uri="{FF2B5EF4-FFF2-40B4-BE49-F238E27FC236}">
                <a16:creationId xmlns:a16="http://schemas.microsoft.com/office/drawing/2014/main" id="{C19A978F-41CF-910F-5E95-98DD0A54EEBC}"/>
              </a:ext>
            </a:extLst>
          </p:cNvPr>
          <p:cNvSpPr/>
          <p:nvPr/>
        </p:nvSpPr>
        <p:spPr>
          <a:xfrm>
            <a:off x="817810" y="4297678"/>
            <a:ext cx="1938964" cy="581757"/>
          </a:xfrm>
          <a:prstGeom prst="roundRect">
            <a:avLst>
              <a:gd name="adj" fmla="val 8676"/>
            </a:avLst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Stream</a:t>
            </a:r>
            <a:r>
              <a:rPr kumimoji="1" lang="zh-CN" altLang="en-US" sz="12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/</a:t>
            </a:r>
            <a:r>
              <a:rPr kumimoji="1" lang="zh-CN" altLang="en-US" sz="12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Slot management</a:t>
            </a:r>
          </a:p>
        </p:txBody>
      </p:sp>
      <p:sp>
        <p:nvSpPr>
          <p:cNvPr id="590" name="圆角矩形 589">
            <a:extLst>
              <a:ext uri="{FF2B5EF4-FFF2-40B4-BE49-F238E27FC236}">
                <a16:creationId xmlns:a16="http://schemas.microsoft.com/office/drawing/2014/main" id="{3F24A258-6558-4874-6E4B-7C2E644860DA}"/>
              </a:ext>
            </a:extLst>
          </p:cNvPr>
          <p:cNvSpPr/>
          <p:nvPr/>
        </p:nvSpPr>
        <p:spPr>
          <a:xfrm>
            <a:off x="3714517" y="2321070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1" name="圆角矩形 590">
            <a:extLst>
              <a:ext uri="{FF2B5EF4-FFF2-40B4-BE49-F238E27FC236}">
                <a16:creationId xmlns:a16="http://schemas.microsoft.com/office/drawing/2014/main" id="{F1B9B608-A261-6C23-284E-F812DF335E82}"/>
              </a:ext>
            </a:extLst>
          </p:cNvPr>
          <p:cNvSpPr/>
          <p:nvPr/>
        </p:nvSpPr>
        <p:spPr>
          <a:xfrm>
            <a:off x="3715610" y="2697760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2" name="圆角矩形 591">
            <a:extLst>
              <a:ext uri="{FF2B5EF4-FFF2-40B4-BE49-F238E27FC236}">
                <a16:creationId xmlns:a16="http://schemas.microsoft.com/office/drawing/2014/main" id="{78010EB2-D173-23CB-7EDB-ABE985AFDDAA}"/>
              </a:ext>
            </a:extLst>
          </p:cNvPr>
          <p:cNvSpPr/>
          <p:nvPr/>
        </p:nvSpPr>
        <p:spPr>
          <a:xfrm>
            <a:off x="3714517" y="3074450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" name="圆角矩形 593">
            <a:extLst>
              <a:ext uri="{FF2B5EF4-FFF2-40B4-BE49-F238E27FC236}">
                <a16:creationId xmlns:a16="http://schemas.microsoft.com/office/drawing/2014/main" id="{280145B6-1F7C-3D49-9810-0647AA9BCC6B}"/>
              </a:ext>
            </a:extLst>
          </p:cNvPr>
          <p:cNvSpPr/>
          <p:nvPr/>
        </p:nvSpPr>
        <p:spPr>
          <a:xfrm>
            <a:off x="3727595" y="3722900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 err="1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6" name="圆角矩形 595">
            <a:extLst>
              <a:ext uri="{FF2B5EF4-FFF2-40B4-BE49-F238E27FC236}">
                <a16:creationId xmlns:a16="http://schemas.microsoft.com/office/drawing/2014/main" id="{338C6F8B-7366-365F-9C9B-86D5DD22FA25}"/>
              </a:ext>
            </a:extLst>
          </p:cNvPr>
          <p:cNvSpPr/>
          <p:nvPr/>
        </p:nvSpPr>
        <p:spPr>
          <a:xfrm>
            <a:off x="3736105" y="4411259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7" name="文本框 596">
            <a:extLst>
              <a:ext uri="{FF2B5EF4-FFF2-40B4-BE49-F238E27FC236}">
                <a16:creationId xmlns:a16="http://schemas.microsoft.com/office/drawing/2014/main" id="{42641F2F-00C9-4999-E0A4-2E4AD51EF143}"/>
              </a:ext>
            </a:extLst>
          </p:cNvPr>
          <p:cNvSpPr txBox="1"/>
          <p:nvPr/>
        </p:nvSpPr>
        <p:spPr>
          <a:xfrm>
            <a:off x="3906282" y="3354152"/>
            <a:ext cx="34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…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598" name="文本框 597">
            <a:extLst>
              <a:ext uri="{FF2B5EF4-FFF2-40B4-BE49-F238E27FC236}">
                <a16:creationId xmlns:a16="http://schemas.microsoft.com/office/drawing/2014/main" id="{6C5A652F-4D32-7A8B-FF7A-4C3E0D4D30CE}"/>
              </a:ext>
            </a:extLst>
          </p:cNvPr>
          <p:cNvSpPr txBox="1"/>
          <p:nvPr/>
        </p:nvSpPr>
        <p:spPr>
          <a:xfrm>
            <a:off x="3919001" y="4042511"/>
            <a:ext cx="34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…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599" name="圆角矩形 598">
            <a:extLst>
              <a:ext uri="{FF2B5EF4-FFF2-40B4-BE49-F238E27FC236}">
                <a16:creationId xmlns:a16="http://schemas.microsoft.com/office/drawing/2014/main" id="{4687A0FF-A26C-E9EF-F447-A921518FA8F4}"/>
              </a:ext>
            </a:extLst>
          </p:cNvPr>
          <p:cNvSpPr/>
          <p:nvPr/>
        </p:nvSpPr>
        <p:spPr>
          <a:xfrm>
            <a:off x="3614750" y="2185682"/>
            <a:ext cx="919771" cy="2801305"/>
          </a:xfrm>
          <a:prstGeom prst="roundRect">
            <a:avLst>
              <a:gd name="adj" fmla="val 4015"/>
            </a:avLst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01" name="直线箭头连接符 600">
            <a:extLst>
              <a:ext uri="{FF2B5EF4-FFF2-40B4-BE49-F238E27FC236}">
                <a16:creationId xmlns:a16="http://schemas.microsoft.com/office/drawing/2014/main" id="{76D45FC5-3F8F-A094-13A4-123FC35FB5D7}"/>
              </a:ext>
            </a:extLst>
          </p:cNvPr>
          <p:cNvCxnSpPr/>
          <p:nvPr/>
        </p:nvCxnSpPr>
        <p:spPr>
          <a:xfrm>
            <a:off x="2969404" y="2863121"/>
            <a:ext cx="6015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直线箭头连接符 601">
            <a:extLst>
              <a:ext uri="{FF2B5EF4-FFF2-40B4-BE49-F238E27FC236}">
                <a16:creationId xmlns:a16="http://schemas.microsoft.com/office/drawing/2014/main" id="{41DFBB48-DC88-DE06-0315-D7FF9B6C4D79}"/>
              </a:ext>
            </a:extLst>
          </p:cNvPr>
          <p:cNvCxnSpPr>
            <a:cxnSpLocks/>
          </p:cNvCxnSpPr>
          <p:nvPr/>
        </p:nvCxnSpPr>
        <p:spPr>
          <a:xfrm rot="10800000">
            <a:off x="2969404" y="4324736"/>
            <a:ext cx="6015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圆角矩形 604">
            <a:extLst>
              <a:ext uri="{FF2B5EF4-FFF2-40B4-BE49-F238E27FC236}">
                <a16:creationId xmlns:a16="http://schemas.microsoft.com/office/drawing/2014/main" id="{C83493FE-C115-2325-C3DC-56797385DA9A}"/>
              </a:ext>
            </a:extLst>
          </p:cNvPr>
          <p:cNvSpPr/>
          <p:nvPr/>
        </p:nvSpPr>
        <p:spPr>
          <a:xfrm>
            <a:off x="4966473" y="1773936"/>
            <a:ext cx="6597493" cy="3213053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zh-CN" altLang="en-US" sz="800" baseline="-250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608" name="直线连接符 607">
            <a:extLst>
              <a:ext uri="{FF2B5EF4-FFF2-40B4-BE49-F238E27FC236}">
                <a16:creationId xmlns:a16="http://schemas.microsoft.com/office/drawing/2014/main" id="{645AA43F-FA68-3978-0663-1A60D631BED8}"/>
              </a:ext>
            </a:extLst>
          </p:cNvPr>
          <p:cNvCxnSpPr>
            <a:cxnSpLocks/>
          </p:cNvCxnSpPr>
          <p:nvPr/>
        </p:nvCxnSpPr>
        <p:spPr>
          <a:xfrm flipV="1">
            <a:off x="4447710" y="2919883"/>
            <a:ext cx="518763" cy="803017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直线连接符 609">
            <a:extLst>
              <a:ext uri="{FF2B5EF4-FFF2-40B4-BE49-F238E27FC236}">
                <a16:creationId xmlns:a16="http://schemas.microsoft.com/office/drawing/2014/main" id="{079EADD1-F0B2-3C1E-4BD9-20CF50BBDF8E}"/>
              </a:ext>
            </a:extLst>
          </p:cNvPr>
          <p:cNvCxnSpPr>
            <a:cxnSpLocks/>
          </p:cNvCxnSpPr>
          <p:nvPr/>
        </p:nvCxnSpPr>
        <p:spPr>
          <a:xfrm>
            <a:off x="4452706" y="4022226"/>
            <a:ext cx="513767" cy="3779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矩形 612">
            <a:extLst>
              <a:ext uri="{FF2B5EF4-FFF2-40B4-BE49-F238E27FC236}">
                <a16:creationId xmlns:a16="http://schemas.microsoft.com/office/drawing/2014/main" id="{0FB6D6AB-0AD5-03E9-6652-F55656EF6E09}"/>
              </a:ext>
            </a:extLst>
          </p:cNvPr>
          <p:cNvSpPr/>
          <p:nvPr/>
        </p:nvSpPr>
        <p:spPr>
          <a:xfrm>
            <a:off x="5075315" y="2109051"/>
            <a:ext cx="6362180" cy="7747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4" name="文本框 613">
            <a:extLst>
              <a:ext uri="{FF2B5EF4-FFF2-40B4-BE49-F238E27FC236}">
                <a16:creationId xmlns:a16="http://schemas.microsoft.com/office/drawing/2014/main" id="{28442378-A98A-E7CE-8329-A0511D81AF03}"/>
              </a:ext>
            </a:extLst>
          </p:cNvPr>
          <p:cNvSpPr txBox="1"/>
          <p:nvPr/>
        </p:nvSpPr>
        <p:spPr>
          <a:xfrm>
            <a:off x="10064053" y="2387106"/>
            <a:ext cx="1398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400" b="1" dirty="0">
                <a:latin typeface="Helvetica" pitchFamily="2" charset="0"/>
              </a:rPr>
              <a:t>LDM</a:t>
            </a:r>
            <a:r>
              <a:rPr kumimoji="1" lang="en-US" altLang="zh-CN" sz="1200" b="1" dirty="0">
                <a:latin typeface="Helvetica" pitchFamily="2" charset="0"/>
              </a:rPr>
              <a:t> </a:t>
            </a:r>
          </a:p>
        </p:txBody>
      </p:sp>
      <p:sp>
        <p:nvSpPr>
          <p:cNvPr id="615" name="矩形 614">
            <a:extLst>
              <a:ext uri="{FF2B5EF4-FFF2-40B4-BE49-F238E27FC236}">
                <a16:creationId xmlns:a16="http://schemas.microsoft.com/office/drawing/2014/main" id="{1F3322FF-E784-525D-DEF9-B42DE9053254}"/>
              </a:ext>
            </a:extLst>
          </p:cNvPr>
          <p:cNvSpPr/>
          <p:nvPr/>
        </p:nvSpPr>
        <p:spPr>
          <a:xfrm>
            <a:off x="8461299" y="2278506"/>
            <a:ext cx="1620799" cy="3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7919DA28-55F4-7763-27E0-34350421067E}"/>
              </a:ext>
            </a:extLst>
          </p:cNvPr>
          <p:cNvSpPr/>
          <p:nvPr/>
        </p:nvSpPr>
        <p:spPr>
          <a:xfrm>
            <a:off x="5221300" y="2278506"/>
            <a:ext cx="162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617" name="矩形 616">
            <a:extLst>
              <a:ext uri="{FF2B5EF4-FFF2-40B4-BE49-F238E27FC236}">
                <a16:creationId xmlns:a16="http://schemas.microsoft.com/office/drawing/2014/main" id="{A910D913-5026-81F6-CA29-49AE74D33287}"/>
              </a:ext>
            </a:extLst>
          </p:cNvPr>
          <p:cNvSpPr/>
          <p:nvPr/>
        </p:nvSpPr>
        <p:spPr>
          <a:xfrm>
            <a:off x="6841300" y="2278506"/>
            <a:ext cx="1620000" cy="360000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Transform, reorder, </a:t>
            </a:r>
            <a:endParaRPr lang="en-US" altLang="zh-CN" sz="8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SIMD/state temporaries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grpSp>
        <p:nvGrpSpPr>
          <p:cNvPr id="626" name="组合 625">
            <a:extLst>
              <a:ext uri="{FF2B5EF4-FFF2-40B4-BE49-F238E27FC236}">
                <a16:creationId xmlns:a16="http://schemas.microsoft.com/office/drawing/2014/main" id="{AB8DD125-B469-3DAD-6DDD-3D21E9AA3F7D}"/>
              </a:ext>
            </a:extLst>
          </p:cNvPr>
          <p:cNvGrpSpPr/>
          <p:nvPr/>
        </p:nvGrpSpPr>
        <p:grpSpPr>
          <a:xfrm>
            <a:off x="5393939" y="2343470"/>
            <a:ext cx="1052041" cy="222251"/>
            <a:chOff x="3066145" y="3888703"/>
            <a:chExt cx="1052041" cy="22225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27" name="立方体 626">
              <a:extLst>
                <a:ext uri="{FF2B5EF4-FFF2-40B4-BE49-F238E27FC236}">
                  <a16:creationId xmlns:a16="http://schemas.microsoft.com/office/drawing/2014/main" id="{0463E67D-6B2D-6324-B9BE-01D388D10FF0}"/>
                </a:ext>
              </a:extLst>
            </p:cNvPr>
            <p:cNvSpPr/>
            <p:nvPr/>
          </p:nvSpPr>
          <p:spPr>
            <a:xfrm>
              <a:off x="3066145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8" name="立方体 627">
              <a:extLst>
                <a:ext uri="{FF2B5EF4-FFF2-40B4-BE49-F238E27FC236}">
                  <a16:creationId xmlns:a16="http://schemas.microsoft.com/office/drawing/2014/main" id="{32BBAB99-1D45-7F4E-AA1F-4AB7F09A2224}"/>
                </a:ext>
              </a:extLst>
            </p:cNvPr>
            <p:cNvSpPr/>
            <p:nvPr/>
          </p:nvSpPr>
          <p:spPr>
            <a:xfrm>
              <a:off x="3232257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29" name="立方体 628">
              <a:extLst>
                <a:ext uri="{FF2B5EF4-FFF2-40B4-BE49-F238E27FC236}">
                  <a16:creationId xmlns:a16="http://schemas.microsoft.com/office/drawing/2014/main" id="{0BD3AAAE-6352-89E7-37B0-A7251A1E7E80}"/>
                </a:ext>
              </a:extLst>
            </p:cNvPr>
            <p:cNvSpPr/>
            <p:nvPr/>
          </p:nvSpPr>
          <p:spPr>
            <a:xfrm>
              <a:off x="3398369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0" name="立方体 629">
              <a:extLst>
                <a:ext uri="{FF2B5EF4-FFF2-40B4-BE49-F238E27FC236}">
                  <a16:creationId xmlns:a16="http://schemas.microsoft.com/office/drawing/2014/main" id="{183571EC-6742-B19A-4047-E4721EECEE60}"/>
                </a:ext>
              </a:extLst>
            </p:cNvPr>
            <p:cNvSpPr/>
            <p:nvPr/>
          </p:nvSpPr>
          <p:spPr>
            <a:xfrm>
              <a:off x="3564481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31" name="立方体 630">
              <a:extLst>
                <a:ext uri="{FF2B5EF4-FFF2-40B4-BE49-F238E27FC236}">
                  <a16:creationId xmlns:a16="http://schemas.microsoft.com/office/drawing/2014/main" id="{66ABE370-06F8-ADD7-FF82-84795E45AB99}"/>
                </a:ext>
              </a:extLst>
            </p:cNvPr>
            <p:cNvSpPr/>
            <p:nvPr/>
          </p:nvSpPr>
          <p:spPr>
            <a:xfrm>
              <a:off x="3730592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2" name="立方体 631">
              <a:extLst>
                <a:ext uri="{FF2B5EF4-FFF2-40B4-BE49-F238E27FC236}">
                  <a16:creationId xmlns:a16="http://schemas.microsoft.com/office/drawing/2014/main" id="{6F02B317-4E80-651C-E3F8-D1DE4E6F37B4}"/>
                </a:ext>
              </a:extLst>
            </p:cNvPr>
            <p:cNvSpPr/>
            <p:nvPr/>
          </p:nvSpPr>
          <p:spPr>
            <a:xfrm>
              <a:off x="3896704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633" name="文本框 632">
            <a:extLst>
              <a:ext uri="{FF2B5EF4-FFF2-40B4-BE49-F238E27FC236}">
                <a16:creationId xmlns:a16="http://schemas.microsoft.com/office/drawing/2014/main" id="{29A6455C-4886-1FDA-0E75-C611A2755C14}"/>
              </a:ext>
            </a:extLst>
          </p:cNvPr>
          <p:cNvSpPr txBox="1"/>
          <p:nvPr/>
        </p:nvSpPr>
        <p:spPr>
          <a:xfrm>
            <a:off x="5400685" y="2648885"/>
            <a:ext cx="1184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Block</a:t>
            </a:r>
            <a:r>
              <a:rPr kumimoji="1" lang="zh-CN" altLang="en-US" sz="1000" b="1" dirty="0">
                <a:latin typeface="Helvetica" pitchFamily="2" charset="0"/>
              </a:rPr>
              <a:t> </a:t>
            </a:r>
            <a:r>
              <a:rPr kumimoji="1" lang="en-US" altLang="zh-CN" sz="1000" b="1" dirty="0">
                <a:latin typeface="Helvetica" pitchFamily="2" charset="0"/>
              </a:rPr>
              <a:t>Buffer(s)</a:t>
            </a:r>
          </a:p>
        </p:txBody>
      </p:sp>
      <p:sp>
        <p:nvSpPr>
          <p:cNvPr id="634" name="文本框 633">
            <a:extLst>
              <a:ext uri="{FF2B5EF4-FFF2-40B4-BE49-F238E27FC236}">
                <a16:creationId xmlns:a16="http://schemas.microsoft.com/office/drawing/2014/main" id="{CEC23B44-BD32-0305-88D5-9A95BF96302F}"/>
              </a:ext>
            </a:extLst>
          </p:cNvPr>
          <p:cNvSpPr txBox="1"/>
          <p:nvPr/>
        </p:nvSpPr>
        <p:spPr>
          <a:xfrm>
            <a:off x="8866299" y="2627853"/>
            <a:ext cx="1661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Slot</a:t>
            </a:r>
            <a:r>
              <a:rPr kumimoji="1" lang="zh-CN" altLang="en-US" sz="1000" b="1" dirty="0">
                <a:latin typeface="Helvetica" pitchFamily="2" charset="0"/>
              </a:rPr>
              <a:t> </a:t>
            </a:r>
            <a:r>
              <a:rPr kumimoji="1" lang="en-US" altLang="zh-CN" sz="1000" b="1" dirty="0">
                <a:latin typeface="Helvetica" pitchFamily="2" charset="0"/>
              </a:rPr>
              <a:t>Buffer</a:t>
            </a:r>
          </a:p>
        </p:txBody>
      </p:sp>
      <p:sp>
        <p:nvSpPr>
          <p:cNvPr id="639" name="文本框 638">
            <a:extLst>
              <a:ext uri="{FF2B5EF4-FFF2-40B4-BE49-F238E27FC236}">
                <a16:creationId xmlns:a16="http://schemas.microsoft.com/office/drawing/2014/main" id="{ED2C0F2D-FAE9-515D-C93E-0179FE792876}"/>
              </a:ext>
            </a:extLst>
          </p:cNvPr>
          <p:cNvSpPr txBox="1"/>
          <p:nvPr/>
        </p:nvSpPr>
        <p:spPr>
          <a:xfrm>
            <a:off x="5880200" y="1418856"/>
            <a:ext cx="2606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elvetica" pitchFamily="2" charset="0"/>
              </a:rPr>
              <a:t>DMA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200" b="1" dirty="0">
                <a:latin typeface="Helvetica" pitchFamily="2" charset="0"/>
              </a:rPr>
              <a:t>GET(encode) / PUT(decode)</a:t>
            </a:r>
          </a:p>
        </p:txBody>
      </p:sp>
      <p:sp>
        <p:nvSpPr>
          <p:cNvPr id="640" name="文本框 639">
            <a:extLst>
              <a:ext uri="{FF2B5EF4-FFF2-40B4-BE49-F238E27FC236}">
                <a16:creationId xmlns:a16="http://schemas.microsoft.com/office/drawing/2014/main" id="{2B0AFE0E-C537-BD40-2A1A-4C2D82A38832}"/>
              </a:ext>
            </a:extLst>
          </p:cNvPr>
          <p:cNvSpPr txBox="1"/>
          <p:nvPr/>
        </p:nvSpPr>
        <p:spPr>
          <a:xfrm>
            <a:off x="7240067" y="2628758"/>
            <a:ext cx="8814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Workspace</a:t>
            </a:r>
          </a:p>
        </p:txBody>
      </p:sp>
      <p:sp>
        <p:nvSpPr>
          <p:cNvPr id="641" name="圆角矩形 640">
            <a:extLst>
              <a:ext uri="{FF2B5EF4-FFF2-40B4-BE49-F238E27FC236}">
                <a16:creationId xmlns:a16="http://schemas.microsoft.com/office/drawing/2014/main" id="{EBD2F3BF-F9D5-1126-2B89-3721C8E5FACC}"/>
              </a:ext>
            </a:extLst>
          </p:cNvPr>
          <p:cNvSpPr/>
          <p:nvPr/>
        </p:nvSpPr>
        <p:spPr>
          <a:xfrm>
            <a:off x="5067946" y="2958670"/>
            <a:ext cx="6369550" cy="1930884"/>
          </a:xfrm>
          <a:prstGeom prst="roundRect">
            <a:avLst>
              <a:gd name="adj" fmla="val 8676"/>
            </a:avLst>
          </a:prstGeom>
          <a:solidFill>
            <a:srgbClr val="FFDE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zh-CN" altLang="en-US" sz="800" baseline="-250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42" name="文本框 641">
            <a:extLst>
              <a:ext uri="{FF2B5EF4-FFF2-40B4-BE49-F238E27FC236}">
                <a16:creationId xmlns:a16="http://schemas.microsoft.com/office/drawing/2014/main" id="{C1DF0FFC-DC5A-86F2-9EF7-6B47D632EAD7}"/>
              </a:ext>
            </a:extLst>
          </p:cNvPr>
          <p:cNvSpPr txBox="1"/>
          <p:nvPr/>
        </p:nvSpPr>
        <p:spPr>
          <a:xfrm>
            <a:off x="5124186" y="2940463"/>
            <a:ext cx="388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elvetica" pitchFamily="2" charset="0"/>
              </a:rPr>
              <a:t>Block-local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200" b="1" dirty="0">
                <a:latin typeface="Helvetica" pitchFamily="2" charset="0"/>
              </a:rPr>
              <a:t>Codec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000" dirty="0">
                <a:latin typeface="Helvetica" pitchFamily="2" charset="0"/>
              </a:rPr>
              <a:t>(process blocks sequentially in LDM)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643" name="文本框 642">
            <a:extLst>
              <a:ext uri="{FF2B5EF4-FFF2-40B4-BE49-F238E27FC236}">
                <a16:creationId xmlns:a16="http://schemas.microsoft.com/office/drawing/2014/main" id="{3228D875-4D76-F442-3040-E9A51AAF2455}"/>
              </a:ext>
            </a:extLst>
          </p:cNvPr>
          <p:cNvSpPr txBox="1"/>
          <p:nvPr/>
        </p:nvSpPr>
        <p:spPr>
          <a:xfrm>
            <a:off x="9733068" y="2080521"/>
            <a:ext cx="170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dirty="0">
                <a:latin typeface="Helvetica" pitchFamily="2" charset="0"/>
              </a:rPr>
              <a:t>Pre-allocated</a:t>
            </a:r>
            <a:r>
              <a:rPr kumimoji="1" lang="zh-CN" altLang="en-US" sz="1000" dirty="0">
                <a:latin typeface="Helvetica" pitchFamily="2" charset="0"/>
              </a:rPr>
              <a:t> </a:t>
            </a:r>
            <a:r>
              <a:rPr kumimoji="1" lang="en-US" altLang="zh-CN" sz="1000" dirty="0">
                <a:latin typeface="Helvetica" pitchFamily="2" charset="0"/>
              </a:rPr>
              <a:t>LDM</a:t>
            </a:r>
            <a:r>
              <a:rPr kumimoji="1" lang="zh-CN" altLang="en-US" sz="1000" dirty="0">
                <a:latin typeface="Helvetica" pitchFamily="2" charset="0"/>
              </a:rPr>
              <a:t> </a:t>
            </a:r>
            <a:r>
              <a:rPr kumimoji="1" lang="en-US" altLang="zh-CN" sz="1000" dirty="0">
                <a:latin typeface="Helvetica" pitchFamily="2" charset="0"/>
              </a:rPr>
              <a:t>regions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645" name="立方体 644">
            <a:extLst>
              <a:ext uri="{FF2B5EF4-FFF2-40B4-BE49-F238E27FC236}">
                <a16:creationId xmlns:a16="http://schemas.microsoft.com/office/drawing/2014/main" id="{6079F64A-514A-2DA5-AA14-DFF0F22DEB35}"/>
              </a:ext>
            </a:extLst>
          </p:cNvPr>
          <p:cNvSpPr/>
          <p:nvPr/>
        </p:nvSpPr>
        <p:spPr>
          <a:xfrm>
            <a:off x="10630552" y="439200"/>
            <a:ext cx="221482" cy="221482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669" name="组合 668">
            <a:extLst>
              <a:ext uri="{FF2B5EF4-FFF2-40B4-BE49-F238E27FC236}">
                <a16:creationId xmlns:a16="http://schemas.microsoft.com/office/drawing/2014/main" id="{A86B03C3-687A-6FB7-D979-1380E88D779E}"/>
              </a:ext>
            </a:extLst>
          </p:cNvPr>
          <p:cNvGrpSpPr/>
          <p:nvPr/>
        </p:nvGrpSpPr>
        <p:grpSpPr>
          <a:xfrm>
            <a:off x="8152106" y="849130"/>
            <a:ext cx="1080000" cy="180000"/>
            <a:chOff x="8781686" y="1044000"/>
            <a:chExt cx="1080000" cy="180000"/>
          </a:xfrm>
        </p:grpSpPr>
        <p:grpSp>
          <p:nvGrpSpPr>
            <p:cNvPr id="655" name="组合 654">
              <a:extLst>
                <a:ext uri="{FF2B5EF4-FFF2-40B4-BE49-F238E27FC236}">
                  <a16:creationId xmlns:a16="http://schemas.microsoft.com/office/drawing/2014/main" id="{37CBE14E-A6AD-56E7-C369-2D0488F0E97F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646" name="矩形 645">
                <a:extLst>
                  <a:ext uri="{FF2B5EF4-FFF2-40B4-BE49-F238E27FC236}">
                    <a16:creationId xmlns:a16="http://schemas.microsoft.com/office/drawing/2014/main" id="{4CCB1C99-04CA-6B45-B0BE-E1B9C5DB1C77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47" name="矩形 646">
                <a:extLst>
                  <a:ext uri="{FF2B5EF4-FFF2-40B4-BE49-F238E27FC236}">
                    <a16:creationId xmlns:a16="http://schemas.microsoft.com/office/drawing/2014/main" id="{44F8ECF1-62D6-A228-4580-0311D0E8B9A5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656" name="组合 655">
              <a:extLst>
                <a:ext uri="{FF2B5EF4-FFF2-40B4-BE49-F238E27FC236}">
                  <a16:creationId xmlns:a16="http://schemas.microsoft.com/office/drawing/2014/main" id="{30D2380E-E37E-2CD6-ACFB-2EE25B286E2A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657" name="矩形 656">
                <a:extLst>
                  <a:ext uri="{FF2B5EF4-FFF2-40B4-BE49-F238E27FC236}">
                    <a16:creationId xmlns:a16="http://schemas.microsoft.com/office/drawing/2014/main" id="{29F9D3BF-F972-CBAE-4070-56742E229C9B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58" name="矩形 657">
                <a:extLst>
                  <a:ext uri="{FF2B5EF4-FFF2-40B4-BE49-F238E27FC236}">
                    <a16:creationId xmlns:a16="http://schemas.microsoft.com/office/drawing/2014/main" id="{22A8B5F7-3300-46EA-4E34-4362284F770D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659" name="组合 658">
              <a:extLst>
                <a:ext uri="{FF2B5EF4-FFF2-40B4-BE49-F238E27FC236}">
                  <a16:creationId xmlns:a16="http://schemas.microsoft.com/office/drawing/2014/main" id="{1D65F5D1-8B36-CB1F-8C41-393AAB96EEDB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660" name="矩形 659">
                <a:extLst>
                  <a:ext uri="{FF2B5EF4-FFF2-40B4-BE49-F238E27FC236}">
                    <a16:creationId xmlns:a16="http://schemas.microsoft.com/office/drawing/2014/main" id="{FDB4EF10-5E2A-AA49-F5E2-9DB20664D43F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1" name="矩形 660">
                <a:extLst>
                  <a:ext uri="{FF2B5EF4-FFF2-40B4-BE49-F238E27FC236}">
                    <a16:creationId xmlns:a16="http://schemas.microsoft.com/office/drawing/2014/main" id="{254BB293-FE9C-F0F2-F758-AFE5E7466C96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662" name="组合 661">
            <a:extLst>
              <a:ext uri="{FF2B5EF4-FFF2-40B4-BE49-F238E27FC236}">
                <a16:creationId xmlns:a16="http://schemas.microsoft.com/office/drawing/2014/main" id="{310EB042-FDB5-8C54-52E4-A82A5E3F2385}"/>
              </a:ext>
            </a:extLst>
          </p:cNvPr>
          <p:cNvGrpSpPr/>
          <p:nvPr/>
        </p:nvGrpSpPr>
        <p:grpSpPr>
          <a:xfrm>
            <a:off x="9587171" y="849130"/>
            <a:ext cx="360000" cy="180000"/>
            <a:chOff x="7560000" y="1055281"/>
            <a:chExt cx="360000" cy="180000"/>
          </a:xfrm>
        </p:grpSpPr>
        <p:sp>
          <p:nvSpPr>
            <p:cNvPr id="663" name="矩形 662">
              <a:extLst>
                <a:ext uri="{FF2B5EF4-FFF2-40B4-BE49-F238E27FC236}">
                  <a16:creationId xmlns:a16="http://schemas.microsoft.com/office/drawing/2014/main" id="{6F8EEF4D-637D-CD33-976C-10A2B61DED7B}"/>
                </a:ext>
              </a:extLst>
            </p:cNvPr>
            <p:cNvSpPr/>
            <p:nvPr/>
          </p:nvSpPr>
          <p:spPr>
            <a:xfrm>
              <a:off x="756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4" name="矩形 663">
              <a:extLst>
                <a:ext uri="{FF2B5EF4-FFF2-40B4-BE49-F238E27FC236}">
                  <a16:creationId xmlns:a16="http://schemas.microsoft.com/office/drawing/2014/main" id="{7FBE1D65-68C5-EE65-8BC6-8323B68A10C3}"/>
                </a:ext>
              </a:extLst>
            </p:cNvPr>
            <p:cNvSpPr/>
            <p:nvPr/>
          </p:nvSpPr>
          <p:spPr>
            <a:xfrm>
              <a:off x="774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665" name="组合 664">
            <a:extLst>
              <a:ext uri="{FF2B5EF4-FFF2-40B4-BE49-F238E27FC236}">
                <a16:creationId xmlns:a16="http://schemas.microsoft.com/office/drawing/2014/main" id="{E9C5B1D5-8727-AD25-7448-42FA4F8B29C7}"/>
              </a:ext>
            </a:extLst>
          </p:cNvPr>
          <p:cNvGrpSpPr/>
          <p:nvPr/>
        </p:nvGrpSpPr>
        <p:grpSpPr>
          <a:xfrm>
            <a:off x="7432465" y="849130"/>
            <a:ext cx="360000" cy="180000"/>
            <a:chOff x="7560000" y="1055281"/>
            <a:chExt cx="360000" cy="180000"/>
          </a:xfrm>
        </p:grpSpPr>
        <p:sp>
          <p:nvSpPr>
            <p:cNvPr id="666" name="矩形 665">
              <a:extLst>
                <a:ext uri="{FF2B5EF4-FFF2-40B4-BE49-F238E27FC236}">
                  <a16:creationId xmlns:a16="http://schemas.microsoft.com/office/drawing/2014/main" id="{4A6AB718-2C26-AC07-6C79-82FF61487C59}"/>
                </a:ext>
              </a:extLst>
            </p:cNvPr>
            <p:cNvSpPr/>
            <p:nvPr/>
          </p:nvSpPr>
          <p:spPr>
            <a:xfrm>
              <a:off x="756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7" name="矩形 666">
              <a:extLst>
                <a:ext uri="{FF2B5EF4-FFF2-40B4-BE49-F238E27FC236}">
                  <a16:creationId xmlns:a16="http://schemas.microsoft.com/office/drawing/2014/main" id="{88963AF1-AB6C-AABA-91C5-D51433C66B5C}"/>
                </a:ext>
              </a:extLst>
            </p:cNvPr>
            <p:cNvSpPr/>
            <p:nvPr/>
          </p:nvSpPr>
          <p:spPr>
            <a:xfrm>
              <a:off x="774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668" name="圆角矩形 667">
            <a:extLst>
              <a:ext uri="{FF2B5EF4-FFF2-40B4-BE49-F238E27FC236}">
                <a16:creationId xmlns:a16="http://schemas.microsoft.com/office/drawing/2014/main" id="{7C86FCDF-276E-2CAA-7D94-03B7FE2AE8AE}"/>
              </a:ext>
            </a:extLst>
          </p:cNvPr>
          <p:cNvSpPr/>
          <p:nvPr/>
        </p:nvSpPr>
        <p:spPr>
          <a:xfrm>
            <a:off x="7330197" y="744275"/>
            <a:ext cx="2735706" cy="370347"/>
          </a:xfrm>
          <a:prstGeom prst="roundRect">
            <a:avLst>
              <a:gd name="adj" fmla="val 401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70" name="组合 669">
            <a:extLst>
              <a:ext uri="{FF2B5EF4-FFF2-40B4-BE49-F238E27FC236}">
                <a16:creationId xmlns:a16="http://schemas.microsoft.com/office/drawing/2014/main" id="{2E093C68-7761-1C50-D47C-4986CF74C8D0}"/>
              </a:ext>
            </a:extLst>
          </p:cNvPr>
          <p:cNvGrpSpPr/>
          <p:nvPr/>
        </p:nvGrpSpPr>
        <p:grpSpPr>
          <a:xfrm>
            <a:off x="8787630" y="2366122"/>
            <a:ext cx="1080000" cy="180000"/>
            <a:chOff x="8781686" y="1044000"/>
            <a:chExt cx="1080000" cy="180000"/>
          </a:xfrm>
        </p:grpSpPr>
        <p:grpSp>
          <p:nvGrpSpPr>
            <p:cNvPr id="671" name="组合 670">
              <a:extLst>
                <a:ext uri="{FF2B5EF4-FFF2-40B4-BE49-F238E27FC236}">
                  <a16:creationId xmlns:a16="http://schemas.microsoft.com/office/drawing/2014/main" id="{EC9554B7-77BF-E42E-B175-3EEBE9E1B18E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678" name="矩形 677">
                <a:extLst>
                  <a:ext uri="{FF2B5EF4-FFF2-40B4-BE49-F238E27FC236}">
                    <a16:creationId xmlns:a16="http://schemas.microsoft.com/office/drawing/2014/main" id="{B4141D8F-2BEC-FAE9-9C10-1179C7E7D18A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79" name="矩形 678">
                <a:extLst>
                  <a:ext uri="{FF2B5EF4-FFF2-40B4-BE49-F238E27FC236}">
                    <a16:creationId xmlns:a16="http://schemas.microsoft.com/office/drawing/2014/main" id="{2DF80870-872F-E70F-13DD-02029F4F15DC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672" name="组合 671">
              <a:extLst>
                <a:ext uri="{FF2B5EF4-FFF2-40B4-BE49-F238E27FC236}">
                  <a16:creationId xmlns:a16="http://schemas.microsoft.com/office/drawing/2014/main" id="{E115E996-CE52-22C5-9997-12C348D7F302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676" name="矩形 675">
                <a:extLst>
                  <a:ext uri="{FF2B5EF4-FFF2-40B4-BE49-F238E27FC236}">
                    <a16:creationId xmlns:a16="http://schemas.microsoft.com/office/drawing/2014/main" id="{38C7BBE4-6873-0794-6D75-5C0A1301EF6A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77" name="矩形 676">
                <a:extLst>
                  <a:ext uri="{FF2B5EF4-FFF2-40B4-BE49-F238E27FC236}">
                    <a16:creationId xmlns:a16="http://schemas.microsoft.com/office/drawing/2014/main" id="{D3DA6B4E-F424-1B0B-1DA0-A898F6E53ACD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673" name="组合 672">
              <a:extLst>
                <a:ext uri="{FF2B5EF4-FFF2-40B4-BE49-F238E27FC236}">
                  <a16:creationId xmlns:a16="http://schemas.microsoft.com/office/drawing/2014/main" id="{AB681B36-4B8D-55E7-8F50-F91C2F34DD45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674" name="矩形 673">
                <a:extLst>
                  <a:ext uri="{FF2B5EF4-FFF2-40B4-BE49-F238E27FC236}">
                    <a16:creationId xmlns:a16="http://schemas.microsoft.com/office/drawing/2014/main" id="{58822EB2-7E6B-BF6A-A2C5-D5246AD7B249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75" name="矩形 674">
                <a:extLst>
                  <a:ext uri="{FF2B5EF4-FFF2-40B4-BE49-F238E27FC236}">
                    <a16:creationId xmlns:a16="http://schemas.microsoft.com/office/drawing/2014/main" id="{93044F8D-ED39-AF03-8EF9-14C67E35097D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690" name="矩形 689">
            <a:extLst>
              <a:ext uri="{FF2B5EF4-FFF2-40B4-BE49-F238E27FC236}">
                <a16:creationId xmlns:a16="http://schemas.microsoft.com/office/drawing/2014/main" id="{4F0D0E80-A4C0-E680-D8AB-9B8ED50D37E0}"/>
              </a:ext>
            </a:extLst>
          </p:cNvPr>
          <p:cNvSpPr/>
          <p:nvPr/>
        </p:nvSpPr>
        <p:spPr>
          <a:xfrm>
            <a:off x="7790818" y="849130"/>
            <a:ext cx="36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91" name="矩形 690">
            <a:extLst>
              <a:ext uri="{FF2B5EF4-FFF2-40B4-BE49-F238E27FC236}">
                <a16:creationId xmlns:a16="http://schemas.microsoft.com/office/drawing/2014/main" id="{BD3349B9-E9BA-FFB4-0575-62935F0B5219}"/>
              </a:ext>
            </a:extLst>
          </p:cNvPr>
          <p:cNvSpPr/>
          <p:nvPr/>
        </p:nvSpPr>
        <p:spPr>
          <a:xfrm>
            <a:off x="9233521" y="849130"/>
            <a:ext cx="36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94" name="文本框 693">
            <a:extLst>
              <a:ext uri="{FF2B5EF4-FFF2-40B4-BE49-F238E27FC236}">
                <a16:creationId xmlns:a16="http://schemas.microsoft.com/office/drawing/2014/main" id="{1BC0656E-266B-31BC-C938-8AE9ED0B7438}"/>
              </a:ext>
            </a:extLst>
          </p:cNvPr>
          <p:cNvSpPr txBox="1"/>
          <p:nvPr/>
        </p:nvSpPr>
        <p:spPr>
          <a:xfrm>
            <a:off x="7962765" y="457552"/>
            <a:ext cx="1574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Compressed Stream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697" name="立方体 696">
            <a:extLst>
              <a:ext uri="{FF2B5EF4-FFF2-40B4-BE49-F238E27FC236}">
                <a16:creationId xmlns:a16="http://schemas.microsoft.com/office/drawing/2014/main" id="{2186DDB9-6D8B-ED34-BB30-273A9947DDFB}"/>
              </a:ext>
            </a:extLst>
          </p:cNvPr>
          <p:cNvSpPr/>
          <p:nvPr/>
        </p:nvSpPr>
        <p:spPr>
          <a:xfrm>
            <a:off x="10380968" y="439393"/>
            <a:ext cx="221482" cy="221482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0" name="圆角矩形 699">
            <a:extLst>
              <a:ext uri="{FF2B5EF4-FFF2-40B4-BE49-F238E27FC236}">
                <a16:creationId xmlns:a16="http://schemas.microsoft.com/office/drawing/2014/main" id="{A41E7400-C1D4-CD85-7126-CD6414FD84D8}"/>
              </a:ext>
            </a:extLst>
          </p:cNvPr>
          <p:cNvSpPr/>
          <p:nvPr/>
        </p:nvSpPr>
        <p:spPr>
          <a:xfrm>
            <a:off x="3643317" y="303782"/>
            <a:ext cx="1798391" cy="1075380"/>
          </a:xfrm>
          <a:prstGeom prst="roundRect">
            <a:avLst>
              <a:gd name="adj" fmla="val 401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1" name="矩形 700">
            <a:extLst>
              <a:ext uri="{FF2B5EF4-FFF2-40B4-BE49-F238E27FC236}">
                <a16:creationId xmlns:a16="http://schemas.microsoft.com/office/drawing/2014/main" id="{8C35BCA5-E5AC-7277-76B7-9FEFF4BE6B47}"/>
              </a:ext>
            </a:extLst>
          </p:cNvPr>
          <p:cNvSpPr/>
          <p:nvPr/>
        </p:nvSpPr>
        <p:spPr>
          <a:xfrm>
            <a:off x="10386735" y="944727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2" name="矩形 701">
            <a:extLst>
              <a:ext uri="{FF2B5EF4-FFF2-40B4-BE49-F238E27FC236}">
                <a16:creationId xmlns:a16="http://schemas.microsoft.com/office/drawing/2014/main" id="{FF1ED8DA-74E5-DA1A-4BCB-63C168ACDC7A}"/>
              </a:ext>
            </a:extLst>
          </p:cNvPr>
          <p:cNvSpPr/>
          <p:nvPr/>
        </p:nvSpPr>
        <p:spPr>
          <a:xfrm>
            <a:off x="10621073" y="939227"/>
            <a:ext cx="18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286F93DE-13BF-31EB-FE65-2C0A0F6B735D}"/>
              </a:ext>
            </a:extLst>
          </p:cNvPr>
          <p:cNvSpPr txBox="1"/>
          <p:nvPr/>
        </p:nvSpPr>
        <p:spPr>
          <a:xfrm>
            <a:off x="10827686" y="362028"/>
            <a:ext cx="868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ZFP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block</a:t>
            </a:r>
          </a:p>
          <a:p>
            <a:pPr algn="ctr"/>
            <a:r>
              <a:rPr kumimoji="1" lang="zh-CN" altLang="en-US" sz="800" b="1" dirty="0">
                <a:latin typeface="Helvetica" pitchFamily="2" charset="0"/>
              </a:rPr>
              <a:t>（</a:t>
            </a:r>
            <a:r>
              <a:rPr kumimoji="1" lang="en-US" altLang="zh-CN" sz="800" b="1" dirty="0">
                <a:latin typeface="Helvetica" pitchFamily="2" charset="0"/>
              </a:rPr>
              <a:t>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</a:t>
            </a:r>
            <a:r>
              <a:rPr kumimoji="1" lang="zh-CN" altLang="en-US" sz="800" b="1" dirty="0">
                <a:latin typeface="Helvetica" pitchFamily="2" charset="0"/>
              </a:rPr>
              <a:t>）</a:t>
            </a: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61A32B42-1356-D3B5-FD47-299263C90534}"/>
              </a:ext>
            </a:extLst>
          </p:cNvPr>
          <p:cNvSpPr txBox="1"/>
          <p:nvPr/>
        </p:nvSpPr>
        <p:spPr>
          <a:xfrm>
            <a:off x="10731768" y="842231"/>
            <a:ext cx="1088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Fixed-rate Compressed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endParaRPr kumimoji="1" lang="en-US" altLang="zh-CN" sz="800" b="1" dirty="0">
              <a:latin typeface="Helvetica" pitchFamily="2" charset="0"/>
            </a:endParaRPr>
          </a:p>
          <a:p>
            <a:pPr algn="ctr"/>
            <a:r>
              <a:rPr lang="zh-CN" altLang="zh-CN" sz="800" b="1" dirty="0">
                <a:latin typeface="Helvetica" pitchFamily="2" charset="0"/>
              </a:rPr>
              <a:t>Slot</a:t>
            </a:r>
            <a:endParaRPr kumimoji="1" lang="en-US" altLang="zh-CN" sz="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圆角矩形 704">
            <a:extLst>
              <a:ext uri="{FF2B5EF4-FFF2-40B4-BE49-F238E27FC236}">
                <a16:creationId xmlns:a16="http://schemas.microsoft.com/office/drawing/2014/main" id="{B21DD340-B271-0A83-5D1A-BFC51DC3ECD5}"/>
              </a:ext>
            </a:extLst>
          </p:cNvPr>
          <p:cNvSpPr/>
          <p:nvPr/>
        </p:nvSpPr>
        <p:spPr>
          <a:xfrm>
            <a:off x="5152072" y="3187238"/>
            <a:ext cx="6214620" cy="1587966"/>
          </a:xfrm>
          <a:prstGeom prst="roundRect">
            <a:avLst>
              <a:gd name="adj" fmla="val 8676"/>
            </a:avLst>
          </a:prstGeom>
          <a:solidFill>
            <a:srgbClr val="FFF1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zh-CN" altLang="en-US" sz="800" baseline="-250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707" name="直线连接符 706">
            <a:extLst>
              <a:ext uri="{FF2B5EF4-FFF2-40B4-BE49-F238E27FC236}">
                <a16:creationId xmlns:a16="http://schemas.microsoft.com/office/drawing/2014/main" id="{02111DE5-D26F-43FA-A026-1667ABB94AC0}"/>
              </a:ext>
            </a:extLst>
          </p:cNvPr>
          <p:cNvCxnSpPr>
            <a:cxnSpLocks/>
          </p:cNvCxnSpPr>
          <p:nvPr/>
        </p:nvCxnSpPr>
        <p:spPr>
          <a:xfrm>
            <a:off x="6139129" y="3891678"/>
            <a:ext cx="4491423" cy="22795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8" name="立方体 707">
            <a:extLst>
              <a:ext uri="{FF2B5EF4-FFF2-40B4-BE49-F238E27FC236}">
                <a16:creationId xmlns:a16="http://schemas.microsoft.com/office/drawing/2014/main" id="{95772AED-3BF6-93A6-EAA9-6281EDB57A9E}"/>
              </a:ext>
            </a:extLst>
          </p:cNvPr>
          <p:cNvSpPr/>
          <p:nvPr/>
        </p:nvSpPr>
        <p:spPr>
          <a:xfrm>
            <a:off x="5413379" y="3838444"/>
            <a:ext cx="221482" cy="221482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712" name="矩形 711">
            <a:extLst>
              <a:ext uri="{FF2B5EF4-FFF2-40B4-BE49-F238E27FC236}">
                <a16:creationId xmlns:a16="http://schemas.microsoft.com/office/drawing/2014/main" id="{682080DC-7A17-F889-0BCB-0DD09BA2A5C1}"/>
              </a:ext>
            </a:extLst>
          </p:cNvPr>
          <p:cNvSpPr/>
          <p:nvPr/>
        </p:nvSpPr>
        <p:spPr>
          <a:xfrm>
            <a:off x="10958515" y="3674677"/>
            <a:ext cx="18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15" name="文本框 714">
            <a:extLst>
              <a:ext uri="{FF2B5EF4-FFF2-40B4-BE49-F238E27FC236}">
                <a16:creationId xmlns:a16="http://schemas.microsoft.com/office/drawing/2014/main" id="{D81CF753-706B-773C-359E-F6823555F038}"/>
              </a:ext>
            </a:extLst>
          </p:cNvPr>
          <p:cNvSpPr txBox="1"/>
          <p:nvPr/>
        </p:nvSpPr>
        <p:spPr>
          <a:xfrm>
            <a:off x="10429258" y="3898760"/>
            <a:ext cx="105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b="1" dirty="0">
                <a:latin typeface="Helvetica" pitchFamily="2" charset="0"/>
              </a:rPr>
              <a:t>Fixed-rate Slot </a:t>
            </a:r>
            <a:r>
              <a:rPr lang="en-US" altLang="zh-CN" sz="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(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bits / block) 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722" name="文本框 721">
            <a:extLst>
              <a:ext uri="{FF2B5EF4-FFF2-40B4-BE49-F238E27FC236}">
                <a16:creationId xmlns:a16="http://schemas.microsoft.com/office/drawing/2014/main" id="{0A8A2F7B-297B-FD9E-2CFE-8F947D93829E}"/>
              </a:ext>
            </a:extLst>
          </p:cNvPr>
          <p:cNvSpPr txBox="1"/>
          <p:nvPr/>
        </p:nvSpPr>
        <p:spPr>
          <a:xfrm>
            <a:off x="8979499" y="3208927"/>
            <a:ext cx="5219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b="1" dirty="0">
                <a:latin typeface="Helvetica" pitchFamily="2" charset="0"/>
              </a:rPr>
              <a:t>SIM</a:t>
            </a:r>
            <a:r>
              <a:rPr lang="en-US" altLang="zh-CN" sz="800" b="1" dirty="0">
                <a:latin typeface="Helvetica" pitchFamily="2" charset="0"/>
              </a:rPr>
              <a:t>D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724" name="文本框 723">
            <a:extLst>
              <a:ext uri="{FF2B5EF4-FFF2-40B4-BE49-F238E27FC236}">
                <a16:creationId xmlns:a16="http://schemas.microsoft.com/office/drawing/2014/main" id="{70C7C500-D9F0-2901-0230-EDE1715FCD58}"/>
              </a:ext>
            </a:extLst>
          </p:cNvPr>
          <p:cNvSpPr txBox="1"/>
          <p:nvPr/>
        </p:nvSpPr>
        <p:spPr>
          <a:xfrm>
            <a:off x="9520445" y="3189416"/>
            <a:ext cx="15265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latin typeface="Helvetica" pitchFamily="2" charset="0"/>
              </a:rPr>
              <a:t>S</a:t>
            </a:r>
            <a:r>
              <a:rPr lang="zh-CN" altLang="zh-CN" sz="800" b="1" dirty="0">
                <a:latin typeface="Helvetica" pitchFamily="2" charset="0"/>
              </a:rPr>
              <a:t>ignificance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en-US" altLang="zh-CN" sz="800" b="1" dirty="0">
                <a:latin typeface="Helvetica" pitchFamily="2" charset="0"/>
              </a:rPr>
              <a:t>+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zh-CN" altLang="zh-CN" sz="800" b="1" dirty="0">
                <a:latin typeface="Helvetica" pitchFamily="2" charset="0"/>
              </a:rPr>
              <a:t>CTZ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en-US" altLang="zh-CN" sz="800" b="1" dirty="0">
                <a:latin typeface="Helvetica" pitchFamily="2" charset="0"/>
              </a:rPr>
              <a:t>+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zh-CN" altLang="zh-CN" sz="800" b="1" dirty="0">
                <a:latin typeface="Helvetica" pitchFamily="2" charset="0"/>
              </a:rPr>
              <a:t>writer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731" name="文本框 730">
            <a:extLst>
              <a:ext uri="{FF2B5EF4-FFF2-40B4-BE49-F238E27FC236}">
                <a16:creationId xmlns:a16="http://schemas.microsoft.com/office/drawing/2014/main" id="{933CC520-5903-0880-78CB-D0629A4F05F8}"/>
              </a:ext>
            </a:extLst>
          </p:cNvPr>
          <p:cNvSpPr txBox="1"/>
          <p:nvPr/>
        </p:nvSpPr>
        <p:spPr>
          <a:xfrm>
            <a:off x="9590820" y="4445631"/>
            <a:ext cx="9304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latin typeface="Helvetica" pitchFamily="2" charset="0"/>
              </a:rPr>
              <a:t>B</a:t>
            </a:r>
            <a:r>
              <a:rPr lang="zh-CN" altLang="zh-CN" sz="800" b="1" dirty="0">
                <a:latin typeface="Helvetica" pitchFamily="2" charset="0"/>
              </a:rPr>
              <a:t>ounded state</a:t>
            </a:r>
            <a:endParaRPr lang="en-US" altLang="zh-CN" sz="800" b="1" dirty="0">
              <a:latin typeface="Helvetica" pitchFamily="2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CFA72CD-7B91-2B2E-03E6-E98CAA65213D}"/>
              </a:ext>
            </a:extLst>
          </p:cNvPr>
          <p:cNvSpPr txBox="1"/>
          <p:nvPr/>
        </p:nvSpPr>
        <p:spPr>
          <a:xfrm>
            <a:off x="8549415" y="4458621"/>
            <a:ext cx="1176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latin typeface="Helvetica" pitchFamily="2" charset="0"/>
              </a:rPr>
              <a:t>S</a:t>
            </a:r>
            <a:r>
              <a:rPr lang="zh-CN" altLang="zh-CN" sz="800" b="1" dirty="0">
                <a:latin typeface="Helvetica" pitchFamily="2" charset="0"/>
              </a:rPr>
              <a:t>elective SIMD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736" name="文本框 735">
            <a:extLst>
              <a:ext uri="{FF2B5EF4-FFF2-40B4-BE49-F238E27FC236}">
                <a16:creationId xmlns:a16="http://schemas.microsoft.com/office/drawing/2014/main" id="{92548232-14C7-F2E0-480B-5189B0BDC5AC}"/>
              </a:ext>
            </a:extLst>
          </p:cNvPr>
          <p:cNvSpPr txBox="1"/>
          <p:nvPr/>
        </p:nvSpPr>
        <p:spPr>
          <a:xfrm>
            <a:off x="6122575" y="3179249"/>
            <a:ext cx="1063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Encode Path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737" name="文本框 736">
            <a:extLst>
              <a:ext uri="{FF2B5EF4-FFF2-40B4-BE49-F238E27FC236}">
                <a16:creationId xmlns:a16="http://schemas.microsoft.com/office/drawing/2014/main" id="{D67EDEA8-4D9E-D79A-317A-488A953740F0}"/>
              </a:ext>
            </a:extLst>
          </p:cNvPr>
          <p:cNvSpPr txBox="1"/>
          <p:nvPr/>
        </p:nvSpPr>
        <p:spPr>
          <a:xfrm>
            <a:off x="6673481" y="4486344"/>
            <a:ext cx="1097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Decode Path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744" name="文本框 743">
            <a:extLst>
              <a:ext uri="{FF2B5EF4-FFF2-40B4-BE49-F238E27FC236}">
                <a16:creationId xmlns:a16="http://schemas.microsoft.com/office/drawing/2014/main" id="{87942652-D480-C05E-D37C-BA9529463699}"/>
              </a:ext>
            </a:extLst>
          </p:cNvPr>
          <p:cNvSpPr txBox="1"/>
          <p:nvPr/>
        </p:nvSpPr>
        <p:spPr>
          <a:xfrm>
            <a:off x="4980036" y="3481683"/>
            <a:ext cx="868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b="1" dirty="0">
                <a:latin typeface="Helvetica" pitchFamily="2" charset="0"/>
              </a:rPr>
              <a:t>Original</a:t>
            </a:r>
          </a:p>
          <a:p>
            <a:pPr algn="ctr"/>
            <a:r>
              <a:rPr kumimoji="1" lang="en-US" altLang="zh-CN" sz="900" b="1" dirty="0">
                <a:latin typeface="Helvetica" pitchFamily="2" charset="0"/>
              </a:rPr>
              <a:t>Block </a:t>
            </a:r>
            <a:r>
              <a:rPr kumimoji="1" lang="en-US" altLang="zh-CN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5" name="左箭头 744">
            <a:extLst>
              <a:ext uri="{FF2B5EF4-FFF2-40B4-BE49-F238E27FC236}">
                <a16:creationId xmlns:a16="http://schemas.microsoft.com/office/drawing/2014/main" id="{C4F8B54D-AAB2-0BA3-F7B8-E44948A09BEB}"/>
              </a:ext>
            </a:extLst>
          </p:cNvPr>
          <p:cNvSpPr/>
          <p:nvPr/>
        </p:nvSpPr>
        <p:spPr>
          <a:xfrm>
            <a:off x="5987708" y="4177718"/>
            <a:ext cx="4775953" cy="119960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6" name="文本框 745">
            <a:extLst>
              <a:ext uri="{FF2B5EF4-FFF2-40B4-BE49-F238E27FC236}">
                <a16:creationId xmlns:a16="http://schemas.microsoft.com/office/drawing/2014/main" id="{AD4714F1-071C-954A-8F7C-0CE6B984A0DC}"/>
              </a:ext>
            </a:extLst>
          </p:cNvPr>
          <p:cNvSpPr txBox="1"/>
          <p:nvPr/>
        </p:nvSpPr>
        <p:spPr>
          <a:xfrm>
            <a:off x="5063433" y="4056387"/>
            <a:ext cx="103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b="1" dirty="0">
                <a:latin typeface="Helvetica" pitchFamily="2" charset="0"/>
              </a:rPr>
              <a:t>Reconstructed</a:t>
            </a:r>
          </a:p>
          <a:p>
            <a:pPr algn="ctr"/>
            <a:r>
              <a:rPr kumimoji="1" lang="en-US" altLang="zh-CN" sz="900" b="1" dirty="0">
                <a:latin typeface="Helvetica" pitchFamily="2" charset="0"/>
              </a:rPr>
              <a:t>Block </a:t>
            </a:r>
            <a:r>
              <a:rPr kumimoji="1" lang="en-US" altLang="zh-CN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6" name="圆角矩形 725">
            <a:extLst>
              <a:ext uri="{FF2B5EF4-FFF2-40B4-BE49-F238E27FC236}">
                <a16:creationId xmlns:a16="http://schemas.microsoft.com/office/drawing/2014/main" id="{C9C9EC26-18EB-70F1-490C-F07C0D735084}"/>
              </a:ext>
            </a:extLst>
          </p:cNvPr>
          <p:cNvSpPr/>
          <p:nvPr/>
        </p:nvSpPr>
        <p:spPr>
          <a:xfrm>
            <a:off x="6108719" y="4065629"/>
            <a:ext cx="641836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Type</a:t>
            </a:r>
          </a:p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Recovery</a:t>
            </a:r>
          </a:p>
        </p:txBody>
      </p:sp>
      <p:sp>
        <p:nvSpPr>
          <p:cNvPr id="727" name="圆角矩形 726">
            <a:extLst>
              <a:ext uri="{FF2B5EF4-FFF2-40B4-BE49-F238E27FC236}">
                <a16:creationId xmlns:a16="http://schemas.microsoft.com/office/drawing/2014/main" id="{4A8421AF-673C-EC8D-1483-397ADDC8FC6B}"/>
              </a:ext>
            </a:extLst>
          </p:cNvPr>
          <p:cNvSpPr/>
          <p:nvPr/>
        </p:nvSpPr>
        <p:spPr>
          <a:xfrm>
            <a:off x="6808045" y="4065629"/>
            <a:ext cx="73086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Inv. Integer Transform</a:t>
            </a:r>
          </a:p>
        </p:txBody>
      </p:sp>
      <p:sp>
        <p:nvSpPr>
          <p:cNvPr id="728" name="圆角矩形 727">
            <a:extLst>
              <a:ext uri="{FF2B5EF4-FFF2-40B4-BE49-F238E27FC236}">
                <a16:creationId xmlns:a16="http://schemas.microsoft.com/office/drawing/2014/main" id="{58AA2BCB-F298-826F-D7D1-70AB3D97CA5D}"/>
              </a:ext>
            </a:extLst>
          </p:cNvPr>
          <p:cNvSpPr/>
          <p:nvPr/>
        </p:nvSpPr>
        <p:spPr>
          <a:xfrm>
            <a:off x="7605599" y="4054525"/>
            <a:ext cx="941509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Inv. </a:t>
            </a:r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Negabinary</a:t>
            </a:r>
            <a:endParaRPr lang="en-US" altLang="zh-CN" sz="8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&amp; Reorder</a:t>
            </a:r>
          </a:p>
        </p:txBody>
      </p:sp>
      <p:sp>
        <p:nvSpPr>
          <p:cNvPr id="729" name="圆角矩形 728">
            <a:extLst>
              <a:ext uri="{FF2B5EF4-FFF2-40B4-BE49-F238E27FC236}">
                <a16:creationId xmlns:a16="http://schemas.microsoft.com/office/drawing/2014/main" id="{0CB37C26-B763-DD60-BF01-9D2B2495FCB0}"/>
              </a:ext>
            </a:extLst>
          </p:cNvPr>
          <p:cNvSpPr/>
          <p:nvPr/>
        </p:nvSpPr>
        <p:spPr>
          <a:xfrm>
            <a:off x="8622048" y="4053725"/>
            <a:ext cx="965123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Bit-Plane Reconstruction</a:t>
            </a:r>
          </a:p>
        </p:txBody>
      </p:sp>
      <p:sp>
        <p:nvSpPr>
          <p:cNvPr id="730" name="圆角矩形 729">
            <a:extLst>
              <a:ext uri="{FF2B5EF4-FFF2-40B4-BE49-F238E27FC236}">
                <a16:creationId xmlns:a16="http://schemas.microsoft.com/office/drawing/2014/main" id="{C0682F1D-3A25-6702-6B74-778634C870D1}"/>
              </a:ext>
            </a:extLst>
          </p:cNvPr>
          <p:cNvSpPr/>
          <p:nvPr/>
        </p:nvSpPr>
        <p:spPr>
          <a:xfrm>
            <a:off x="9666632" y="4057875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State-Aware Decoding</a:t>
            </a:r>
          </a:p>
        </p:txBody>
      </p:sp>
      <p:sp>
        <p:nvSpPr>
          <p:cNvPr id="749" name="右箭头 748">
            <a:extLst>
              <a:ext uri="{FF2B5EF4-FFF2-40B4-BE49-F238E27FC236}">
                <a16:creationId xmlns:a16="http://schemas.microsoft.com/office/drawing/2014/main" id="{C855EC99-D562-3802-F702-0115103D08F3}"/>
              </a:ext>
            </a:extLst>
          </p:cNvPr>
          <p:cNvSpPr/>
          <p:nvPr/>
        </p:nvSpPr>
        <p:spPr>
          <a:xfrm>
            <a:off x="7131511" y="3270379"/>
            <a:ext cx="1360120" cy="7919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0" name="右箭头 749">
            <a:extLst>
              <a:ext uri="{FF2B5EF4-FFF2-40B4-BE49-F238E27FC236}">
                <a16:creationId xmlns:a16="http://schemas.microsoft.com/office/drawing/2014/main" id="{0926888B-0786-FE30-D7A4-DE45B9371659}"/>
              </a:ext>
            </a:extLst>
          </p:cNvPr>
          <p:cNvSpPr/>
          <p:nvPr/>
        </p:nvSpPr>
        <p:spPr>
          <a:xfrm rot="10800000">
            <a:off x="5575925" y="4577911"/>
            <a:ext cx="1097863" cy="8316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2" name="上下箭头 751">
            <a:extLst>
              <a:ext uri="{FF2B5EF4-FFF2-40B4-BE49-F238E27FC236}">
                <a16:creationId xmlns:a16="http://schemas.microsoft.com/office/drawing/2014/main" id="{ED457636-4B02-7F46-9043-1BD4CB6D413F}"/>
              </a:ext>
            </a:extLst>
          </p:cNvPr>
          <p:cNvSpPr/>
          <p:nvPr/>
        </p:nvSpPr>
        <p:spPr>
          <a:xfrm>
            <a:off x="5665738" y="1293072"/>
            <a:ext cx="214461" cy="1015757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3" name="上下箭头 752">
            <a:extLst>
              <a:ext uri="{FF2B5EF4-FFF2-40B4-BE49-F238E27FC236}">
                <a16:creationId xmlns:a16="http://schemas.microsoft.com/office/drawing/2014/main" id="{5CF1C02F-F574-4A78-57D7-166F9327EA45}"/>
              </a:ext>
            </a:extLst>
          </p:cNvPr>
          <p:cNvSpPr/>
          <p:nvPr/>
        </p:nvSpPr>
        <p:spPr>
          <a:xfrm>
            <a:off x="8698050" y="1155124"/>
            <a:ext cx="234767" cy="1181168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4" name="文本框 753">
            <a:extLst>
              <a:ext uri="{FF2B5EF4-FFF2-40B4-BE49-F238E27FC236}">
                <a16:creationId xmlns:a16="http://schemas.microsoft.com/office/drawing/2014/main" id="{31CCAB95-D516-343D-73C4-60C89E1CE4D4}"/>
              </a:ext>
            </a:extLst>
          </p:cNvPr>
          <p:cNvSpPr txBox="1"/>
          <p:nvPr/>
        </p:nvSpPr>
        <p:spPr>
          <a:xfrm>
            <a:off x="8880835" y="1406028"/>
            <a:ext cx="2606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elvetica" pitchFamily="2" charset="0"/>
              </a:rPr>
              <a:t>DMA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200" b="1" dirty="0">
                <a:latin typeface="Helvetica" pitchFamily="2" charset="0"/>
              </a:rPr>
              <a:t>PUT(encode) / GET(decode)</a:t>
            </a:r>
          </a:p>
        </p:txBody>
      </p:sp>
      <p:sp>
        <p:nvSpPr>
          <p:cNvPr id="606" name="文本框 605">
            <a:extLst>
              <a:ext uri="{FF2B5EF4-FFF2-40B4-BE49-F238E27FC236}">
                <a16:creationId xmlns:a16="http://schemas.microsoft.com/office/drawing/2014/main" id="{3B4A4AF1-E178-2A91-5648-565248891CD3}"/>
              </a:ext>
            </a:extLst>
          </p:cNvPr>
          <p:cNvSpPr txBox="1"/>
          <p:nvPr/>
        </p:nvSpPr>
        <p:spPr>
          <a:xfrm>
            <a:off x="5344903" y="1791753"/>
            <a:ext cx="712404" cy="307777"/>
          </a:xfrm>
          <a:prstGeom prst="rect">
            <a:avLst/>
          </a:prstGeom>
          <a:solidFill>
            <a:srgbClr val="D9F2D0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>
                <a:latin typeface="Helvetica" pitchFamily="2" charset="0"/>
              </a:rPr>
              <a:t>CPE</a:t>
            </a:r>
            <a:r>
              <a:rPr kumimoji="1" lang="en-US" altLang="zh-CN" sz="1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755" name="左箭头 754">
            <a:extLst>
              <a:ext uri="{FF2B5EF4-FFF2-40B4-BE49-F238E27FC236}">
                <a16:creationId xmlns:a16="http://schemas.microsoft.com/office/drawing/2014/main" id="{EF9F6295-8286-9271-D409-56B8D1B7FC1E}"/>
              </a:ext>
            </a:extLst>
          </p:cNvPr>
          <p:cNvSpPr/>
          <p:nvPr/>
        </p:nvSpPr>
        <p:spPr>
          <a:xfrm rot="10800000">
            <a:off x="5728555" y="3542077"/>
            <a:ext cx="5099130" cy="111961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7" name="圆角矩形 716">
            <a:extLst>
              <a:ext uri="{FF2B5EF4-FFF2-40B4-BE49-F238E27FC236}">
                <a16:creationId xmlns:a16="http://schemas.microsoft.com/office/drawing/2014/main" id="{49BA62CD-6882-7BD6-3663-141CF22947C1}"/>
              </a:ext>
            </a:extLst>
          </p:cNvPr>
          <p:cNvSpPr/>
          <p:nvPr/>
        </p:nvSpPr>
        <p:spPr>
          <a:xfrm>
            <a:off x="6840500" y="3418996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Integer Transform</a:t>
            </a:r>
          </a:p>
        </p:txBody>
      </p:sp>
      <p:sp>
        <p:nvSpPr>
          <p:cNvPr id="716" name="圆角矩形 715">
            <a:extLst>
              <a:ext uri="{FF2B5EF4-FFF2-40B4-BE49-F238E27FC236}">
                <a16:creationId xmlns:a16="http://schemas.microsoft.com/office/drawing/2014/main" id="{F362396B-B117-9116-45EE-53BC85D0BEF7}"/>
              </a:ext>
            </a:extLst>
          </p:cNvPr>
          <p:cNvSpPr/>
          <p:nvPr/>
        </p:nvSpPr>
        <p:spPr>
          <a:xfrm>
            <a:off x="5845547" y="3418996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Preprocess</a:t>
            </a:r>
          </a:p>
        </p:txBody>
      </p:sp>
      <p:sp>
        <p:nvSpPr>
          <p:cNvPr id="718" name="圆角矩形 717">
            <a:extLst>
              <a:ext uri="{FF2B5EF4-FFF2-40B4-BE49-F238E27FC236}">
                <a16:creationId xmlns:a16="http://schemas.microsoft.com/office/drawing/2014/main" id="{734E717F-2635-56BF-69BD-5F8A93644694}"/>
              </a:ext>
            </a:extLst>
          </p:cNvPr>
          <p:cNvSpPr/>
          <p:nvPr/>
        </p:nvSpPr>
        <p:spPr>
          <a:xfrm>
            <a:off x="7835453" y="3406399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Reorder &amp; </a:t>
            </a:r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Negabinary</a:t>
            </a:r>
            <a:endParaRPr kumimoji="1" lang="en-US" altLang="zh-CN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720" name="圆角矩形 719">
            <a:extLst>
              <a:ext uri="{FF2B5EF4-FFF2-40B4-BE49-F238E27FC236}">
                <a16:creationId xmlns:a16="http://schemas.microsoft.com/office/drawing/2014/main" id="{42EB98AD-E320-4DC5-EC23-71912E039BF0}"/>
              </a:ext>
            </a:extLst>
          </p:cNvPr>
          <p:cNvSpPr/>
          <p:nvPr/>
        </p:nvSpPr>
        <p:spPr>
          <a:xfrm>
            <a:off x="8830406" y="3402682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SIMD</a:t>
            </a:r>
          </a:p>
          <a:p>
            <a:pPr algn="ctr"/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Bit-Plane Formation</a:t>
            </a:r>
          </a:p>
        </p:txBody>
      </p:sp>
      <p:sp>
        <p:nvSpPr>
          <p:cNvPr id="721" name="圆角矩形 720">
            <a:extLst>
              <a:ext uri="{FF2B5EF4-FFF2-40B4-BE49-F238E27FC236}">
                <a16:creationId xmlns:a16="http://schemas.microsoft.com/office/drawing/2014/main" id="{C9C147B1-EB32-6356-E2FE-CE60BEA1CB6E}"/>
              </a:ext>
            </a:extLst>
          </p:cNvPr>
          <p:cNvSpPr/>
          <p:nvPr/>
        </p:nvSpPr>
        <p:spPr>
          <a:xfrm>
            <a:off x="9825359" y="3397073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State-Aware Coding</a:t>
            </a:r>
          </a:p>
        </p:txBody>
      </p:sp>
    </p:spTree>
    <p:extLst>
      <p:ext uri="{BB962C8B-B14F-4D97-AF65-F5344CB8AC3E}">
        <p14:creationId xmlns:p14="http://schemas.microsoft.com/office/powerpoint/2010/main" val="969359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F2787D19-0CE3-543C-B5E9-53E356685957}"/>
              </a:ext>
            </a:extLst>
          </p:cNvPr>
          <p:cNvSpPr/>
          <p:nvPr/>
        </p:nvSpPr>
        <p:spPr>
          <a:xfrm>
            <a:off x="76200" y="55419"/>
            <a:ext cx="12046527" cy="6719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F7E5C7-6D1D-1EEB-09C6-02239FE726FC}"/>
              </a:ext>
            </a:extLst>
          </p:cNvPr>
          <p:cNvSpPr txBox="1"/>
          <p:nvPr/>
        </p:nvSpPr>
        <p:spPr>
          <a:xfrm>
            <a:off x="131618" y="138545"/>
            <a:ext cx="28540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Bit-Plane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Formation</a:t>
            </a:r>
          </a:p>
          <a:p>
            <a:r>
              <a:rPr kumimoji="1" lang="en-US" altLang="zh-CN" sz="1200" dirty="0">
                <a:latin typeface="Helvetica" pitchFamily="2" charset="0"/>
              </a:rPr>
              <a:t>(from transformed coefficients)</a:t>
            </a:r>
            <a:endParaRPr kumimoji="1" lang="zh-CN" altLang="en-US" sz="1200" dirty="0">
              <a:latin typeface="Helvetica" pitchFamily="2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EA2D415-0B21-0DB8-47F3-FC6841C0034B}"/>
              </a:ext>
            </a:extLst>
          </p:cNvPr>
          <p:cNvSpPr/>
          <p:nvPr/>
        </p:nvSpPr>
        <p:spPr>
          <a:xfrm>
            <a:off x="72737" y="817418"/>
            <a:ext cx="5947063" cy="309649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B831710-6493-EE9F-7C6A-A4106B265EE3}"/>
              </a:ext>
            </a:extLst>
          </p:cNvPr>
          <p:cNvSpPr/>
          <p:nvPr/>
        </p:nvSpPr>
        <p:spPr>
          <a:xfrm>
            <a:off x="72737" y="817418"/>
            <a:ext cx="5947063" cy="332510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E49C6B7-5933-FB1C-7526-F1287B5A8F1C}"/>
              </a:ext>
            </a:extLst>
          </p:cNvPr>
          <p:cNvSpPr/>
          <p:nvPr/>
        </p:nvSpPr>
        <p:spPr>
          <a:xfrm>
            <a:off x="6172200" y="817418"/>
            <a:ext cx="5947063" cy="309649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0CDC0FB-8687-5A9D-7D44-5073A7D32368}"/>
              </a:ext>
            </a:extLst>
          </p:cNvPr>
          <p:cNvSpPr/>
          <p:nvPr/>
        </p:nvSpPr>
        <p:spPr>
          <a:xfrm>
            <a:off x="6172200" y="817418"/>
            <a:ext cx="5947063" cy="332510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E9625B-178F-FF2B-ABD0-C8AE096E6D9E}"/>
              </a:ext>
            </a:extLst>
          </p:cNvPr>
          <p:cNvSpPr txBox="1"/>
          <p:nvPr/>
        </p:nvSpPr>
        <p:spPr>
          <a:xfrm>
            <a:off x="72737" y="822349"/>
            <a:ext cx="4197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(a) Coefficient-Parallel Mapping</a:t>
            </a:r>
            <a:endParaRPr kumimoji="1" lang="zh-CN" altLang="en-US" sz="1200" dirty="0">
              <a:latin typeface="Helvetica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DC457F-38BA-60DF-7FD6-5B4EF505B3EA}"/>
              </a:ext>
            </a:extLst>
          </p:cNvPr>
          <p:cNvSpPr txBox="1"/>
          <p:nvPr/>
        </p:nvSpPr>
        <p:spPr>
          <a:xfrm>
            <a:off x="6172200" y="829784"/>
            <a:ext cx="4197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(c) Plane-Parallel</a:t>
            </a:r>
            <a:endParaRPr kumimoji="1" lang="zh-CN" altLang="en-US" sz="1200" dirty="0">
              <a:latin typeface="Helvetica" pitchFamily="2" charset="0"/>
            </a:endParaRPr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AC48E4FB-E4D7-A094-6F0E-164F7D7F99FF}"/>
              </a:ext>
            </a:extLst>
          </p:cNvPr>
          <p:cNvSpPr/>
          <p:nvPr/>
        </p:nvSpPr>
        <p:spPr>
          <a:xfrm>
            <a:off x="2422052" y="274025"/>
            <a:ext cx="221482" cy="221482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27DCEC-5874-DF7F-F964-B5BFCCF17CD0}"/>
              </a:ext>
            </a:extLst>
          </p:cNvPr>
          <p:cNvSpPr txBox="1"/>
          <p:nvPr/>
        </p:nvSpPr>
        <p:spPr>
          <a:xfrm>
            <a:off x="2581547" y="215489"/>
            <a:ext cx="868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ZFP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block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(4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values)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0614F76F-522E-1361-9C12-64A1E213217F}"/>
              </a:ext>
            </a:extLst>
          </p:cNvPr>
          <p:cNvSpPr/>
          <p:nvPr/>
        </p:nvSpPr>
        <p:spPr>
          <a:xfrm>
            <a:off x="3449830" y="384766"/>
            <a:ext cx="921327" cy="11074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C685917-9931-1E00-5DC8-BEAF8B617AAA}"/>
              </a:ext>
            </a:extLst>
          </p:cNvPr>
          <p:cNvSpPr txBox="1"/>
          <p:nvPr/>
        </p:nvSpPr>
        <p:spPr>
          <a:xfrm>
            <a:off x="3268392" y="109844"/>
            <a:ext cx="1284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dirty="0">
                <a:latin typeface="Helvetica" pitchFamily="2" charset="0"/>
              </a:rPr>
              <a:t>Reorder + </a:t>
            </a:r>
            <a:endParaRPr lang="en-US" altLang="zh-CN" sz="800" dirty="0">
              <a:latin typeface="Helvetica" pitchFamily="2" charset="0"/>
            </a:endParaRPr>
          </a:p>
          <a:p>
            <a:pPr algn="ctr"/>
            <a:r>
              <a:rPr lang="en-US" altLang="zh-CN" sz="800" dirty="0">
                <a:latin typeface="Helvetica" pitchFamily="2" charset="0"/>
              </a:rPr>
              <a:t>N</a:t>
            </a:r>
            <a:r>
              <a:rPr lang="zh-CN" altLang="zh-CN" sz="800" dirty="0">
                <a:latin typeface="Helvetica" pitchFamily="2" charset="0"/>
              </a:rPr>
              <a:t>egabinary</a:t>
            </a:r>
            <a:r>
              <a:rPr lang="en-US" altLang="zh-CN" sz="800" dirty="0">
                <a:latin typeface="Helvetica" pitchFamily="2" charset="0"/>
              </a:rPr>
              <a:t> </a:t>
            </a:r>
            <a:r>
              <a:rPr lang="zh-CN" altLang="zh-CN" sz="800" dirty="0">
                <a:latin typeface="Helvetica" pitchFamily="2" charset="0"/>
              </a:rPr>
              <a:t>conversion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34A682B-779C-E7E8-45DE-67CDBF4A08EA}"/>
              </a:ext>
            </a:extLst>
          </p:cNvPr>
          <p:cNvGrpSpPr/>
          <p:nvPr/>
        </p:nvGrpSpPr>
        <p:grpSpPr>
          <a:xfrm>
            <a:off x="4439114" y="398045"/>
            <a:ext cx="1802703" cy="180000"/>
            <a:chOff x="7790818" y="849130"/>
            <a:chExt cx="1802703" cy="180000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469E6CC-C382-EAE9-41D4-1A63A29202FE}"/>
                </a:ext>
              </a:extLst>
            </p:cNvPr>
            <p:cNvGrpSpPr/>
            <p:nvPr/>
          </p:nvGrpSpPr>
          <p:grpSpPr>
            <a:xfrm>
              <a:off x="8152106" y="849130"/>
              <a:ext cx="1080000" cy="180000"/>
              <a:chOff x="8781686" y="1044000"/>
              <a:chExt cx="1080000" cy="18000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DFEAE379-FA20-1E3E-7744-B9E68E8D31BC}"/>
                  </a:ext>
                </a:extLst>
              </p:cNvPr>
              <p:cNvGrpSpPr/>
              <p:nvPr/>
            </p:nvGrpSpPr>
            <p:grpSpPr>
              <a:xfrm>
                <a:off x="878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4712DAAE-E0C1-A465-450F-A81222812948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E4CA8ECD-8A6E-83AB-050E-6D70FD1BA654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36BC7EE4-392F-D1B3-D36B-69D58CA470E3}"/>
                  </a:ext>
                </a:extLst>
              </p:cNvPr>
              <p:cNvGrpSpPr/>
              <p:nvPr/>
            </p:nvGrpSpPr>
            <p:grpSpPr>
              <a:xfrm>
                <a:off x="914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0A7D6E40-9ABC-884E-7D00-C6C8B20209E7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413FA7F4-5FD3-2BB1-E574-4B141137A9AC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5FD9B55D-1D5C-DDF5-76EF-B80F5828051A}"/>
                  </a:ext>
                </a:extLst>
              </p:cNvPr>
              <p:cNvGrpSpPr/>
              <p:nvPr/>
            </p:nvGrpSpPr>
            <p:grpSpPr>
              <a:xfrm>
                <a:off x="950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331A5DBB-C4C0-F497-3E10-E55D64745858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9E95A566-33E2-1C64-8848-F8882B16DDD7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46791526-1F57-2E19-2D42-1A76FF18453B}"/>
                </a:ext>
              </a:extLst>
            </p:cNvPr>
            <p:cNvSpPr/>
            <p:nvPr/>
          </p:nvSpPr>
          <p:spPr>
            <a:xfrm>
              <a:off x="7790818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02115FF-066C-518F-1285-7F1D615C5C98}"/>
                </a:ext>
              </a:extLst>
            </p:cNvPr>
            <p:cNvSpPr/>
            <p:nvPr/>
          </p:nvSpPr>
          <p:spPr>
            <a:xfrm>
              <a:off x="9233521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27983898-845E-4F28-70CE-456689BDA972}"/>
              </a:ext>
            </a:extLst>
          </p:cNvPr>
          <p:cNvSpPr txBox="1"/>
          <p:nvPr/>
        </p:nvSpPr>
        <p:spPr>
          <a:xfrm>
            <a:off x="4583814" y="102904"/>
            <a:ext cx="1723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Unsigned Coefficient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Stream (4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800" b="1" i="1" baseline="30000" dirty="0"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values)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E3372BF-8B09-632E-6E13-7AE6CA045B6B}"/>
              </a:ext>
            </a:extLst>
          </p:cNvPr>
          <p:cNvSpPr/>
          <p:nvPr/>
        </p:nvSpPr>
        <p:spPr>
          <a:xfrm>
            <a:off x="4270664" y="848759"/>
            <a:ext cx="1660873" cy="2500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Lane</a:t>
            </a:r>
            <a:r>
              <a:rPr kumimoji="1" lang="zh-CN" altLang="en-US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⇐ </a:t>
            </a: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coefficient</a:t>
            </a:r>
            <a:endParaRPr kumimoji="1" lang="zh-CN" altLang="en-US" sz="1200" b="1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027D7D0A-18FF-653E-76D0-3CE1EB6492C2}"/>
              </a:ext>
            </a:extLst>
          </p:cNvPr>
          <p:cNvSpPr/>
          <p:nvPr/>
        </p:nvSpPr>
        <p:spPr>
          <a:xfrm>
            <a:off x="10370127" y="858656"/>
            <a:ext cx="1660873" cy="25003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Lane</a:t>
            </a:r>
            <a:r>
              <a:rPr kumimoji="1" lang="zh-CN" altLang="en-US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⇐ </a:t>
            </a: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bit position</a:t>
            </a:r>
            <a:endParaRPr kumimoji="1" lang="zh-CN" altLang="en-US" sz="1200" b="1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D5D2BCD1-AD7F-EC9F-A197-DEC8D9DC55E1}"/>
              </a:ext>
            </a:extLst>
          </p:cNvPr>
          <p:cNvSpPr/>
          <p:nvPr/>
        </p:nvSpPr>
        <p:spPr>
          <a:xfrm>
            <a:off x="4527515" y="3990733"/>
            <a:ext cx="3465988" cy="1917255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F59269F1-3A7F-DF3B-5867-9C1AC584F9EB}"/>
              </a:ext>
            </a:extLst>
          </p:cNvPr>
          <p:cNvSpPr/>
          <p:nvPr/>
        </p:nvSpPr>
        <p:spPr>
          <a:xfrm>
            <a:off x="4530365" y="3990732"/>
            <a:ext cx="3463137" cy="332510"/>
          </a:xfrm>
          <a:prstGeom prst="roundRect">
            <a:avLst>
              <a:gd name="adj" fmla="val 2798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145F133-D0E0-FD17-B0E1-667F14A7C87B}"/>
              </a:ext>
            </a:extLst>
          </p:cNvPr>
          <p:cNvSpPr txBox="1"/>
          <p:nvPr/>
        </p:nvSpPr>
        <p:spPr>
          <a:xfrm>
            <a:off x="4530366" y="4003098"/>
            <a:ext cx="3371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(d) </a:t>
            </a:r>
            <a:r>
              <a:rPr lang="zh-CN" altLang="zh-CN" sz="1400" b="1" dirty="0">
                <a:latin typeface="Helvetica" pitchFamily="2" charset="0"/>
              </a:rPr>
              <a:t>64-bit </a:t>
            </a:r>
            <a:r>
              <a:rPr lang="en-US" altLang="zh-CN" sz="1400" b="1" dirty="0">
                <a:latin typeface="Helvetica" pitchFamily="2" charset="0"/>
              </a:rPr>
              <a:t>Coefficient</a:t>
            </a:r>
            <a:r>
              <a:rPr lang="zh-CN" altLang="zh-CN" sz="1400" b="1" dirty="0">
                <a:latin typeface="Helvetica" pitchFamily="2" charset="0"/>
              </a:rPr>
              <a:t> Representation</a:t>
            </a:r>
            <a:endParaRPr kumimoji="1" lang="zh-CN" altLang="en-US" sz="1200" b="1" dirty="0">
              <a:latin typeface="Helvetica" pitchFamily="2" charset="0"/>
            </a:endParaRP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2CF3A519-AC8A-F7ED-56C2-966CC130D0D3}"/>
              </a:ext>
            </a:extLst>
          </p:cNvPr>
          <p:cNvCxnSpPr>
            <a:cxnSpLocks/>
            <a:stCxn id="46" idx="2"/>
            <a:endCxn id="45" idx="2"/>
          </p:cNvCxnSpPr>
          <p:nvPr/>
        </p:nvCxnSpPr>
        <p:spPr>
          <a:xfrm flipH="1">
            <a:off x="6260509" y="4323242"/>
            <a:ext cx="1425" cy="1584746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799F07BB-46D2-8370-2407-039DA8C69EAD}"/>
              </a:ext>
            </a:extLst>
          </p:cNvPr>
          <p:cNvSpPr/>
          <p:nvPr/>
        </p:nvSpPr>
        <p:spPr>
          <a:xfrm>
            <a:off x="72736" y="4003099"/>
            <a:ext cx="4378568" cy="1904890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5252555A-30CE-0796-A0EA-66560E512B58}"/>
              </a:ext>
            </a:extLst>
          </p:cNvPr>
          <p:cNvSpPr/>
          <p:nvPr/>
        </p:nvSpPr>
        <p:spPr>
          <a:xfrm>
            <a:off x="72736" y="4003098"/>
            <a:ext cx="4376180" cy="332510"/>
          </a:xfrm>
          <a:prstGeom prst="roundRect">
            <a:avLst>
              <a:gd name="adj" fmla="val 2798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DEF23DE-8E83-2386-1C64-BCD012D10E10}"/>
              </a:ext>
            </a:extLst>
          </p:cNvPr>
          <p:cNvSpPr txBox="1"/>
          <p:nvPr/>
        </p:nvSpPr>
        <p:spPr>
          <a:xfrm>
            <a:off x="72735" y="4015464"/>
            <a:ext cx="4668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(b)Reduction on Sunway</a:t>
            </a:r>
            <a:endParaRPr kumimoji="1" lang="zh-CN" altLang="en-US" sz="1200" b="1" dirty="0">
              <a:latin typeface="Helvetica" pitchFamily="2" charset="0"/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F63A395C-1422-C78B-611C-8A734281F12A}"/>
              </a:ext>
            </a:extLst>
          </p:cNvPr>
          <p:cNvSpPr/>
          <p:nvPr/>
        </p:nvSpPr>
        <p:spPr>
          <a:xfrm>
            <a:off x="8051957" y="3990733"/>
            <a:ext cx="4067305" cy="1917256"/>
          </a:xfrm>
          <a:prstGeom prst="roundRect">
            <a:avLst>
              <a:gd name="adj" fmla="val 2798"/>
            </a:avLst>
          </a:prstGeom>
          <a:noFill/>
          <a:ln w="19050">
            <a:solidFill>
              <a:srgbClr val="FF3D7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430C7DEC-BB81-3871-0A6C-3B82DD5DD4BC}"/>
              </a:ext>
            </a:extLst>
          </p:cNvPr>
          <p:cNvSpPr/>
          <p:nvPr/>
        </p:nvSpPr>
        <p:spPr>
          <a:xfrm>
            <a:off x="8051957" y="3990732"/>
            <a:ext cx="4067305" cy="332510"/>
          </a:xfrm>
          <a:prstGeom prst="roundRect">
            <a:avLst>
              <a:gd name="adj" fmla="val 2798"/>
            </a:avLst>
          </a:prstGeom>
          <a:solidFill>
            <a:srgbClr val="FF6878"/>
          </a:solidFill>
          <a:ln w="19050">
            <a:solidFill>
              <a:srgbClr val="FF3D7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E634F89-B841-E237-68F6-31C2AE54D20F}"/>
              </a:ext>
            </a:extLst>
          </p:cNvPr>
          <p:cNvSpPr txBox="1"/>
          <p:nvPr/>
        </p:nvSpPr>
        <p:spPr>
          <a:xfrm>
            <a:off x="8067290" y="3996604"/>
            <a:ext cx="3531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(e) SIMD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Scope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(Design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Choice)</a:t>
            </a:r>
            <a:endParaRPr kumimoji="1" lang="zh-CN" altLang="en-US" sz="1200" dirty="0">
              <a:latin typeface="Helvetica" pitchFamily="2" charset="0"/>
            </a:endParaRPr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A3FB6B4E-00EB-45A9-4832-7B95AE7EAB62}"/>
              </a:ext>
            </a:extLst>
          </p:cNvPr>
          <p:cNvCxnSpPr>
            <a:cxnSpLocks/>
          </p:cNvCxnSpPr>
          <p:nvPr/>
        </p:nvCxnSpPr>
        <p:spPr>
          <a:xfrm flipH="1" flipV="1">
            <a:off x="10091077" y="4316516"/>
            <a:ext cx="542" cy="1572381"/>
          </a:xfrm>
          <a:prstGeom prst="line">
            <a:avLst/>
          </a:prstGeom>
          <a:ln>
            <a:solidFill>
              <a:srgbClr val="FF3D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E5D1CA98-3D59-816F-57F9-0330FE4779CE}"/>
              </a:ext>
            </a:extLst>
          </p:cNvPr>
          <p:cNvSpPr/>
          <p:nvPr/>
        </p:nvSpPr>
        <p:spPr>
          <a:xfrm>
            <a:off x="4573325" y="4385614"/>
            <a:ext cx="1598239" cy="4149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Native</a:t>
            </a:r>
            <a:r>
              <a:rPr kumimoji="1" lang="zh-CN" altLang="en-US" sz="10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64-bit</a:t>
            </a:r>
          </a:p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(when supported)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9959FAE2-4F15-6E1D-0D62-D3EB791CE65B}"/>
              </a:ext>
            </a:extLst>
          </p:cNvPr>
          <p:cNvSpPr/>
          <p:nvPr/>
        </p:nvSpPr>
        <p:spPr>
          <a:xfrm>
            <a:off x="6333917" y="4385614"/>
            <a:ext cx="1608013" cy="4149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Split 32-bit</a:t>
            </a:r>
          </a:p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(when favorable)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74A93FA-58B9-BC77-E72F-16D850177A8F}"/>
              </a:ext>
            </a:extLst>
          </p:cNvPr>
          <p:cNvSpPr/>
          <p:nvPr/>
        </p:nvSpPr>
        <p:spPr>
          <a:xfrm>
            <a:off x="4677123" y="5000934"/>
            <a:ext cx="1385334" cy="162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Full</a:t>
            </a:r>
            <a:r>
              <a:rPr kumimoji="1" lang="zh-CN" altLang="en-US" sz="8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64-bit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F4EA41C-AAEA-DE74-2C26-342B4AB7BA6C}"/>
              </a:ext>
            </a:extLst>
          </p:cNvPr>
          <p:cNvSpPr/>
          <p:nvPr/>
        </p:nvSpPr>
        <p:spPr>
          <a:xfrm>
            <a:off x="6243755" y="4995452"/>
            <a:ext cx="842400" cy="162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High 32-bit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F444DB8-7069-6A59-4C07-C56DF9DBAE5C}"/>
              </a:ext>
            </a:extLst>
          </p:cNvPr>
          <p:cNvSpPr/>
          <p:nvPr/>
        </p:nvSpPr>
        <p:spPr>
          <a:xfrm>
            <a:off x="7083693" y="4995452"/>
            <a:ext cx="842400" cy="162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Low 32-bit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47D98FE-A55B-555C-B8C9-05F0B6346F4D}"/>
              </a:ext>
            </a:extLst>
          </p:cNvPr>
          <p:cNvGrpSpPr/>
          <p:nvPr/>
        </p:nvGrpSpPr>
        <p:grpSpPr>
          <a:xfrm>
            <a:off x="4845576" y="5377802"/>
            <a:ext cx="1080000" cy="180000"/>
            <a:chOff x="8781686" y="1044000"/>
            <a:chExt cx="1080000" cy="180000"/>
          </a:xfrm>
          <a:solidFill>
            <a:schemeClr val="accent6">
              <a:lumMod val="20000"/>
              <a:lumOff val="80000"/>
            </a:schemeClr>
          </a:solidFill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87CD1EAB-D985-E773-02A9-856EB5981387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D44CAF21-2542-51FE-98BD-EE49A1A42E15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5A48347B-1495-C69D-084F-712EF8415A82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248E7DD1-5E73-3785-818A-C9ABC011415A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ADE66D5-A121-AD1A-E0CB-F803DB3755E3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383F9CA2-6C3D-91B4-CE87-28318C359DDF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A2DD0E7D-D722-553F-0874-C9CFED98971B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0A9DEFB3-8B57-826C-9A63-1D76B8369B8E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D9B5B04A-07C1-D7DA-D8DF-08ACFD7AF1B9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DB6B6A24-7005-8F76-21FC-FEE64A99563B}"/>
              </a:ext>
            </a:extLst>
          </p:cNvPr>
          <p:cNvSpPr txBox="1"/>
          <p:nvPr/>
        </p:nvSpPr>
        <p:spPr>
          <a:xfrm>
            <a:off x="4849664" y="5569434"/>
            <a:ext cx="1049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8×64-bit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</a:t>
            </a: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(e.g., x86 AVX-512)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04027EDA-2F84-831B-B8A6-B587731358CE}"/>
              </a:ext>
            </a:extLst>
          </p:cNvPr>
          <p:cNvGrpSpPr/>
          <p:nvPr/>
        </p:nvGrpSpPr>
        <p:grpSpPr>
          <a:xfrm>
            <a:off x="6396985" y="5377033"/>
            <a:ext cx="540000" cy="180000"/>
            <a:chOff x="6437334" y="5414407"/>
            <a:chExt cx="540000" cy="180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B178B9A6-C9CC-EAEE-D907-155D25C08EBF}"/>
                </a:ext>
              </a:extLst>
            </p:cNvPr>
            <p:cNvSpPr/>
            <p:nvPr/>
          </p:nvSpPr>
          <p:spPr>
            <a:xfrm>
              <a:off x="643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7D528100-6BA2-5C7E-94E9-8D5BF83CA7C8}"/>
                </a:ext>
              </a:extLst>
            </p:cNvPr>
            <p:cNvSpPr/>
            <p:nvPr/>
          </p:nvSpPr>
          <p:spPr>
            <a:xfrm>
              <a:off x="661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70FCA539-A7F5-ADC6-4EA4-DBE9BBB501EA}"/>
                </a:ext>
              </a:extLst>
            </p:cNvPr>
            <p:cNvSpPr/>
            <p:nvPr/>
          </p:nvSpPr>
          <p:spPr>
            <a:xfrm>
              <a:off x="679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E7B02ED-ECB9-47F5-8717-14AF3DEEA5D0}"/>
              </a:ext>
            </a:extLst>
          </p:cNvPr>
          <p:cNvGrpSpPr/>
          <p:nvPr/>
        </p:nvGrpSpPr>
        <p:grpSpPr>
          <a:xfrm>
            <a:off x="7234893" y="5377033"/>
            <a:ext cx="540000" cy="180000"/>
            <a:chOff x="6977334" y="5414407"/>
            <a:chExt cx="540000" cy="180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AFD037AE-5048-301B-9A30-EDA1815632C4}"/>
                </a:ext>
              </a:extLst>
            </p:cNvPr>
            <p:cNvSpPr/>
            <p:nvPr/>
          </p:nvSpPr>
          <p:spPr>
            <a:xfrm>
              <a:off x="697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77D0E66-788B-D77E-26DF-20411B0EAE25}"/>
                </a:ext>
              </a:extLst>
            </p:cNvPr>
            <p:cNvSpPr/>
            <p:nvPr/>
          </p:nvSpPr>
          <p:spPr>
            <a:xfrm>
              <a:off x="715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9AA034BE-38F1-DA85-92C3-50BECA183D3B}"/>
                </a:ext>
              </a:extLst>
            </p:cNvPr>
            <p:cNvSpPr/>
            <p:nvPr/>
          </p:nvSpPr>
          <p:spPr>
            <a:xfrm>
              <a:off x="733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20BAB2D7-56C2-9D56-2DD7-B85F2FEBF903}"/>
              </a:ext>
            </a:extLst>
          </p:cNvPr>
          <p:cNvSpPr txBox="1"/>
          <p:nvPr/>
        </p:nvSpPr>
        <p:spPr>
          <a:xfrm>
            <a:off x="6487066" y="5570285"/>
            <a:ext cx="1208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16×32-bit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</a:t>
            </a: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(e.g., Sunway / SVE)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00" name="下箭头 99">
            <a:extLst>
              <a:ext uri="{FF2B5EF4-FFF2-40B4-BE49-F238E27FC236}">
                <a16:creationId xmlns:a16="http://schemas.microsoft.com/office/drawing/2014/main" id="{254D7CB4-23E7-8EEE-E927-4BC723ED5557}"/>
              </a:ext>
            </a:extLst>
          </p:cNvPr>
          <p:cNvSpPr/>
          <p:nvPr/>
        </p:nvSpPr>
        <p:spPr>
          <a:xfrm>
            <a:off x="5304393" y="5163929"/>
            <a:ext cx="161788" cy="1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下箭头 100">
            <a:extLst>
              <a:ext uri="{FF2B5EF4-FFF2-40B4-BE49-F238E27FC236}">
                <a16:creationId xmlns:a16="http://schemas.microsoft.com/office/drawing/2014/main" id="{06774A09-4DE1-6E13-1BFE-AC8497D58850}"/>
              </a:ext>
            </a:extLst>
          </p:cNvPr>
          <p:cNvSpPr/>
          <p:nvPr/>
        </p:nvSpPr>
        <p:spPr>
          <a:xfrm>
            <a:off x="6588841" y="5161188"/>
            <a:ext cx="161788" cy="1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下箭头 101">
            <a:extLst>
              <a:ext uri="{FF2B5EF4-FFF2-40B4-BE49-F238E27FC236}">
                <a16:creationId xmlns:a16="http://schemas.microsoft.com/office/drawing/2014/main" id="{FBA2E6A2-AC40-9E9A-5C46-13DA6D631EFB}"/>
              </a:ext>
            </a:extLst>
          </p:cNvPr>
          <p:cNvSpPr/>
          <p:nvPr/>
        </p:nvSpPr>
        <p:spPr>
          <a:xfrm>
            <a:off x="7420152" y="5158449"/>
            <a:ext cx="161788" cy="1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F4C58A87-CD42-12CD-3196-B4F46E5B271E}"/>
              </a:ext>
            </a:extLst>
          </p:cNvPr>
          <p:cNvSpPr txBox="1"/>
          <p:nvPr/>
        </p:nvSpPr>
        <p:spPr>
          <a:xfrm>
            <a:off x="4565418" y="4837325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63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C708BED0-288E-475B-BAA4-6C2A67D44E7C}"/>
              </a:ext>
            </a:extLst>
          </p:cNvPr>
          <p:cNvSpPr txBox="1"/>
          <p:nvPr/>
        </p:nvSpPr>
        <p:spPr>
          <a:xfrm>
            <a:off x="5863647" y="4837325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0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249A0C5-2D93-027C-C7CF-64873C402591}"/>
              </a:ext>
            </a:extLst>
          </p:cNvPr>
          <p:cNvSpPr txBox="1"/>
          <p:nvPr/>
        </p:nvSpPr>
        <p:spPr>
          <a:xfrm>
            <a:off x="6163673" y="4830469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63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D999D4F2-FB89-54E7-A052-394CB3F4F2BD}"/>
              </a:ext>
            </a:extLst>
          </p:cNvPr>
          <p:cNvSpPr txBox="1"/>
          <p:nvPr/>
        </p:nvSpPr>
        <p:spPr>
          <a:xfrm>
            <a:off x="7687882" y="4830469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0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51A09652-3465-6E7F-C5B3-AA78AF19FA0D}"/>
              </a:ext>
            </a:extLst>
          </p:cNvPr>
          <p:cNvSpPr txBox="1"/>
          <p:nvPr/>
        </p:nvSpPr>
        <p:spPr>
          <a:xfrm>
            <a:off x="6848138" y="4830469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32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E44F289-4648-226B-F509-52EF5B40F7A2}"/>
              </a:ext>
            </a:extLst>
          </p:cNvPr>
          <p:cNvSpPr txBox="1"/>
          <p:nvPr/>
        </p:nvSpPr>
        <p:spPr>
          <a:xfrm>
            <a:off x="6983489" y="4831200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31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0D5DFF0D-7EB7-6F0A-7B8C-21D7A8076EA2}"/>
              </a:ext>
            </a:extLst>
          </p:cNvPr>
          <p:cNvGrpSpPr/>
          <p:nvPr/>
        </p:nvGrpSpPr>
        <p:grpSpPr>
          <a:xfrm>
            <a:off x="8536160" y="5570288"/>
            <a:ext cx="1080000" cy="180000"/>
            <a:chOff x="8781686" y="1044000"/>
            <a:chExt cx="1080000" cy="180000"/>
          </a:xfrm>
          <a:solidFill>
            <a:schemeClr val="accent6">
              <a:lumMod val="20000"/>
              <a:lumOff val="80000"/>
            </a:schemeClr>
          </a:solidFill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1990DF24-63CD-1B3C-93F8-F4D691A1A0BE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ED3C7903-CD5D-9979-DC09-20A1C51668F7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C260A6F3-C382-2D42-C66E-A200CBF775B9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7802FEB3-CEB4-ABED-E182-DBF02F9CFD75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1F78A44C-B17F-E501-B148-F66F70B49480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63FEE7FC-6F7A-F53C-C995-CCB0441E2F08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67751EB0-45C1-4571-FE54-96704B743283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C576A12D-242A-E9C0-4B1B-B4B94C0BE420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506EF608-C04B-4407-3EDA-2C8B3B577BF2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151" name="文本框 150">
            <a:extLst>
              <a:ext uri="{FF2B5EF4-FFF2-40B4-BE49-F238E27FC236}">
                <a16:creationId xmlns:a16="http://schemas.microsoft.com/office/drawing/2014/main" id="{8904CA10-0DEB-9553-6701-9F3F0A7A0D33}"/>
              </a:ext>
            </a:extLst>
          </p:cNvPr>
          <p:cNvSpPr txBox="1"/>
          <p:nvPr/>
        </p:nvSpPr>
        <p:spPr>
          <a:xfrm>
            <a:off x="8465460" y="5719439"/>
            <a:ext cx="12084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SIMD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Processing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Unit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22670722-ADB8-B4D4-103D-26CEAD2534EE}"/>
              </a:ext>
            </a:extLst>
          </p:cNvPr>
          <p:cNvGrpSpPr/>
          <p:nvPr/>
        </p:nvGrpSpPr>
        <p:grpSpPr>
          <a:xfrm>
            <a:off x="8567417" y="4625547"/>
            <a:ext cx="1458920" cy="222248"/>
            <a:chOff x="8124495" y="4460858"/>
            <a:chExt cx="1458920" cy="222248"/>
          </a:xfrm>
        </p:grpSpPr>
        <p:sp>
          <p:nvSpPr>
            <p:cNvPr id="153" name="立方体 152">
              <a:extLst>
                <a:ext uri="{FF2B5EF4-FFF2-40B4-BE49-F238E27FC236}">
                  <a16:creationId xmlns:a16="http://schemas.microsoft.com/office/drawing/2014/main" id="{86DDD495-8840-4FA7-CE4C-A3A16E8AAC53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53F51DCE-883D-A254-2941-680C4372E9C2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157" name="组合 156">
                <a:extLst>
                  <a:ext uri="{FF2B5EF4-FFF2-40B4-BE49-F238E27FC236}">
                    <a16:creationId xmlns:a16="http://schemas.microsoft.com/office/drawing/2014/main" id="{D2645967-544A-B4DB-28D7-4CD2076021C4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161" name="组合 160">
                  <a:extLst>
                    <a:ext uri="{FF2B5EF4-FFF2-40B4-BE49-F238E27FC236}">
                      <a16:creationId xmlns:a16="http://schemas.microsoft.com/office/drawing/2014/main" id="{6999DF6D-A1D8-D1A0-4552-2EC58BAEE23C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65" name="矩形 164">
                    <a:extLst>
                      <a:ext uri="{FF2B5EF4-FFF2-40B4-BE49-F238E27FC236}">
                        <a16:creationId xmlns:a16="http://schemas.microsoft.com/office/drawing/2014/main" id="{9E10A3BE-A85D-FD6B-508A-61B13429504B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66" name="矩形 165">
                    <a:extLst>
                      <a:ext uri="{FF2B5EF4-FFF2-40B4-BE49-F238E27FC236}">
                        <a16:creationId xmlns:a16="http://schemas.microsoft.com/office/drawing/2014/main" id="{8B7054D2-3A0B-9039-22C6-06ECB9BFEE68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62" name="组合 161">
                  <a:extLst>
                    <a:ext uri="{FF2B5EF4-FFF2-40B4-BE49-F238E27FC236}">
                      <a16:creationId xmlns:a16="http://schemas.microsoft.com/office/drawing/2014/main" id="{F725D29B-C877-E2EF-9F95-B04E3C87B5F8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63" name="矩形 162">
                    <a:extLst>
                      <a:ext uri="{FF2B5EF4-FFF2-40B4-BE49-F238E27FC236}">
                        <a16:creationId xmlns:a16="http://schemas.microsoft.com/office/drawing/2014/main" id="{808D3722-2C2D-AB60-68C0-03D4ECA65C69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64" name="矩形 163">
                    <a:extLst>
                      <a:ext uri="{FF2B5EF4-FFF2-40B4-BE49-F238E27FC236}">
                        <a16:creationId xmlns:a16="http://schemas.microsoft.com/office/drawing/2014/main" id="{F32579D3-F696-68DE-5A78-2BB123351CF0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9F1F2138-72FC-4ADD-136A-0D7C7CC57854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830A7F16-044B-5BDE-F09F-B13699455585}"/>
              </a:ext>
            </a:extLst>
          </p:cNvPr>
          <p:cNvGrpSpPr/>
          <p:nvPr/>
        </p:nvGrpSpPr>
        <p:grpSpPr>
          <a:xfrm>
            <a:off x="8567417" y="4853736"/>
            <a:ext cx="1458920" cy="222248"/>
            <a:chOff x="8124495" y="4460858"/>
            <a:chExt cx="1458920" cy="222248"/>
          </a:xfrm>
        </p:grpSpPr>
        <p:sp>
          <p:nvSpPr>
            <p:cNvPr id="181" name="立方体 180">
              <a:extLst>
                <a:ext uri="{FF2B5EF4-FFF2-40B4-BE49-F238E27FC236}">
                  <a16:creationId xmlns:a16="http://schemas.microsoft.com/office/drawing/2014/main" id="{7B37C0E8-1FF2-FE5F-AEBA-9A0ED4489334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2F9D6350-EEEE-357A-AD87-9866085B544F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183" name="组合 182">
                <a:extLst>
                  <a:ext uri="{FF2B5EF4-FFF2-40B4-BE49-F238E27FC236}">
                    <a16:creationId xmlns:a16="http://schemas.microsoft.com/office/drawing/2014/main" id="{DF961D49-CF8C-5E28-006C-F28D849DAC46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185" name="组合 184">
                  <a:extLst>
                    <a:ext uri="{FF2B5EF4-FFF2-40B4-BE49-F238E27FC236}">
                      <a16:creationId xmlns:a16="http://schemas.microsoft.com/office/drawing/2014/main" id="{4A099E82-01E8-0815-CF15-C7DBA846B270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89" name="矩形 188">
                    <a:extLst>
                      <a:ext uri="{FF2B5EF4-FFF2-40B4-BE49-F238E27FC236}">
                        <a16:creationId xmlns:a16="http://schemas.microsoft.com/office/drawing/2014/main" id="{05FE0758-E755-77C0-3F2A-53C70B18BFFD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90" name="矩形 189">
                    <a:extLst>
                      <a:ext uri="{FF2B5EF4-FFF2-40B4-BE49-F238E27FC236}">
                        <a16:creationId xmlns:a16="http://schemas.microsoft.com/office/drawing/2014/main" id="{A8D766A2-50CC-72CD-D739-3137301D1F24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86" name="组合 185">
                  <a:extLst>
                    <a:ext uri="{FF2B5EF4-FFF2-40B4-BE49-F238E27FC236}">
                      <a16:creationId xmlns:a16="http://schemas.microsoft.com/office/drawing/2014/main" id="{F01BE6BF-4979-2070-17AD-FDA5C88E3BDD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87" name="矩形 186">
                    <a:extLst>
                      <a:ext uri="{FF2B5EF4-FFF2-40B4-BE49-F238E27FC236}">
                        <a16:creationId xmlns:a16="http://schemas.microsoft.com/office/drawing/2014/main" id="{596D7898-290E-B5D4-A016-21B1D9835B7E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88" name="矩形 187">
                    <a:extLst>
                      <a:ext uri="{FF2B5EF4-FFF2-40B4-BE49-F238E27FC236}">
                        <a16:creationId xmlns:a16="http://schemas.microsoft.com/office/drawing/2014/main" id="{8329F7FF-60A8-CFFF-9A15-62DDB787148C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92F01126-143E-5EEC-1AFE-5D94A6131F18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10D3F7BE-0CDB-CD98-6EC3-067FE8C4B008}"/>
              </a:ext>
            </a:extLst>
          </p:cNvPr>
          <p:cNvGrpSpPr/>
          <p:nvPr/>
        </p:nvGrpSpPr>
        <p:grpSpPr>
          <a:xfrm>
            <a:off x="8567417" y="5201704"/>
            <a:ext cx="1458920" cy="222248"/>
            <a:chOff x="8124495" y="4460858"/>
            <a:chExt cx="1458920" cy="222248"/>
          </a:xfrm>
        </p:grpSpPr>
        <p:sp>
          <p:nvSpPr>
            <p:cNvPr id="192" name="立方体 191">
              <a:extLst>
                <a:ext uri="{FF2B5EF4-FFF2-40B4-BE49-F238E27FC236}">
                  <a16:creationId xmlns:a16="http://schemas.microsoft.com/office/drawing/2014/main" id="{8FC15DB5-19C3-C712-2C5A-39E98D2C9C01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1DFCD934-69F1-8050-B520-9C57F782FD5C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194" name="组合 193">
                <a:extLst>
                  <a:ext uri="{FF2B5EF4-FFF2-40B4-BE49-F238E27FC236}">
                    <a16:creationId xmlns:a16="http://schemas.microsoft.com/office/drawing/2014/main" id="{E8CFF82D-5781-9624-8D13-F4CC34414B69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196" name="组合 195">
                  <a:extLst>
                    <a:ext uri="{FF2B5EF4-FFF2-40B4-BE49-F238E27FC236}">
                      <a16:creationId xmlns:a16="http://schemas.microsoft.com/office/drawing/2014/main" id="{9EAD9D34-DC75-6AC4-CF5E-DAD0012122CC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00" name="矩形 199">
                    <a:extLst>
                      <a:ext uri="{FF2B5EF4-FFF2-40B4-BE49-F238E27FC236}">
                        <a16:creationId xmlns:a16="http://schemas.microsoft.com/office/drawing/2014/main" id="{B46306C3-640A-FCE1-A3AA-2E58541558E4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201" name="矩形 200">
                    <a:extLst>
                      <a:ext uri="{FF2B5EF4-FFF2-40B4-BE49-F238E27FC236}">
                        <a16:creationId xmlns:a16="http://schemas.microsoft.com/office/drawing/2014/main" id="{DCE1B249-CA6F-40A5-56C0-A72BEB762917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97" name="组合 196">
                  <a:extLst>
                    <a:ext uri="{FF2B5EF4-FFF2-40B4-BE49-F238E27FC236}">
                      <a16:creationId xmlns:a16="http://schemas.microsoft.com/office/drawing/2014/main" id="{11CCE986-CE6F-F029-215D-8FD4C4F7BEC1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98" name="矩形 197">
                    <a:extLst>
                      <a:ext uri="{FF2B5EF4-FFF2-40B4-BE49-F238E27FC236}">
                        <a16:creationId xmlns:a16="http://schemas.microsoft.com/office/drawing/2014/main" id="{148D44F5-8082-FF11-5846-47FAC1107B8C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99" name="矩形 198">
                    <a:extLst>
                      <a:ext uri="{FF2B5EF4-FFF2-40B4-BE49-F238E27FC236}">
                        <a16:creationId xmlns:a16="http://schemas.microsoft.com/office/drawing/2014/main" id="{C92E15A9-A424-DDC0-7287-16228F22C5A2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94A656F8-E52F-ACC5-780C-792B72E585EC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sp>
        <p:nvSpPr>
          <p:cNvPr id="202" name="文本框 201">
            <a:extLst>
              <a:ext uri="{FF2B5EF4-FFF2-40B4-BE49-F238E27FC236}">
                <a16:creationId xmlns:a16="http://schemas.microsoft.com/office/drawing/2014/main" id="{7D225D6F-AAE3-4BD8-2946-3E6F8631C431}"/>
              </a:ext>
            </a:extLst>
          </p:cNvPr>
          <p:cNvSpPr txBox="1"/>
          <p:nvPr/>
        </p:nvSpPr>
        <p:spPr>
          <a:xfrm>
            <a:off x="8001667" y="4647681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0</a:t>
            </a: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852C1B2F-5326-ECC5-D3D5-242B54673D26}"/>
              </a:ext>
            </a:extLst>
          </p:cNvPr>
          <p:cNvSpPr txBox="1"/>
          <p:nvPr/>
        </p:nvSpPr>
        <p:spPr>
          <a:xfrm>
            <a:off x="8001667" y="4908398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1</a:t>
            </a: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B7CA5690-B3EB-8F6C-7206-B4D7909A5C27}"/>
              </a:ext>
            </a:extLst>
          </p:cNvPr>
          <p:cNvSpPr txBox="1"/>
          <p:nvPr/>
        </p:nvSpPr>
        <p:spPr>
          <a:xfrm>
            <a:off x="8001667" y="5270610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k</a:t>
            </a: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3E2F2AE4-9909-8EF4-DBCF-B2AF8BC6797C}"/>
              </a:ext>
            </a:extLst>
          </p:cNvPr>
          <p:cNvSpPr txBox="1"/>
          <p:nvPr/>
        </p:nvSpPr>
        <p:spPr>
          <a:xfrm>
            <a:off x="8844904" y="5010420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…</a:t>
            </a:r>
          </a:p>
        </p:txBody>
      </p:sp>
      <p:sp>
        <p:nvSpPr>
          <p:cNvPr id="207" name="下箭头 206">
            <a:extLst>
              <a:ext uri="{FF2B5EF4-FFF2-40B4-BE49-F238E27FC236}">
                <a16:creationId xmlns:a16="http://schemas.microsoft.com/office/drawing/2014/main" id="{E7D35789-4630-ABCA-61B7-98AA44C97880}"/>
              </a:ext>
            </a:extLst>
          </p:cNvPr>
          <p:cNvSpPr/>
          <p:nvPr/>
        </p:nvSpPr>
        <p:spPr>
          <a:xfrm>
            <a:off x="8973522" y="5445695"/>
            <a:ext cx="102637" cy="12336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517A9ADD-DC1D-91C6-C5C1-15A23218B1CF}"/>
              </a:ext>
            </a:extLst>
          </p:cNvPr>
          <p:cNvGrpSpPr/>
          <p:nvPr/>
        </p:nvGrpSpPr>
        <p:grpSpPr>
          <a:xfrm>
            <a:off x="10572597" y="4615761"/>
            <a:ext cx="1458920" cy="222248"/>
            <a:chOff x="8124495" y="4460858"/>
            <a:chExt cx="1458920" cy="222248"/>
          </a:xfrm>
        </p:grpSpPr>
        <p:sp>
          <p:nvSpPr>
            <p:cNvPr id="209" name="立方体 208">
              <a:extLst>
                <a:ext uri="{FF2B5EF4-FFF2-40B4-BE49-F238E27FC236}">
                  <a16:creationId xmlns:a16="http://schemas.microsoft.com/office/drawing/2014/main" id="{11F4F697-B757-D05A-F8A8-41534AE06BB1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EE64FC96-E3F1-E1EA-11B4-D5A1E71D7C41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211" name="组合 210">
                <a:extLst>
                  <a:ext uri="{FF2B5EF4-FFF2-40B4-BE49-F238E27FC236}">
                    <a16:creationId xmlns:a16="http://schemas.microsoft.com/office/drawing/2014/main" id="{44D09115-52FC-1E12-9477-3D45ED4FA575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213" name="组合 212">
                  <a:extLst>
                    <a:ext uri="{FF2B5EF4-FFF2-40B4-BE49-F238E27FC236}">
                      <a16:creationId xmlns:a16="http://schemas.microsoft.com/office/drawing/2014/main" id="{571886DE-19CA-9B3D-E93C-D6906396BFF4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17" name="矩形 216">
                    <a:extLst>
                      <a:ext uri="{FF2B5EF4-FFF2-40B4-BE49-F238E27FC236}">
                        <a16:creationId xmlns:a16="http://schemas.microsoft.com/office/drawing/2014/main" id="{DB6FBE88-B12A-9F05-F25F-8763796FB0E3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218" name="矩形 217">
                    <a:extLst>
                      <a:ext uri="{FF2B5EF4-FFF2-40B4-BE49-F238E27FC236}">
                        <a16:creationId xmlns:a16="http://schemas.microsoft.com/office/drawing/2014/main" id="{954EBB02-F691-DE2F-081B-41B5755890B2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214" name="组合 213">
                  <a:extLst>
                    <a:ext uri="{FF2B5EF4-FFF2-40B4-BE49-F238E27FC236}">
                      <a16:creationId xmlns:a16="http://schemas.microsoft.com/office/drawing/2014/main" id="{664F59B3-A312-531A-755A-26CA65B95690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15" name="矩形 214">
                    <a:extLst>
                      <a:ext uri="{FF2B5EF4-FFF2-40B4-BE49-F238E27FC236}">
                        <a16:creationId xmlns:a16="http://schemas.microsoft.com/office/drawing/2014/main" id="{DC462B76-20E6-F3FE-1248-C114F156F681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216" name="矩形 215">
                    <a:extLst>
                      <a:ext uri="{FF2B5EF4-FFF2-40B4-BE49-F238E27FC236}">
                        <a16:creationId xmlns:a16="http://schemas.microsoft.com/office/drawing/2014/main" id="{7C83FDD6-302E-CC77-790C-8589F18FCC67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B829665B-FB66-5C58-91BF-14185D984F98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sp>
        <p:nvSpPr>
          <p:cNvPr id="219" name="文本框 218">
            <a:extLst>
              <a:ext uri="{FF2B5EF4-FFF2-40B4-BE49-F238E27FC236}">
                <a16:creationId xmlns:a16="http://schemas.microsoft.com/office/drawing/2014/main" id="{EF2112DA-2742-C7B8-5896-A4796AF0A718}"/>
              </a:ext>
            </a:extLst>
          </p:cNvPr>
          <p:cNvSpPr txBox="1"/>
          <p:nvPr/>
        </p:nvSpPr>
        <p:spPr>
          <a:xfrm>
            <a:off x="10046847" y="4635104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</a:p>
        </p:txBody>
      </p:sp>
      <p:sp>
        <p:nvSpPr>
          <p:cNvPr id="224" name="圆角矩形 223">
            <a:extLst>
              <a:ext uri="{FF2B5EF4-FFF2-40B4-BE49-F238E27FC236}">
                <a16:creationId xmlns:a16="http://schemas.microsoft.com/office/drawing/2014/main" id="{89147620-95CE-4728-98D2-5E458E84E201}"/>
              </a:ext>
            </a:extLst>
          </p:cNvPr>
          <p:cNvSpPr/>
          <p:nvPr/>
        </p:nvSpPr>
        <p:spPr>
          <a:xfrm>
            <a:off x="10207026" y="5257491"/>
            <a:ext cx="882298" cy="600101"/>
          </a:xfrm>
          <a:prstGeom prst="roundRect">
            <a:avLst>
              <a:gd name="adj" fmla="val 2798"/>
            </a:avLst>
          </a:prstGeom>
          <a:solidFill>
            <a:schemeClr val="bg1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圆角矩形 224">
            <a:extLst>
              <a:ext uri="{FF2B5EF4-FFF2-40B4-BE49-F238E27FC236}">
                <a16:creationId xmlns:a16="http://schemas.microsoft.com/office/drawing/2014/main" id="{48B6DB97-B07C-25E0-9CFE-9BF10BD42E4E}"/>
              </a:ext>
            </a:extLst>
          </p:cNvPr>
          <p:cNvSpPr/>
          <p:nvPr/>
        </p:nvSpPr>
        <p:spPr>
          <a:xfrm>
            <a:off x="10207026" y="5257491"/>
            <a:ext cx="882298" cy="348416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65074B4E-6BBF-A7CB-3DB9-50E42D6092B9}"/>
              </a:ext>
            </a:extLst>
          </p:cNvPr>
          <p:cNvSpPr txBox="1"/>
          <p:nvPr/>
        </p:nvSpPr>
        <p:spPr>
          <a:xfrm>
            <a:off x="10169996" y="5270610"/>
            <a:ext cx="1085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latin typeface="Helvetica" pitchFamily="2" charset="0"/>
              </a:rPr>
              <a:t>(a) Coefficient-Parallel Mapping</a:t>
            </a:r>
          </a:p>
        </p:txBody>
      </p:sp>
      <p:sp>
        <p:nvSpPr>
          <p:cNvPr id="227" name="圆角矩形 226">
            <a:extLst>
              <a:ext uri="{FF2B5EF4-FFF2-40B4-BE49-F238E27FC236}">
                <a16:creationId xmlns:a16="http://schemas.microsoft.com/office/drawing/2014/main" id="{F62D90A2-1318-F4FA-3BA9-A62F7DFEC839}"/>
              </a:ext>
            </a:extLst>
          </p:cNvPr>
          <p:cNvSpPr/>
          <p:nvPr/>
        </p:nvSpPr>
        <p:spPr>
          <a:xfrm>
            <a:off x="11160753" y="5252425"/>
            <a:ext cx="882298" cy="600101"/>
          </a:xfrm>
          <a:prstGeom prst="roundRect">
            <a:avLst>
              <a:gd name="adj" fmla="val 2798"/>
            </a:avLst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8" name="圆角矩形 227">
            <a:extLst>
              <a:ext uri="{FF2B5EF4-FFF2-40B4-BE49-F238E27FC236}">
                <a16:creationId xmlns:a16="http://schemas.microsoft.com/office/drawing/2014/main" id="{095422C6-FA6D-2C03-23B3-FC5598CA6FA5}"/>
              </a:ext>
            </a:extLst>
          </p:cNvPr>
          <p:cNvSpPr/>
          <p:nvPr/>
        </p:nvSpPr>
        <p:spPr>
          <a:xfrm>
            <a:off x="11160753" y="5252425"/>
            <a:ext cx="882298" cy="348416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964411CC-5972-A122-3A6E-3155D2F98422}"/>
              </a:ext>
            </a:extLst>
          </p:cNvPr>
          <p:cNvSpPr txBox="1"/>
          <p:nvPr/>
        </p:nvSpPr>
        <p:spPr>
          <a:xfrm>
            <a:off x="11109458" y="5241359"/>
            <a:ext cx="1085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latin typeface="Helvetica" pitchFamily="2" charset="0"/>
              </a:rPr>
              <a:t>(b) Plane-</a:t>
            </a:r>
          </a:p>
          <a:p>
            <a:r>
              <a:rPr kumimoji="1" lang="en-US" altLang="zh-CN" sz="800" b="1" dirty="0">
                <a:latin typeface="Helvetica" pitchFamily="2" charset="0"/>
              </a:rPr>
              <a:t>Parallel Mapping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7319C180-4B39-B919-C94E-4E4F5D8F979C}"/>
              </a:ext>
            </a:extLst>
          </p:cNvPr>
          <p:cNvSpPr txBox="1"/>
          <p:nvPr/>
        </p:nvSpPr>
        <p:spPr>
          <a:xfrm>
            <a:off x="10416595" y="5611743"/>
            <a:ext cx="5667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…</a:t>
            </a: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9E4AD3A0-3754-5DD0-E9F3-66D5F29EA197}"/>
              </a:ext>
            </a:extLst>
          </p:cNvPr>
          <p:cNvSpPr txBox="1"/>
          <p:nvPr/>
        </p:nvSpPr>
        <p:spPr>
          <a:xfrm>
            <a:off x="11319048" y="5592048"/>
            <a:ext cx="5667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…</a:t>
            </a:r>
          </a:p>
        </p:txBody>
      </p:sp>
      <p:sp>
        <p:nvSpPr>
          <p:cNvPr id="234" name="下箭头 233">
            <a:extLst>
              <a:ext uri="{FF2B5EF4-FFF2-40B4-BE49-F238E27FC236}">
                <a16:creationId xmlns:a16="http://schemas.microsoft.com/office/drawing/2014/main" id="{97A4C0C1-E7E7-12D5-E8C9-7ABE4AE0A6EF}"/>
              </a:ext>
            </a:extLst>
          </p:cNvPr>
          <p:cNvSpPr/>
          <p:nvPr/>
        </p:nvSpPr>
        <p:spPr>
          <a:xfrm rot="2700000">
            <a:off x="10802847" y="4825521"/>
            <a:ext cx="215517" cy="49200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5" name="下箭头 234">
            <a:extLst>
              <a:ext uri="{FF2B5EF4-FFF2-40B4-BE49-F238E27FC236}">
                <a16:creationId xmlns:a16="http://schemas.microsoft.com/office/drawing/2014/main" id="{2E5C3BF0-4F37-5556-00D6-FE287BD4B47C}"/>
              </a:ext>
            </a:extLst>
          </p:cNvPr>
          <p:cNvSpPr/>
          <p:nvPr/>
        </p:nvSpPr>
        <p:spPr>
          <a:xfrm rot="-2700000">
            <a:off x="11507448" y="4819977"/>
            <a:ext cx="215517" cy="492004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AF38730-18E2-CAAD-0ACB-849F93AEF7AA}"/>
              </a:ext>
            </a:extLst>
          </p:cNvPr>
          <p:cNvSpPr txBox="1"/>
          <p:nvPr/>
        </p:nvSpPr>
        <p:spPr>
          <a:xfrm>
            <a:off x="10818509" y="4958257"/>
            <a:ext cx="863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Select/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Switch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38" name="右箭头 237">
            <a:extLst>
              <a:ext uri="{FF2B5EF4-FFF2-40B4-BE49-F238E27FC236}">
                <a16:creationId xmlns:a16="http://schemas.microsoft.com/office/drawing/2014/main" id="{6BC312C7-E12E-A9EC-2F6D-32F8B4243028}"/>
              </a:ext>
            </a:extLst>
          </p:cNvPr>
          <p:cNvSpPr/>
          <p:nvPr/>
        </p:nvSpPr>
        <p:spPr>
          <a:xfrm>
            <a:off x="8798632" y="4747664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9" name="右箭头 238">
            <a:extLst>
              <a:ext uri="{FF2B5EF4-FFF2-40B4-BE49-F238E27FC236}">
                <a16:creationId xmlns:a16="http://schemas.microsoft.com/office/drawing/2014/main" id="{FBBE6130-58E2-4FEE-FD2F-F33D8C1A7FB2}"/>
              </a:ext>
            </a:extLst>
          </p:cNvPr>
          <p:cNvSpPr/>
          <p:nvPr/>
        </p:nvSpPr>
        <p:spPr>
          <a:xfrm>
            <a:off x="8802383" y="4977278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0" name="右箭头 239">
            <a:extLst>
              <a:ext uri="{FF2B5EF4-FFF2-40B4-BE49-F238E27FC236}">
                <a16:creationId xmlns:a16="http://schemas.microsoft.com/office/drawing/2014/main" id="{C8C38BE7-28A1-65AA-E3DE-5DF26A81DB52}"/>
              </a:ext>
            </a:extLst>
          </p:cNvPr>
          <p:cNvSpPr/>
          <p:nvPr/>
        </p:nvSpPr>
        <p:spPr>
          <a:xfrm>
            <a:off x="8795780" y="5322105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圆角矩形 205">
            <a:extLst>
              <a:ext uri="{FF2B5EF4-FFF2-40B4-BE49-F238E27FC236}">
                <a16:creationId xmlns:a16="http://schemas.microsoft.com/office/drawing/2014/main" id="{F2229CB2-5CEC-F926-A3C7-878A938A66AE}"/>
              </a:ext>
            </a:extLst>
          </p:cNvPr>
          <p:cNvSpPr/>
          <p:nvPr/>
        </p:nvSpPr>
        <p:spPr>
          <a:xfrm>
            <a:off x="8886096" y="4625548"/>
            <a:ext cx="282920" cy="793254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1" name="右箭头 240">
            <a:extLst>
              <a:ext uri="{FF2B5EF4-FFF2-40B4-BE49-F238E27FC236}">
                <a16:creationId xmlns:a16="http://schemas.microsoft.com/office/drawing/2014/main" id="{F1C33CDB-9498-8BF5-2EE0-290E802F8C3F}"/>
              </a:ext>
            </a:extLst>
          </p:cNvPr>
          <p:cNvSpPr/>
          <p:nvPr/>
        </p:nvSpPr>
        <p:spPr>
          <a:xfrm>
            <a:off x="10809751" y="4737668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2" name="圆角矩形 241">
            <a:extLst>
              <a:ext uri="{FF2B5EF4-FFF2-40B4-BE49-F238E27FC236}">
                <a16:creationId xmlns:a16="http://schemas.microsoft.com/office/drawing/2014/main" id="{AA24D09B-0A08-36AC-2BC4-7C233A480A3A}"/>
              </a:ext>
            </a:extLst>
          </p:cNvPr>
          <p:cNvSpPr/>
          <p:nvPr/>
        </p:nvSpPr>
        <p:spPr>
          <a:xfrm>
            <a:off x="8095442" y="4355413"/>
            <a:ext cx="1510418" cy="215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Cross-block (optional)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43" name="圆角矩形 242">
            <a:extLst>
              <a:ext uri="{FF2B5EF4-FFF2-40B4-BE49-F238E27FC236}">
                <a16:creationId xmlns:a16="http://schemas.microsoft.com/office/drawing/2014/main" id="{9F94C28F-9CAF-CE68-9AB7-22A89CAA92BD}"/>
              </a:ext>
            </a:extLst>
          </p:cNvPr>
          <p:cNvSpPr/>
          <p:nvPr/>
        </p:nvSpPr>
        <p:spPr>
          <a:xfrm>
            <a:off x="10170218" y="4361231"/>
            <a:ext cx="1510418" cy="215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Within-block (default)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A0F29F04-7D8E-7337-BD00-D3C723FD39BD}"/>
              </a:ext>
            </a:extLst>
          </p:cNvPr>
          <p:cNvSpPr txBox="1"/>
          <p:nvPr/>
        </p:nvSpPr>
        <p:spPr>
          <a:xfrm>
            <a:off x="76200" y="1150132"/>
            <a:ext cx="593845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00" b="1" dirty="0">
                <a:latin typeface="Helvetica" pitchFamily="2" charset="0"/>
              </a:rPr>
              <a:t>Each SIMD lane processes one coefficient and extracts one or two adjacent bits.</a:t>
            </a:r>
            <a:endParaRPr lang="en-US" altLang="zh-CN" sz="1000" b="1" dirty="0">
              <a:latin typeface="Helvetica" pitchFamily="2" charset="0"/>
            </a:endParaRPr>
          </a:p>
          <a:p>
            <a:pPr algn="ctr"/>
            <a:r>
              <a:rPr lang="zh-CN" altLang="zh-CN" sz="1000" b="1" dirty="0">
                <a:latin typeface="Helvetica" pitchFamily="2" charset="0"/>
              </a:rPr>
              <a:t>Forms one or two plane masks at a time </a:t>
            </a:r>
            <a:r>
              <a:rPr kumimoji="1" lang="en-US" altLang="zh-CN" sz="1000" b="1" dirty="0">
                <a:latin typeface="Helvetica" pitchFamily="2" charset="0"/>
              </a:rPr>
              <a:t>(</a:t>
            </a:r>
            <a:r>
              <a:rPr kumimoji="1" lang="en-US" altLang="zh-CN" sz="1000" b="1" i="1" dirty="0">
                <a:latin typeface="Helvetica" pitchFamily="2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1000" b="1" dirty="0">
                <a:latin typeface="Helvetica" pitchFamily="2" charset="0"/>
              </a:rPr>
              <a:t> is fixed across lanes).</a:t>
            </a:r>
            <a:r>
              <a:rPr lang="zh-CN" altLang="zh-CN" sz="1000" b="1" dirty="0">
                <a:latin typeface="Helvetica" pitchFamily="2" charset="0"/>
              </a:rPr>
              <a:t> </a:t>
            </a:r>
            <a:endParaRPr kumimoji="1" lang="en-US" altLang="zh-CN" sz="1000" b="1" dirty="0">
              <a:latin typeface="Helvetica" pitchFamily="2" charset="0"/>
            </a:endParaRPr>
          </a:p>
        </p:txBody>
      </p: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D73AA545-4B38-C34A-6A35-F0FE0672053E}"/>
              </a:ext>
            </a:extLst>
          </p:cNvPr>
          <p:cNvGrpSpPr/>
          <p:nvPr/>
        </p:nvGrpSpPr>
        <p:grpSpPr>
          <a:xfrm>
            <a:off x="858556" y="1755792"/>
            <a:ext cx="1081415" cy="180000"/>
            <a:chOff x="8512106" y="849130"/>
            <a:chExt cx="1081415" cy="180000"/>
          </a:xfrm>
        </p:grpSpPr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DADB3A4D-2F89-800B-FF34-D72BB46A7592}"/>
                </a:ext>
              </a:extLst>
            </p:cNvPr>
            <p:cNvGrpSpPr/>
            <p:nvPr/>
          </p:nvGrpSpPr>
          <p:grpSpPr>
            <a:xfrm>
              <a:off x="8512106" y="849130"/>
              <a:ext cx="720000" cy="180000"/>
              <a:chOff x="9141686" y="1044000"/>
              <a:chExt cx="720000" cy="180000"/>
            </a:xfrm>
          </p:grpSpPr>
          <p:grpSp>
            <p:nvGrpSpPr>
              <p:cNvPr id="250" name="组合 249">
                <a:extLst>
                  <a:ext uri="{FF2B5EF4-FFF2-40B4-BE49-F238E27FC236}">
                    <a16:creationId xmlns:a16="http://schemas.microsoft.com/office/drawing/2014/main" id="{06679335-FD80-DA6C-34AC-44E7D952ACD8}"/>
                  </a:ext>
                </a:extLst>
              </p:cNvPr>
              <p:cNvGrpSpPr/>
              <p:nvPr/>
            </p:nvGrpSpPr>
            <p:grpSpPr>
              <a:xfrm>
                <a:off x="914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4E9DFC4A-0211-3B8E-534D-BA95A7AB7966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D3C6B26E-2AA3-7E3A-F73C-373A219F371D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51" name="组合 250">
                <a:extLst>
                  <a:ext uri="{FF2B5EF4-FFF2-40B4-BE49-F238E27FC236}">
                    <a16:creationId xmlns:a16="http://schemas.microsoft.com/office/drawing/2014/main" id="{CBD62729-398C-BB27-7D12-1D2600EF35AD}"/>
                  </a:ext>
                </a:extLst>
              </p:cNvPr>
              <p:cNvGrpSpPr/>
              <p:nvPr/>
            </p:nvGrpSpPr>
            <p:grpSpPr>
              <a:xfrm>
                <a:off x="950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52" name="矩形 251">
                  <a:extLst>
                    <a:ext uri="{FF2B5EF4-FFF2-40B4-BE49-F238E27FC236}">
                      <a16:creationId xmlns:a16="http://schemas.microsoft.com/office/drawing/2014/main" id="{6EDAC34E-1190-7BE0-A894-EE5727C65D02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CE351A82-A136-1646-AD85-E820D6C5DF98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B64E3E8A-A0A1-A14F-D1B1-75E4906D3F05}"/>
                </a:ext>
              </a:extLst>
            </p:cNvPr>
            <p:cNvSpPr/>
            <p:nvPr/>
          </p:nvSpPr>
          <p:spPr>
            <a:xfrm>
              <a:off x="9233521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58" name="文本框 257">
            <a:extLst>
              <a:ext uri="{FF2B5EF4-FFF2-40B4-BE49-F238E27FC236}">
                <a16:creationId xmlns:a16="http://schemas.microsoft.com/office/drawing/2014/main" id="{5A783FD0-4471-99D2-E696-09B7EF5A6D60}"/>
              </a:ext>
            </a:extLst>
          </p:cNvPr>
          <p:cNvSpPr txBox="1"/>
          <p:nvPr/>
        </p:nvSpPr>
        <p:spPr>
          <a:xfrm>
            <a:off x="72736" y="1677506"/>
            <a:ext cx="781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Coefficient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Stream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60" name="圆角矩形 259">
            <a:extLst>
              <a:ext uri="{FF2B5EF4-FFF2-40B4-BE49-F238E27FC236}">
                <a16:creationId xmlns:a16="http://schemas.microsoft.com/office/drawing/2014/main" id="{4E4BC9E7-2648-8C73-D4E9-99D2BA8F27B3}"/>
              </a:ext>
            </a:extLst>
          </p:cNvPr>
          <p:cNvSpPr/>
          <p:nvPr/>
        </p:nvSpPr>
        <p:spPr>
          <a:xfrm>
            <a:off x="815523" y="1721961"/>
            <a:ext cx="912425" cy="249645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34518B36-B562-1020-68C0-28D23C98F89F}"/>
              </a:ext>
            </a:extLst>
          </p:cNvPr>
          <p:cNvGrpSpPr/>
          <p:nvPr/>
        </p:nvGrpSpPr>
        <p:grpSpPr>
          <a:xfrm>
            <a:off x="880783" y="2153165"/>
            <a:ext cx="1048866" cy="180000"/>
            <a:chOff x="8872106" y="849130"/>
            <a:chExt cx="1048866" cy="180000"/>
          </a:xfrm>
        </p:grpSpPr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54F33E1B-FB1F-4A26-EC12-DA462621B797}"/>
                </a:ext>
              </a:extLst>
            </p:cNvPr>
            <p:cNvGrpSpPr/>
            <p:nvPr/>
          </p:nvGrpSpPr>
          <p:grpSpPr>
            <a:xfrm>
              <a:off x="8872106" y="849130"/>
              <a:ext cx="1048866" cy="180000"/>
              <a:chOff x="9501686" y="1044000"/>
              <a:chExt cx="1048866" cy="180000"/>
            </a:xfrm>
          </p:grpSpPr>
          <p:sp>
            <p:nvSpPr>
              <p:cNvPr id="269" name="矩形 268">
                <a:extLst>
                  <a:ext uri="{FF2B5EF4-FFF2-40B4-BE49-F238E27FC236}">
                    <a16:creationId xmlns:a16="http://schemas.microsoft.com/office/drawing/2014/main" id="{5CE04BB4-A05D-9B79-B20F-965387604F39}"/>
                  </a:ext>
                </a:extLst>
              </p:cNvPr>
              <p:cNvSpPr/>
              <p:nvPr/>
            </p:nvSpPr>
            <p:spPr>
              <a:xfrm>
                <a:off x="10222634" y="1044000"/>
                <a:ext cx="327918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b="1" dirty="0">
                    <a:solidFill>
                      <a:schemeClr val="tx1"/>
                    </a:solidFill>
                    <a:latin typeface="Helvetica" pitchFamily="2" charset="0"/>
                  </a:rPr>
                  <a:t>15</a:t>
                </a:r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grpSp>
            <p:nvGrpSpPr>
              <p:cNvPr id="265" name="组合 264">
                <a:extLst>
                  <a:ext uri="{FF2B5EF4-FFF2-40B4-BE49-F238E27FC236}">
                    <a16:creationId xmlns:a16="http://schemas.microsoft.com/office/drawing/2014/main" id="{DA161820-1665-47CF-4604-92894F55456C}"/>
                  </a:ext>
                </a:extLst>
              </p:cNvPr>
              <p:cNvGrpSpPr/>
              <p:nvPr/>
            </p:nvGrpSpPr>
            <p:grpSpPr>
              <a:xfrm>
                <a:off x="950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93D3FF27-99FE-52B7-DFBE-0C635102116C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800" b="1" dirty="0">
                      <a:solidFill>
                        <a:schemeClr val="tx1"/>
                      </a:solidFill>
                      <a:latin typeface="Helvetica" pitchFamily="2" charset="0"/>
                    </a:rPr>
                    <a:t>0</a:t>
                  </a:r>
                  <a:endParaRPr kumimoji="1" lang="zh-CN" altLang="en-US" sz="800" b="1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267" name="矩形 266">
                  <a:extLst>
                    <a:ext uri="{FF2B5EF4-FFF2-40B4-BE49-F238E27FC236}">
                      <a16:creationId xmlns:a16="http://schemas.microsoft.com/office/drawing/2014/main" id="{8F834C94-0729-96CE-9CD0-F21E08D6E083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800" b="1" dirty="0">
                      <a:solidFill>
                        <a:schemeClr val="tx1"/>
                      </a:solidFill>
                      <a:latin typeface="Helvetica" pitchFamily="2" charset="0"/>
                    </a:rPr>
                    <a:t>1</a:t>
                  </a:r>
                  <a:endParaRPr kumimoji="1" lang="zh-CN" altLang="en-US" sz="800" b="1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</p:grpSp>
        </p:grp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252E6539-EA1B-BF4B-207E-D569A2D9BD7E}"/>
                </a:ext>
              </a:extLst>
            </p:cNvPr>
            <p:cNvSpPr/>
            <p:nvPr/>
          </p:nvSpPr>
          <p:spPr>
            <a:xfrm>
              <a:off x="9233521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70" name="文本框 269">
            <a:extLst>
              <a:ext uri="{FF2B5EF4-FFF2-40B4-BE49-F238E27FC236}">
                <a16:creationId xmlns:a16="http://schemas.microsoft.com/office/drawing/2014/main" id="{314C873C-B5BA-CCBE-D0E9-A2A9116C4ADB}"/>
              </a:ext>
            </a:extLst>
          </p:cNvPr>
          <p:cNvSpPr txBox="1"/>
          <p:nvPr/>
        </p:nvSpPr>
        <p:spPr>
          <a:xfrm>
            <a:off x="7100" y="2114982"/>
            <a:ext cx="912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16 Coefficients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71" name="下箭头 270">
            <a:extLst>
              <a:ext uri="{FF2B5EF4-FFF2-40B4-BE49-F238E27FC236}">
                <a16:creationId xmlns:a16="http://schemas.microsoft.com/office/drawing/2014/main" id="{809AC486-0DD1-CF4E-9FDE-128DDF705C7E}"/>
              </a:ext>
            </a:extLst>
          </p:cNvPr>
          <p:cNvSpPr/>
          <p:nvPr/>
        </p:nvSpPr>
        <p:spPr>
          <a:xfrm>
            <a:off x="1129554" y="2016060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393AFBD0-83BF-FA5C-EF1C-EEEAE5682020}"/>
              </a:ext>
            </a:extLst>
          </p:cNvPr>
          <p:cNvSpPr/>
          <p:nvPr/>
        </p:nvSpPr>
        <p:spPr>
          <a:xfrm>
            <a:off x="197709" y="2530558"/>
            <a:ext cx="1760837" cy="3697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Load</a:t>
            </a:r>
            <a:r>
              <a:rPr kumimoji="1" lang="zh-CN" altLang="en-US" sz="8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into SIMD registers</a:t>
            </a:r>
          </a:p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( lane</a:t>
            </a:r>
            <a:r>
              <a:rPr kumimoji="1"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← coefficient c</a:t>
            </a:r>
            <a:r>
              <a:rPr kumimoji="1" lang="en-US" altLang="zh-CN" sz="8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 )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73" name="下箭头 272">
            <a:extLst>
              <a:ext uri="{FF2B5EF4-FFF2-40B4-BE49-F238E27FC236}">
                <a16:creationId xmlns:a16="http://schemas.microsoft.com/office/drawing/2014/main" id="{BE64FC46-F7A0-063E-BB31-90931A15F4F1}"/>
              </a:ext>
            </a:extLst>
          </p:cNvPr>
          <p:cNvSpPr/>
          <p:nvPr/>
        </p:nvSpPr>
        <p:spPr>
          <a:xfrm>
            <a:off x="1129554" y="2369572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1176B4F8-32E6-4880-443E-9F8CBD9A9CBE}"/>
              </a:ext>
            </a:extLst>
          </p:cNvPr>
          <p:cNvSpPr/>
          <p:nvPr/>
        </p:nvSpPr>
        <p:spPr>
          <a:xfrm>
            <a:off x="875665" y="3036310"/>
            <a:ext cx="414593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D10864E4-946D-2C10-4832-F78C10297F14}"/>
                  </a:ext>
                </a:extLst>
              </p:cNvPr>
              <p:cNvSpPr/>
              <p:nvPr/>
            </p:nvSpPr>
            <p:spPr>
              <a:xfrm>
                <a:off x="1289005" y="3036310"/>
                <a:ext cx="559041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D10864E4-946D-2C10-4832-F78C10297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05" y="3036310"/>
                <a:ext cx="559041" cy="18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61B0CF2A-4C37-1001-0F7A-65EE50E86E4C}"/>
                  </a:ext>
                </a:extLst>
              </p:cNvPr>
              <p:cNvSpPr/>
              <p:nvPr/>
            </p:nvSpPr>
            <p:spPr>
              <a:xfrm>
                <a:off x="316624" y="3036310"/>
                <a:ext cx="559041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61B0CF2A-4C37-1001-0F7A-65EE50E86E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4" y="3036310"/>
                <a:ext cx="559041" cy="18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矩形 288">
            <a:extLst>
              <a:ext uri="{FF2B5EF4-FFF2-40B4-BE49-F238E27FC236}">
                <a16:creationId xmlns:a16="http://schemas.microsoft.com/office/drawing/2014/main" id="{00E1D4A5-2B38-71BA-92F4-87C1534BA76A}"/>
              </a:ext>
            </a:extLst>
          </p:cNvPr>
          <p:cNvSpPr/>
          <p:nvPr/>
        </p:nvSpPr>
        <p:spPr>
          <a:xfrm>
            <a:off x="871930" y="3379207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64D21F7F-A06E-4091-C6B3-34423A6703AF}"/>
              </a:ext>
            </a:extLst>
          </p:cNvPr>
          <p:cNvSpPr/>
          <p:nvPr/>
        </p:nvSpPr>
        <p:spPr>
          <a:xfrm>
            <a:off x="1285270" y="337920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EB09F449-DDB7-0A64-A582-18786F1F31D6}"/>
              </a:ext>
            </a:extLst>
          </p:cNvPr>
          <p:cNvSpPr/>
          <p:nvPr/>
        </p:nvSpPr>
        <p:spPr>
          <a:xfrm>
            <a:off x="312889" y="337920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90583AC5-4294-7E1A-2D2E-894F8A6782E4}"/>
              </a:ext>
            </a:extLst>
          </p:cNvPr>
          <p:cNvSpPr/>
          <p:nvPr/>
        </p:nvSpPr>
        <p:spPr>
          <a:xfrm>
            <a:off x="197710" y="2538250"/>
            <a:ext cx="1764698" cy="1261963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3525DCD9-62F4-D194-7990-E9B58829B69C}"/>
              </a:ext>
            </a:extLst>
          </p:cNvPr>
          <p:cNvSpPr txBox="1"/>
          <p:nvPr/>
        </p:nvSpPr>
        <p:spPr>
          <a:xfrm>
            <a:off x="197709" y="3569607"/>
            <a:ext cx="16496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SIMD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register (16×32-bit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lanes)</a:t>
            </a:r>
          </a:p>
        </p:txBody>
      </p:sp>
      <p:sp>
        <p:nvSpPr>
          <p:cNvPr id="294" name="下箭头 293">
            <a:extLst>
              <a:ext uri="{FF2B5EF4-FFF2-40B4-BE49-F238E27FC236}">
                <a16:creationId xmlns:a16="http://schemas.microsoft.com/office/drawing/2014/main" id="{0C0CBA99-AAFD-2011-B199-D37DA4059A64}"/>
              </a:ext>
            </a:extLst>
          </p:cNvPr>
          <p:cNvSpPr/>
          <p:nvPr/>
        </p:nvSpPr>
        <p:spPr>
          <a:xfrm>
            <a:off x="552489" y="3246019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5" name="下箭头 294">
            <a:extLst>
              <a:ext uri="{FF2B5EF4-FFF2-40B4-BE49-F238E27FC236}">
                <a16:creationId xmlns:a16="http://schemas.microsoft.com/office/drawing/2014/main" id="{F5767894-AE10-11B6-2F83-A017E1E5F6C1}"/>
              </a:ext>
            </a:extLst>
          </p:cNvPr>
          <p:cNvSpPr/>
          <p:nvPr/>
        </p:nvSpPr>
        <p:spPr>
          <a:xfrm>
            <a:off x="1514933" y="3247200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6" name="圆角矩形 295">
            <a:extLst>
              <a:ext uri="{FF2B5EF4-FFF2-40B4-BE49-F238E27FC236}">
                <a16:creationId xmlns:a16="http://schemas.microsoft.com/office/drawing/2014/main" id="{0EF79728-71D6-7FFA-06D6-ADFC56036D14}"/>
              </a:ext>
            </a:extLst>
          </p:cNvPr>
          <p:cNvSpPr/>
          <p:nvPr/>
        </p:nvSpPr>
        <p:spPr>
          <a:xfrm>
            <a:off x="2105913" y="1614239"/>
            <a:ext cx="1835999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7" name="圆角矩形 296">
            <a:extLst>
              <a:ext uri="{FF2B5EF4-FFF2-40B4-BE49-F238E27FC236}">
                <a16:creationId xmlns:a16="http://schemas.microsoft.com/office/drawing/2014/main" id="{A9040BC8-8913-37D3-F16D-65AF684FCCE7}"/>
              </a:ext>
            </a:extLst>
          </p:cNvPr>
          <p:cNvSpPr/>
          <p:nvPr/>
        </p:nvSpPr>
        <p:spPr>
          <a:xfrm>
            <a:off x="2105912" y="1614239"/>
            <a:ext cx="1837179" cy="249644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67C16AD1-BA8C-3157-59D2-F2E3BF964864}"/>
              </a:ext>
            </a:extLst>
          </p:cNvPr>
          <p:cNvSpPr txBox="1"/>
          <p:nvPr/>
        </p:nvSpPr>
        <p:spPr>
          <a:xfrm>
            <a:off x="2105913" y="1619170"/>
            <a:ext cx="1584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Single-plane extraction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340" name="圆角矩形 339">
            <a:extLst>
              <a:ext uri="{FF2B5EF4-FFF2-40B4-BE49-F238E27FC236}">
                <a16:creationId xmlns:a16="http://schemas.microsoft.com/office/drawing/2014/main" id="{55475E2B-BA24-C831-3F7C-AA4978A14D88}"/>
              </a:ext>
            </a:extLst>
          </p:cNvPr>
          <p:cNvSpPr/>
          <p:nvPr/>
        </p:nvSpPr>
        <p:spPr>
          <a:xfrm>
            <a:off x="4094359" y="1610896"/>
            <a:ext cx="1835999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圆角矩形 340">
            <a:extLst>
              <a:ext uri="{FF2B5EF4-FFF2-40B4-BE49-F238E27FC236}">
                <a16:creationId xmlns:a16="http://schemas.microsoft.com/office/drawing/2014/main" id="{EA17F5E3-6496-6257-061C-E8E77451C1E6}"/>
              </a:ext>
            </a:extLst>
          </p:cNvPr>
          <p:cNvSpPr/>
          <p:nvPr/>
        </p:nvSpPr>
        <p:spPr>
          <a:xfrm>
            <a:off x="4094358" y="1610896"/>
            <a:ext cx="1837179" cy="249644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54781DA0-A9B2-77AC-07BD-D759475E49F2}"/>
              </a:ext>
            </a:extLst>
          </p:cNvPr>
          <p:cNvSpPr txBox="1"/>
          <p:nvPr/>
        </p:nvSpPr>
        <p:spPr>
          <a:xfrm>
            <a:off x="4094359" y="1615827"/>
            <a:ext cx="1584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Paired-plane extraction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DB20819E-401F-0BA7-E713-179308A7F02F}"/>
              </a:ext>
            </a:extLst>
          </p:cNvPr>
          <p:cNvSpPr/>
          <p:nvPr/>
        </p:nvSpPr>
        <p:spPr>
          <a:xfrm>
            <a:off x="2827258" y="1934982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9092DE69-1FB0-D1E1-BCC6-1253506D37DE}"/>
              </a:ext>
            </a:extLst>
          </p:cNvPr>
          <p:cNvSpPr/>
          <p:nvPr/>
        </p:nvSpPr>
        <p:spPr>
          <a:xfrm>
            <a:off x="3240598" y="1934982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CADF76F2-B945-6DA8-A032-DCBE9A536EEB}"/>
              </a:ext>
            </a:extLst>
          </p:cNvPr>
          <p:cNvSpPr/>
          <p:nvPr/>
        </p:nvSpPr>
        <p:spPr>
          <a:xfrm>
            <a:off x="2268217" y="1934982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6" name="圆角矩形 345">
                <a:extLst>
                  <a:ext uri="{FF2B5EF4-FFF2-40B4-BE49-F238E27FC236}">
                    <a16:creationId xmlns:a16="http://schemas.microsoft.com/office/drawing/2014/main" id="{B8DDDE8E-2F05-A29A-4C87-65ED73CF6C9B}"/>
                  </a:ext>
                </a:extLst>
              </p:cNvPr>
              <p:cNvSpPr/>
              <p:nvPr/>
            </p:nvSpPr>
            <p:spPr>
              <a:xfrm>
                <a:off x="2273777" y="2255979"/>
                <a:ext cx="1517101" cy="297723"/>
              </a:xfrm>
              <a:prstGeom prst="roundRect">
                <a:avLst/>
              </a:prstGeom>
              <a:solidFill>
                <a:srgbClr val="FFFFB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)&amp;1</m:t>
                      </m:r>
                    </m:oMath>
                  </m:oMathPara>
                </a14:m>
                <a:endParaRPr kumimoji="1" lang="en-US" altLang="zh-CN" sz="800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algn="ctr"/>
                <a:r>
                  <a:rPr kumimoji="1" lang="en-US" altLang="zh-CN" sz="800" dirty="0">
                    <a:solidFill>
                      <a:schemeClr val="tx1"/>
                    </a:solidFill>
                    <a:latin typeface="Helvetica" pitchFamily="2" charset="0"/>
                  </a:rPr>
                  <a:t>(vector operation)</a:t>
                </a:r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46" name="圆角矩形 345">
                <a:extLst>
                  <a:ext uri="{FF2B5EF4-FFF2-40B4-BE49-F238E27FC236}">
                    <a16:creationId xmlns:a16="http://schemas.microsoft.com/office/drawing/2014/main" id="{B8DDDE8E-2F05-A29A-4C87-65ED73CF6C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777" y="2255979"/>
                <a:ext cx="1517101" cy="297723"/>
              </a:xfrm>
              <a:prstGeom prst="roundRect">
                <a:avLst/>
              </a:prstGeom>
              <a:blipFill>
                <a:blip r:embed="rId5"/>
                <a:stretch>
                  <a:fillRect b="-769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下箭头 347">
            <a:extLst>
              <a:ext uri="{FF2B5EF4-FFF2-40B4-BE49-F238E27FC236}">
                <a16:creationId xmlns:a16="http://schemas.microsoft.com/office/drawing/2014/main" id="{856029EA-A4AD-CF79-8FF3-1068C6A790F3}"/>
              </a:ext>
            </a:extLst>
          </p:cNvPr>
          <p:cNvSpPr/>
          <p:nvPr/>
        </p:nvSpPr>
        <p:spPr>
          <a:xfrm>
            <a:off x="3001726" y="2123782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8" name="下箭头 357">
            <a:extLst>
              <a:ext uri="{FF2B5EF4-FFF2-40B4-BE49-F238E27FC236}">
                <a16:creationId xmlns:a16="http://schemas.microsoft.com/office/drawing/2014/main" id="{3F88510C-8A13-ADE0-6973-653254A12623}"/>
              </a:ext>
            </a:extLst>
          </p:cNvPr>
          <p:cNvSpPr/>
          <p:nvPr/>
        </p:nvSpPr>
        <p:spPr>
          <a:xfrm>
            <a:off x="3411773" y="2613656"/>
            <a:ext cx="114382" cy="81534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9CC0F803-8BAA-620A-C330-593C68ACEDB2}"/>
              </a:ext>
            </a:extLst>
          </p:cNvPr>
          <p:cNvSpPr txBox="1"/>
          <p:nvPr/>
        </p:nvSpPr>
        <p:spPr>
          <a:xfrm>
            <a:off x="3411257" y="2731075"/>
            <a:ext cx="633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compact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endParaRPr kumimoji="1" lang="en-US" altLang="zh-CN" sz="800" dirty="0">
              <a:latin typeface="Helvetica" pitchFamily="2" charset="0"/>
            </a:endParaRP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mask</a:t>
            </a: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3EDCF952-8F37-5FAA-A290-5C8970816495}"/>
              </a:ext>
            </a:extLst>
          </p:cNvPr>
          <p:cNvSpPr/>
          <p:nvPr/>
        </p:nvSpPr>
        <p:spPr>
          <a:xfrm>
            <a:off x="2493109" y="2730245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92C0D5D1-9C00-0900-5724-97DDF7ABA770}"/>
                  </a:ext>
                </a:extLst>
              </p:cNvPr>
              <p:cNvSpPr/>
              <p:nvPr/>
            </p:nvSpPr>
            <p:spPr>
              <a:xfrm>
                <a:off x="2150679" y="2730245"/>
                <a:ext cx="343682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92C0D5D1-9C00-0900-5724-97DDF7ABA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679" y="2730245"/>
                <a:ext cx="343682" cy="18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0719CC8C-7F7A-D4C7-E7C2-4D46321C5655}"/>
                  </a:ext>
                </a:extLst>
              </p:cNvPr>
              <p:cNvSpPr/>
              <p:nvPr/>
            </p:nvSpPr>
            <p:spPr>
              <a:xfrm>
                <a:off x="2723061" y="2730245"/>
                <a:ext cx="378977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0719CC8C-7F7A-D4C7-E7C2-4D46321C56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061" y="2730245"/>
                <a:ext cx="378977" cy="18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6" name="下箭头 365">
            <a:extLst>
              <a:ext uri="{FF2B5EF4-FFF2-40B4-BE49-F238E27FC236}">
                <a16:creationId xmlns:a16="http://schemas.microsoft.com/office/drawing/2014/main" id="{0E261E9D-3E1B-6476-225F-96BA3E221A37}"/>
              </a:ext>
            </a:extLst>
          </p:cNvPr>
          <p:cNvSpPr/>
          <p:nvPr/>
        </p:nvSpPr>
        <p:spPr>
          <a:xfrm>
            <a:off x="2958182" y="2583693"/>
            <a:ext cx="68047" cy="1203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384E994E-2D6C-8312-689F-736653D7F7F7}"/>
              </a:ext>
            </a:extLst>
          </p:cNvPr>
          <p:cNvSpPr txBox="1"/>
          <p:nvPr/>
        </p:nvSpPr>
        <p:spPr>
          <a:xfrm>
            <a:off x="3068204" y="2530558"/>
            <a:ext cx="336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OR</a:t>
            </a:r>
          </a:p>
        </p:txBody>
      </p:sp>
      <p:sp>
        <p:nvSpPr>
          <p:cNvPr id="369" name="下箭头 368">
            <a:extLst>
              <a:ext uri="{FF2B5EF4-FFF2-40B4-BE49-F238E27FC236}">
                <a16:creationId xmlns:a16="http://schemas.microsoft.com/office/drawing/2014/main" id="{BDE30B2D-FC3F-C64E-B158-2818528A216A}"/>
              </a:ext>
            </a:extLst>
          </p:cNvPr>
          <p:cNvSpPr/>
          <p:nvPr/>
        </p:nvSpPr>
        <p:spPr>
          <a:xfrm>
            <a:off x="2958182" y="3041063"/>
            <a:ext cx="61465" cy="23965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1" name="矩形 370">
            <a:extLst>
              <a:ext uri="{FF2B5EF4-FFF2-40B4-BE49-F238E27FC236}">
                <a16:creationId xmlns:a16="http://schemas.microsoft.com/office/drawing/2014/main" id="{7B6FD129-B514-71BD-64C2-014B2EC52FAF}"/>
              </a:ext>
            </a:extLst>
          </p:cNvPr>
          <p:cNvSpPr/>
          <p:nvPr/>
        </p:nvSpPr>
        <p:spPr>
          <a:xfrm>
            <a:off x="2493594" y="3326197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1948EF86-37BD-A4D5-A525-D7E9ED3BEB82}"/>
              </a:ext>
            </a:extLst>
          </p:cNvPr>
          <p:cNvSpPr/>
          <p:nvPr/>
        </p:nvSpPr>
        <p:spPr>
          <a:xfrm>
            <a:off x="2151164" y="3326197"/>
            <a:ext cx="343682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3" name="矩形 372">
            <a:extLst>
              <a:ext uri="{FF2B5EF4-FFF2-40B4-BE49-F238E27FC236}">
                <a16:creationId xmlns:a16="http://schemas.microsoft.com/office/drawing/2014/main" id="{CEE07E56-F6B4-318F-FA3C-18EF21D0B87E}"/>
              </a:ext>
            </a:extLst>
          </p:cNvPr>
          <p:cNvSpPr/>
          <p:nvPr/>
        </p:nvSpPr>
        <p:spPr>
          <a:xfrm>
            <a:off x="2723546" y="3326197"/>
            <a:ext cx="378977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75A09853-6631-8968-BCFB-5C74FD2374E7}"/>
              </a:ext>
            </a:extLst>
          </p:cNvPr>
          <p:cNvSpPr txBox="1"/>
          <p:nvPr/>
        </p:nvSpPr>
        <p:spPr>
          <a:xfrm>
            <a:off x="2171700" y="2896223"/>
            <a:ext cx="90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Reduce</a:t>
            </a:r>
          </a:p>
          <a:p>
            <a:pPr algn="ctr"/>
            <a:r>
              <a:rPr kumimoji="1" lang="en-US" altLang="zh-CN" sz="800" dirty="0" err="1">
                <a:latin typeface="Helvetica" pitchFamily="2" charset="0"/>
              </a:rPr>
              <a:t>shuffle+OR</a:t>
            </a:r>
            <a:endParaRPr kumimoji="1" lang="en-US" altLang="zh-CN" sz="800" dirty="0">
              <a:latin typeface="Helvetica" pitchFamily="2" charset="0"/>
            </a:endParaRP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e.g. </a:t>
            </a:r>
            <a:r>
              <a:rPr kumimoji="1" lang="en-US" altLang="zh-CN" sz="800" dirty="0" err="1">
                <a:latin typeface="Helvetica" pitchFamily="2" charset="0"/>
              </a:rPr>
              <a:t>sunway</a:t>
            </a:r>
            <a:endParaRPr kumimoji="1" lang="en-US" altLang="zh-CN" sz="800" dirty="0">
              <a:latin typeface="Helvetica" pitchFamily="2" charset="0"/>
            </a:endParaRPr>
          </a:p>
        </p:txBody>
      </p:sp>
      <p:sp>
        <p:nvSpPr>
          <p:cNvPr id="376" name="矩形 375">
            <a:extLst>
              <a:ext uri="{FF2B5EF4-FFF2-40B4-BE49-F238E27FC236}">
                <a16:creationId xmlns:a16="http://schemas.microsoft.com/office/drawing/2014/main" id="{16A7DD9E-B2E1-2F00-A589-5F743A1FF2C9}"/>
              </a:ext>
            </a:extLst>
          </p:cNvPr>
          <p:cNvSpPr/>
          <p:nvPr/>
        </p:nvSpPr>
        <p:spPr>
          <a:xfrm>
            <a:off x="2323595" y="3335277"/>
            <a:ext cx="163966" cy="1581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AAAE046F-D60E-94FA-6C16-02F20F76D624}"/>
              </a:ext>
            </a:extLst>
          </p:cNvPr>
          <p:cNvSpPr/>
          <p:nvPr/>
        </p:nvSpPr>
        <p:spPr>
          <a:xfrm>
            <a:off x="2930221" y="3335277"/>
            <a:ext cx="163966" cy="1581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" name="圆角矩形 377">
            <a:extLst>
              <a:ext uri="{FF2B5EF4-FFF2-40B4-BE49-F238E27FC236}">
                <a16:creationId xmlns:a16="http://schemas.microsoft.com/office/drawing/2014/main" id="{72A9EC1A-B9F9-625A-D345-88C4F2F97D80}"/>
              </a:ext>
            </a:extLst>
          </p:cNvPr>
          <p:cNvSpPr/>
          <p:nvPr/>
        </p:nvSpPr>
        <p:spPr>
          <a:xfrm>
            <a:off x="2261386" y="3283932"/>
            <a:ext cx="278614" cy="249645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9" name="圆角右箭头 378">
            <a:extLst>
              <a:ext uri="{FF2B5EF4-FFF2-40B4-BE49-F238E27FC236}">
                <a16:creationId xmlns:a16="http://schemas.microsoft.com/office/drawing/2014/main" id="{E92F192D-B2FF-B720-E24D-26CD27E87C32}"/>
              </a:ext>
            </a:extLst>
          </p:cNvPr>
          <p:cNvSpPr/>
          <p:nvPr/>
        </p:nvSpPr>
        <p:spPr>
          <a:xfrm flipV="1">
            <a:off x="2365375" y="3563006"/>
            <a:ext cx="813805" cy="67586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380" name="直线连接符 379">
            <a:extLst>
              <a:ext uri="{FF2B5EF4-FFF2-40B4-BE49-F238E27FC236}">
                <a16:creationId xmlns:a16="http://schemas.microsoft.com/office/drawing/2014/main" id="{FDF0D9D8-35EB-6D8C-A11A-BB9399169CE5}"/>
              </a:ext>
            </a:extLst>
          </p:cNvPr>
          <p:cNvCxnSpPr>
            <a:cxnSpLocks/>
          </p:cNvCxnSpPr>
          <p:nvPr/>
        </p:nvCxnSpPr>
        <p:spPr>
          <a:xfrm>
            <a:off x="3249100" y="2711143"/>
            <a:ext cx="0" cy="759265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矩形 382">
            <a:extLst>
              <a:ext uri="{FF2B5EF4-FFF2-40B4-BE49-F238E27FC236}">
                <a16:creationId xmlns:a16="http://schemas.microsoft.com/office/drawing/2014/main" id="{BD4A2519-9DAD-458E-19C5-0CB5F2923B00}"/>
              </a:ext>
            </a:extLst>
          </p:cNvPr>
          <p:cNvSpPr/>
          <p:nvPr/>
        </p:nvSpPr>
        <p:spPr>
          <a:xfrm>
            <a:off x="4811363" y="1908211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84" name="矩形 383">
            <a:extLst>
              <a:ext uri="{FF2B5EF4-FFF2-40B4-BE49-F238E27FC236}">
                <a16:creationId xmlns:a16="http://schemas.microsoft.com/office/drawing/2014/main" id="{24827EF7-7769-CCAB-21EE-6C23EC4F155D}"/>
              </a:ext>
            </a:extLst>
          </p:cNvPr>
          <p:cNvSpPr/>
          <p:nvPr/>
        </p:nvSpPr>
        <p:spPr>
          <a:xfrm>
            <a:off x="5224703" y="1908211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85" name="矩形 384">
            <a:extLst>
              <a:ext uri="{FF2B5EF4-FFF2-40B4-BE49-F238E27FC236}">
                <a16:creationId xmlns:a16="http://schemas.microsoft.com/office/drawing/2014/main" id="{247F95EB-F533-9878-8485-0698B96C4FFF}"/>
              </a:ext>
            </a:extLst>
          </p:cNvPr>
          <p:cNvSpPr/>
          <p:nvPr/>
        </p:nvSpPr>
        <p:spPr>
          <a:xfrm>
            <a:off x="4252322" y="1908211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86" name="下箭头 385">
            <a:extLst>
              <a:ext uri="{FF2B5EF4-FFF2-40B4-BE49-F238E27FC236}">
                <a16:creationId xmlns:a16="http://schemas.microsoft.com/office/drawing/2014/main" id="{F18C14EA-795F-C741-4CCF-67BC31CE1448}"/>
              </a:ext>
            </a:extLst>
          </p:cNvPr>
          <p:cNvSpPr/>
          <p:nvPr/>
        </p:nvSpPr>
        <p:spPr>
          <a:xfrm>
            <a:off x="4985831" y="2097011"/>
            <a:ext cx="45719" cy="520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7" name="圆角矩形 386">
                <a:extLst>
                  <a:ext uri="{FF2B5EF4-FFF2-40B4-BE49-F238E27FC236}">
                    <a16:creationId xmlns:a16="http://schemas.microsoft.com/office/drawing/2014/main" id="{8EE911E0-7BB9-F464-F84B-CB1330A96E61}"/>
                  </a:ext>
                </a:extLst>
              </p:cNvPr>
              <p:cNvSpPr/>
              <p:nvPr/>
            </p:nvSpPr>
            <p:spPr>
              <a:xfrm>
                <a:off x="4176703" y="2165576"/>
                <a:ext cx="1678924" cy="297723"/>
              </a:xfrm>
              <a:prstGeom prst="roundRect">
                <a:avLst/>
              </a:prstGeom>
              <a:solidFill>
                <a:srgbClr val="FFFFB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((</m:t>
                    </m:r>
                    <m:r>
                      <m:rPr>
                        <m:sty m:val="p"/>
                      </m:rP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m:rPr>
                        <m:sty m:val="p"/>
                      </m:rP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)&amp;1)|((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m:rPr>
                        <m:sty m:val="p"/>
                      </m:rP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)&amp;2)≪15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800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</a:p>
              <a:p>
                <a:pPr algn="ctr"/>
                <a:r>
                  <a:rPr kumimoji="1" lang="en-US" altLang="zh-CN" sz="800" dirty="0">
                    <a:solidFill>
                      <a:schemeClr val="tx1"/>
                    </a:solidFill>
                    <a:latin typeface="Helvetica" pitchFamily="2" charset="0"/>
                  </a:rPr>
                  <a:t>(vector operation)</a:t>
                </a:r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87" name="圆角矩形 386">
                <a:extLst>
                  <a:ext uri="{FF2B5EF4-FFF2-40B4-BE49-F238E27FC236}">
                    <a16:creationId xmlns:a16="http://schemas.microsoft.com/office/drawing/2014/main" id="{8EE911E0-7BB9-F464-F84B-CB1330A96E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703" y="2165576"/>
                <a:ext cx="1678924" cy="297723"/>
              </a:xfrm>
              <a:prstGeom prst="roundRect">
                <a:avLst/>
              </a:prstGeom>
              <a:blipFill>
                <a:blip r:embed="rId8"/>
                <a:stretch>
                  <a:fillRect b="-769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8" name="矩形 387">
            <a:extLst>
              <a:ext uri="{FF2B5EF4-FFF2-40B4-BE49-F238E27FC236}">
                <a16:creationId xmlns:a16="http://schemas.microsoft.com/office/drawing/2014/main" id="{A06DC628-8E3C-4F79-CA6A-D67D1EF24342}"/>
              </a:ext>
            </a:extLst>
          </p:cNvPr>
          <p:cNvSpPr/>
          <p:nvPr/>
        </p:nvSpPr>
        <p:spPr>
          <a:xfrm>
            <a:off x="4906987" y="2692743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矩形 388">
                <a:extLst>
                  <a:ext uri="{FF2B5EF4-FFF2-40B4-BE49-F238E27FC236}">
                    <a16:creationId xmlns:a16="http://schemas.microsoft.com/office/drawing/2014/main" id="{7AF3706D-0A1E-39F6-A4D6-32EEE76233CD}"/>
                  </a:ext>
                </a:extLst>
              </p:cNvPr>
              <p:cNvSpPr/>
              <p:nvPr/>
            </p:nvSpPr>
            <p:spPr>
              <a:xfrm>
                <a:off x="4186237" y="2692743"/>
                <a:ext cx="722002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9" name="矩形 388">
                <a:extLst>
                  <a:ext uri="{FF2B5EF4-FFF2-40B4-BE49-F238E27FC236}">
                    <a16:creationId xmlns:a16="http://schemas.microsoft.com/office/drawing/2014/main" id="{7AF3706D-0A1E-39F6-A4D6-32EEE76233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237" y="2692743"/>
                <a:ext cx="722002" cy="18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矩形 389">
            <a:extLst>
              <a:ext uri="{FF2B5EF4-FFF2-40B4-BE49-F238E27FC236}">
                <a16:creationId xmlns:a16="http://schemas.microsoft.com/office/drawing/2014/main" id="{80011FF0-8A13-9CC5-CEF2-38AD1C906632}"/>
              </a:ext>
            </a:extLst>
          </p:cNvPr>
          <p:cNvSpPr/>
          <p:nvPr/>
        </p:nvSpPr>
        <p:spPr>
          <a:xfrm>
            <a:off x="5136939" y="2692743"/>
            <a:ext cx="721527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下箭头 390">
            <a:extLst>
              <a:ext uri="{FF2B5EF4-FFF2-40B4-BE49-F238E27FC236}">
                <a16:creationId xmlns:a16="http://schemas.microsoft.com/office/drawing/2014/main" id="{B7178A93-EBE3-2D81-A613-9DE149DA9DC3}"/>
              </a:ext>
            </a:extLst>
          </p:cNvPr>
          <p:cNvSpPr/>
          <p:nvPr/>
        </p:nvSpPr>
        <p:spPr>
          <a:xfrm>
            <a:off x="5241769" y="2482400"/>
            <a:ext cx="47861" cy="18363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2" name="文本框 401">
                <a:extLst>
                  <a:ext uri="{FF2B5EF4-FFF2-40B4-BE49-F238E27FC236}">
                    <a16:creationId xmlns:a16="http://schemas.microsoft.com/office/drawing/2014/main" id="{A0773230-C154-BA12-5B14-A0367A24FDCB}"/>
                  </a:ext>
                </a:extLst>
              </p:cNvPr>
              <p:cNvSpPr txBox="1"/>
              <p:nvPr/>
            </p:nvSpPr>
            <p:spPr>
              <a:xfrm>
                <a:off x="3995534" y="2455556"/>
                <a:ext cx="1385117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| (</m:t>
                      </m:r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CN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kumimoji="1" lang="en-US" altLang="zh-CN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16)</m:t>
                      </m:r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2" name="文本框 401">
                <a:extLst>
                  <a:ext uri="{FF2B5EF4-FFF2-40B4-BE49-F238E27FC236}">
                    <a16:creationId xmlns:a16="http://schemas.microsoft.com/office/drawing/2014/main" id="{A0773230-C154-BA12-5B14-A0367A24F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534" y="2455556"/>
                <a:ext cx="1385117" cy="2250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4" name="文本框 403">
            <a:extLst>
              <a:ext uri="{FF2B5EF4-FFF2-40B4-BE49-F238E27FC236}">
                <a16:creationId xmlns:a16="http://schemas.microsoft.com/office/drawing/2014/main" id="{6454A7EB-98CF-41DE-2353-D213A5E53112}"/>
              </a:ext>
            </a:extLst>
          </p:cNvPr>
          <p:cNvSpPr txBox="1"/>
          <p:nvPr/>
        </p:nvSpPr>
        <p:spPr>
          <a:xfrm>
            <a:off x="4440772" y="2939426"/>
            <a:ext cx="1160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Reduce</a:t>
            </a:r>
            <a:r>
              <a:rPr kumimoji="1" lang="en-US" altLang="zh-CN" sz="600" dirty="0">
                <a:latin typeface="Helvetica" pitchFamily="2" charset="0"/>
              </a:rPr>
              <a:t>(</a:t>
            </a:r>
            <a:r>
              <a:rPr kumimoji="1" lang="en-US" altLang="zh-CN" sz="600" dirty="0" err="1">
                <a:latin typeface="Helvetica" pitchFamily="2" charset="0"/>
              </a:rPr>
              <a:t>shuffle+OR</a:t>
            </a:r>
            <a:r>
              <a:rPr kumimoji="1" lang="en-US" altLang="zh-CN" sz="600" dirty="0">
                <a:latin typeface="Helvetica" pitchFamily="2" charset="0"/>
              </a:rPr>
              <a:t>, etc.)</a:t>
            </a:r>
          </a:p>
        </p:txBody>
      </p:sp>
      <p:sp>
        <p:nvSpPr>
          <p:cNvPr id="405" name="下箭头 404">
            <a:extLst>
              <a:ext uri="{FF2B5EF4-FFF2-40B4-BE49-F238E27FC236}">
                <a16:creationId xmlns:a16="http://schemas.microsoft.com/office/drawing/2014/main" id="{84E9BCEF-E6C6-E23D-86B6-A35E9D018AED}"/>
              </a:ext>
            </a:extLst>
          </p:cNvPr>
          <p:cNvSpPr/>
          <p:nvPr/>
        </p:nvSpPr>
        <p:spPr>
          <a:xfrm>
            <a:off x="5549068" y="2998582"/>
            <a:ext cx="46012" cy="11355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BD47B96E-7608-3F1B-F721-D4B012A46B9E}"/>
              </a:ext>
            </a:extLst>
          </p:cNvPr>
          <p:cNvSpPr/>
          <p:nvPr/>
        </p:nvSpPr>
        <p:spPr>
          <a:xfrm>
            <a:off x="5506950" y="2702483"/>
            <a:ext cx="342000" cy="1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矩形 414">
            <a:extLst>
              <a:ext uri="{FF2B5EF4-FFF2-40B4-BE49-F238E27FC236}">
                <a16:creationId xmlns:a16="http://schemas.microsoft.com/office/drawing/2014/main" id="{4205DF1C-C897-85F7-0810-578E0FFA40CB}"/>
              </a:ext>
            </a:extLst>
          </p:cNvPr>
          <p:cNvSpPr/>
          <p:nvPr/>
        </p:nvSpPr>
        <p:spPr>
          <a:xfrm>
            <a:off x="5148175" y="2702483"/>
            <a:ext cx="360000" cy="1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738AEE0E-EBA5-84B0-9C7E-B7D7087C718F}"/>
                  </a:ext>
                </a:extLst>
              </p:cNvPr>
              <p:cNvSpPr txBox="1"/>
              <p:nvPr/>
            </p:nvSpPr>
            <p:spPr>
              <a:xfrm>
                <a:off x="5101100" y="2656395"/>
                <a:ext cx="401175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800" b="0" dirty="0"/>
              </a:p>
            </p:txBody>
          </p:sp>
        </mc:Choice>
        <mc:Fallback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738AEE0E-EBA5-84B0-9C7E-B7D7087C7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100" y="2656395"/>
                <a:ext cx="401175" cy="2250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F7016FC9-187A-C821-5BD5-B1FABCCB9B22}"/>
                  </a:ext>
                </a:extLst>
              </p:cNvPr>
              <p:cNvSpPr txBox="1"/>
              <p:nvPr/>
            </p:nvSpPr>
            <p:spPr>
              <a:xfrm>
                <a:off x="5527379" y="2665664"/>
                <a:ext cx="331887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altLang="zh-CN" sz="800" b="0" dirty="0"/>
              </a:p>
            </p:txBody>
          </p:sp>
        </mc:Choice>
        <mc:Fallback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F7016FC9-187A-C821-5BD5-B1FABCCB9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379" y="2665664"/>
                <a:ext cx="331887" cy="22506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" name="矩形 418">
            <a:extLst>
              <a:ext uri="{FF2B5EF4-FFF2-40B4-BE49-F238E27FC236}">
                <a16:creationId xmlns:a16="http://schemas.microsoft.com/office/drawing/2014/main" id="{92A2F99D-0FE0-C4DB-0DA1-A396F78AF6CE}"/>
              </a:ext>
            </a:extLst>
          </p:cNvPr>
          <p:cNvSpPr/>
          <p:nvPr/>
        </p:nvSpPr>
        <p:spPr>
          <a:xfrm>
            <a:off x="4906987" y="3141556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6FB14A4B-1371-4C8F-B3FE-E27BE67C8601}"/>
              </a:ext>
            </a:extLst>
          </p:cNvPr>
          <p:cNvSpPr/>
          <p:nvPr/>
        </p:nvSpPr>
        <p:spPr>
          <a:xfrm>
            <a:off x="4186237" y="3141556"/>
            <a:ext cx="722002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B71DE02D-679F-9D90-CE3A-01D18325FFE4}"/>
              </a:ext>
            </a:extLst>
          </p:cNvPr>
          <p:cNvSpPr/>
          <p:nvPr/>
        </p:nvSpPr>
        <p:spPr>
          <a:xfrm>
            <a:off x="5136939" y="3141556"/>
            <a:ext cx="721527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F735441A-85BB-488E-C08C-0460FE791490}"/>
              </a:ext>
            </a:extLst>
          </p:cNvPr>
          <p:cNvSpPr/>
          <p:nvPr/>
        </p:nvSpPr>
        <p:spPr>
          <a:xfrm>
            <a:off x="5506950" y="3151296"/>
            <a:ext cx="342000" cy="1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7FBAF518-EBC2-2418-D170-C4CF9B23E61D}"/>
              </a:ext>
            </a:extLst>
          </p:cNvPr>
          <p:cNvSpPr/>
          <p:nvPr/>
        </p:nvSpPr>
        <p:spPr>
          <a:xfrm>
            <a:off x="5144546" y="3151296"/>
            <a:ext cx="360000" cy="1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38FB93BD-A035-BE6A-D32D-256580218001}"/>
              </a:ext>
            </a:extLst>
          </p:cNvPr>
          <p:cNvSpPr/>
          <p:nvPr/>
        </p:nvSpPr>
        <p:spPr>
          <a:xfrm>
            <a:off x="4557198" y="3151241"/>
            <a:ext cx="342000" cy="1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84D34D48-4E1C-DF56-897B-DF14AF9FC372}"/>
              </a:ext>
            </a:extLst>
          </p:cNvPr>
          <p:cNvSpPr/>
          <p:nvPr/>
        </p:nvSpPr>
        <p:spPr>
          <a:xfrm>
            <a:off x="4194794" y="3151241"/>
            <a:ext cx="360000" cy="1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" name="圆角矩形 439">
            <a:extLst>
              <a:ext uri="{FF2B5EF4-FFF2-40B4-BE49-F238E27FC236}">
                <a16:creationId xmlns:a16="http://schemas.microsoft.com/office/drawing/2014/main" id="{FCFFE3D7-7D84-FBCE-41F3-AD43F65893BA}"/>
              </a:ext>
            </a:extLst>
          </p:cNvPr>
          <p:cNvSpPr/>
          <p:nvPr/>
        </p:nvSpPr>
        <p:spPr>
          <a:xfrm>
            <a:off x="4143829" y="3101854"/>
            <a:ext cx="442684" cy="249645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1" name="圆角矩形 440">
            <a:extLst>
              <a:ext uri="{FF2B5EF4-FFF2-40B4-BE49-F238E27FC236}">
                <a16:creationId xmlns:a16="http://schemas.microsoft.com/office/drawing/2014/main" id="{2B417C25-F5A9-6DF3-71F0-BF192BE37B79}"/>
              </a:ext>
            </a:extLst>
          </p:cNvPr>
          <p:cNvSpPr/>
          <p:nvPr/>
        </p:nvSpPr>
        <p:spPr>
          <a:xfrm>
            <a:off x="5474111" y="3112141"/>
            <a:ext cx="414593" cy="237359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4" name="圆角右箭头 453">
            <a:extLst>
              <a:ext uri="{FF2B5EF4-FFF2-40B4-BE49-F238E27FC236}">
                <a16:creationId xmlns:a16="http://schemas.microsoft.com/office/drawing/2014/main" id="{5326DFA4-128B-B363-1F32-C0DF0DD83BD5}"/>
              </a:ext>
            </a:extLst>
          </p:cNvPr>
          <p:cNvSpPr/>
          <p:nvPr/>
        </p:nvSpPr>
        <p:spPr>
          <a:xfrm flipV="1">
            <a:off x="4217716" y="3454876"/>
            <a:ext cx="105895" cy="120328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55" name="圆角右箭头 454">
            <a:extLst>
              <a:ext uri="{FF2B5EF4-FFF2-40B4-BE49-F238E27FC236}">
                <a16:creationId xmlns:a16="http://schemas.microsoft.com/office/drawing/2014/main" id="{F4BD6F65-5341-95C0-4F8B-655ABA74AF7A}"/>
              </a:ext>
            </a:extLst>
          </p:cNvPr>
          <p:cNvSpPr/>
          <p:nvPr/>
        </p:nvSpPr>
        <p:spPr>
          <a:xfrm flipH="1" flipV="1">
            <a:off x="5744370" y="3429000"/>
            <a:ext cx="120837" cy="120328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60" name="圆角矩形 459">
            <a:extLst>
              <a:ext uri="{FF2B5EF4-FFF2-40B4-BE49-F238E27FC236}">
                <a16:creationId xmlns:a16="http://schemas.microsoft.com/office/drawing/2014/main" id="{7F75E6E5-248D-B8A5-AAA9-BC317F2AB9B0}"/>
              </a:ext>
            </a:extLst>
          </p:cNvPr>
          <p:cNvSpPr/>
          <p:nvPr/>
        </p:nvSpPr>
        <p:spPr>
          <a:xfrm>
            <a:off x="6516681" y="104482"/>
            <a:ext cx="1286920" cy="5661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5D940B27-7348-69F2-A63E-AB9CDBCDBAD7}"/>
                  </a:ext>
                </a:extLst>
              </p:cNvPr>
              <p:cNvSpPr txBox="1"/>
              <p:nvPr/>
            </p:nvSpPr>
            <p:spPr>
              <a:xfrm>
                <a:off x="6603590" y="242098"/>
                <a:ext cx="1144865" cy="165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&gt;&gt;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aln/>
                        </m:rP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kumimoji="1" lang="en-US" altLang="zh-CN" sz="1000" b="0" dirty="0"/>
              </a:p>
            </p:txBody>
          </p:sp>
        </mc:Choice>
        <mc:Fallback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5D940B27-7348-69F2-A63E-AB9CDBCDB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590" y="242098"/>
                <a:ext cx="1144865" cy="165751"/>
              </a:xfrm>
              <a:prstGeom prst="rect">
                <a:avLst/>
              </a:prstGeom>
              <a:blipFill>
                <a:blip r:embed="rId13"/>
                <a:stretch>
                  <a:fillRect l="-2174" t="-7143" r="-108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87859B61-7220-F26D-978D-0074C0E6D42C}"/>
                  </a:ext>
                </a:extLst>
              </p:cNvPr>
              <p:cNvSpPr txBox="1"/>
              <p:nvPr/>
            </p:nvSpPr>
            <p:spPr>
              <a:xfrm>
                <a:off x="6633666" y="481445"/>
                <a:ext cx="11030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dirty="0">
                    <a:latin typeface="Helvetica" pitchFamily="2" charset="0"/>
                  </a:rPr>
                  <a:t>The </a:t>
                </a:r>
                <a14:m>
                  <m:oMath xmlns:m="http://schemas.openxmlformats.org/officeDocument/2006/math"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m:rPr>
                        <m:sty m:val="p"/>
                      </m:rPr>
                      <a:rPr kumimoji="1" lang="en-US" altLang="zh-CN" sz="800" i="1">
                        <a:latin typeface="Cambria Math" panose="02040503050406030204" pitchFamily="18" charset="0"/>
                      </a:rPr>
                      <m:t>th</m:t>
                    </m:r>
                  </m:oMath>
                </a14:m>
                <a:r>
                  <a:rPr kumimoji="1" lang="en-US" altLang="zh-CN" sz="800" dirty="0">
                    <a:latin typeface="Helvetica" pitchFamily="2" charset="0"/>
                  </a:rPr>
                  <a:t> bit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zh-CN" sz="800" b="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87859B61-7220-F26D-978D-0074C0E6D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66" y="481445"/>
                <a:ext cx="1103010" cy="215444"/>
              </a:xfrm>
              <a:prstGeom prst="rect">
                <a:avLst/>
              </a:prstGeom>
              <a:blipFill>
                <a:blip r:embed="rId1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圆角矩形 460">
            <a:extLst>
              <a:ext uri="{FF2B5EF4-FFF2-40B4-BE49-F238E27FC236}">
                <a16:creationId xmlns:a16="http://schemas.microsoft.com/office/drawing/2014/main" id="{7B58250A-D046-0220-CF31-0498BF807B43}"/>
              </a:ext>
            </a:extLst>
          </p:cNvPr>
          <p:cNvSpPr/>
          <p:nvPr/>
        </p:nvSpPr>
        <p:spPr>
          <a:xfrm>
            <a:off x="7891981" y="101397"/>
            <a:ext cx="1771417" cy="5661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C49B4F8D-630A-41FD-4667-5A8C4CF39248}"/>
                  </a:ext>
                </a:extLst>
              </p:cNvPr>
              <p:cNvSpPr txBox="1"/>
              <p:nvPr/>
            </p:nvSpPr>
            <p:spPr>
              <a:xfrm>
                <a:off x="8293244" y="153389"/>
                <a:ext cx="1119730" cy="471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5"/>
                            </m:r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000" b="0" dirty="0"/>
              </a:p>
              <a:p>
                <a:endParaRPr kumimoji="1" lang="en-US" altLang="zh-CN" sz="1000" b="0" dirty="0"/>
              </a:p>
            </p:txBody>
          </p:sp>
        </mc:Choice>
        <mc:Fallback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C49B4F8D-630A-41FD-4667-5A8C4CF39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44" y="153389"/>
                <a:ext cx="1119730" cy="471091"/>
              </a:xfrm>
              <a:prstGeom prst="rect">
                <a:avLst/>
              </a:prstGeom>
              <a:blipFill>
                <a:blip r:embed="rId15"/>
                <a:stretch>
                  <a:fillRect l="-5556" t="-118919" b="-145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9" name="文本框 458">
                <a:extLst>
                  <a:ext uri="{FF2B5EF4-FFF2-40B4-BE49-F238E27FC236}">
                    <a16:creationId xmlns:a16="http://schemas.microsoft.com/office/drawing/2014/main" id="{7274129D-D8C6-05FD-8011-CD3B98752246}"/>
                  </a:ext>
                </a:extLst>
              </p:cNvPr>
              <p:cNvSpPr txBox="1"/>
              <p:nvPr/>
            </p:nvSpPr>
            <p:spPr>
              <a:xfrm>
                <a:off x="7940834" y="478167"/>
                <a:ext cx="17557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dirty="0">
                    <a:latin typeface="Helvetica" pitchFamily="2" charset="0"/>
                  </a:rPr>
                  <a:t>16-bit plane mask for bit position </a:t>
                </a:r>
                <a14:m>
                  <m:oMath xmlns:m="http://schemas.openxmlformats.org/officeDocument/2006/math"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zh-CN" sz="800" dirty="0">
                    <a:latin typeface="Helvetica" pitchFamily="2" charset="0"/>
                  </a:rPr>
                  <a:t> </a:t>
                </a:r>
                <a:endParaRPr kumimoji="1" lang="en-US" altLang="zh-CN" sz="800" b="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59" name="文本框 458">
                <a:extLst>
                  <a:ext uri="{FF2B5EF4-FFF2-40B4-BE49-F238E27FC236}">
                    <a16:creationId xmlns:a16="http://schemas.microsoft.com/office/drawing/2014/main" id="{7274129D-D8C6-05FD-8011-CD3B98752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834" y="478167"/>
                <a:ext cx="1755754" cy="215444"/>
              </a:xfrm>
              <a:prstGeom prst="rect">
                <a:avLst/>
              </a:prstGeom>
              <a:blipFill>
                <a:blip r:embed="rId1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2" name="文本框 461">
            <a:extLst>
              <a:ext uri="{FF2B5EF4-FFF2-40B4-BE49-F238E27FC236}">
                <a16:creationId xmlns:a16="http://schemas.microsoft.com/office/drawing/2014/main" id="{05C845AB-3D79-8FED-5C97-FB2FB0D50FBA}"/>
              </a:ext>
            </a:extLst>
          </p:cNvPr>
          <p:cNvSpPr txBox="1"/>
          <p:nvPr/>
        </p:nvSpPr>
        <p:spPr>
          <a:xfrm>
            <a:off x="6176501" y="1150671"/>
            <a:ext cx="5938459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00" b="1" dirty="0">
                <a:latin typeface="Helvetica" pitchFamily="2" charset="0"/>
              </a:rPr>
              <a:t>Each SIMD lane represents one bit position and accumulates bits across all coefficients. </a:t>
            </a:r>
            <a:r>
              <a:rPr kumimoji="1" lang="en-US" altLang="zh-CN" sz="1000" b="1" dirty="0">
                <a:latin typeface="Helvetica" pitchFamily="2" charset="0"/>
              </a:rPr>
              <a:t>Computes multiple plane masks in parallel (e.g., 16 planes).</a:t>
            </a:r>
          </a:p>
        </p:txBody>
      </p:sp>
      <p:sp>
        <p:nvSpPr>
          <p:cNvPr id="463" name="圆角矩形 462">
            <a:extLst>
              <a:ext uri="{FF2B5EF4-FFF2-40B4-BE49-F238E27FC236}">
                <a16:creationId xmlns:a16="http://schemas.microsoft.com/office/drawing/2014/main" id="{1E17571A-AAC1-1254-B1C6-58025BAC15E8}"/>
              </a:ext>
            </a:extLst>
          </p:cNvPr>
          <p:cNvSpPr/>
          <p:nvPr/>
        </p:nvSpPr>
        <p:spPr>
          <a:xfrm>
            <a:off x="6240373" y="1613057"/>
            <a:ext cx="2446428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4" name="圆角矩形 463">
            <a:extLst>
              <a:ext uri="{FF2B5EF4-FFF2-40B4-BE49-F238E27FC236}">
                <a16:creationId xmlns:a16="http://schemas.microsoft.com/office/drawing/2014/main" id="{27737F0A-E84A-D8E0-A30B-8E315D1803D2}"/>
              </a:ext>
            </a:extLst>
          </p:cNvPr>
          <p:cNvSpPr/>
          <p:nvPr/>
        </p:nvSpPr>
        <p:spPr>
          <a:xfrm>
            <a:off x="6240371" y="1613057"/>
            <a:ext cx="2446430" cy="249644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1B57C3DE-5E23-B8DA-6C75-DBFF98FD05AB}"/>
              </a:ext>
            </a:extLst>
          </p:cNvPr>
          <p:cNvSpPr txBox="1"/>
          <p:nvPr/>
        </p:nvSpPr>
        <p:spPr>
          <a:xfrm>
            <a:off x="6240370" y="1617988"/>
            <a:ext cx="2396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1. Broadcast and extract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507" name="圆角矩形 506">
            <a:extLst>
              <a:ext uri="{FF2B5EF4-FFF2-40B4-BE49-F238E27FC236}">
                <a16:creationId xmlns:a16="http://schemas.microsoft.com/office/drawing/2014/main" id="{EC0184F0-0265-8989-07A5-EB82DEEB048C}"/>
              </a:ext>
            </a:extLst>
          </p:cNvPr>
          <p:cNvSpPr/>
          <p:nvPr/>
        </p:nvSpPr>
        <p:spPr>
          <a:xfrm>
            <a:off x="8798499" y="1612208"/>
            <a:ext cx="3232501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8" name="圆角矩形 507">
            <a:extLst>
              <a:ext uri="{FF2B5EF4-FFF2-40B4-BE49-F238E27FC236}">
                <a16:creationId xmlns:a16="http://schemas.microsoft.com/office/drawing/2014/main" id="{AA337280-31D6-0D8B-3EF4-F1B08D8E1E49}"/>
              </a:ext>
            </a:extLst>
          </p:cNvPr>
          <p:cNvSpPr/>
          <p:nvPr/>
        </p:nvSpPr>
        <p:spPr>
          <a:xfrm>
            <a:off x="8798497" y="1612208"/>
            <a:ext cx="3232503" cy="249644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9" name="文本框 508">
            <a:extLst>
              <a:ext uri="{FF2B5EF4-FFF2-40B4-BE49-F238E27FC236}">
                <a16:creationId xmlns:a16="http://schemas.microsoft.com/office/drawing/2014/main" id="{8B02BE1A-7512-3F83-4248-6FE2C09B053E}"/>
              </a:ext>
            </a:extLst>
          </p:cNvPr>
          <p:cNvSpPr txBox="1"/>
          <p:nvPr/>
        </p:nvSpPr>
        <p:spPr>
          <a:xfrm>
            <a:off x="8798498" y="1617139"/>
            <a:ext cx="2720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2. Accumulate 16 plane masks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D5C9A1E4-DDA1-4BD9-C227-0D875F6228B7}"/>
              </a:ext>
            </a:extLst>
          </p:cNvPr>
          <p:cNvSpPr/>
          <p:nvPr/>
        </p:nvSpPr>
        <p:spPr>
          <a:xfrm>
            <a:off x="7463620" y="2034168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文本框 510">
                <a:extLst>
                  <a:ext uri="{FF2B5EF4-FFF2-40B4-BE49-F238E27FC236}">
                    <a16:creationId xmlns:a16="http://schemas.microsoft.com/office/drawing/2014/main" id="{B018FBE2-B668-E69B-F3E3-EE10B9663A6F}"/>
                  </a:ext>
                </a:extLst>
              </p:cNvPr>
              <p:cNvSpPr txBox="1"/>
              <p:nvPr/>
            </p:nvSpPr>
            <p:spPr>
              <a:xfrm>
                <a:off x="6405456" y="2015234"/>
                <a:ext cx="109130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One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kumimoji="1" lang="zh-CN" altLang="en-US" sz="800" b="1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11" name="文本框 510">
                <a:extLst>
                  <a:ext uri="{FF2B5EF4-FFF2-40B4-BE49-F238E27FC236}">
                    <a16:creationId xmlns:a16="http://schemas.microsoft.com/office/drawing/2014/main" id="{B018FBE2-B668-E69B-F3E3-EE10B9663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456" y="2015234"/>
                <a:ext cx="1091301" cy="215444"/>
              </a:xfrm>
              <a:prstGeom prst="rect">
                <a:avLst/>
              </a:prstGeom>
              <a:blipFill>
                <a:blip r:embed="rId1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圆角矩形 511">
            <a:extLst>
              <a:ext uri="{FF2B5EF4-FFF2-40B4-BE49-F238E27FC236}">
                <a16:creationId xmlns:a16="http://schemas.microsoft.com/office/drawing/2014/main" id="{E6338BE5-6DE5-E2FF-A515-7678DADD0357}"/>
              </a:ext>
            </a:extLst>
          </p:cNvPr>
          <p:cNvSpPr/>
          <p:nvPr/>
        </p:nvSpPr>
        <p:spPr>
          <a:xfrm>
            <a:off x="6324289" y="2349721"/>
            <a:ext cx="1574148" cy="29772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Broadcast to all SIMD lanes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06DDD536-64E9-FCF8-9654-E3FEBAA1D206}"/>
              </a:ext>
            </a:extLst>
          </p:cNvPr>
          <p:cNvSpPr/>
          <p:nvPr/>
        </p:nvSpPr>
        <p:spPr>
          <a:xfrm>
            <a:off x="6902451" y="2829647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BA7B488B-3907-4374-26B0-D53D932318FF}"/>
              </a:ext>
            </a:extLst>
          </p:cNvPr>
          <p:cNvSpPr/>
          <p:nvPr/>
        </p:nvSpPr>
        <p:spPr>
          <a:xfrm>
            <a:off x="7315791" y="282964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DC090C94-0100-5F1B-ABE7-1741E493F0D3}"/>
              </a:ext>
            </a:extLst>
          </p:cNvPr>
          <p:cNvSpPr/>
          <p:nvPr/>
        </p:nvSpPr>
        <p:spPr>
          <a:xfrm>
            <a:off x="6343410" y="282964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69EED458-1E47-8EAB-DE1B-C550B6B2822D}"/>
              </a:ext>
            </a:extLst>
          </p:cNvPr>
          <p:cNvSpPr/>
          <p:nvPr/>
        </p:nvSpPr>
        <p:spPr>
          <a:xfrm>
            <a:off x="3229338" y="3456972"/>
            <a:ext cx="644324" cy="347241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6" name="下箭头 515">
            <a:extLst>
              <a:ext uri="{FF2B5EF4-FFF2-40B4-BE49-F238E27FC236}">
                <a16:creationId xmlns:a16="http://schemas.microsoft.com/office/drawing/2014/main" id="{BAEE0ACE-CC4D-E91E-C3E9-D96DE1F6B19C}"/>
              </a:ext>
            </a:extLst>
          </p:cNvPr>
          <p:cNvSpPr/>
          <p:nvPr/>
        </p:nvSpPr>
        <p:spPr>
          <a:xfrm>
            <a:off x="7506394" y="2230420"/>
            <a:ext cx="92465" cy="10000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18" name="组合 517">
            <a:extLst>
              <a:ext uri="{FF2B5EF4-FFF2-40B4-BE49-F238E27FC236}">
                <a16:creationId xmlns:a16="http://schemas.microsoft.com/office/drawing/2014/main" id="{B5BEF49C-EC02-B8BD-2BBD-CDAD6C4D3E43}"/>
              </a:ext>
            </a:extLst>
          </p:cNvPr>
          <p:cNvGrpSpPr/>
          <p:nvPr/>
        </p:nvGrpSpPr>
        <p:grpSpPr>
          <a:xfrm>
            <a:off x="3266330" y="3489484"/>
            <a:ext cx="569796" cy="180000"/>
            <a:chOff x="3206379" y="2740540"/>
            <a:chExt cx="569796" cy="180000"/>
          </a:xfrm>
          <a:solidFill>
            <a:schemeClr val="bg1">
              <a:lumMod val="85000"/>
            </a:schemeClr>
          </a:solidFill>
        </p:grpSpPr>
        <p:grpSp>
          <p:nvGrpSpPr>
            <p:cNvPr id="519" name="组合 518">
              <a:extLst>
                <a:ext uri="{FF2B5EF4-FFF2-40B4-BE49-F238E27FC236}">
                  <a16:creationId xmlns:a16="http://schemas.microsoft.com/office/drawing/2014/main" id="{5CF4A847-4F96-9A43-8917-BFC39818C7F5}"/>
                </a:ext>
              </a:extLst>
            </p:cNvPr>
            <p:cNvGrpSpPr/>
            <p:nvPr/>
          </p:nvGrpSpPr>
          <p:grpSpPr>
            <a:xfrm>
              <a:off x="3206379" y="2740540"/>
              <a:ext cx="384546" cy="180000"/>
              <a:chOff x="9052106" y="849130"/>
              <a:chExt cx="384546" cy="180000"/>
            </a:xfrm>
            <a:grpFill/>
          </p:grpSpPr>
          <p:sp>
            <p:nvSpPr>
              <p:cNvPr id="521" name="矩形 520">
                <a:extLst>
                  <a:ext uri="{FF2B5EF4-FFF2-40B4-BE49-F238E27FC236}">
                    <a16:creationId xmlns:a16="http://schemas.microsoft.com/office/drawing/2014/main" id="{E09F26DF-CBA6-FC9C-0EA7-9D1CEAF86D43}"/>
                  </a:ext>
                </a:extLst>
              </p:cNvPr>
              <p:cNvSpPr/>
              <p:nvPr/>
            </p:nvSpPr>
            <p:spPr>
              <a:xfrm>
                <a:off x="9052106" y="849130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522" name="矩形 521">
                <a:extLst>
                  <a:ext uri="{FF2B5EF4-FFF2-40B4-BE49-F238E27FC236}">
                    <a16:creationId xmlns:a16="http://schemas.microsoft.com/office/drawing/2014/main" id="{E90053F0-11F3-F931-50AB-F60876EFEAB4}"/>
                  </a:ext>
                </a:extLst>
              </p:cNvPr>
              <p:cNvSpPr/>
              <p:nvPr/>
            </p:nvSpPr>
            <p:spPr>
              <a:xfrm>
                <a:off x="9233521" y="849130"/>
                <a:ext cx="203131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0" name="矩形 519">
              <a:extLst>
                <a:ext uri="{FF2B5EF4-FFF2-40B4-BE49-F238E27FC236}">
                  <a16:creationId xmlns:a16="http://schemas.microsoft.com/office/drawing/2014/main" id="{C6AE7511-C987-6ACC-254C-A94DC996C18E}"/>
                </a:ext>
              </a:extLst>
            </p:cNvPr>
            <p:cNvSpPr/>
            <p:nvPr/>
          </p:nvSpPr>
          <p:spPr>
            <a:xfrm>
              <a:off x="3596175" y="2740540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800" b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E3889791-AE6C-848D-39C5-F997762D00E4}"/>
                  </a:ext>
                </a:extLst>
              </p:cNvPr>
              <p:cNvSpPr txBox="1"/>
              <p:nvPr/>
            </p:nvSpPr>
            <p:spPr>
              <a:xfrm>
                <a:off x="3451438" y="3614728"/>
                <a:ext cx="295796" cy="225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E3889791-AE6C-848D-39C5-F997762D0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438" y="3614728"/>
                <a:ext cx="295796" cy="22506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4" name="矩形 523">
            <a:extLst>
              <a:ext uri="{FF2B5EF4-FFF2-40B4-BE49-F238E27FC236}">
                <a16:creationId xmlns:a16="http://schemas.microsoft.com/office/drawing/2014/main" id="{4FC20C3A-476B-918F-4D43-4131DF8922CF}"/>
              </a:ext>
            </a:extLst>
          </p:cNvPr>
          <p:cNvSpPr/>
          <p:nvPr/>
        </p:nvSpPr>
        <p:spPr>
          <a:xfrm>
            <a:off x="5061623" y="3410323"/>
            <a:ext cx="644324" cy="347241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25" name="组合 524">
            <a:extLst>
              <a:ext uri="{FF2B5EF4-FFF2-40B4-BE49-F238E27FC236}">
                <a16:creationId xmlns:a16="http://schemas.microsoft.com/office/drawing/2014/main" id="{11B0E850-F830-94CB-3E25-F2B24FC229A1}"/>
              </a:ext>
            </a:extLst>
          </p:cNvPr>
          <p:cNvGrpSpPr/>
          <p:nvPr/>
        </p:nvGrpSpPr>
        <p:grpSpPr>
          <a:xfrm>
            <a:off x="5098615" y="3442835"/>
            <a:ext cx="569796" cy="180000"/>
            <a:chOff x="3206379" y="2740540"/>
            <a:chExt cx="569796" cy="180000"/>
          </a:xfrm>
          <a:solidFill>
            <a:schemeClr val="bg1">
              <a:lumMod val="85000"/>
            </a:schemeClr>
          </a:solidFill>
        </p:grpSpPr>
        <p:grpSp>
          <p:nvGrpSpPr>
            <p:cNvPr id="526" name="组合 525">
              <a:extLst>
                <a:ext uri="{FF2B5EF4-FFF2-40B4-BE49-F238E27FC236}">
                  <a16:creationId xmlns:a16="http://schemas.microsoft.com/office/drawing/2014/main" id="{7E1C39BB-3F93-07DA-C2D7-11D29D44FD0C}"/>
                </a:ext>
              </a:extLst>
            </p:cNvPr>
            <p:cNvGrpSpPr/>
            <p:nvPr/>
          </p:nvGrpSpPr>
          <p:grpSpPr>
            <a:xfrm>
              <a:off x="3206379" y="2740540"/>
              <a:ext cx="384546" cy="180000"/>
              <a:chOff x="9052106" y="849130"/>
              <a:chExt cx="384546" cy="180000"/>
            </a:xfrm>
            <a:grpFill/>
          </p:grpSpPr>
          <p:sp>
            <p:nvSpPr>
              <p:cNvPr id="528" name="矩形 527">
                <a:extLst>
                  <a:ext uri="{FF2B5EF4-FFF2-40B4-BE49-F238E27FC236}">
                    <a16:creationId xmlns:a16="http://schemas.microsoft.com/office/drawing/2014/main" id="{F94AE15C-03D4-C109-54C8-947DF8954E14}"/>
                  </a:ext>
                </a:extLst>
              </p:cNvPr>
              <p:cNvSpPr/>
              <p:nvPr/>
            </p:nvSpPr>
            <p:spPr>
              <a:xfrm>
                <a:off x="9052106" y="849130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529" name="矩形 528">
                <a:extLst>
                  <a:ext uri="{FF2B5EF4-FFF2-40B4-BE49-F238E27FC236}">
                    <a16:creationId xmlns:a16="http://schemas.microsoft.com/office/drawing/2014/main" id="{147180EE-3DCE-89FB-029B-431FCE768D72}"/>
                  </a:ext>
                </a:extLst>
              </p:cNvPr>
              <p:cNvSpPr/>
              <p:nvPr/>
            </p:nvSpPr>
            <p:spPr>
              <a:xfrm>
                <a:off x="9233521" y="849130"/>
                <a:ext cx="203131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7" name="矩形 526">
              <a:extLst>
                <a:ext uri="{FF2B5EF4-FFF2-40B4-BE49-F238E27FC236}">
                  <a16:creationId xmlns:a16="http://schemas.microsoft.com/office/drawing/2014/main" id="{B0759B40-0A2A-0B94-8A54-14E120335C11}"/>
                </a:ext>
              </a:extLst>
            </p:cNvPr>
            <p:cNvSpPr/>
            <p:nvPr/>
          </p:nvSpPr>
          <p:spPr>
            <a:xfrm>
              <a:off x="3596175" y="2740540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800" b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AF4DCB7F-4858-2667-E631-87552B307189}"/>
                  </a:ext>
                </a:extLst>
              </p:cNvPr>
              <p:cNvSpPr txBox="1"/>
              <p:nvPr/>
            </p:nvSpPr>
            <p:spPr>
              <a:xfrm>
                <a:off x="5283723" y="3568079"/>
                <a:ext cx="295796" cy="225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AF4DCB7F-4858-2667-E631-87552B307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723" y="3568079"/>
                <a:ext cx="295796" cy="22506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3" name="矩形 532">
            <a:extLst>
              <a:ext uri="{FF2B5EF4-FFF2-40B4-BE49-F238E27FC236}">
                <a16:creationId xmlns:a16="http://schemas.microsoft.com/office/drawing/2014/main" id="{71F0F490-A250-91C7-A910-0A26CDC5EEE5}"/>
              </a:ext>
            </a:extLst>
          </p:cNvPr>
          <p:cNvSpPr/>
          <p:nvPr/>
        </p:nvSpPr>
        <p:spPr>
          <a:xfrm>
            <a:off x="4391387" y="3408717"/>
            <a:ext cx="644324" cy="347241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34" name="组合 533">
            <a:extLst>
              <a:ext uri="{FF2B5EF4-FFF2-40B4-BE49-F238E27FC236}">
                <a16:creationId xmlns:a16="http://schemas.microsoft.com/office/drawing/2014/main" id="{8DDEB16E-2045-E74E-5D43-0FD21A002546}"/>
              </a:ext>
            </a:extLst>
          </p:cNvPr>
          <p:cNvGrpSpPr/>
          <p:nvPr/>
        </p:nvGrpSpPr>
        <p:grpSpPr>
          <a:xfrm>
            <a:off x="4428379" y="3441229"/>
            <a:ext cx="569796" cy="180000"/>
            <a:chOff x="3206379" y="2740540"/>
            <a:chExt cx="569796" cy="180000"/>
          </a:xfrm>
          <a:solidFill>
            <a:schemeClr val="bg1">
              <a:lumMod val="95000"/>
            </a:schemeClr>
          </a:solidFill>
        </p:grpSpPr>
        <p:grpSp>
          <p:nvGrpSpPr>
            <p:cNvPr id="535" name="组合 534">
              <a:extLst>
                <a:ext uri="{FF2B5EF4-FFF2-40B4-BE49-F238E27FC236}">
                  <a16:creationId xmlns:a16="http://schemas.microsoft.com/office/drawing/2014/main" id="{E1D0EAAA-240F-DE41-3B5A-24755E74B7BF}"/>
                </a:ext>
              </a:extLst>
            </p:cNvPr>
            <p:cNvGrpSpPr/>
            <p:nvPr/>
          </p:nvGrpSpPr>
          <p:grpSpPr>
            <a:xfrm>
              <a:off x="3206379" y="2740540"/>
              <a:ext cx="384546" cy="180000"/>
              <a:chOff x="9052106" y="849130"/>
              <a:chExt cx="384546" cy="180000"/>
            </a:xfrm>
            <a:grpFill/>
          </p:grpSpPr>
          <p:sp>
            <p:nvSpPr>
              <p:cNvPr id="537" name="矩形 536">
                <a:extLst>
                  <a:ext uri="{FF2B5EF4-FFF2-40B4-BE49-F238E27FC236}">
                    <a16:creationId xmlns:a16="http://schemas.microsoft.com/office/drawing/2014/main" id="{EEE247E9-8942-E1A2-02FE-57104AF7730D}"/>
                  </a:ext>
                </a:extLst>
              </p:cNvPr>
              <p:cNvSpPr/>
              <p:nvPr/>
            </p:nvSpPr>
            <p:spPr>
              <a:xfrm>
                <a:off x="9052106" y="849130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538" name="矩形 537">
                <a:extLst>
                  <a:ext uri="{FF2B5EF4-FFF2-40B4-BE49-F238E27FC236}">
                    <a16:creationId xmlns:a16="http://schemas.microsoft.com/office/drawing/2014/main" id="{1CB310E1-2E9A-1B75-FD62-E682713601FA}"/>
                  </a:ext>
                </a:extLst>
              </p:cNvPr>
              <p:cNvSpPr/>
              <p:nvPr/>
            </p:nvSpPr>
            <p:spPr>
              <a:xfrm>
                <a:off x="9233521" y="849130"/>
                <a:ext cx="203131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6" name="矩形 535">
              <a:extLst>
                <a:ext uri="{FF2B5EF4-FFF2-40B4-BE49-F238E27FC236}">
                  <a16:creationId xmlns:a16="http://schemas.microsoft.com/office/drawing/2014/main" id="{190B8909-DE13-247A-C6E0-88D305CE9220}"/>
                </a:ext>
              </a:extLst>
            </p:cNvPr>
            <p:cNvSpPr/>
            <p:nvPr/>
          </p:nvSpPr>
          <p:spPr>
            <a:xfrm>
              <a:off x="3596175" y="2740540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800" b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560E414D-8F31-177A-408E-2BA272EB25E3}"/>
                  </a:ext>
                </a:extLst>
              </p:cNvPr>
              <p:cNvSpPr txBox="1"/>
              <p:nvPr/>
            </p:nvSpPr>
            <p:spPr>
              <a:xfrm>
                <a:off x="4565379" y="3565335"/>
                <a:ext cx="295796" cy="225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en-US" altLang="zh-CN" sz="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560E414D-8F31-177A-408E-2BA272EB2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379" y="3565335"/>
                <a:ext cx="295796" cy="225062"/>
              </a:xfrm>
              <a:prstGeom prst="rect">
                <a:avLst/>
              </a:prstGeom>
              <a:blipFill>
                <a:blip r:embed="rId20"/>
                <a:stretch>
                  <a:fillRect l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0" name="下箭头 539">
            <a:extLst>
              <a:ext uri="{FF2B5EF4-FFF2-40B4-BE49-F238E27FC236}">
                <a16:creationId xmlns:a16="http://schemas.microsoft.com/office/drawing/2014/main" id="{188FC5A3-B5A2-35C0-8B79-143D9C0B3C8A}"/>
              </a:ext>
            </a:extLst>
          </p:cNvPr>
          <p:cNvSpPr/>
          <p:nvPr/>
        </p:nvSpPr>
        <p:spPr>
          <a:xfrm>
            <a:off x="6557643" y="2665301"/>
            <a:ext cx="101393" cy="14349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1" name="下箭头 540">
            <a:extLst>
              <a:ext uri="{FF2B5EF4-FFF2-40B4-BE49-F238E27FC236}">
                <a16:creationId xmlns:a16="http://schemas.microsoft.com/office/drawing/2014/main" id="{9A0F78A4-7FBF-DD39-8224-3E08B12D07A7}"/>
              </a:ext>
            </a:extLst>
          </p:cNvPr>
          <p:cNvSpPr/>
          <p:nvPr/>
        </p:nvSpPr>
        <p:spPr>
          <a:xfrm>
            <a:off x="7547876" y="2665301"/>
            <a:ext cx="101393" cy="14349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2" name="矩形 541">
            <a:extLst>
              <a:ext uri="{FF2B5EF4-FFF2-40B4-BE49-F238E27FC236}">
                <a16:creationId xmlns:a16="http://schemas.microsoft.com/office/drawing/2014/main" id="{606A8E3B-68B7-ADFF-E7CC-881D9F41D02A}"/>
              </a:ext>
            </a:extLst>
          </p:cNvPr>
          <p:cNvSpPr/>
          <p:nvPr/>
        </p:nvSpPr>
        <p:spPr>
          <a:xfrm>
            <a:off x="6902451" y="3566829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6F59E545-4A5A-B6E3-4BDD-76E34504FF10}"/>
                  </a:ext>
                </a:extLst>
              </p:cNvPr>
              <p:cNvSpPr/>
              <p:nvPr/>
            </p:nvSpPr>
            <p:spPr>
              <a:xfrm>
                <a:off x="7315791" y="3566829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6F59E545-4A5A-B6E3-4BDD-76E34504F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791" y="3566829"/>
                <a:ext cx="559041" cy="180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FE03C5BA-6D67-D0F1-44D3-05DA9365D6D2}"/>
                  </a:ext>
                </a:extLst>
              </p:cNvPr>
              <p:cNvSpPr/>
              <p:nvPr/>
            </p:nvSpPr>
            <p:spPr>
              <a:xfrm>
                <a:off x="6343410" y="3566829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FE03C5BA-6D67-D0F1-44D3-05DA9365D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410" y="3566829"/>
                <a:ext cx="559041" cy="180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5" name="下箭头 544">
            <a:extLst>
              <a:ext uri="{FF2B5EF4-FFF2-40B4-BE49-F238E27FC236}">
                <a16:creationId xmlns:a16="http://schemas.microsoft.com/office/drawing/2014/main" id="{99DCE7FF-5EA7-C7F8-8DC7-2BD12698F4E6}"/>
              </a:ext>
            </a:extLst>
          </p:cNvPr>
          <p:cNvSpPr/>
          <p:nvPr/>
        </p:nvSpPr>
        <p:spPr>
          <a:xfrm>
            <a:off x="6557643" y="341128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6" name="下箭头 545">
            <a:extLst>
              <a:ext uri="{FF2B5EF4-FFF2-40B4-BE49-F238E27FC236}">
                <a16:creationId xmlns:a16="http://schemas.microsoft.com/office/drawing/2014/main" id="{045EE885-FCA3-20E9-23B1-3DCB3A63D899}"/>
              </a:ext>
            </a:extLst>
          </p:cNvPr>
          <p:cNvSpPr/>
          <p:nvPr/>
        </p:nvSpPr>
        <p:spPr>
          <a:xfrm>
            <a:off x="7547876" y="3411279"/>
            <a:ext cx="112715" cy="12446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CD55CFB5-A73A-28B0-3AD1-A2F309458B5C}"/>
              </a:ext>
            </a:extLst>
          </p:cNvPr>
          <p:cNvSpPr/>
          <p:nvPr/>
        </p:nvSpPr>
        <p:spPr>
          <a:xfrm>
            <a:off x="6902451" y="3198590"/>
            <a:ext cx="414593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8122C463-12BB-FD08-22AA-6E8EAAE3A8DE}"/>
              </a:ext>
            </a:extLst>
          </p:cNvPr>
          <p:cNvSpPr/>
          <p:nvPr/>
        </p:nvSpPr>
        <p:spPr>
          <a:xfrm>
            <a:off x="7315791" y="3198590"/>
            <a:ext cx="559041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B55EA7AC-6D7A-0372-AB25-C73D2AC785C6}"/>
              </a:ext>
            </a:extLst>
          </p:cNvPr>
          <p:cNvSpPr/>
          <p:nvPr/>
        </p:nvSpPr>
        <p:spPr>
          <a:xfrm>
            <a:off x="6343410" y="3198590"/>
            <a:ext cx="559041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50" name="下箭头 549">
            <a:extLst>
              <a:ext uri="{FF2B5EF4-FFF2-40B4-BE49-F238E27FC236}">
                <a16:creationId xmlns:a16="http://schemas.microsoft.com/office/drawing/2014/main" id="{8919E75E-92FB-D785-56B2-2E35B57AC549}"/>
              </a:ext>
            </a:extLst>
          </p:cNvPr>
          <p:cNvSpPr/>
          <p:nvPr/>
        </p:nvSpPr>
        <p:spPr>
          <a:xfrm>
            <a:off x="6557643" y="303631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1" name="下箭头 550">
            <a:extLst>
              <a:ext uri="{FF2B5EF4-FFF2-40B4-BE49-F238E27FC236}">
                <a16:creationId xmlns:a16="http://schemas.microsoft.com/office/drawing/2014/main" id="{7BE1FCC7-46BD-380E-7D56-8255BC2665C0}"/>
              </a:ext>
            </a:extLst>
          </p:cNvPr>
          <p:cNvSpPr/>
          <p:nvPr/>
        </p:nvSpPr>
        <p:spPr>
          <a:xfrm>
            <a:off x="7547876" y="3036310"/>
            <a:ext cx="112715" cy="12446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3" name="直角上箭头 552">
            <a:extLst>
              <a:ext uri="{FF2B5EF4-FFF2-40B4-BE49-F238E27FC236}">
                <a16:creationId xmlns:a16="http://schemas.microsoft.com/office/drawing/2014/main" id="{70912BB5-77C3-B5DC-2443-E4D1C359FB53}"/>
              </a:ext>
            </a:extLst>
          </p:cNvPr>
          <p:cNvSpPr/>
          <p:nvPr/>
        </p:nvSpPr>
        <p:spPr>
          <a:xfrm>
            <a:off x="7940008" y="2900352"/>
            <a:ext cx="396063" cy="775467"/>
          </a:xfrm>
          <a:prstGeom prst="bentUpArrow">
            <a:avLst>
              <a:gd name="adj1" fmla="val 17841"/>
              <a:gd name="adj2" fmla="val 15081"/>
              <a:gd name="adj3" fmla="val 2367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4" name="直角上箭头 553">
            <a:extLst>
              <a:ext uri="{FF2B5EF4-FFF2-40B4-BE49-F238E27FC236}">
                <a16:creationId xmlns:a16="http://schemas.microsoft.com/office/drawing/2014/main" id="{B764F6EA-4E6C-0C10-A64C-27047E96036C}"/>
              </a:ext>
            </a:extLst>
          </p:cNvPr>
          <p:cNvSpPr/>
          <p:nvPr/>
        </p:nvSpPr>
        <p:spPr>
          <a:xfrm rot="-5400000">
            <a:off x="7688498" y="2271307"/>
            <a:ext cx="801315" cy="456776"/>
          </a:xfrm>
          <a:prstGeom prst="bentUpArrow">
            <a:avLst>
              <a:gd name="adj1" fmla="val 17841"/>
              <a:gd name="adj2" fmla="val 15081"/>
              <a:gd name="adj3" fmla="val 2367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5" name="矩形 554">
            <a:extLst>
              <a:ext uri="{FF2B5EF4-FFF2-40B4-BE49-F238E27FC236}">
                <a16:creationId xmlns:a16="http://schemas.microsoft.com/office/drawing/2014/main" id="{F9F4E559-EF99-EBD2-A9BB-B85C97FBFC3E}"/>
              </a:ext>
            </a:extLst>
          </p:cNvPr>
          <p:cNvSpPr/>
          <p:nvPr/>
        </p:nvSpPr>
        <p:spPr>
          <a:xfrm>
            <a:off x="7940008" y="2594535"/>
            <a:ext cx="690425" cy="575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8556DB2A-129B-76A8-408C-A98011E50F85}"/>
                  </a:ext>
                </a:extLst>
              </p:cNvPr>
              <p:cNvSpPr txBox="1"/>
              <p:nvPr/>
            </p:nvSpPr>
            <p:spPr>
              <a:xfrm>
                <a:off x="7752000" y="2579316"/>
                <a:ext cx="109130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Repeat</a:t>
                </a:r>
              </a:p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for all</a:t>
                </a:r>
              </a:p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16 coefficients</a:t>
                </a:r>
              </a:p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+15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)</a:t>
                </a:r>
                <a:endParaRPr kumimoji="1" lang="zh-CN" altLang="en-US" sz="800" b="1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8556DB2A-129B-76A8-408C-A98011E50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000" y="2579316"/>
                <a:ext cx="1091301" cy="584775"/>
              </a:xfrm>
              <a:prstGeom prst="rect">
                <a:avLst/>
              </a:prstGeom>
              <a:blipFill>
                <a:blip r:embed="rId2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6" name="文本框 555">
            <a:extLst>
              <a:ext uri="{FF2B5EF4-FFF2-40B4-BE49-F238E27FC236}">
                <a16:creationId xmlns:a16="http://schemas.microsoft.com/office/drawing/2014/main" id="{A8128B7E-5DB9-6D7C-C426-BEEB48205CBC}"/>
              </a:ext>
            </a:extLst>
          </p:cNvPr>
          <p:cNvSpPr txBox="1"/>
          <p:nvPr/>
        </p:nvSpPr>
        <p:spPr>
          <a:xfrm>
            <a:off x="8777947" y="1859934"/>
            <a:ext cx="32775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b="1" dirty="0">
                <a:latin typeface="Helvetica" pitchFamily="2" charset="0"/>
              </a:rPr>
              <a:t>Each lane accumulates one bit position across all coefficients</a:t>
            </a:r>
            <a:r>
              <a:rPr kumimoji="1" lang="en-US" altLang="zh-CN" sz="800" b="1" dirty="0">
                <a:latin typeface="Helvetica" pitchFamily="2" charset="0"/>
              </a:rPr>
              <a:t>.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557" name="矩形 556">
            <a:extLst>
              <a:ext uri="{FF2B5EF4-FFF2-40B4-BE49-F238E27FC236}">
                <a16:creationId xmlns:a16="http://schemas.microsoft.com/office/drawing/2014/main" id="{701F3734-0B24-52D3-7097-B3C7114BC274}"/>
              </a:ext>
            </a:extLst>
          </p:cNvPr>
          <p:cNvSpPr/>
          <p:nvPr/>
        </p:nvSpPr>
        <p:spPr>
          <a:xfrm>
            <a:off x="9110651" y="2188120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23076FF4-DCBF-13A8-54A9-B069FEC95062}"/>
              </a:ext>
            </a:extLst>
          </p:cNvPr>
          <p:cNvSpPr/>
          <p:nvPr/>
        </p:nvSpPr>
        <p:spPr>
          <a:xfrm>
            <a:off x="10779474" y="2190932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9" name="矩形 558">
                <a:extLst>
                  <a:ext uri="{FF2B5EF4-FFF2-40B4-BE49-F238E27FC236}">
                    <a16:creationId xmlns:a16="http://schemas.microsoft.com/office/drawing/2014/main" id="{DCF6E374-2CED-B147-64A1-D4FD1E46307E}"/>
                  </a:ext>
                </a:extLst>
              </p:cNvPr>
              <p:cNvSpPr/>
              <p:nvPr/>
            </p:nvSpPr>
            <p:spPr>
              <a:xfrm>
                <a:off x="11192814" y="2190932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59" name="矩形 558">
                <a:extLst>
                  <a:ext uri="{FF2B5EF4-FFF2-40B4-BE49-F238E27FC236}">
                    <a16:creationId xmlns:a16="http://schemas.microsoft.com/office/drawing/2014/main" id="{DCF6E374-2CED-B147-64A1-D4FD1E4630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814" y="2190932"/>
                <a:ext cx="559041" cy="180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0" name="矩形 559">
                <a:extLst>
                  <a:ext uri="{FF2B5EF4-FFF2-40B4-BE49-F238E27FC236}">
                    <a16:creationId xmlns:a16="http://schemas.microsoft.com/office/drawing/2014/main" id="{22509D76-BC08-BD8A-79AE-A71B8CE8968A}"/>
                  </a:ext>
                </a:extLst>
              </p:cNvPr>
              <p:cNvSpPr/>
              <p:nvPr/>
            </p:nvSpPr>
            <p:spPr>
              <a:xfrm>
                <a:off x="10220433" y="2190932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0" name="矩形 559">
                <a:extLst>
                  <a:ext uri="{FF2B5EF4-FFF2-40B4-BE49-F238E27FC236}">
                    <a16:creationId xmlns:a16="http://schemas.microsoft.com/office/drawing/2014/main" id="{22509D76-BC08-BD8A-79AE-A71B8CE896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433" y="2190932"/>
                <a:ext cx="559041" cy="180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4" name="矩形 563">
                <a:extLst>
                  <a:ext uri="{FF2B5EF4-FFF2-40B4-BE49-F238E27FC236}">
                    <a16:creationId xmlns:a16="http://schemas.microsoft.com/office/drawing/2014/main" id="{DF72A89E-BAE2-E734-90EA-A8346047C39E}"/>
                  </a:ext>
                </a:extLst>
              </p:cNvPr>
              <p:cNvSpPr/>
              <p:nvPr/>
            </p:nvSpPr>
            <p:spPr>
              <a:xfrm>
                <a:off x="9660412" y="2191664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4" name="矩形 563">
                <a:extLst>
                  <a:ext uri="{FF2B5EF4-FFF2-40B4-BE49-F238E27FC236}">
                    <a16:creationId xmlns:a16="http://schemas.microsoft.com/office/drawing/2014/main" id="{DF72A89E-BAE2-E734-90EA-A8346047C3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12" y="2191664"/>
                <a:ext cx="559041" cy="180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5" name="矩形 564">
            <a:extLst>
              <a:ext uri="{FF2B5EF4-FFF2-40B4-BE49-F238E27FC236}">
                <a16:creationId xmlns:a16="http://schemas.microsoft.com/office/drawing/2014/main" id="{C7C67FAF-54FE-4A2C-8986-1CC4E1EECAFA}"/>
              </a:ext>
            </a:extLst>
          </p:cNvPr>
          <p:cNvSpPr/>
          <p:nvPr/>
        </p:nvSpPr>
        <p:spPr>
          <a:xfrm>
            <a:off x="10779474" y="2455970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E1DC504E-0D75-D796-92FC-8BFA504E2928}"/>
                  </a:ext>
                </a:extLst>
              </p:cNvPr>
              <p:cNvSpPr/>
              <p:nvPr/>
            </p:nvSpPr>
            <p:spPr>
              <a:xfrm>
                <a:off x="11192814" y="24559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E1DC504E-0D75-D796-92FC-8BFA504E29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814" y="2455970"/>
                <a:ext cx="559041" cy="1800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7" name="矩形 566">
                <a:extLst>
                  <a:ext uri="{FF2B5EF4-FFF2-40B4-BE49-F238E27FC236}">
                    <a16:creationId xmlns:a16="http://schemas.microsoft.com/office/drawing/2014/main" id="{DA806C37-1CA6-1CA5-A30F-C682FF3E9386}"/>
                  </a:ext>
                </a:extLst>
              </p:cNvPr>
              <p:cNvSpPr/>
              <p:nvPr/>
            </p:nvSpPr>
            <p:spPr>
              <a:xfrm>
                <a:off x="10220433" y="24559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7" name="矩形 566">
                <a:extLst>
                  <a:ext uri="{FF2B5EF4-FFF2-40B4-BE49-F238E27FC236}">
                    <a16:creationId xmlns:a16="http://schemas.microsoft.com/office/drawing/2014/main" id="{DA806C37-1CA6-1CA5-A30F-C682FF3E9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433" y="2455970"/>
                <a:ext cx="559041" cy="1800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8" name="矩形 567">
                <a:extLst>
                  <a:ext uri="{FF2B5EF4-FFF2-40B4-BE49-F238E27FC236}">
                    <a16:creationId xmlns:a16="http://schemas.microsoft.com/office/drawing/2014/main" id="{2CE74BC1-16CD-7126-8A5F-EA3631D601DC}"/>
                  </a:ext>
                </a:extLst>
              </p:cNvPr>
              <p:cNvSpPr/>
              <p:nvPr/>
            </p:nvSpPr>
            <p:spPr>
              <a:xfrm>
                <a:off x="9660412" y="24565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8" name="矩形 567">
                <a:extLst>
                  <a:ext uri="{FF2B5EF4-FFF2-40B4-BE49-F238E27FC236}">
                    <a16:creationId xmlns:a16="http://schemas.microsoft.com/office/drawing/2014/main" id="{2CE74BC1-16CD-7126-8A5F-EA3631D601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12" y="2456570"/>
                <a:ext cx="559041" cy="1800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9" name="矩形 568">
            <a:extLst>
              <a:ext uri="{FF2B5EF4-FFF2-40B4-BE49-F238E27FC236}">
                <a16:creationId xmlns:a16="http://schemas.microsoft.com/office/drawing/2014/main" id="{BCF8DB39-CA5B-483C-C3EC-5C57CABCD186}"/>
              </a:ext>
            </a:extLst>
          </p:cNvPr>
          <p:cNvSpPr/>
          <p:nvPr/>
        </p:nvSpPr>
        <p:spPr>
          <a:xfrm>
            <a:off x="10779474" y="2889738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0" name="矩形 569">
                <a:extLst>
                  <a:ext uri="{FF2B5EF4-FFF2-40B4-BE49-F238E27FC236}">
                    <a16:creationId xmlns:a16="http://schemas.microsoft.com/office/drawing/2014/main" id="{9A33E407-AADE-F0B7-2FAF-171652C16D00}"/>
                  </a:ext>
                </a:extLst>
              </p:cNvPr>
              <p:cNvSpPr/>
              <p:nvPr/>
            </p:nvSpPr>
            <p:spPr>
              <a:xfrm>
                <a:off x="11192814" y="2889738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70" name="矩形 569">
                <a:extLst>
                  <a:ext uri="{FF2B5EF4-FFF2-40B4-BE49-F238E27FC236}">
                    <a16:creationId xmlns:a16="http://schemas.microsoft.com/office/drawing/2014/main" id="{9A33E407-AADE-F0B7-2FAF-171652C16D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814" y="2889738"/>
                <a:ext cx="559041" cy="1800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1" name="矩形 570">
                <a:extLst>
                  <a:ext uri="{FF2B5EF4-FFF2-40B4-BE49-F238E27FC236}">
                    <a16:creationId xmlns:a16="http://schemas.microsoft.com/office/drawing/2014/main" id="{2FD11887-7A30-517D-6053-23092E1202F2}"/>
                  </a:ext>
                </a:extLst>
              </p:cNvPr>
              <p:cNvSpPr/>
              <p:nvPr/>
            </p:nvSpPr>
            <p:spPr>
              <a:xfrm>
                <a:off x="10220433" y="2889738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71" name="矩形 570">
                <a:extLst>
                  <a:ext uri="{FF2B5EF4-FFF2-40B4-BE49-F238E27FC236}">
                    <a16:creationId xmlns:a16="http://schemas.microsoft.com/office/drawing/2014/main" id="{2FD11887-7A30-517D-6053-23092E1202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433" y="2889738"/>
                <a:ext cx="559041" cy="18000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2" name="矩形 571">
                <a:extLst>
                  <a:ext uri="{FF2B5EF4-FFF2-40B4-BE49-F238E27FC236}">
                    <a16:creationId xmlns:a16="http://schemas.microsoft.com/office/drawing/2014/main" id="{AF2609F9-2F42-C092-BE5E-DAB29A9AA680}"/>
                  </a:ext>
                </a:extLst>
              </p:cNvPr>
              <p:cNvSpPr/>
              <p:nvPr/>
            </p:nvSpPr>
            <p:spPr>
              <a:xfrm>
                <a:off x="9660412" y="28904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72" name="矩形 571">
                <a:extLst>
                  <a:ext uri="{FF2B5EF4-FFF2-40B4-BE49-F238E27FC236}">
                    <a16:creationId xmlns:a16="http://schemas.microsoft.com/office/drawing/2014/main" id="{AF2609F9-2F42-C092-BE5E-DAB29A9AA6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12" y="2890470"/>
                <a:ext cx="559041" cy="18000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7" name="矩形 576">
            <a:extLst>
              <a:ext uri="{FF2B5EF4-FFF2-40B4-BE49-F238E27FC236}">
                <a16:creationId xmlns:a16="http://schemas.microsoft.com/office/drawing/2014/main" id="{F3896C86-F8EA-4AE3-FA7A-DDA39BE3B8FB}"/>
              </a:ext>
            </a:extLst>
          </p:cNvPr>
          <p:cNvSpPr/>
          <p:nvPr/>
        </p:nvSpPr>
        <p:spPr>
          <a:xfrm>
            <a:off x="9110651" y="2459587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8" name="矩形 577">
            <a:extLst>
              <a:ext uri="{FF2B5EF4-FFF2-40B4-BE49-F238E27FC236}">
                <a16:creationId xmlns:a16="http://schemas.microsoft.com/office/drawing/2014/main" id="{716B4A68-9E0D-78B6-2407-055159BC38B5}"/>
              </a:ext>
            </a:extLst>
          </p:cNvPr>
          <p:cNvSpPr/>
          <p:nvPr/>
        </p:nvSpPr>
        <p:spPr>
          <a:xfrm>
            <a:off x="9110651" y="2897567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0" name="文本框 579">
            <a:extLst>
              <a:ext uri="{FF2B5EF4-FFF2-40B4-BE49-F238E27FC236}">
                <a16:creationId xmlns:a16="http://schemas.microsoft.com/office/drawing/2014/main" id="{A5415A02-A278-AE44-4CC5-12392CDB06AA}"/>
              </a:ext>
            </a:extLst>
          </p:cNvPr>
          <p:cNvSpPr txBox="1"/>
          <p:nvPr/>
        </p:nvSpPr>
        <p:spPr>
          <a:xfrm>
            <a:off x="8958237" y="2586436"/>
            <a:ext cx="47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</a:rPr>
              <a:t>…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581" name="文本框 580">
            <a:extLst>
              <a:ext uri="{FF2B5EF4-FFF2-40B4-BE49-F238E27FC236}">
                <a16:creationId xmlns:a16="http://schemas.microsoft.com/office/drawing/2014/main" id="{44022BB5-E058-ABED-89B4-B0C9ED6A89E4}"/>
              </a:ext>
            </a:extLst>
          </p:cNvPr>
          <p:cNvSpPr txBox="1"/>
          <p:nvPr/>
        </p:nvSpPr>
        <p:spPr>
          <a:xfrm>
            <a:off x="10542293" y="2585974"/>
            <a:ext cx="47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</a:rPr>
              <a:t>…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" name="文本框 582">
                <a:extLst>
                  <a:ext uri="{FF2B5EF4-FFF2-40B4-BE49-F238E27FC236}">
                    <a16:creationId xmlns:a16="http://schemas.microsoft.com/office/drawing/2014/main" id="{9E2348AF-9D7E-8DE7-F2F2-2A12F7D8066A}"/>
                  </a:ext>
                </a:extLst>
              </p:cNvPr>
              <p:cNvSpPr txBox="1"/>
              <p:nvPr/>
            </p:nvSpPr>
            <p:spPr>
              <a:xfrm>
                <a:off x="8858800" y="2146041"/>
                <a:ext cx="2785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583" name="文本框 582">
                <a:extLst>
                  <a:ext uri="{FF2B5EF4-FFF2-40B4-BE49-F238E27FC236}">
                    <a16:creationId xmlns:a16="http://schemas.microsoft.com/office/drawing/2014/main" id="{9E2348AF-9D7E-8DE7-F2F2-2A12F7D80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800" y="2146041"/>
                <a:ext cx="278538" cy="2154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6" name="文本框 585">
                <a:extLst>
                  <a:ext uri="{FF2B5EF4-FFF2-40B4-BE49-F238E27FC236}">
                    <a16:creationId xmlns:a16="http://schemas.microsoft.com/office/drawing/2014/main" id="{81EE8969-9001-7877-63B3-75594397C9B0}"/>
                  </a:ext>
                </a:extLst>
              </p:cNvPr>
              <p:cNvSpPr txBox="1"/>
              <p:nvPr/>
            </p:nvSpPr>
            <p:spPr>
              <a:xfrm>
                <a:off x="8799507" y="2404389"/>
                <a:ext cx="2785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586" name="文本框 585">
                <a:extLst>
                  <a:ext uri="{FF2B5EF4-FFF2-40B4-BE49-F238E27FC236}">
                    <a16:creationId xmlns:a16="http://schemas.microsoft.com/office/drawing/2014/main" id="{81EE8969-9001-7877-63B3-75594397C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507" y="2404389"/>
                <a:ext cx="278538" cy="215444"/>
              </a:xfrm>
              <a:prstGeom prst="rect">
                <a:avLst/>
              </a:prstGeom>
              <a:blipFill>
                <a:blip r:embed="rId34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7" name="文本框 586">
                <a:extLst>
                  <a:ext uri="{FF2B5EF4-FFF2-40B4-BE49-F238E27FC236}">
                    <a16:creationId xmlns:a16="http://schemas.microsoft.com/office/drawing/2014/main" id="{D80952C0-E9C5-FA06-AE09-EA3DEBFB69AF}"/>
                  </a:ext>
                </a:extLst>
              </p:cNvPr>
              <p:cNvSpPr txBox="1"/>
              <p:nvPr/>
            </p:nvSpPr>
            <p:spPr>
              <a:xfrm>
                <a:off x="8744018" y="2848046"/>
                <a:ext cx="2785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+15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587" name="文本框 586">
                <a:extLst>
                  <a:ext uri="{FF2B5EF4-FFF2-40B4-BE49-F238E27FC236}">
                    <a16:creationId xmlns:a16="http://schemas.microsoft.com/office/drawing/2014/main" id="{D80952C0-E9C5-FA06-AE09-EA3DEBFB6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4018" y="2848046"/>
                <a:ext cx="278538" cy="215444"/>
              </a:xfrm>
              <a:prstGeom prst="rect">
                <a:avLst/>
              </a:prstGeom>
              <a:blipFill>
                <a:blip r:embed="rId35"/>
                <a:stretch>
                  <a:fillRect r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8" name="右箭头 587">
            <a:extLst>
              <a:ext uri="{FF2B5EF4-FFF2-40B4-BE49-F238E27FC236}">
                <a16:creationId xmlns:a16="http://schemas.microsoft.com/office/drawing/2014/main" id="{C99B6F2E-2509-61E2-0FBB-4F735C7235C5}"/>
              </a:ext>
            </a:extLst>
          </p:cNvPr>
          <p:cNvSpPr/>
          <p:nvPr/>
        </p:nvSpPr>
        <p:spPr>
          <a:xfrm>
            <a:off x="9353320" y="2247858"/>
            <a:ext cx="268689" cy="741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9" name="右箭头 588">
            <a:extLst>
              <a:ext uri="{FF2B5EF4-FFF2-40B4-BE49-F238E27FC236}">
                <a16:creationId xmlns:a16="http://schemas.microsoft.com/office/drawing/2014/main" id="{5A88691B-ABCB-4883-A057-EE9497DD3AB0}"/>
              </a:ext>
            </a:extLst>
          </p:cNvPr>
          <p:cNvSpPr/>
          <p:nvPr/>
        </p:nvSpPr>
        <p:spPr>
          <a:xfrm>
            <a:off x="9353320" y="2506485"/>
            <a:ext cx="268689" cy="741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0" name="右箭头 589">
            <a:extLst>
              <a:ext uri="{FF2B5EF4-FFF2-40B4-BE49-F238E27FC236}">
                <a16:creationId xmlns:a16="http://schemas.microsoft.com/office/drawing/2014/main" id="{8DB273F8-FC03-F7D3-2A1C-0F6E6AA97CB5}"/>
              </a:ext>
            </a:extLst>
          </p:cNvPr>
          <p:cNvSpPr/>
          <p:nvPr/>
        </p:nvSpPr>
        <p:spPr>
          <a:xfrm>
            <a:off x="9348573" y="2955768"/>
            <a:ext cx="268689" cy="741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1" name="圆角矩形 590">
            <a:extLst>
              <a:ext uri="{FF2B5EF4-FFF2-40B4-BE49-F238E27FC236}">
                <a16:creationId xmlns:a16="http://schemas.microsoft.com/office/drawing/2014/main" id="{099DA645-A061-AC01-E66E-B7AC0D5987EA}"/>
              </a:ext>
            </a:extLst>
          </p:cNvPr>
          <p:cNvSpPr/>
          <p:nvPr/>
        </p:nvSpPr>
        <p:spPr>
          <a:xfrm>
            <a:off x="9627675" y="2148483"/>
            <a:ext cx="620070" cy="979548"/>
          </a:xfrm>
          <a:prstGeom prst="round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2" name="圆角矩形 591">
            <a:extLst>
              <a:ext uri="{FF2B5EF4-FFF2-40B4-BE49-F238E27FC236}">
                <a16:creationId xmlns:a16="http://schemas.microsoft.com/office/drawing/2014/main" id="{1B2EA92C-54FA-9425-A9DB-6D65523E9D81}"/>
              </a:ext>
            </a:extLst>
          </p:cNvPr>
          <p:cNvSpPr/>
          <p:nvPr/>
        </p:nvSpPr>
        <p:spPr>
          <a:xfrm>
            <a:off x="11160752" y="2148483"/>
            <a:ext cx="620070" cy="979548"/>
          </a:xfrm>
          <a:prstGeom prst="round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3" name="矩形 592">
            <a:extLst>
              <a:ext uri="{FF2B5EF4-FFF2-40B4-BE49-F238E27FC236}">
                <a16:creationId xmlns:a16="http://schemas.microsoft.com/office/drawing/2014/main" id="{43ED36DD-A4CA-553F-6E16-7205CCF239D3}"/>
              </a:ext>
            </a:extLst>
          </p:cNvPr>
          <p:cNvSpPr/>
          <p:nvPr/>
        </p:nvSpPr>
        <p:spPr>
          <a:xfrm>
            <a:off x="10765305" y="3406724"/>
            <a:ext cx="414593" cy="180000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矩形 593">
                <a:extLst>
                  <a:ext uri="{FF2B5EF4-FFF2-40B4-BE49-F238E27FC236}">
                    <a16:creationId xmlns:a16="http://schemas.microsoft.com/office/drawing/2014/main" id="{6E109F68-6A8B-2717-A8CE-30BD69320884}"/>
                  </a:ext>
                </a:extLst>
              </p:cNvPr>
              <p:cNvSpPr/>
              <p:nvPr/>
            </p:nvSpPr>
            <p:spPr>
              <a:xfrm>
                <a:off x="11178645" y="3406724"/>
                <a:ext cx="559041" cy="180000"/>
              </a:xfrm>
              <a:prstGeom prst="rect">
                <a:avLst/>
              </a:prstGeom>
              <a:solidFill>
                <a:srgbClr val="FFA1A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94" name="矩形 593">
                <a:extLst>
                  <a:ext uri="{FF2B5EF4-FFF2-40B4-BE49-F238E27FC236}">
                    <a16:creationId xmlns:a16="http://schemas.microsoft.com/office/drawing/2014/main" id="{6E109F68-6A8B-2717-A8CE-30BD69320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645" y="3406724"/>
                <a:ext cx="559041" cy="18000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5" name="矩形 594">
                <a:extLst>
                  <a:ext uri="{FF2B5EF4-FFF2-40B4-BE49-F238E27FC236}">
                    <a16:creationId xmlns:a16="http://schemas.microsoft.com/office/drawing/2014/main" id="{EFDFAF8F-1480-9395-F628-13EFF84775C1}"/>
                  </a:ext>
                </a:extLst>
              </p:cNvPr>
              <p:cNvSpPr/>
              <p:nvPr/>
            </p:nvSpPr>
            <p:spPr>
              <a:xfrm>
                <a:off x="10206264" y="3406724"/>
                <a:ext cx="559041" cy="180000"/>
              </a:xfrm>
              <a:prstGeom prst="rect">
                <a:avLst/>
              </a:prstGeom>
              <a:solidFill>
                <a:srgbClr val="FFA1A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95" name="矩形 594">
                <a:extLst>
                  <a:ext uri="{FF2B5EF4-FFF2-40B4-BE49-F238E27FC236}">
                    <a16:creationId xmlns:a16="http://schemas.microsoft.com/office/drawing/2014/main" id="{EFDFAF8F-1480-9395-F628-13EFF8477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264" y="3406724"/>
                <a:ext cx="559041" cy="18000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6" name="矩形 595">
                <a:extLst>
                  <a:ext uri="{FF2B5EF4-FFF2-40B4-BE49-F238E27FC236}">
                    <a16:creationId xmlns:a16="http://schemas.microsoft.com/office/drawing/2014/main" id="{BB498214-F426-8825-CC8E-6C0D41F2F300}"/>
                  </a:ext>
                </a:extLst>
              </p:cNvPr>
              <p:cNvSpPr/>
              <p:nvPr/>
            </p:nvSpPr>
            <p:spPr>
              <a:xfrm>
                <a:off x="9646243" y="3407456"/>
                <a:ext cx="559041" cy="180000"/>
              </a:xfrm>
              <a:prstGeom prst="rect">
                <a:avLst/>
              </a:prstGeom>
              <a:solidFill>
                <a:srgbClr val="FFA1A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96" name="矩形 595">
                <a:extLst>
                  <a:ext uri="{FF2B5EF4-FFF2-40B4-BE49-F238E27FC236}">
                    <a16:creationId xmlns:a16="http://schemas.microsoft.com/office/drawing/2014/main" id="{BB498214-F426-8825-CC8E-6C0D41F2F3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243" y="3407456"/>
                <a:ext cx="559041" cy="18000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7" name="下箭头 596">
            <a:extLst>
              <a:ext uri="{FF2B5EF4-FFF2-40B4-BE49-F238E27FC236}">
                <a16:creationId xmlns:a16="http://schemas.microsoft.com/office/drawing/2014/main" id="{4225B561-8DB2-2E56-8B6B-8D9E86C3FFA9}"/>
              </a:ext>
            </a:extLst>
          </p:cNvPr>
          <p:cNvSpPr/>
          <p:nvPr/>
        </p:nvSpPr>
        <p:spPr>
          <a:xfrm>
            <a:off x="9862797" y="3147263"/>
            <a:ext cx="112715" cy="24709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8" name="下箭头 597">
            <a:extLst>
              <a:ext uri="{FF2B5EF4-FFF2-40B4-BE49-F238E27FC236}">
                <a16:creationId xmlns:a16="http://schemas.microsoft.com/office/drawing/2014/main" id="{A68939C3-84C2-682D-F34A-FB43AF4E5DB6}"/>
              </a:ext>
            </a:extLst>
          </p:cNvPr>
          <p:cNvSpPr/>
          <p:nvPr/>
        </p:nvSpPr>
        <p:spPr>
          <a:xfrm>
            <a:off x="11403011" y="3147692"/>
            <a:ext cx="112715" cy="24709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9" name="文本框 598">
            <a:extLst>
              <a:ext uri="{FF2B5EF4-FFF2-40B4-BE49-F238E27FC236}">
                <a16:creationId xmlns:a16="http://schemas.microsoft.com/office/drawing/2014/main" id="{6AFEA845-BE57-21CA-491F-0372B144D779}"/>
              </a:ext>
            </a:extLst>
          </p:cNvPr>
          <p:cNvSpPr txBox="1"/>
          <p:nvPr/>
        </p:nvSpPr>
        <p:spPr>
          <a:xfrm>
            <a:off x="9502441" y="3596155"/>
            <a:ext cx="24201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16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maintain 16 plane masks</a:t>
            </a:r>
            <a:endParaRPr kumimoji="1" lang="zh-CN" altLang="en-US" sz="800" dirty="0">
              <a:latin typeface="Helvetica" pitchFamily="2" charset="0"/>
            </a:endParaRPr>
          </a:p>
        </p:txBody>
      </p:sp>
      <p:graphicFrame>
        <p:nvGraphicFramePr>
          <p:cNvPr id="601" name="表格 600">
            <a:extLst>
              <a:ext uri="{FF2B5EF4-FFF2-40B4-BE49-F238E27FC236}">
                <a16:creationId xmlns:a16="http://schemas.microsoft.com/office/drawing/2014/main" id="{3CED3157-A2EC-8997-6786-48A427925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21398"/>
              </p:ext>
            </p:extLst>
          </p:nvPr>
        </p:nvGraphicFramePr>
        <p:xfrm>
          <a:off x="8330245" y="6858184"/>
          <a:ext cx="4079763" cy="1569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2819">
                  <a:extLst>
                    <a:ext uri="{9D8B030D-6E8A-4147-A177-3AD203B41FA5}">
                      <a16:colId xmlns:a16="http://schemas.microsoft.com/office/drawing/2014/main" val="31566043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976067125"/>
                    </a:ext>
                  </a:extLst>
                </a:gridCol>
                <a:gridCol w="1792644">
                  <a:extLst>
                    <a:ext uri="{9D8B030D-6E8A-4147-A177-3AD203B41FA5}">
                      <a16:colId xmlns:a16="http://schemas.microsoft.com/office/drawing/2014/main" val="1274573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1" dirty="0">
                          <a:latin typeface="Helvetica" pitchFamily="2" charset="0"/>
                        </a:rPr>
                        <a:t>Architecture</a:t>
                      </a:r>
                    </a:p>
                    <a:p>
                      <a:pPr algn="ctr"/>
                      <a:r>
                        <a:rPr lang="en-US" altLang="zh-CN" sz="800" dirty="0">
                          <a:latin typeface="Helvetica" pitchFamily="2" charset="0"/>
                        </a:rPr>
                        <a:t>(SIMD width)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Helvetica" pitchFamily="2" charset="0"/>
                        </a:rPr>
                        <a:t>Fine-Grained</a:t>
                      </a:r>
                    </a:p>
                    <a:p>
                      <a:pPr algn="ctr"/>
                      <a:r>
                        <a:rPr lang="en-US" altLang="zh-CN" sz="800" dirty="0">
                          <a:latin typeface="Helvetica" pitchFamily="2" charset="0"/>
                        </a:rPr>
                        <a:t>(Single / Paired)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Helvetica" pitchFamily="2" charset="0"/>
                        </a:rPr>
                        <a:t>Multi-Plane</a:t>
                      </a: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860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Helvetica" pitchFamily="2" charset="0"/>
                        </a:rPr>
                        <a:t>Sunway</a:t>
                      </a:r>
                    </a:p>
                    <a:p>
                      <a:pPr algn="ctr"/>
                      <a:r>
                        <a:rPr lang="en-US" altLang="zh-CN" sz="800" dirty="0">
                          <a:latin typeface="Helvetica" pitchFamily="2" charset="0"/>
                        </a:rPr>
                        <a:t>(16</a:t>
                      </a:r>
                      <a:r>
                        <a:rPr lang="zh-CN" altLang="zh-CN" sz="800" dirty="0">
                          <a:latin typeface="Helvetica" pitchFamily="2" charset="0"/>
                        </a:rPr>
                        <a:t>×</a:t>
                      </a:r>
                      <a:r>
                        <a:rPr lang="en-US" altLang="zh-CN" sz="800" dirty="0">
                          <a:latin typeface="Helvetica" pitchFamily="2" charset="0"/>
                        </a:rPr>
                        <a:t>32-bit)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itchFamily="2" charset="2"/>
                        <a:buChar char="l"/>
                      </a:pPr>
                      <a:r>
                        <a:rPr lang="en-US" altLang="zh-CN" sz="800" dirty="0">
                          <a:latin typeface="Helvetica" pitchFamily="2" charset="0"/>
                        </a:rPr>
                        <a:t>Explicit shuffle and OR reduction.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l"/>
                      </a:pPr>
                      <a:r>
                        <a:rPr lang="en-US" altLang="zh-CN" sz="800" dirty="0">
                          <a:latin typeface="Helvetica" pitchFamily="2" charset="0"/>
                        </a:rPr>
                        <a:t>Broadcast and shift</a:t>
                      </a:r>
                    </a:p>
                    <a:p>
                      <a:pPr marL="171450" indent="-171450">
                        <a:buFont typeface="Wingdings" pitchFamily="2" charset="2"/>
                        <a:buChar char="l"/>
                      </a:pPr>
                      <a:r>
                        <a:rPr lang="en-US" altLang="zh-CN" sz="800" dirty="0">
                          <a:latin typeface="Helvetica" pitchFamily="2" charset="0"/>
                        </a:rPr>
                        <a:t>Accumulate 16 plane masks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813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Helvetica" pitchFamily="2" charset="0"/>
                        </a:rPr>
                        <a:t>x86</a:t>
                      </a:r>
                      <a:br>
                        <a:rPr lang="en-US" altLang="zh-CN" sz="1000" dirty="0">
                          <a:latin typeface="Helvetica" pitchFamily="2" charset="0"/>
                        </a:rPr>
                      </a:br>
                      <a:r>
                        <a:rPr lang="en-US" altLang="zh-CN" sz="800" dirty="0">
                          <a:latin typeface="Helvetica" pitchFamily="2" charset="0"/>
                        </a:rPr>
                        <a:t>(AVX-512)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itchFamily="2" charset="2"/>
                        <a:buChar char="l"/>
                      </a:pPr>
                      <a:r>
                        <a:rPr lang="zh-CN" altLang="zh-CN" sz="800" dirty="0">
                          <a:latin typeface="Helvetica" pitchFamily="2" charset="0"/>
                        </a:rPr>
                        <a:t>Mask-native extraction (mmask)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l"/>
                      </a:pPr>
                      <a:r>
                        <a:rPr lang="zh-CN" altLang="zh-CN" sz="8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Shift-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and-</a:t>
                      </a:r>
                      <a:r>
                        <a:rPr lang="zh-CN" altLang="zh-CN" sz="8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mask or</a:t>
                      </a: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BITALG permute/transpose</a:t>
                      </a:r>
                    </a:p>
                    <a:p>
                      <a:pPr marL="171450" indent="-171450">
                        <a:buFont typeface="Wingdings" pitchFamily="2" charset="2"/>
                        <a:buChar char="l"/>
                      </a:pPr>
                      <a:r>
                        <a:rPr lang="en-US" altLang="zh-CN" sz="8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Generate multiple plane masks</a:t>
                      </a:r>
                      <a:endParaRPr lang="zh-CN" altLang="en-US" sz="8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835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>
                          <a:latin typeface="Helvetica" pitchFamily="2" charset="0"/>
                        </a:rPr>
                        <a:t>Arm</a:t>
                      </a:r>
                    </a:p>
                    <a:p>
                      <a:pPr algn="ctr"/>
                      <a:r>
                        <a:rPr lang="en-US" altLang="zh-CN" sz="800" dirty="0">
                          <a:latin typeface="Helvetica" pitchFamily="2" charset="0"/>
                        </a:rPr>
                        <a:t>(SVE / SVE2)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itchFamily="2" charset="2"/>
                        <a:buChar char="l"/>
                      </a:pPr>
                      <a:r>
                        <a:rPr lang="zh-CN" altLang="zh-CN" sz="800" dirty="0">
                          <a:latin typeface="Helvetica" pitchFamily="2" charset="0"/>
                        </a:rPr>
                        <a:t>SVE paired-plane / BEXT assist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itchFamily="2" charset="2"/>
                        <a:buChar char="l"/>
                      </a:pPr>
                      <a:r>
                        <a:rPr lang="en-US" altLang="zh-CN" sz="800" dirty="0">
                          <a:latin typeface="Helvetica" pitchFamily="2" charset="0"/>
                        </a:rPr>
                        <a:t>BEXT and 16</a:t>
                      </a:r>
                      <a:r>
                        <a:rPr lang="zh-CN" altLang="zh-CN" sz="800" dirty="0"/>
                        <a:t>×</a:t>
                      </a:r>
                      <a:r>
                        <a:rPr lang="en-US" altLang="zh-CN" sz="800" dirty="0">
                          <a:latin typeface="Helvetica" pitchFamily="2" charset="0"/>
                        </a:rPr>
                        <a:t>16 bit transpose</a:t>
                      </a:r>
                    </a:p>
                    <a:p>
                      <a:pPr marL="171450" indent="-171450">
                        <a:buFont typeface="Wingdings" pitchFamily="2" charset="2"/>
                        <a:buChar char="l"/>
                      </a:pPr>
                      <a:r>
                        <a:rPr lang="en-US" altLang="zh-CN" sz="800" dirty="0">
                          <a:latin typeface="Helvetica" pitchFamily="2" charset="0"/>
                        </a:rPr>
                        <a:t>Generate multiple plane masks</a:t>
                      </a:r>
                      <a:endParaRPr lang="zh-CN" altLang="en-US" sz="800" dirty="0">
                        <a:latin typeface="Helvetica" pitchFamily="2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1928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02" name="文本框 601">
                <a:extLst>
                  <a:ext uri="{FF2B5EF4-FFF2-40B4-BE49-F238E27FC236}">
                    <a16:creationId xmlns:a16="http://schemas.microsoft.com/office/drawing/2014/main" id="{48573AA8-7F23-1E64-3F3C-9379BE69DD87}"/>
                  </a:ext>
                </a:extLst>
              </p:cNvPr>
              <p:cNvSpPr txBox="1"/>
              <p:nvPr/>
            </p:nvSpPr>
            <p:spPr>
              <a:xfrm>
                <a:off x="9720622" y="119360"/>
                <a:ext cx="2466263" cy="606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  : </a:t>
                </a:r>
                <a:r>
                  <a:rPr kumimoji="1" lang="en-US" altLang="zh-CN" sz="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800" b="1" dirty="0" err="1">
                    <a:latin typeface="Helvetica" pitchFamily="2" charset="0"/>
                  </a:rPr>
                  <a:t>-th</a:t>
                </a:r>
                <a:r>
                  <a:rPr kumimoji="1" lang="en-US" altLang="zh-CN" sz="800" b="1" dirty="0">
                    <a:latin typeface="Helvetica" pitchFamily="2" charset="0"/>
                  </a:rPr>
                  <a:t> transformed coefficient in a ZFP block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: </a:t>
                </a:r>
                <a:r>
                  <a:rPr kumimoji="1" lang="en-US" altLang="zh-CN" sz="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CN" sz="800" b="1" dirty="0">
                    <a:latin typeface="Helvetica" pitchFamily="2" charset="0"/>
                  </a:rPr>
                  <a:t>-</a:t>
                </a:r>
                <a:r>
                  <a:rPr kumimoji="1" lang="en-US" altLang="zh-CN" sz="800" b="1" dirty="0" err="1">
                    <a:latin typeface="Helvetica" pitchFamily="2" charset="0"/>
                  </a:rPr>
                  <a:t>th</a:t>
                </a:r>
                <a:r>
                  <a:rPr kumimoji="1" lang="en-US" altLang="zh-CN" sz="800" b="1" dirty="0">
                    <a:latin typeface="Helvetica" pitchFamily="2" charset="0"/>
                  </a:rPr>
                  <a:t> bit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(0 or 1)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kumimoji="1" lang="en-US" altLang="zh-CN" sz="8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: 16-bit mask formed by the </a:t>
                </a:r>
                <a:r>
                  <a:rPr kumimoji="1" lang="en-US" altLang="zh-CN" sz="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CN" sz="800" b="1" dirty="0">
                    <a:latin typeface="Helvetica" pitchFamily="2" charset="0"/>
                  </a:rPr>
                  <a:t>-</a:t>
                </a:r>
                <a:r>
                  <a:rPr kumimoji="1" lang="en-US" altLang="zh-CN" sz="800" b="1" dirty="0" err="1">
                    <a:latin typeface="Helvetica" pitchFamily="2" charset="0"/>
                  </a:rPr>
                  <a:t>th</a:t>
                </a:r>
                <a:r>
                  <a:rPr kumimoji="1" lang="en-US" altLang="zh-CN" sz="800" b="1" dirty="0">
                    <a:latin typeface="Helvetica" pitchFamily="2" charset="0"/>
                  </a:rPr>
                  <a:t> bits of 16</a:t>
                </a:r>
              </a:p>
              <a:p>
                <a:pPr/>
                <a:r>
                  <a:rPr kumimoji="1" lang="en-US" altLang="zh-CN" sz="800" b="1" dirty="0">
                    <a:latin typeface="Helvetica" pitchFamily="2" charset="0"/>
                  </a:rPr>
                  <a:t>        coefficients</a:t>
                </a:r>
              </a:p>
            </p:txBody>
          </p:sp>
        </mc:Choice>
        <mc:Fallback>
          <p:sp>
            <p:nvSpPr>
              <p:cNvPr id="602" name="文本框 601">
                <a:extLst>
                  <a:ext uri="{FF2B5EF4-FFF2-40B4-BE49-F238E27FC236}">
                    <a16:creationId xmlns:a16="http://schemas.microsoft.com/office/drawing/2014/main" id="{48573AA8-7F23-1E64-3F3C-9379BE69D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622" y="119360"/>
                <a:ext cx="2466263" cy="606961"/>
              </a:xfrm>
              <a:prstGeom prst="rect">
                <a:avLst/>
              </a:prstGeom>
              <a:blipFill>
                <a:blip r:embed="rId39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" name="圆角矩形 603">
            <a:extLst>
              <a:ext uri="{FF2B5EF4-FFF2-40B4-BE49-F238E27FC236}">
                <a16:creationId xmlns:a16="http://schemas.microsoft.com/office/drawing/2014/main" id="{2D09B3A5-2FC1-1D72-2730-E0807DCC6896}"/>
              </a:ext>
            </a:extLst>
          </p:cNvPr>
          <p:cNvSpPr/>
          <p:nvPr/>
        </p:nvSpPr>
        <p:spPr>
          <a:xfrm>
            <a:off x="73101" y="5972687"/>
            <a:ext cx="12046527" cy="3681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5" name="立方体 604">
            <a:extLst>
              <a:ext uri="{FF2B5EF4-FFF2-40B4-BE49-F238E27FC236}">
                <a16:creationId xmlns:a16="http://schemas.microsoft.com/office/drawing/2014/main" id="{9F2E6241-CE90-1532-1C4C-F877FFAF8FE7}"/>
              </a:ext>
            </a:extLst>
          </p:cNvPr>
          <p:cNvSpPr/>
          <p:nvPr/>
        </p:nvSpPr>
        <p:spPr>
          <a:xfrm>
            <a:off x="336223" y="6035651"/>
            <a:ext cx="221482" cy="221482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06" name="文本框 605">
            <a:extLst>
              <a:ext uri="{FF2B5EF4-FFF2-40B4-BE49-F238E27FC236}">
                <a16:creationId xmlns:a16="http://schemas.microsoft.com/office/drawing/2014/main" id="{9C07EB14-FE18-DE02-AB46-F7FABB5F377A}"/>
              </a:ext>
            </a:extLst>
          </p:cNvPr>
          <p:cNvSpPr txBox="1"/>
          <p:nvPr/>
        </p:nvSpPr>
        <p:spPr>
          <a:xfrm>
            <a:off x="542616" y="6035651"/>
            <a:ext cx="14229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ZFP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（</a:t>
            </a:r>
            <a:r>
              <a:rPr kumimoji="1" lang="en-US" altLang="zh-CN" sz="800" b="1" dirty="0">
                <a:latin typeface="Helvetica" pitchFamily="2" charset="0"/>
              </a:rPr>
              <a:t>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</a:t>
            </a:r>
            <a:r>
              <a:rPr kumimoji="1" lang="zh-CN" altLang="en-US" sz="800" b="1" dirty="0">
                <a:latin typeface="Helvetica" pitchFamily="2" charset="0"/>
              </a:rPr>
              <a:t>）</a:t>
            </a:r>
          </a:p>
        </p:txBody>
      </p:sp>
      <p:sp>
        <p:nvSpPr>
          <p:cNvPr id="607" name="矩形 606">
            <a:extLst>
              <a:ext uri="{FF2B5EF4-FFF2-40B4-BE49-F238E27FC236}">
                <a16:creationId xmlns:a16="http://schemas.microsoft.com/office/drawing/2014/main" id="{D6B52037-8AF4-1AFB-80D0-35C5A15B3C18}"/>
              </a:ext>
            </a:extLst>
          </p:cNvPr>
          <p:cNvSpPr/>
          <p:nvPr/>
        </p:nvSpPr>
        <p:spPr>
          <a:xfrm>
            <a:off x="2123226" y="6072971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08" name="文本框 607">
            <a:extLst>
              <a:ext uri="{FF2B5EF4-FFF2-40B4-BE49-F238E27FC236}">
                <a16:creationId xmlns:a16="http://schemas.microsoft.com/office/drawing/2014/main" id="{EB029999-187B-9118-B571-DB94C88536E4}"/>
              </a:ext>
            </a:extLst>
          </p:cNvPr>
          <p:cNvSpPr txBox="1"/>
          <p:nvPr/>
        </p:nvSpPr>
        <p:spPr>
          <a:xfrm>
            <a:off x="2236584" y="6035651"/>
            <a:ext cx="1035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Coefficient value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610" name="矩形 609">
            <a:extLst>
              <a:ext uri="{FF2B5EF4-FFF2-40B4-BE49-F238E27FC236}">
                <a16:creationId xmlns:a16="http://schemas.microsoft.com/office/drawing/2014/main" id="{2EA42A8D-1013-2051-F165-AACE26C303B9}"/>
              </a:ext>
            </a:extLst>
          </p:cNvPr>
          <p:cNvSpPr/>
          <p:nvPr/>
        </p:nvSpPr>
        <p:spPr>
          <a:xfrm>
            <a:off x="3513378" y="6071379"/>
            <a:ext cx="18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1" name="文本框 610">
            <a:extLst>
              <a:ext uri="{FF2B5EF4-FFF2-40B4-BE49-F238E27FC236}">
                <a16:creationId xmlns:a16="http://schemas.microsoft.com/office/drawing/2014/main" id="{A37A631B-0ECD-FCBA-79E4-3ACE057222E2}"/>
              </a:ext>
            </a:extLst>
          </p:cNvPr>
          <p:cNvSpPr txBox="1"/>
          <p:nvPr/>
        </p:nvSpPr>
        <p:spPr>
          <a:xfrm>
            <a:off x="3608274" y="6035651"/>
            <a:ext cx="859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SIMD lane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612" name="矩形 611">
            <a:extLst>
              <a:ext uri="{FF2B5EF4-FFF2-40B4-BE49-F238E27FC236}">
                <a16:creationId xmlns:a16="http://schemas.microsoft.com/office/drawing/2014/main" id="{16907E82-CAE1-73A7-9EE8-E53C2AEC3F3F}"/>
              </a:ext>
            </a:extLst>
          </p:cNvPr>
          <p:cNvSpPr/>
          <p:nvPr/>
        </p:nvSpPr>
        <p:spPr>
          <a:xfrm>
            <a:off x="4762894" y="6062295"/>
            <a:ext cx="190800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13" name="文本框 612">
            <a:extLst>
              <a:ext uri="{FF2B5EF4-FFF2-40B4-BE49-F238E27FC236}">
                <a16:creationId xmlns:a16="http://schemas.microsoft.com/office/drawing/2014/main" id="{70E33B6D-A483-4F7A-4BE5-F9FA7B00C835}"/>
              </a:ext>
            </a:extLst>
          </p:cNvPr>
          <p:cNvSpPr txBox="1"/>
          <p:nvPr/>
        </p:nvSpPr>
        <p:spPr>
          <a:xfrm>
            <a:off x="4834524" y="6035651"/>
            <a:ext cx="1850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Bit extraction / shift operation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615" name="矩形 614">
            <a:extLst>
              <a:ext uri="{FF2B5EF4-FFF2-40B4-BE49-F238E27FC236}">
                <a16:creationId xmlns:a16="http://schemas.microsoft.com/office/drawing/2014/main" id="{6F3FA0B3-EC71-5925-E2AD-BE49DCD87DBC}"/>
              </a:ext>
            </a:extLst>
          </p:cNvPr>
          <p:cNvSpPr/>
          <p:nvPr/>
        </p:nvSpPr>
        <p:spPr>
          <a:xfrm>
            <a:off x="6853408" y="6059515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3CA5DD66-CBEA-A73D-EEBF-AE718C297A54}"/>
              </a:ext>
            </a:extLst>
          </p:cNvPr>
          <p:cNvSpPr/>
          <p:nvPr/>
        </p:nvSpPr>
        <p:spPr>
          <a:xfrm>
            <a:off x="8051463" y="6052428"/>
            <a:ext cx="1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17" name="文本框 616">
            <a:extLst>
              <a:ext uri="{FF2B5EF4-FFF2-40B4-BE49-F238E27FC236}">
                <a16:creationId xmlns:a16="http://schemas.microsoft.com/office/drawing/2014/main" id="{6403FA34-FC60-E14D-839B-872A096D4F31}"/>
              </a:ext>
            </a:extLst>
          </p:cNvPr>
          <p:cNvSpPr txBox="1"/>
          <p:nvPr/>
        </p:nvSpPr>
        <p:spPr>
          <a:xfrm>
            <a:off x="6827849" y="6021127"/>
            <a:ext cx="11427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Bit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of plane 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800" b="1" dirty="0">
                <a:latin typeface="Helvetica" pitchFamily="2" charset="0"/>
              </a:rPr>
              <a:t> </a:t>
            </a:r>
          </a:p>
        </p:txBody>
      </p:sp>
      <p:sp>
        <p:nvSpPr>
          <p:cNvPr id="618" name="文本框 617">
            <a:extLst>
              <a:ext uri="{FF2B5EF4-FFF2-40B4-BE49-F238E27FC236}">
                <a16:creationId xmlns:a16="http://schemas.microsoft.com/office/drawing/2014/main" id="{5DB72B1E-C64B-3320-6C06-93847DD67F1C}"/>
              </a:ext>
            </a:extLst>
          </p:cNvPr>
          <p:cNvSpPr txBox="1"/>
          <p:nvPr/>
        </p:nvSpPr>
        <p:spPr>
          <a:xfrm>
            <a:off x="7971147" y="6028216"/>
            <a:ext cx="13154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Bit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of plane 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p+</a:t>
            </a:r>
            <a:r>
              <a:rPr kumimoji="1" lang="en-US" altLang="zh-CN" sz="800" b="1" dirty="0">
                <a:latin typeface="Helvetica" pitchFamily="2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800" b="1" dirty="0">
                <a:latin typeface="Helvetica" pitchFamily="2" charset="0"/>
              </a:rPr>
              <a:t> </a:t>
            </a:r>
          </a:p>
        </p:txBody>
      </p:sp>
      <p:sp>
        <p:nvSpPr>
          <p:cNvPr id="619" name="矩形 618">
            <a:extLst>
              <a:ext uri="{FF2B5EF4-FFF2-40B4-BE49-F238E27FC236}">
                <a16:creationId xmlns:a16="http://schemas.microsoft.com/office/drawing/2014/main" id="{3BFE4125-57B4-2FB4-6F6F-A2707FB8621A}"/>
              </a:ext>
            </a:extLst>
          </p:cNvPr>
          <p:cNvSpPr/>
          <p:nvPr/>
        </p:nvSpPr>
        <p:spPr>
          <a:xfrm>
            <a:off x="9294641" y="6056055"/>
            <a:ext cx="180000" cy="180000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0" name="文本框 619">
            <a:extLst>
              <a:ext uri="{FF2B5EF4-FFF2-40B4-BE49-F238E27FC236}">
                <a16:creationId xmlns:a16="http://schemas.microsoft.com/office/drawing/2014/main" id="{7EC38AAD-17AD-3A6F-EAAE-2DF836A485FA}"/>
              </a:ext>
            </a:extLst>
          </p:cNvPr>
          <p:cNvSpPr txBox="1"/>
          <p:nvPr/>
        </p:nvSpPr>
        <p:spPr>
          <a:xfrm>
            <a:off x="9338003" y="6047053"/>
            <a:ext cx="13154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Plane mask (16 bits)</a:t>
            </a:r>
          </a:p>
        </p:txBody>
      </p:sp>
      <p:sp>
        <p:nvSpPr>
          <p:cNvPr id="621" name="矩形 620">
            <a:extLst>
              <a:ext uri="{FF2B5EF4-FFF2-40B4-BE49-F238E27FC236}">
                <a16:creationId xmlns:a16="http://schemas.microsoft.com/office/drawing/2014/main" id="{1F07F442-1CBF-7796-C522-7B05F5904067}"/>
              </a:ext>
            </a:extLst>
          </p:cNvPr>
          <p:cNvSpPr/>
          <p:nvPr/>
        </p:nvSpPr>
        <p:spPr>
          <a:xfrm>
            <a:off x="10681683" y="6060098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22" name="文本框 621">
            <a:extLst>
              <a:ext uri="{FF2B5EF4-FFF2-40B4-BE49-F238E27FC236}">
                <a16:creationId xmlns:a16="http://schemas.microsoft.com/office/drawing/2014/main" id="{5504D9A0-5916-881C-BC6C-6B4DE5E5E98B}"/>
              </a:ext>
            </a:extLst>
          </p:cNvPr>
          <p:cNvSpPr txBox="1"/>
          <p:nvPr/>
        </p:nvSpPr>
        <p:spPr>
          <a:xfrm>
            <a:off x="10727403" y="6042421"/>
            <a:ext cx="13154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64-bit coefficient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E3493904-3035-DC66-C744-AD6CDF0D5BAE}"/>
                  </a:ext>
                </a:extLst>
              </p:cNvPr>
              <p:cNvSpPr txBox="1"/>
              <p:nvPr/>
            </p:nvSpPr>
            <p:spPr>
              <a:xfrm>
                <a:off x="6248401" y="3182026"/>
                <a:ext cx="78405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≫(</m:t>
                      </m:r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+15)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E3493904-3035-DC66-C744-AD6CDF0D5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1" y="3182026"/>
                <a:ext cx="784052" cy="21544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CD149B84-90EB-EE66-08E3-197604208FD0}"/>
                  </a:ext>
                </a:extLst>
              </p:cNvPr>
              <p:cNvSpPr txBox="1"/>
              <p:nvPr/>
            </p:nvSpPr>
            <p:spPr>
              <a:xfrm>
                <a:off x="7216660" y="3172110"/>
                <a:ext cx="78405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CD149B84-90EB-EE66-08E3-197604208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660" y="3172110"/>
                <a:ext cx="784052" cy="21544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16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8A6B631-98A7-8487-87A6-8BE94F309193}"/>
              </a:ext>
            </a:extLst>
          </p:cNvPr>
          <p:cNvSpPr/>
          <p:nvPr/>
        </p:nvSpPr>
        <p:spPr>
          <a:xfrm>
            <a:off x="496031" y="259419"/>
            <a:ext cx="11244262" cy="11797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1744C15-7EC3-9522-BD97-1A2950F17FAC}"/>
              </a:ext>
            </a:extLst>
          </p:cNvPr>
          <p:cNvGrpSpPr>
            <a:grpSpLocks noChangeAspect="1"/>
          </p:cNvGrpSpPr>
          <p:nvPr/>
        </p:nvGrpSpPr>
        <p:grpSpPr>
          <a:xfrm>
            <a:off x="3351507" y="323050"/>
            <a:ext cx="2099803" cy="1039823"/>
            <a:chOff x="1127190" y="247924"/>
            <a:chExt cx="3413043" cy="1690140"/>
          </a:xfrm>
          <a:solidFill>
            <a:schemeClr val="tx2">
              <a:lumMod val="10000"/>
              <a:lumOff val="90000"/>
            </a:schemeClr>
          </a:solidFill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B0B87DF-17B9-6910-B7C0-9F88B0D7C5D9}"/>
                </a:ext>
              </a:extLst>
            </p:cNvPr>
            <p:cNvGrpSpPr/>
            <p:nvPr/>
          </p:nvGrpSpPr>
          <p:grpSpPr>
            <a:xfrm>
              <a:off x="1136869" y="339694"/>
              <a:ext cx="1440000" cy="1438900"/>
              <a:chOff x="3330000" y="2790000"/>
              <a:chExt cx="1440000" cy="1438900"/>
            </a:xfrm>
            <a:grpFill/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FBB34BE-6B90-6FB4-7A05-6274D069CBAA}"/>
                  </a:ext>
                </a:extLst>
              </p:cNvPr>
              <p:cNvGrpSpPr/>
              <p:nvPr/>
            </p:nvGrpSpPr>
            <p:grpSpPr>
              <a:xfrm>
                <a:off x="3330000" y="3330000"/>
                <a:ext cx="1440000" cy="898900"/>
                <a:chOff x="3330000" y="3330000"/>
                <a:chExt cx="1440000" cy="898900"/>
              </a:xfrm>
              <a:grpFill/>
            </p:grpSpPr>
            <p:grpSp>
              <p:nvGrpSpPr>
                <p:cNvPr id="107" name="组合 106">
                  <a:extLst>
                    <a:ext uri="{FF2B5EF4-FFF2-40B4-BE49-F238E27FC236}">
                      <a16:creationId xmlns:a16="http://schemas.microsoft.com/office/drawing/2014/main" id="{7912DA65-34BD-A19C-505B-091FE9706EA8}"/>
                    </a:ext>
                  </a:extLst>
                </p:cNvPr>
                <p:cNvGrpSpPr/>
                <p:nvPr/>
              </p:nvGrpSpPr>
              <p:grpSpPr>
                <a:xfrm>
                  <a:off x="3330000" y="360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139" name="组合 138">
                    <a:extLst>
                      <a:ext uri="{FF2B5EF4-FFF2-40B4-BE49-F238E27FC236}">
                        <a16:creationId xmlns:a16="http://schemas.microsoft.com/office/drawing/2014/main" id="{2E86A5E3-3A84-0D1B-09F8-25FBC07F22E3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55" name="组合 154">
                      <a:extLst>
                        <a:ext uri="{FF2B5EF4-FFF2-40B4-BE49-F238E27FC236}">
                          <a16:creationId xmlns:a16="http://schemas.microsoft.com/office/drawing/2014/main" id="{B41BA47D-F65D-8B93-6D02-A56CDFF683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63" name="组合 162">
                        <a:extLst>
                          <a:ext uri="{FF2B5EF4-FFF2-40B4-BE49-F238E27FC236}">
                            <a16:creationId xmlns:a16="http://schemas.microsoft.com/office/drawing/2014/main" id="{C4C6A2AA-095E-BA3C-0DF8-B11A79370E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67" name="立方体 166">
                          <a:extLst>
                            <a:ext uri="{FF2B5EF4-FFF2-40B4-BE49-F238E27FC236}">
                              <a16:creationId xmlns:a16="http://schemas.microsoft.com/office/drawing/2014/main" id="{BF8485C0-AB57-33FD-C315-87A3DC6EC2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8" name="立方体 167">
                          <a:extLst>
                            <a:ext uri="{FF2B5EF4-FFF2-40B4-BE49-F238E27FC236}">
                              <a16:creationId xmlns:a16="http://schemas.microsoft.com/office/drawing/2014/main" id="{5F17CA31-579D-5638-AEBA-5FBB7751BF6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64" name="组合 163">
                        <a:extLst>
                          <a:ext uri="{FF2B5EF4-FFF2-40B4-BE49-F238E27FC236}">
                            <a16:creationId xmlns:a16="http://schemas.microsoft.com/office/drawing/2014/main" id="{F7C06EDC-5372-5EEA-108B-F14731199F7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65" name="立方体 164">
                          <a:extLst>
                            <a:ext uri="{FF2B5EF4-FFF2-40B4-BE49-F238E27FC236}">
                              <a16:creationId xmlns:a16="http://schemas.microsoft.com/office/drawing/2014/main" id="{AB58B549-145F-B10E-43DB-F3050805A0D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6" name="立方体 165">
                          <a:extLst>
                            <a:ext uri="{FF2B5EF4-FFF2-40B4-BE49-F238E27FC236}">
                              <a16:creationId xmlns:a16="http://schemas.microsoft.com/office/drawing/2014/main" id="{8B3CEB9C-CAA8-D6FF-9599-6FC92FC231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56" name="组合 155">
                      <a:extLst>
                        <a:ext uri="{FF2B5EF4-FFF2-40B4-BE49-F238E27FC236}">
                          <a16:creationId xmlns:a16="http://schemas.microsoft.com/office/drawing/2014/main" id="{2E64C9B4-69BE-C032-0CF7-DAA8DF24D7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57" name="组合 156">
                        <a:extLst>
                          <a:ext uri="{FF2B5EF4-FFF2-40B4-BE49-F238E27FC236}">
                            <a16:creationId xmlns:a16="http://schemas.microsoft.com/office/drawing/2014/main" id="{D8AB4092-58B4-7499-666B-C1CB47C2804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61" name="立方体 160">
                          <a:extLst>
                            <a:ext uri="{FF2B5EF4-FFF2-40B4-BE49-F238E27FC236}">
                              <a16:creationId xmlns:a16="http://schemas.microsoft.com/office/drawing/2014/main" id="{35AF1368-7E31-38F9-15F7-A6599F9A99D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2" name="立方体 161">
                          <a:extLst>
                            <a:ext uri="{FF2B5EF4-FFF2-40B4-BE49-F238E27FC236}">
                              <a16:creationId xmlns:a16="http://schemas.microsoft.com/office/drawing/2014/main" id="{C863E5ED-6B92-D625-28E5-2021CDD0BB5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58" name="组合 157">
                        <a:extLst>
                          <a:ext uri="{FF2B5EF4-FFF2-40B4-BE49-F238E27FC236}">
                            <a16:creationId xmlns:a16="http://schemas.microsoft.com/office/drawing/2014/main" id="{E37A2AFD-FC39-B40E-9620-0CCD3192D6A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59" name="立方体 158">
                          <a:extLst>
                            <a:ext uri="{FF2B5EF4-FFF2-40B4-BE49-F238E27FC236}">
                              <a16:creationId xmlns:a16="http://schemas.microsoft.com/office/drawing/2014/main" id="{DEF77EF3-BA4B-3AF2-AB12-41C83C40A4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60" name="立方体 159">
                          <a:extLst>
                            <a:ext uri="{FF2B5EF4-FFF2-40B4-BE49-F238E27FC236}">
                              <a16:creationId xmlns:a16="http://schemas.microsoft.com/office/drawing/2014/main" id="{E9C9219A-9F79-30AD-99A9-DC4C65FBF5B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140" name="组合 139">
                    <a:extLst>
                      <a:ext uri="{FF2B5EF4-FFF2-40B4-BE49-F238E27FC236}">
                        <a16:creationId xmlns:a16="http://schemas.microsoft.com/office/drawing/2014/main" id="{ED426245-35A8-80E6-EDD5-622557B7675E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41" name="组合 140">
                      <a:extLst>
                        <a:ext uri="{FF2B5EF4-FFF2-40B4-BE49-F238E27FC236}">
                          <a16:creationId xmlns:a16="http://schemas.microsoft.com/office/drawing/2014/main" id="{93175638-D2B6-9F40-1467-8DAC56E5C8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49" name="组合 148">
                        <a:extLst>
                          <a:ext uri="{FF2B5EF4-FFF2-40B4-BE49-F238E27FC236}">
                            <a16:creationId xmlns:a16="http://schemas.microsoft.com/office/drawing/2014/main" id="{D7FDCABE-A7B8-3438-1A9A-798E8FBD7CB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53" name="立方体 152">
                          <a:extLst>
                            <a:ext uri="{FF2B5EF4-FFF2-40B4-BE49-F238E27FC236}">
                              <a16:creationId xmlns:a16="http://schemas.microsoft.com/office/drawing/2014/main" id="{C379A0C3-EBF6-6476-E05A-A1580A43B4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54" name="立方体 153">
                          <a:extLst>
                            <a:ext uri="{FF2B5EF4-FFF2-40B4-BE49-F238E27FC236}">
                              <a16:creationId xmlns:a16="http://schemas.microsoft.com/office/drawing/2014/main" id="{8D406DD0-1C9F-2FC3-5BCA-6731956772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50" name="组合 149">
                        <a:extLst>
                          <a:ext uri="{FF2B5EF4-FFF2-40B4-BE49-F238E27FC236}">
                            <a16:creationId xmlns:a16="http://schemas.microsoft.com/office/drawing/2014/main" id="{7759562C-75C0-6F14-9D30-675CCB31F9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51" name="立方体 150">
                          <a:extLst>
                            <a:ext uri="{FF2B5EF4-FFF2-40B4-BE49-F238E27FC236}">
                              <a16:creationId xmlns:a16="http://schemas.microsoft.com/office/drawing/2014/main" id="{965017CF-CC9F-6D42-95F5-FC58433D40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52" name="立方体 151">
                          <a:extLst>
                            <a:ext uri="{FF2B5EF4-FFF2-40B4-BE49-F238E27FC236}">
                              <a16:creationId xmlns:a16="http://schemas.microsoft.com/office/drawing/2014/main" id="{CF0D0805-8323-6402-6F75-4448E871CD0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42" name="组合 141">
                      <a:extLst>
                        <a:ext uri="{FF2B5EF4-FFF2-40B4-BE49-F238E27FC236}">
                          <a16:creationId xmlns:a16="http://schemas.microsoft.com/office/drawing/2014/main" id="{334F41C8-0A63-469F-5181-9A9221BA6F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43" name="组合 142">
                        <a:extLst>
                          <a:ext uri="{FF2B5EF4-FFF2-40B4-BE49-F238E27FC236}">
                            <a16:creationId xmlns:a16="http://schemas.microsoft.com/office/drawing/2014/main" id="{D2CF4886-24B7-1E54-0697-36B91A695E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47" name="立方体 146">
                          <a:extLst>
                            <a:ext uri="{FF2B5EF4-FFF2-40B4-BE49-F238E27FC236}">
                              <a16:creationId xmlns:a16="http://schemas.microsoft.com/office/drawing/2014/main" id="{CCE6E6CA-0E35-3F42-961B-5499E71CB9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48" name="立方体 147">
                          <a:extLst>
                            <a:ext uri="{FF2B5EF4-FFF2-40B4-BE49-F238E27FC236}">
                              <a16:creationId xmlns:a16="http://schemas.microsoft.com/office/drawing/2014/main" id="{FE7A6A4E-E0DB-DAC7-51D1-AAD6E63536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44" name="组合 143">
                        <a:extLst>
                          <a:ext uri="{FF2B5EF4-FFF2-40B4-BE49-F238E27FC236}">
                            <a16:creationId xmlns:a16="http://schemas.microsoft.com/office/drawing/2014/main" id="{CC9093EF-165D-FF34-F81F-D7DF98E5CC8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45" name="立方体 144">
                          <a:extLst>
                            <a:ext uri="{FF2B5EF4-FFF2-40B4-BE49-F238E27FC236}">
                              <a16:creationId xmlns:a16="http://schemas.microsoft.com/office/drawing/2014/main" id="{181AE840-9BEF-D671-EEBC-B1E16DE31E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46" name="立方体 145">
                          <a:extLst>
                            <a:ext uri="{FF2B5EF4-FFF2-40B4-BE49-F238E27FC236}">
                              <a16:creationId xmlns:a16="http://schemas.microsoft.com/office/drawing/2014/main" id="{52E1A037-3AF5-7D16-335A-B4352099710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08" name="组合 107">
                  <a:extLst>
                    <a:ext uri="{FF2B5EF4-FFF2-40B4-BE49-F238E27FC236}">
                      <a16:creationId xmlns:a16="http://schemas.microsoft.com/office/drawing/2014/main" id="{D13E4FD4-8C70-267D-74CF-B7577EAE47C8}"/>
                    </a:ext>
                  </a:extLst>
                </p:cNvPr>
                <p:cNvGrpSpPr/>
                <p:nvPr/>
              </p:nvGrpSpPr>
              <p:grpSpPr>
                <a:xfrm>
                  <a:off x="3330000" y="333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109" name="组合 108">
                    <a:extLst>
                      <a:ext uri="{FF2B5EF4-FFF2-40B4-BE49-F238E27FC236}">
                        <a16:creationId xmlns:a16="http://schemas.microsoft.com/office/drawing/2014/main" id="{D0D75514-34B6-051B-ED62-3FAFF166C26A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25" name="组合 124">
                      <a:extLst>
                        <a:ext uri="{FF2B5EF4-FFF2-40B4-BE49-F238E27FC236}">
                          <a16:creationId xmlns:a16="http://schemas.microsoft.com/office/drawing/2014/main" id="{D931C535-7DA3-AAAC-8C65-BAE0CB853F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33" name="组合 132">
                        <a:extLst>
                          <a:ext uri="{FF2B5EF4-FFF2-40B4-BE49-F238E27FC236}">
                            <a16:creationId xmlns:a16="http://schemas.microsoft.com/office/drawing/2014/main" id="{0B355313-B774-2392-1FE1-DD7BD73CC5F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37" name="立方体 136">
                          <a:extLst>
                            <a:ext uri="{FF2B5EF4-FFF2-40B4-BE49-F238E27FC236}">
                              <a16:creationId xmlns:a16="http://schemas.microsoft.com/office/drawing/2014/main" id="{3590F149-9495-FA81-6C8A-CE08B571B9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38" name="立方体 137">
                          <a:extLst>
                            <a:ext uri="{FF2B5EF4-FFF2-40B4-BE49-F238E27FC236}">
                              <a16:creationId xmlns:a16="http://schemas.microsoft.com/office/drawing/2014/main" id="{46C0E190-61AA-413C-8D9F-0E9C199799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34" name="组合 133">
                        <a:extLst>
                          <a:ext uri="{FF2B5EF4-FFF2-40B4-BE49-F238E27FC236}">
                            <a16:creationId xmlns:a16="http://schemas.microsoft.com/office/drawing/2014/main" id="{C507DC77-6610-FF4E-4CAC-60A2698D2D1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35" name="立方体 134">
                          <a:extLst>
                            <a:ext uri="{FF2B5EF4-FFF2-40B4-BE49-F238E27FC236}">
                              <a16:creationId xmlns:a16="http://schemas.microsoft.com/office/drawing/2014/main" id="{67E69292-6830-9FF1-A6C2-634EEBD3AC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36" name="立方体 135">
                          <a:extLst>
                            <a:ext uri="{FF2B5EF4-FFF2-40B4-BE49-F238E27FC236}">
                              <a16:creationId xmlns:a16="http://schemas.microsoft.com/office/drawing/2014/main" id="{C30803AA-20FF-CB94-20AC-D1BB4B40D3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26" name="组合 125">
                      <a:extLst>
                        <a:ext uri="{FF2B5EF4-FFF2-40B4-BE49-F238E27FC236}">
                          <a16:creationId xmlns:a16="http://schemas.microsoft.com/office/drawing/2014/main" id="{983A0B73-1E9D-6F72-D591-4C486633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27" name="组合 126">
                        <a:extLst>
                          <a:ext uri="{FF2B5EF4-FFF2-40B4-BE49-F238E27FC236}">
                            <a16:creationId xmlns:a16="http://schemas.microsoft.com/office/drawing/2014/main" id="{2453EC71-FBEA-E39D-BD3A-825BCAF3727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31" name="立方体 130">
                          <a:extLst>
                            <a:ext uri="{FF2B5EF4-FFF2-40B4-BE49-F238E27FC236}">
                              <a16:creationId xmlns:a16="http://schemas.microsoft.com/office/drawing/2014/main" id="{FD583FF5-A597-8AAD-D3D7-C9E61076B9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32" name="立方体 131">
                          <a:extLst>
                            <a:ext uri="{FF2B5EF4-FFF2-40B4-BE49-F238E27FC236}">
                              <a16:creationId xmlns:a16="http://schemas.microsoft.com/office/drawing/2014/main" id="{8D45437B-CC23-75A9-B7A9-95AD404ACE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28" name="组合 127">
                        <a:extLst>
                          <a:ext uri="{FF2B5EF4-FFF2-40B4-BE49-F238E27FC236}">
                            <a16:creationId xmlns:a16="http://schemas.microsoft.com/office/drawing/2014/main" id="{B905ACA7-440F-8DFE-2FE7-6514480B17A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29" name="立方体 128">
                          <a:extLst>
                            <a:ext uri="{FF2B5EF4-FFF2-40B4-BE49-F238E27FC236}">
                              <a16:creationId xmlns:a16="http://schemas.microsoft.com/office/drawing/2014/main" id="{22069F9D-1428-99C3-970C-5A8C8003A5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30" name="立方体 129">
                          <a:extLst>
                            <a:ext uri="{FF2B5EF4-FFF2-40B4-BE49-F238E27FC236}">
                              <a16:creationId xmlns:a16="http://schemas.microsoft.com/office/drawing/2014/main" id="{98495292-42C1-9002-662C-D35008C910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110" name="组合 109">
                    <a:extLst>
                      <a:ext uri="{FF2B5EF4-FFF2-40B4-BE49-F238E27FC236}">
                        <a16:creationId xmlns:a16="http://schemas.microsoft.com/office/drawing/2014/main" id="{9C30DD8A-A9F8-E1D7-C7A9-B5167571AD42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111" name="组合 110">
                      <a:extLst>
                        <a:ext uri="{FF2B5EF4-FFF2-40B4-BE49-F238E27FC236}">
                          <a16:creationId xmlns:a16="http://schemas.microsoft.com/office/drawing/2014/main" id="{58B05054-D412-ADC1-7884-87A84BA412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19" name="组合 118">
                        <a:extLst>
                          <a:ext uri="{FF2B5EF4-FFF2-40B4-BE49-F238E27FC236}">
                            <a16:creationId xmlns:a16="http://schemas.microsoft.com/office/drawing/2014/main" id="{9A5F2973-DFFA-C38E-5DE6-FA2AF11DAE5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23" name="立方体 122">
                          <a:extLst>
                            <a:ext uri="{FF2B5EF4-FFF2-40B4-BE49-F238E27FC236}">
                              <a16:creationId xmlns:a16="http://schemas.microsoft.com/office/drawing/2014/main" id="{847037BB-EFC6-6F3D-E665-7948C257CD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24" name="立方体 123">
                          <a:extLst>
                            <a:ext uri="{FF2B5EF4-FFF2-40B4-BE49-F238E27FC236}">
                              <a16:creationId xmlns:a16="http://schemas.microsoft.com/office/drawing/2014/main" id="{F685B853-24A3-A86C-2C4A-CCBA4A91572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20" name="组合 119">
                        <a:extLst>
                          <a:ext uri="{FF2B5EF4-FFF2-40B4-BE49-F238E27FC236}">
                            <a16:creationId xmlns:a16="http://schemas.microsoft.com/office/drawing/2014/main" id="{7E32066F-0BB0-BAA0-7E20-2B2A3CE90F2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21" name="立方体 120">
                          <a:extLst>
                            <a:ext uri="{FF2B5EF4-FFF2-40B4-BE49-F238E27FC236}">
                              <a16:creationId xmlns:a16="http://schemas.microsoft.com/office/drawing/2014/main" id="{C238284B-1F06-6030-15BC-7070F28517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22" name="立方体 121">
                          <a:extLst>
                            <a:ext uri="{FF2B5EF4-FFF2-40B4-BE49-F238E27FC236}">
                              <a16:creationId xmlns:a16="http://schemas.microsoft.com/office/drawing/2014/main" id="{4705F108-B0C6-E716-7550-005D82B909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112" name="组合 111">
                      <a:extLst>
                        <a:ext uri="{FF2B5EF4-FFF2-40B4-BE49-F238E27FC236}">
                          <a16:creationId xmlns:a16="http://schemas.microsoft.com/office/drawing/2014/main" id="{8EE5BAFA-D73D-96B9-80C7-1C8FB0D9BE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13" name="组合 112">
                        <a:extLst>
                          <a:ext uri="{FF2B5EF4-FFF2-40B4-BE49-F238E27FC236}">
                            <a16:creationId xmlns:a16="http://schemas.microsoft.com/office/drawing/2014/main" id="{AEBAACE0-44D8-8031-0E86-B1135CB13C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17" name="立方体 116">
                          <a:extLst>
                            <a:ext uri="{FF2B5EF4-FFF2-40B4-BE49-F238E27FC236}">
                              <a16:creationId xmlns:a16="http://schemas.microsoft.com/office/drawing/2014/main" id="{A798FE15-9DB3-DFE7-62A4-BBC116C025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18" name="立方体 117">
                          <a:extLst>
                            <a:ext uri="{FF2B5EF4-FFF2-40B4-BE49-F238E27FC236}">
                              <a16:creationId xmlns:a16="http://schemas.microsoft.com/office/drawing/2014/main" id="{343BA754-695A-3D7E-5DF8-FC191A82B38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14" name="组合 113">
                        <a:extLst>
                          <a:ext uri="{FF2B5EF4-FFF2-40B4-BE49-F238E27FC236}">
                            <a16:creationId xmlns:a16="http://schemas.microsoft.com/office/drawing/2014/main" id="{933FE3AC-7011-884F-BBB4-2885572F24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15" name="立方体 114">
                          <a:extLst>
                            <a:ext uri="{FF2B5EF4-FFF2-40B4-BE49-F238E27FC236}">
                              <a16:creationId xmlns:a16="http://schemas.microsoft.com/office/drawing/2014/main" id="{AC3BD363-48CC-DD5E-AE5C-A70806205B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16" name="立方体 115">
                          <a:extLst>
                            <a:ext uri="{FF2B5EF4-FFF2-40B4-BE49-F238E27FC236}">
                              <a16:creationId xmlns:a16="http://schemas.microsoft.com/office/drawing/2014/main" id="{100854E3-0195-95FF-272F-DF9E973731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1C8AB72F-97A8-C37D-E60D-90113CFF38E1}"/>
                  </a:ext>
                </a:extLst>
              </p:cNvPr>
              <p:cNvGrpSpPr/>
              <p:nvPr/>
            </p:nvGrpSpPr>
            <p:grpSpPr>
              <a:xfrm>
                <a:off x="3330000" y="2790000"/>
                <a:ext cx="1440000" cy="898900"/>
                <a:chOff x="3330000" y="3330000"/>
                <a:chExt cx="1440000" cy="898900"/>
              </a:xfrm>
              <a:grpFill/>
            </p:grpSpPr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C442C65E-7A9D-07D8-7A78-17555FB39465}"/>
                    </a:ext>
                  </a:extLst>
                </p:cNvPr>
                <p:cNvGrpSpPr/>
                <p:nvPr/>
              </p:nvGrpSpPr>
              <p:grpSpPr>
                <a:xfrm>
                  <a:off x="3330000" y="360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77" name="组合 76">
                    <a:extLst>
                      <a:ext uri="{FF2B5EF4-FFF2-40B4-BE49-F238E27FC236}">
                        <a16:creationId xmlns:a16="http://schemas.microsoft.com/office/drawing/2014/main" id="{25A16ED3-A413-DAD1-0F40-514E62E1338A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93" name="组合 92">
                      <a:extLst>
                        <a:ext uri="{FF2B5EF4-FFF2-40B4-BE49-F238E27FC236}">
                          <a16:creationId xmlns:a16="http://schemas.microsoft.com/office/drawing/2014/main" id="{0B07B2F0-70A6-52A5-5115-0A61E74559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101" name="组合 100">
                        <a:extLst>
                          <a:ext uri="{FF2B5EF4-FFF2-40B4-BE49-F238E27FC236}">
                            <a16:creationId xmlns:a16="http://schemas.microsoft.com/office/drawing/2014/main" id="{0F0964C4-CEBB-322B-1324-4B252541BB1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05" name="立方体 104">
                          <a:extLst>
                            <a:ext uri="{FF2B5EF4-FFF2-40B4-BE49-F238E27FC236}">
                              <a16:creationId xmlns:a16="http://schemas.microsoft.com/office/drawing/2014/main" id="{079BF284-E1F4-10CB-5954-3705CE2FED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06" name="立方体 105">
                          <a:extLst>
                            <a:ext uri="{FF2B5EF4-FFF2-40B4-BE49-F238E27FC236}">
                              <a16:creationId xmlns:a16="http://schemas.microsoft.com/office/drawing/2014/main" id="{90CD5D4D-387E-0975-9B9F-19F1BB4685C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102" name="组合 101">
                        <a:extLst>
                          <a:ext uri="{FF2B5EF4-FFF2-40B4-BE49-F238E27FC236}">
                            <a16:creationId xmlns:a16="http://schemas.microsoft.com/office/drawing/2014/main" id="{C61A72FB-CBFF-69F2-7D50-43008C8A33E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103" name="立方体 102">
                          <a:extLst>
                            <a:ext uri="{FF2B5EF4-FFF2-40B4-BE49-F238E27FC236}">
                              <a16:creationId xmlns:a16="http://schemas.microsoft.com/office/drawing/2014/main" id="{D8099FAB-DE2F-C1C0-0B12-053451D566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04" name="立方体 103">
                          <a:extLst>
                            <a:ext uri="{FF2B5EF4-FFF2-40B4-BE49-F238E27FC236}">
                              <a16:creationId xmlns:a16="http://schemas.microsoft.com/office/drawing/2014/main" id="{F644CA33-9100-3C79-CD02-DC59EB4D9A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94" name="组合 93">
                      <a:extLst>
                        <a:ext uri="{FF2B5EF4-FFF2-40B4-BE49-F238E27FC236}">
                          <a16:creationId xmlns:a16="http://schemas.microsoft.com/office/drawing/2014/main" id="{3AAE2F7C-85AA-48E4-A2BA-5DE5DD4D8F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95" name="组合 94">
                        <a:extLst>
                          <a:ext uri="{FF2B5EF4-FFF2-40B4-BE49-F238E27FC236}">
                            <a16:creationId xmlns:a16="http://schemas.microsoft.com/office/drawing/2014/main" id="{A4085B8F-A149-1E78-E03F-33C832C84D1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99" name="立方体 98">
                          <a:extLst>
                            <a:ext uri="{FF2B5EF4-FFF2-40B4-BE49-F238E27FC236}">
                              <a16:creationId xmlns:a16="http://schemas.microsoft.com/office/drawing/2014/main" id="{DFC4853E-3708-BD6E-74E8-17E0DAD6D4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100" name="立方体 99">
                          <a:extLst>
                            <a:ext uri="{FF2B5EF4-FFF2-40B4-BE49-F238E27FC236}">
                              <a16:creationId xmlns:a16="http://schemas.microsoft.com/office/drawing/2014/main" id="{115EE2C2-6A62-3640-E080-DC8180F69C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96" name="组合 95">
                        <a:extLst>
                          <a:ext uri="{FF2B5EF4-FFF2-40B4-BE49-F238E27FC236}">
                            <a16:creationId xmlns:a16="http://schemas.microsoft.com/office/drawing/2014/main" id="{437FBAC4-F3E6-7FEC-CE88-911A0AFBF8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97" name="立方体 96">
                          <a:extLst>
                            <a:ext uri="{FF2B5EF4-FFF2-40B4-BE49-F238E27FC236}">
                              <a16:creationId xmlns:a16="http://schemas.microsoft.com/office/drawing/2014/main" id="{5C0C10FB-B732-8A23-A099-5F753FFC9D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98" name="立方体 97">
                          <a:extLst>
                            <a:ext uri="{FF2B5EF4-FFF2-40B4-BE49-F238E27FC236}">
                              <a16:creationId xmlns:a16="http://schemas.microsoft.com/office/drawing/2014/main" id="{B2D329C8-C906-A7B7-FE5E-C82C73D09E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78" name="组合 77">
                    <a:extLst>
                      <a:ext uri="{FF2B5EF4-FFF2-40B4-BE49-F238E27FC236}">
                        <a16:creationId xmlns:a16="http://schemas.microsoft.com/office/drawing/2014/main" id="{93156E23-B42E-460A-55AE-E82F488FFE54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79" name="组合 78">
                      <a:extLst>
                        <a:ext uri="{FF2B5EF4-FFF2-40B4-BE49-F238E27FC236}">
                          <a16:creationId xmlns:a16="http://schemas.microsoft.com/office/drawing/2014/main" id="{9F5205DD-56D5-DD9E-AFA8-2B20F66833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87" name="组合 86">
                        <a:extLst>
                          <a:ext uri="{FF2B5EF4-FFF2-40B4-BE49-F238E27FC236}">
                            <a16:creationId xmlns:a16="http://schemas.microsoft.com/office/drawing/2014/main" id="{B865DF3D-9151-CCA5-11F7-D8F8276495A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91" name="立方体 90">
                          <a:extLst>
                            <a:ext uri="{FF2B5EF4-FFF2-40B4-BE49-F238E27FC236}">
                              <a16:creationId xmlns:a16="http://schemas.microsoft.com/office/drawing/2014/main" id="{680FCEC9-7117-DD25-08E0-5B6DAEBE58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92" name="立方体 91">
                          <a:extLst>
                            <a:ext uri="{FF2B5EF4-FFF2-40B4-BE49-F238E27FC236}">
                              <a16:creationId xmlns:a16="http://schemas.microsoft.com/office/drawing/2014/main" id="{D8A5EFD6-D7D4-EC77-A5C0-B9240FF991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88" name="组合 87">
                        <a:extLst>
                          <a:ext uri="{FF2B5EF4-FFF2-40B4-BE49-F238E27FC236}">
                            <a16:creationId xmlns:a16="http://schemas.microsoft.com/office/drawing/2014/main" id="{6436681C-D50D-12B0-7FA7-A8568A48C7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89" name="立方体 88">
                          <a:extLst>
                            <a:ext uri="{FF2B5EF4-FFF2-40B4-BE49-F238E27FC236}">
                              <a16:creationId xmlns:a16="http://schemas.microsoft.com/office/drawing/2014/main" id="{E69D48A6-C842-CEEB-03A5-4575E12114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90" name="立方体 89">
                          <a:extLst>
                            <a:ext uri="{FF2B5EF4-FFF2-40B4-BE49-F238E27FC236}">
                              <a16:creationId xmlns:a16="http://schemas.microsoft.com/office/drawing/2014/main" id="{D6D4A004-5985-E293-119A-F3C633FBAB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80" name="组合 79">
                      <a:extLst>
                        <a:ext uri="{FF2B5EF4-FFF2-40B4-BE49-F238E27FC236}">
                          <a16:creationId xmlns:a16="http://schemas.microsoft.com/office/drawing/2014/main" id="{E6F8CD38-34A2-7BD4-4B70-6724C6D267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81" name="组合 80">
                        <a:extLst>
                          <a:ext uri="{FF2B5EF4-FFF2-40B4-BE49-F238E27FC236}">
                            <a16:creationId xmlns:a16="http://schemas.microsoft.com/office/drawing/2014/main" id="{A3159A70-C7BD-35C5-6C14-66AD3311EE8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85" name="立方体 84">
                          <a:extLst>
                            <a:ext uri="{FF2B5EF4-FFF2-40B4-BE49-F238E27FC236}">
                              <a16:creationId xmlns:a16="http://schemas.microsoft.com/office/drawing/2014/main" id="{F5703CF8-F344-2FA7-E400-7B64A837956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86" name="立方体 85">
                          <a:extLst>
                            <a:ext uri="{FF2B5EF4-FFF2-40B4-BE49-F238E27FC236}">
                              <a16:creationId xmlns:a16="http://schemas.microsoft.com/office/drawing/2014/main" id="{3BB78A18-94F6-C266-B512-4F89F341EA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82" name="组合 81">
                        <a:extLst>
                          <a:ext uri="{FF2B5EF4-FFF2-40B4-BE49-F238E27FC236}">
                            <a16:creationId xmlns:a16="http://schemas.microsoft.com/office/drawing/2014/main" id="{BE4CCBC1-CA88-FAD4-3D27-587CFCB7203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83" name="立方体 82">
                          <a:extLst>
                            <a:ext uri="{FF2B5EF4-FFF2-40B4-BE49-F238E27FC236}">
                              <a16:creationId xmlns:a16="http://schemas.microsoft.com/office/drawing/2014/main" id="{3FC390C2-8EC5-37CE-1ED4-DC74EA9353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84" name="立方体 83">
                          <a:extLst>
                            <a:ext uri="{FF2B5EF4-FFF2-40B4-BE49-F238E27FC236}">
                              <a16:creationId xmlns:a16="http://schemas.microsoft.com/office/drawing/2014/main" id="{58699CBD-6642-5D16-47DA-FB3476F9B55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DBE4B380-CA85-1A6F-92B8-A85E4F7FA4A7}"/>
                    </a:ext>
                  </a:extLst>
                </p:cNvPr>
                <p:cNvGrpSpPr/>
                <p:nvPr/>
              </p:nvGrpSpPr>
              <p:grpSpPr>
                <a:xfrm>
                  <a:off x="3330000" y="3330000"/>
                  <a:ext cx="1440000" cy="628900"/>
                  <a:chOff x="3330000" y="3600000"/>
                  <a:chExt cx="1440000" cy="628900"/>
                </a:xfrm>
                <a:grpFill/>
              </p:grpSpPr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4A5471B9-9FA1-862A-CE87-41AF38EE6551}"/>
                      </a:ext>
                    </a:extLst>
                  </p:cNvPr>
                  <p:cNvGrpSpPr/>
                  <p:nvPr/>
                </p:nvGrpSpPr>
                <p:grpSpPr>
                  <a:xfrm>
                    <a:off x="3510000" y="360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63" name="组合 62">
                      <a:extLst>
                        <a:ext uri="{FF2B5EF4-FFF2-40B4-BE49-F238E27FC236}">
                          <a16:creationId xmlns:a16="http://schemas.microsoft.com/office/drawing/2014/main" id="{3AD2E0F0-58AB-F00B-A701-B0DFBFDDFF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71" name="组合 70">
                        <a:extLst>
                          <a:ext uri="{FF2B5EF4-FFF2-40B4-BE49-F238E27FC236}">
                            <a16:creationId xmlns:a16="http://schemas.microsoft.com/office/drawing/2014/main" id="{5343E0D1-E686-C54F-4F3A-EBDA4576A4E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75" name="立方体 74">
                          <a:extLst>
                            <a:ext uri="{FF2B5EF4-FFF2-40B4-BE49-F238E27FC236}">
                              <a16:creationId xmlns:a16="http://schemas.microsoft.com/office/drawing/2014/main" id="{D2A41FAA-F4E8-9926-61FC-8F9DBF659F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76" name="立方体 75">
                          <a:extLst>
                            <a:ext uri="{FF2B5EF4-FFF2-40B4-BE49-F238E27FC236}">
                              <a16:creationId xmlns:a16="http://schemas.microsoft.com/office/drawing/2014/main" id="{3384049D-71B1-9C7A-F504-0CDDC83D31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72" name="组合 71">
                        <a:extLst>
                          <a:ext uri="{FF2B5EF4-FFF2-40B4-BE49-F238E27FC236}">
                            <a16:creationId xmlns:a16="http://schemas.microsoft.com/office/drawing/2014/main" id="{8F9EE5E1-FB92-7E3B-693B-3C34391CB1C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73" name="立方体 72">
                          <a:extLst>
                            <a:ext uri="{FF2B5EF4-FFF2-40B4-BE49-F238E27FC236}">
                              <a16:creationId xmlns:a16="http://schemas.microsoft.com/office/drawing/2014/main" id="{FD2CD547-BDAA-189E-4DA2-9255C6BAB7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74" name="立方体 73">
                          <a:extLst>
                            <a:ext uri="{FF2B5EF4-FFF2-40B4-BE49-F238E27FC236}">
                              <a16:creationId xmlns:a16="http://schemas.microsoft.com/office/drawing/2014/main" id="{0FC8C587-21A3-9710-C351-95478894E9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64" name="组合 63">
                      <a:extLst>
                        <a:ext uri="{FF2B5EF4-FFF2-40B4-BE49-F238E27FC236}">
                          <a16:creationId xmlns:a16="http://schemas.microsoft.com/office/drawing/2014/main" id="{7C73C3DB-D3F3-4B6F-041D-641A9BABD7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65" name="组合 64">
                        <a:extLst>
                          <a:ext uri="{FF2B5EF4-FFF2-40B4-BE49-F238E27FC236}">
                            <a16:creationId xmlns:a16="http://schemas.microsoft.com/office/drawing/2014/main" id="{3A16EDA2-425D-452F-048D-92FFF567ACB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69" name="立方体 68">
                          <a:extLst>
                            <a:ext uri="{FF2B5EF4-FFF2-40B4-BE49-F238E27FC236}">
                              <a16:creationId xmlns:a16="http://schemas.microsoft.com/office/drawing/2014/main" id="{3AB9E9CA-49D1-9B69-6FDB-F70EA20138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70" name="立方体 69">
                          <a:extLst>
                            <a:ext uri="{FF2B5EF4-FFF2-40B4-BE49-F238E27FC236}">
                              <a16:creationId xmlns:a16="http://schemas.microsoft.com/office/drawing/2014/main" id="{1CA3EEEB-D7BC-A8CE-CF4C-E4940D946D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66" name="组合 65">
                        <a:extLst>
                          <a:ext uri="{FF2B5EF4-FFF2-40B4-BE49-F238E27FC236}">
                            <a16:creationId xmlns:a16="http://schemas.microsoft.com/office/drawing/2014/main" id="{AD581BDF-79A4-BDA2-D5CF-47BF2E1B6C4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67" name="立方体 66">
                          <a:extLst>
                            <a:ext uri="{FF2B5EF4-FFF2-40B4-BE49-F238E27FC236}">
                              <a16:creationId xmlns:a16="http://schemas.microsoft.com/office/drawing/2014/main" id="{1CF8F1FB-5909-9A1F-2ADC-0C7C7A8A77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68" name="立方体 67">
                          <a:extLst>
                            <a:ext uri="{FF2B5EF4-FFF2-40B4-BE49-F238E27FC236}">
                              <a16:creationId xmlns:a16="http://schemas.microsoft.com/office/drawing/2014/main" id="{000F8B4F-9D5A-737E-BB39-78C80F1C0C7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  <p:grpSp>
                <p:nvGrpSpPr>
                  <p:cNvPr id="48" name="组合 47">
                    <a:extLst>
                      <a:ext uri="{FF2B5EF4-FFF2-40B4-BE49-F238E27FC236}">
                        <a16:creationId xmlns:a16="http://schemas.microsoft.com/office/drawing/2014/main" id="{CB8D1791-2C42-6127-6904-97E77A7A9A53}"/>
                      </a:ext>
                    </a:extLst>
                  </p:cNvPr>
                  <p:cNvGrpSpPr/>
                  <p:nvPr/>
                </p:nvGrpSpPr>
                <p:grpSpPr>
                  <a:xfrm>
                    <a:off x="3330000" y="3780000"/>
                    <a:ext cx="1260000" cy="448900"/>
                    <a:chOff x="3510000" y="3600000"/>
                    <a:chExt cx="1260000" cy="448900"/>
                  </a:xfrm>
                  <a:grpFill/>
                </p:grpSpPr>
                <p:grpSp>
                  <p:nvGrpSpPr>
                    <p:cNvPr id="49" name="组合 48">
                      <a:extLst>
                        <a:ext uri="{FF2B5EF4-FFF2-40B4-BE49-F238E27FC236}">
                          <a16:creationId xmlns:a16="http://schemas.microsoft.com/office/drawing/2014/main" id="{F6BCB142-FEC9-FADA-5882-4A7D924958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00000" y="36000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57" name="组合 56">
                        <a:extLst>
                          <a:ext uri="{FF2B5EF4-FFF2-40B4-BE49-F238E27FC236}">
                            <a16:creationId xmlns:a16="http://schemas.microsoft.com/office/drawing/2014/main" id="{738DC880-659E-5D12-570C-880E1D04A20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61" name="立方体 60">
                          <a:extLst>
                            <a:ext uri="{FF2B5EF4-FFF2-40B4-BE49-F238E27FC236}">
                              <a16:creationId xmlns:a16="http://schemas.microsoft.com/office/drawing/2014/main" id="{C47207F8-8328-F5A1-C827-721E5A1895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62" name="立方体 61">
                          <a:extLst>
                            <a:ext uri="{FF2B5EF4-FFF2-40B4-BE49-F238E27FC236}">
                              <a16:creationId xmlns:a16="http://schemas.microsoft.com/office/drawing/2014/main" id="{23AABDA1-B907-4ED4-CECF-CB6F6174373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58" name="组合 57">
                        <a:extLst>
                          <a:ext uri="{FF2B5EF4-FFF2-40B4-BE49-F238E27FC236}">
                            <a16:creationId xmlns:a16="http://schemas.microsoft.com/office/drawing/2014/main" id="{140FC7A4-B0DB-EA73-8A56-8C9975A0423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59" name="立方体 58">
                          <a:extLst>
                            <a:ext uri="{FF2B5EF4-FFF2-40B4-BE49-F238E27FC236}">
                              <a16:creationId xmlns:a16="http://schemas.microsoft.com/office/drawing/2014/main" id="{D1656AE0-BCC4-B22E-2D11-771B562F82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60" name="立方体 59">
                          <a:extLst>
                            <a:ext uri="{FF2B5EF4-FFF2-40B4-BE49-F238E27FC236}">
                              <a16:creationId xmlns:a16="http://schemas.microsoft.com/office/drawing/2014/main" id="{52AA2CB1-92A5-E9C2-1469-B5B0B94E73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grpFill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  <p:grpSp>
                  <p:nvGrpSpPr>
                    <p:cNvPr id="50" name="组合 49">
                      <a:extLst>
                        <a:ext uri="{FF2B5EF4-FFF2-40B4-BE49-F238E27FC236}">
                          <a16:creationId xmlns:a16="http://schemas.microsoft.com/office/drawing/2014/main" id="{719A2FAB-EF50-F463-3A70-D567A9C017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0000" y="3688900"/>
                      <a:ext cx="1170000" cy="360000"/>
                      <a:chOff x="3600000" y="3600000"/>
                      <a:chExt cx="1170000" cy="360000"/>
                    </a:xfrm>
                    <a:grpFill/>
                  </p:grpSpPr>
                  <p:grpSp>
                    <p:nvGrpSpPr>
                      <p:cNvPr id="51" name="组合 50">
                        <a:extLst>
                          <a:ext uri="{FF2B5EF4-FFF2-40B4-BE49-F238E27FC236}">
                            <a16:creationId xmlns:a16="http://schemas.microsoft.com/office/drawing/2014/main" id="{4DCD31E6-12EC-9EA7-8DEA-C568D39B3F7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55" name="立方体 54">
                          <a:extLst>
                            <a:ext uri="{FF2B5EF4-FFF2-40B4-BE49-F238E27FC236}">
                              <a16:creationId xmlns:a16="http://schemas.microsoft.com/office/drawing/2014/main" id="{1B78C4ED-E533-E484-52D1-81FE7602833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  <p:sp>
                      <p:nvSpPr>
                        <p:cNvPr id="56" name="立方体 55">
                          <a:extLst>
                            <a:ext uri="{FF2B5EF4-FFF2-40B4-BE49-F238E27FC236}">
                              <a16:creationId xmlns:a16="http://schemas.microsoft.com/office/drawing/2014/main" id="{02620EDD-DC00-8532-E4C3-E79107845A5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  <p:grpSp>
                    <p:nvGrpSpPr>
                      <p:cNvPr id="52" name="组合 51">
                        <a:extLst>
                          <a:ext uri="{FF2B5EF4-FFF2-40B4-BE49-F238E27FC236}">
                            <a16:creationId xmlns:a16="http://schemas.microsoft.com/office/drawing/2014/main" id="{8072D53A-3003-5F24-746B-FD431370016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40000" y="3600000"/>
                        <a:ext cx="630000" cy="360000"/>
                        <a:chOff x="3600000" y="3600000"/>
                        <a:chExt cx="630000" cy="360000"/>
                      </a:xfrm>
                      <a:grpFill/>
                    </p:grpSpPr>
                    <p:sp>
                      <p:nvSpPr>
                        <p:cNvPr id="53" name="立方体 52">
                          <a:extLst>
                            <a:ext uri="{FF2B5EF4-FFF2-40B4-BE49-F238E27FC236}">
                              <a16:creationId xmlns:a16="http://schemas.microsoft.com/office/drawing/2014/main" id="{B59EF36D-B009-32F4-1700-66B42806C31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60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/>
                        </a:p>
                      </p:txBody>
                    </p:sp>
                    <p:sp>
                      <p:nvSpPr>
                        <p:cNvPr id="54" name="立方体 53">
                          <a:extLst>
                            <a:ext uri="{FF2B5EF4-FFF2-40B4-BE49-F238E27FC236}">
                              <a16:creationId xmlns:a16="http://schemas.microsoft.com/office/drawing/2014/main" id="{CCEF8442-7D48-F79E-6263-64CBC95802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70000" y="3600000"/>
                          <a:ext cx="360000" cy="360000"/>
                        </a:xfrm>
                        <a:prstGeom prst="cube">
                          <a:avLst/>
                        </a:prstGeom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kumimoji="1" lang="zh-CN" altLang="en-US" dirty="0"/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7" name="立方体 6">
              <a:extLst>
                <a:ext uri="{FF2B5EF4-FFF2-40B4-BE49-F238E27FC236}">
                  <a16:creationId xmlns:a16="http://schemas.microsoft.com/office/drawing/2014/main" id="{470A8E5E-26CE-F99C-7439-8B1BDA91BC6F}"/>
                </a:ext>
              </a:extLst>
            </p:cNvPr>
            <p:cNvSpPr/>
            <p:nvPr/>
          </p:nvSpPr>
          <p:spPr>
            <a:xfrm>
              <a:off x="2486869" y="114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立方体 7">
              <a:extLst>
                <a:ext uri="{FF2B5EF4-FFF2-40B4-BE49-F238E27FC236}">
                  <a16:creationId xmlns:a16="http://schemas.microsoft.com/office/drawing/2014/main" id="{CAA3E78F-26F3-EA04-B0C1-ADEFB4268F00}"/>
                </a:ext>
              </a:extLst>
            </p:cNvPr>
            <p:cNvSpPr/>
            <p:nvPr/>
          </p:nvSpPr>
          <p:spPr>
            <a:xfrm>
              <a:off x="2756869" y="114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立方体 8">
              <a:extLst>
                <a:ext uri="{FF2B5EF4-FFF2-40B4-BE49-F238E27FC236}">
                  <a16:creationId xmlns:a16="http://schemas.microsoft.com/office/drawing/2014/main" id="{D9221AB7-C760-7A81-085F-81210D314FE2}"/>
                </a:ext>
              </a:extLst>
            </p:cNvPr>
            <p:cNvSpPr/>
            <p:nvPr/>
          </p:nvSpPr>
          <p:spPr>
            <a:xfrm>
              <a:off x="2396869" y="123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立方体 9">
              <a:extLst>
                <a:ext uri="{FF2B5EF4-FFF2-40B4-BE49-F238E27FC236}">
                  <a16:creationId xmlns:a16="http://schemas.microsoft.com/office/drawing/2014/main" id="{45A28442-2C4C-5A90-6922-26E09D058788}"/>
                </a:ext>
              </a:extLst>
            </p:cNvPr>
            <p:cNvSpPr/>
            <p:nvPr/>
          </p:nvSpPr>
          <p:spPr>
            <a:xfrm>
              <a:off x="2666869" y="123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" name="立方体 10">
              <a:extLst>
                <a:ext uri="{FF2B5EF4-FFF2-40B4-BE49-F238E27FC236}">
                  <a16:creationId xmlns:a16="http://schemas.microsoft.com/office/drawing/2014/main" id="{AA941661-194B-6DCA-69DA-1C28B7068649}"/>
                </a:ext>
              </a:extLst>
            </p:cNvPr>
            <p:cNvSpPr/>
            <p:nvPr/>
          </p:nvSpPr>
          <p:spPr>
            <a:xfrm>
              <a:off x="2306869" y="132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立方体 11">
              <a:extLst>
                <a:ext uri="{FF2B5EF4-FFF2-40B4-BE49-F238E27FC236}">
                  <a16:creationId xmlns:a16="http://schemas.microsoft.com/office/drawing/2014/main" id="{4587D174-8619-57FD-A6CE-9EC66C8A608B}"/>
                </a:ext>
              </a:extLst>
            </p:cNvPr>
            <p:cNvSpPr/>
            <p:nvPr/>
          </p:nvSpPr>
          <p:spPr>
            <a:xfrm>
              <a:off x="2576869" y="132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D3FF563F-55AD-1E70-612F-B667D5284A19}"/>
                </a:ext>
              </a:extLst>
            </p:cNvPr>
            <p:cNvSpPr/>
            <p:nvPr/>
          </p:nvSpPr>
          <p:spPr>
            <a:xfrm>
              <a:off x="2216869" y="141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立方体 13">
              <a:extLst>
                <a:ext uri="{FF2B5EF4-FFF2-40B4-BE49-F238E27FC236}">
                  <a16:creationId xmlns:a16="http://schemas.microsoft.com/office/drawing/2014/main" id="{BC3819AC-B768-867F-25CB-6AF9184EC6B7}"/>
                </a:ext>
              </a:extLst>
            </p:cNvPr>
            <p:cNvSpPr/>
            <p:nvPr/>
          </p:nvSpPr>
          <p:spPr>
            <a:xfrm>
              <a:off x="2486869" y="141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5" name="立方体 14">
              <a:extLst>
                <a:ext uri="{FF2B5EF4-FFF2-40B4-BE49-F238E27FC236}">
                  <a16:creationId xmlns:a16="http://schemas.microsoft.com/office/drawing/2014/main" id="{8BECBBE2-FD72-FEDD-C15F-D79EFD4E83A4}"/>
                </a:ext>
              </a:extLst>
            </p:cNvPr>
            <p:cNvSpPr/>
            <p:nvPr/>
          </p:nvSpPr>
          <p:spPr>
            <a:xfrm>
              <a:off x="2486869" y="87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468273D1-DD74-FBA8-2DF9-8EE69D8A7F80}"/>
                </a:ext>
              </a:extLst>
            </p:cNvPr>
            <p:cNvSpPr/>
            <p:nvPr/>
          </p:nvSpPr>
          <p:spPr>
            <a:xfrm>
              <a:off x="2756869" y="87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立方体 16">
              <a:extLst>
                <a:ext uri="{FF2B5EF4-FFF2-40B4-BE49-F238E27FC236}">
                  <a16:creationId xmlns:a16="http://schemas.microsoft.com/office/drawing/2014/main" id="{8F3B29F7-BE76-0A61-962A-39299E5799CE}"/>
                </a:ext>
              </a:extLst>
            </p:cNvPr>
            <p:cNvSpPr/>
            <p:nvPr/>
          </p:nvSpPr>
          <p:spPr>
            <a:xfrm>
              <a:off x="2396869" y="96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立方体 17">
              <a:extLst>
                <a:ext uri="{FF2B5EF4-FFF2-40B4-BE49-F238E27FC236}">
                  <a16:creationId xmlns:a16="http://schemas.microsoft.com/office/drawing/2014/main" id="{07EC3935-A4EF-E654-5138-343164FCE059}"/>
                </a:ext>
              </a:extLst>
            </p:cNvPr>
            <p:cNvSpPr/>
            <p:nvPr/>
          </p:nvSpPr>
          <p:spPr>
            <a:xfrm>
              <a:off x="2666869" y="96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立方体 18">
              <a:extLst>
                <a:ext uri="{FF2B5EF4-FFF2-40B4-BE49-F238E27FC236}">
                  <a16:creationId xmlns:a16="http://schemas.microsoft.com/office/drawing/2014/main" id="{A01DE468-B7FF-97E4-FBF2-942BD1268FFE}"/>
                </a:ext>
              </a:extLst>
            </p:cNvPr>
            <p:cNvSpPr/>
            <p:nvPr/>
          </p:nvSpPr>
          <p:spPr>
            <a:xfrm>
              <a:off x="2306869" y="105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立方体 19">
              <a:extLst>
                <a:ext uri="{FF2B5EF4-FFF2-40B4-BE49-F238E27FC236}">
                  <a16:creationId xmlns:a16="http://schemas.microsoft.com/office/drawing/2014/main" id="{04758ED6-2B3C-1157-88EE-E9AF964D40C6}"/>
                </a:ext>
              </a:extLst>
            </p:cNvPr>
            <p:cNvSpPr/>
            <p:nvPr/>
          </p:nvSpPr>
          <p:spPr>
            <a:xfrm>
              <a:off x="2576869" y="105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1" name="立方体 20">
              <a:extLst>
                <a:ext uri="{FF2B5EF4-FFF2-40B4-BE49-F238E27FC236}">
                  <a16:creationId xmlns:a16="http://schemas.microsoft.com/office/drawing/2014/main" id="{78446301-C5CE-1544-5689-AB70A3545138}"/>
                </a:ext>
              </a:extLst>
            </p:cNvPr>
            <p:cNvSpPr/>
            <p:nvPr/>
          </p:nvSpPr>
          <p:spPr>
            <a:xfrm>
              <a:off x="2216869" y="114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立方体 21">
              <a:extLst>
                <a:ext uri="{FF2B5EF4-FFF2-40B4-BE49-F238E27FC236}">
                  <a16:creationId xmlns:a16="http://schemas.microsoft.com/office/drawing/2014/main" id="{C8C9ADE2-E0F1-3A54-46C5-D5AF4BB5F54A}"/>
                </a:ext>
              </a:extLst>
            </p:cNvPr>
            <p:cNvSpPr/>
            <p:nvPr/>
          </p:nvSpPr>
          <p:spPr>
            <a:xfrm>
              <a:off x="2486869" y="114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3" name="立方体 22">
              <a:extLst>
                <a:ext uri="{FF2B5EF4-FFF2-40B4-BE49-F238E27FC236}">
                  <a16:creationId xmlns:a16="http://schemas.microsoft.com/office/drawing/2014/main" id="{B7E3D011-11CE-1D90-991B-E9BAC9F13664}"/>
                </a:ext>
              </a:extLst>
            </p:cNvPr>
            <p:cNvSpPr/>
            <p:nvPr/>
          </p:nvSpPr>
          <p:spPr>
            <a:xfrm>
              <a:off x="2486869" y="60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立方体 23">
              <a:extLst>
                <a:ext uri="{FF2B5EF4-FFF2-40B4-BE49-F238E27FC236}">
                  <a16:creationId xmlns:a16="http://schemas.microsoft.com/office/drawing/2014/main" id="{883E5FEF-D93D-6CD6-C047-9345613B92A5}"/>
                </a:ext>
              </a:extLst>
            </p:cNvPr>
            <p:cNvSpPr/>
            <p:nvPr/>
          </p:nvSpPr>
          <p:spPr>
            <a:xfrm>
              <a:off x="2756869" y="60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5" name="立方体 24">
              <a:extLst>
                <a:ext uri="{FF2B5EF4-FFF2-40B4-BE49-F238E27FC236}">
                  <a16:creationId xmlns:a16="http://schemas.microsoft.com/office/drawing/2014/main" id="{0B865957-D6FE-B2E9-C450-6FA100A689FE}"/>
                </a:ext>
              </a:extLst>
            </p:cNvPr>
            <p:cNvSpPr/>
            <p:nvPr/>
          </p:nvSpPr>
          <p:spPr>
            <a:xfrm>
              <a:off x="2396869" y="69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立方体 25">
              <a:extLst>
                <a:ext uri="{FF2B5EF4-FFF2-40B4-BE49-F238E27FC236}">
                  <a16:creationId xmlns:a16="http://schemas.microsoft.com/office/drawing/2014/main" id="{A6DAA49E-412B-BE38-1116-B9FE9938131C}"/>
                </a:ext>
              </a:extLst>
            </p:cNvPr>
            <p:cNvSpPr/>
            <p:nvPr/>
          </p:nvSpPr>
          <p:spPr>
            <a:xfrm>
              <a:off x="2666869" y="69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7" name="立方体 26">
              <a:extLst>
                <a:ext uri="{FF2B5EF4-FFF2-40B4-BE49-F238E27FC236}">
                  <a16:creationId xmlns:a16="http://schemas.microsoft.com/office/drawing/2014/main" id="{9ECAF70A-06C4-6995-176F-3FCEAD297A88}"/>
                </a:ext>
              </a:extLst>
            </p:cNvPr>
            <p:cNvSpPr/>
            <p:nvPr/>
          </p:nvSpPr>
          <p:spPr>
            <a:xfrm>
              <a:off x="2306869" y="78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立方体 27">
              <a:extLst>
                <a:ext uri="{FF2B5EF4-FFF2-40B4-BE49-F238E27FC236}">
                  <a16:creationId xmlns:a16="http://schemas.microsoft.com/office/drawing/2014/main" id="{D6E616BC-8E8A-FA6D-C5DA-1C0B89A0FD39}"/>
                </a:ext>
              </a:extLst>
            </p:cNvPr>
            <p:cNvSpPr/>
            <p:nvPr/>
          </p:nvSpPr>
          <p:spPr>
            <a:xfrm>
              <a:off x="2576869" y="78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9E07AAC0-C575-D3BB-71B4-CE1F60EE26CA}"/>
                </a:ext>
              </a:extLst>
            </p:cNvPr>
            <p:cNvSpPr/>
            <p:nvPr/>
          </p:nvSpPr>
          <p:spPr>
            <a:xfrm>
              <a:off x="2216869" y="87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立方体 29">
              <a:extLst>
                <a:ext uri="{FF2B5EF4-FFF2-40B4-BE49-F238E27FC236}">
                  <a16:creationId xmlns:a16="http://schemas.microsoft.com/office/drawing/2014/main" id="{86E1F14C-70E5-42C5-A0AA-9FE3F08D2E94}"/>
                </a:ext>
              </a:extLst>
            </p:cNvPr>
            <p:cNvSpPr/>
            <p:nvPr/>
          </p:nvSpPr>
          <p:spPr>
            <a:xfrm>
              <a:off x="2486869" y="87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立方体 30">
              <a:extLst>
                <a:ext uri="{FF2B5EF4-FFF2-40B4-BE49-F238E27FC236}">
                  <a16:creationId xmlns:a16="http://schemas.microsoft.com/office/drawing/2014/main" id="{A84C627D-1735-F9FC-66FE-B4D974F36232}"/>
                </a:ext>
              </a:extLst>
            </p:cNvPr>
            <p:cNvSpPr/>
            <p:nvPr/>
          </p:nvSpPr>
          <p:spPr>
            <a:xfrm>
              <a:off x="2486869" y="33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立方体 31">
              <a:extLst>
                <a:ext uri="{FF2B5EF4-FFF2-40B4-BE49-F238E27FC236}">
                  <a16:creationId xmlns:a16="http://schemas.microsoft.com/office/drawing/2014/main" id="{6C884574-5749-53B3-9938-708DA602C7DF}"/>
                </a:ext>
              </a:extLst>
            </p:cNvPr>
            <p:cNvSpPr/>
            <p:nvPr/>
          </p:nvSpPr>
          <p:spPr>
            <a:xfrm>
              <a:off x="2756869" y="33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E06E6E21-0D4C-4E80-D352-D07CD31A107B}"/>
                </a:ext>
              </a:extLst>
            </p:cNvPr>
            <p:cNvSpPr/>
            <p:nvPr/>
          </p:nvSpPr>
          <p:spPr>
            <a:xfrm>
              <a:off x="2396869" y="42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立方体 33">
              <a:extLst>
                <a:ext uri="{FF2B5EF4-FFF2-40B4-BE49-F238E27FC236}">
                  <a16:creationId xmlns:a16="http://schemas.microsoft.com/office/drawing/2014/main" id="{C028195A-9456-48E4-482B-166F80A75AEA}"/>
                </a:ext>
              </a:extLst>
            </p:cNvPr>
            <p:cNvSpPr/>
            <p:nvPr/>
          </p:nvSpPr>
          <p:spPr>
            <a:xfrm>
              <a:off x="2666869" y="4273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5" name="立方体 34">
              <a:extLst>
                <a:ext uri="{FF2B5EF4-FFF2-40B4-BE49-F238E27FC236}">
                  <a16:creationId xmlns:a16="http://schemas.microsoft.com/office/drawing/2014/main" id="{ADEA3B4F-EB9C-5354-15B7-06606667520F}"/>
                </a:ext>
              </a:extLst>
            </p:cNvPr>
            <p:cNvSpPr/>
            <p:nvPr/>
          </p:nvSpPr>
          <p:spPr>
            <a:xfrm>
              <a:off x="2306869" y="51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立方体 35">
              <a:extLst>
                <a:ext uri="{FF2B5EF4-FFF2-40B4-BE49-F238E27FC236}">
                  <a16:creationId xmlns:a16="http://schemas.microsoft.com/office/drawing/2014/main" id="{CCE6C9E4-B60F-B67D-3CE1-37A79E3C9A61}"/>
                </a:ext>
              </a:extLst>
            </p:cNvPr>
            <p:cNvSpPr/>
            <p:nvPr/>
          </p:nvSpPr>
          <p:spPr>
            <a:xfrm>
              <a:off x="2576869" y="518445"/>
              <a:ext cx="360000" cy="360000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7" name="立方体 36">
              <a:extLst>
                <a:ext uri="{FF2B5EF4-FFF2-40B4-BE49-F238E27FC236}">
                  <a16:creationId xmlns:a16="http://schemas.microsoft.com/office/drawing/2014/main" id="{4781D38C-79F6-997D-CCF6-7D7D05D6CC56}"/>
                </a:ext>
              </a:extLst>
            </p:cNvPr>
            <p:cNvSpPr/>
            <p:nvPr/>
          </p:nvSpPr>
          <p:spPr>
            <a:xfrm>
              <a:off x="2216869" y="607345"/>
              <a:ext cx="360000" cy="360000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立方体 37">
              <a:extLst>
                <a:ext uri="{FF2B5EF4-FFF2-40B4-BE49-F238E27FC236}">
                  <a16:creationId xmlns:a16="http://schemas.microsoft.com/office/drawing/2014/main" id="{F84366FF-C2A5-1C55-AE03-28BC1AC05F0E}"/>
                </a:ext>
              </a:extLst>
            </p:cNvPr>
            <p:cNvSpPr/>
            <p:nvPr/>
          </p:nvSpPr>
          <p:spPr>
            <a:xfrm>
              <a:off x="2486869" y="607345"/>
              <a:ext cx="360000" cy="360000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9" name="直线箭头连接符 38">
              <a:extLst>
                <a:ext uri="{FF2B5EF4-FFF2-40B4-BE49-F238E27FC236}">
                  <a16:creationId xmlns:a16="http://schemas.microsoft.com/office/drawing/2014/main" id="{75FC5337-7547-D0CE-7907-9E2B7C972274}"/>
                </a:ext>
              </a:extLst>
            </p:cNvPr>
            <p:cNvCxnSpPr/>
            <p:nvPr/>
          </p:nvCxnSpPr>
          <p:spPr>
            <a:xfrm flipV="1">
              <a:off x="1130938" y="247924"/>
              <a:ext cx="430967" cy="434714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箭头连接符 39">
              <a:extLst>
                <a:ext uri="{FF2B5EF4-FFF2-40B4-BE49-F238E27FC236}">
                  <a16:creationId xmlns:a16="http://schemas.microsoft.com/office/drawing/2014/main" id="{65CD0360-2248-97BE-39BA-7EC0E635799A}"/>
                </a:ext>
              </a:extLst>
            </p:cNvPr>
            <p:cNvCxnSpPr>
              <a:cxnSpLocks/>
            </p:cNvCxnSpPr>
            <p:nvPr/>
          </p:nvCxnSpPr>
          <p:spPr>
            <a:xfrm>
              <a:off x="1130938" y="675143"/>
              <a:ext cx="0" cy="1262921"/>
            </a:xfrm>
            <a:prstGeom prst="straightConnector1">
              <a:avLst/>
            </a:prstGeom>
            <a:grpFill/>
            <a:ln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箭头连接符 40">
              <a:extLst>
                <a:ext uri="{FF2B5EF4-FFF2-40B4-BE49-F238E27FC236}">
                  <a16:creationId xmlns:a16="http://schemas.microsoft.com/office/drawing/2014/main" id="{E723DE5D-A7EA-E975-A0F0-3FA9611C952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190" y="686386"/>
              <a:ext cx="2113613" cy="0"/>
            </a:xfrm>
            <a:prstGeom prst="straightConnector1">
              <a:avLst/>
            </a:prstGeom>
            <a:grp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29DDA36-D573-6473-18FC-B389F43A2534}"/>
                </a:ext>
              </a:extLst>
            </p:cNvPr>
            <p:cNvSpPr txBox="1"/>
            <p:nvPr/>
          </p:nvSpPr>
          <p:spPr>
            <a:xfrm>
              <a:off x="3014843" y="321736"/>
              <a:ext cx="1525390" cy="350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800" dirty="0">
                  <a:solidFill>
                    <a:srgbClr val="FF0000"/>
                  </a:solidFill>
                  <a:latin typeface="Helvetica" pitchFamily="2" charset="0"/>
                </a:rPr>
                <a:t>Fast-axis</a:t>
              </a:r>
              <a:endParaRPr kumimoji="1" lang="zh-CN" altLang="en-US" sz="800" dirty="0">
                <a:solidFill>
                  <a:srgbClr val="FF0000"/>
                </a:solidFill>
                <a:latin typeface="Helvetica" pitchFamily="2" charset="0"/>
              </a:endParaRPr>
            </a:p>
          </p:txBody>
        </p:sp>
      </p:grpSp>
      <p:sp>
        <p:nvSpPr>
          <p:cNvPr id="169" name="文本框 168">
            <a:extLst>
              <a:ext uri="{FF2B5EF4-FFF2-40B4-BE49-F238E27FC236}">
                <a16:creationId xmlns:a16="http://schemas.microsoft.com/office/drawing/2014/main" id="{3B59B529-E25C-70AB-E0EF-8AB514D54966}"/>
              </a:ext>
            </a:extLst>
          </p:cNvPr>
          <p:cNvSpPr txBox="1"/>
          <p:nvPr/>
        </p:nvSpPr>
        <p:spPr>
          <a:xfrm>
            <a:off x="628033" y="691942"/>
            <a:ext cx="1953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Main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Memory</a:t>
            </a:r>
          </a:p>
        </p:txBody>
      </p: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4A5CB3A2-A5E8-5282-BBBA-EADED70D2AA2}"/>
              </a:ext>
            </a:extLst>
          </p:cNvPr>
          <p:cNvGrpSpPr/>
          <p:nvPr/>
        </p:nvGrpSpPr>
        <p:grpSpPr>
          <a:xfrm>
            <a:off x="5236717" y="1139283"/>
            <a:ext cx="1052041" cy="222251"/>
            <a:chOff x="3066145" y="3888703"/>
            <a:chExt cx="1052041" cy="22225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1" name="立方体 170">
              <a:extLst>
                <a:ext uri="{FF2B5EF4-FFF2-40B4-BE49-F238E27FC236}">
                  <a16:creationId xmlns:a16="http://schemas.microsoft.com/office/drawing/2014/main" id="{6905BA2B-B1EE-BC9B-5E84-E7B5352611B3}"/>
                </a:ext>
              </a:extLst>
            </p:cNvPr>
            <p:cNvSpPr/>
            <p:nvPr/>
          </p:nvSpPr>
          <p:spPr>
            <a:xfrm>
              <a:off x="3066145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立方体 171">
              <a:extLst>
                <a:ext uri="{FF2B5EF4-FFF2-40B4-BE49-F238E27FC236}">
                  <a16:creationId xmlns:a16="http://schemas.microsoft.com/office/drawing/2014/main" id="{938B7711-4FFD-46CE-FD38-5CA35225D729}"/>
                </a:ext>
              </a:extLst>
            </p:cNvPr>
            <p:cNvSpPr/>
            <p:nvPr/>
          </p:nvSpPr>
          <p:spPr>
            <a:xfrm>
              <a:off x="3232257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3" name="立方体 172">
              <a:extLst>
                <a:ext uri="{FF2B5EF4-FFF2-40B4-BE49-F238E27FC236}">
                  <a16:creationId xmlns:a16="http://schemas.microsoft.com/office/drawing/2014/main" id="{B5849380-2A44-56A1-E2A7-E22C33A65489}"/>
                </a:ext>
              </a:extLst>
            </p:cNvPr>
            <p:cNvSpPr/>
            <p:nvPr/>
          </p:nvSpPr>
          <p:spPr>
            <a:xfrm>
              <a:off x="3398369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4" name="立方体 173">
              <a:extLst>
                <a:ext uri="{FF2B5EF4-FFF2-40B4-BE49-F238E27FC236}">
                  <a16:creationId xmlns:a16="http://schemas.microsoft.com/office/drawing/2014/main" id="{57536F6C-A888-6B95-769D-BAE2B0F735A9}"/>
                </a:ext>
              </a:extLst>
            </p:cNvPr>
            <p:cNvSpPr/>
            <p:nvPr/>
          </p:nvSpPr>
          <p:spPr>
            <a:xfrm>
              <a:off x="3564481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5" name="立方体 174">
              <a:extLst>
                <a:ext uri="{FF2B5EF4-FFF2-40B4-BE49-F238E27FC236}">
                  <a16:creationId xmlns:a16="http://schemas.microsoft.com/office/drawing/2014/main" id="{07B527E9-B918-2B44-2128-2201E1D64A6B}"/>
                </a:ext>
              </a:extLst>
            </p:cNvPr>
            <p:cNvSpPr/>
            <p:nvPr/>
          </p:nvSpPr>
          <p:spPr>
            <a:xfrm>
              <a:off x="3730592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6" name="立方体 175">
              <a:extLst>
                <a:ext uri="{FF2B5EF4-FFF2-40B4-BE49-F238E27FC236}">
                  <a16:creationId xmlns:a16="http://schemas.microsoft.com/office/drawing/2014/main" id="{CAEA6562-2FD3-E7AE-0F7C-5962ABD5CB2E}"/>
                </a:ext>
              </a:extLst>
            </p:cNvPr>
            <p:cNvSpPr/>
            <p:nvPr/>
          </p:nvSpPr>
          <p:spPr>
            <a:xfrm>
              <a:off x="3896704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177" name="直线连接符 176">
            <a:extLst>
              <a:ext uri="{FF2B5EF4-FFF2-40B4-BE49-F238E27FC236}">
                <a16:creationId xmlns:a16="http://schemas.microsoft.com/office/drawing/2014/main" id="{3EEC49F7-9DB7-388A-08A9-3F64FF96EA2A}"/>
              </a:ext>
            </a:extLst>
          </p:cNvPr>
          <p:cNvCxnSpPr>
            <a:cxnSpLocks/>
            <a:stCxn id="38" idx="4"/>
          </p:cNvCxnSpPr>
          <p:nvPr/>
        </p:nvCxnSpPr>
        <p:spPr>
          <a:xfrm>
            <a:off x="4354133" y="682602"/>
            <a:ext cx="893187" cy="5179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FF17E59-7C66-AE45-0288-ED63FCD5F4BD}"/>
              </a:ext>
            </a:extLst>
          </p:cNvPr>
          <p:cNvSpPr txBox="1"/>
          <p:nvPr/>
        </p:nvSpPr>
        <p:spPr>
          <a:xfrm>
            <a:off x="6252520" y="1023513"/>
            <a:ext cx="1928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1000" b="1" baseline="-25000" dirty="0" err="1">
                <a:latin typeface="Helvetica" pitchFamily="2" charset="0"/>
              </a:rPr>
              <a:t>batch</a:t>
            </a:r>
            <a:r>
              <a:rPr kumimoji="1" lang="zh-CN" altLang="en-US" sz="1000" b="1" dirty="0">
                <a:latin typeface="Helvetica" pitchFamily="2" charset="0"/>
              </a:rPr>
              <a:t> </a:t>
            </a:r>
            <a:r>
              <a:rPr lang="zh-CN" altLang="zh-CN" sz="1000" b="1" dirty="0">
                <a:latin typeface="Helvetica" pitchFamily="2" charset="0"/>
              </a:rPr>
              <a:t>adjacent fast-axis blocks assigned to </a:t>
            </a:r>
            <a:r>
              <a:rPr lang="en-US" altLang="zh-CN" sz="1000" b="1" dirty="0">
                <a:latin typeface="Helvetica" pitchFamily="2" charset="0"/>
              </a:rPr>
              <a:t>1</a:t>
            </a:r>
            <a:r>
              <a:rPr lang="zh-CN" altLang="zh-CN" sz="1000" b="1" dirty="0">
                <a:latin typeface="Helvetica" pitchFamily="2" charset="0"/>
              </a:rPr>
              <a:t> CPE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8A03ECF2-3585-939A-BCBB-EFAEFBC0E60F}"/>
              </a:ext>
            </a:extLst>
          </p:cNvPr>
          <p:cNvSpPr txBox="1"/>
          <p:nvPr/>
        </p:nvSpPr>
        <p:spPr>
          <a:xfrm>
            <a:off x="2139848" y="573131"/>
            <a:ext cx="11598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Original or</a:t>
            </a:r>
          </a:p>
          <a:p>
            <a:pPr algn="ctr"/>
            <a:r>
              <a:rPr kumimoji="1" lang="en-US" altLang="zh-CN" sz="1000" b="1" dirty="0">
                <a:latin typeface="Helvetica" pitchFamily="2" charset="0"/>
              </a:rPr>
              <a:t>Reconstructed</a:t>
            </a:r>
          </a:p>
          <a:p>
            <a:pPr algn="ctr"/>
            <a:r>
              <a:rPr kumimoji="1" lang="en-US" altLang="zh-CN" sz="1000" b="1" dirty="0">
                <a:latin typeface="Helvetica" pitchFamily="2" charset="0"/>
              </a:rPr>
              <a:t>Data</a:t>
            </a:r>
          </a:p>
        </p:txBody>
      </p:sp>
      <p:sp>
        <p:nvSpPr>
          <p:cNvPr id="180" name="圆角矩形 179">
            <a:extLst>
              <a:ext uri="{FF2B5EF4-FFF2-40B4-BE49-F238E27FC236}">
                <a16:creationId xmlns:a16="http://schemas.microsoft.com/office/drawing/2014/main" id="{17751B38-9172-FD5F-9ACE-76151BB71498}"/>
              </a:ext>
            </a:extLst>
          </p:cNvPr>
          <p:cNvSpPr/>
          <p:nvPr/>
        </p:nvSpPr>
        <p:spPr>
          <a:xfrm>
            <a:off x="496900" y="1673019"/>
            <a:ext cx="11244262" cy="3520831"/>
          </a:xfrm>
          <a:prstGeom prst="roundRect">
            <a:avLst>
              <a:gd name="adj" fmla="val 401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8E6CD9E2-9516-F7FA-26D5-71C654E8D758}"/>
              </a:ext>
            </a:extLst>
          </p:cNvPr>
          <p:cNvSpPr txBox="1"/>
          <p:nvPr/>
        </p:nvSpPr>
        <p:spPr>
          <a:xfrm>
            <a:off x="628033" y="1698503"/>
            <a:ext cx="346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>
                <a:latin typeface="Helvetica" pitchFamily="2" charset="0"/>
              </a:rPr>
              <a:t>Core Group (CG): 1 MPE + 64 CPEs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182" name="圆角矩形 181">
            <a:extLst>
              <a:ext uri="{FF2B5EF4-FFF2-40B4-BE49-F238E27FC236}">
                <a16:creationId xmlns:a16="http://schemas.microsoft.com/office/drawing/2014/main" id="{F86A2A8F-5E7B-F9A5-F063-ED31D4B4FF01}"/>
              </a:ext>
            </a:extLst>
          </p:cNvPr>
          <p:cNvSpPr/>
          <p:nvPr/>
        </p:nvSpPr>
        <p:spPr>
          <a:xfrm>
            <a:off x="754504" y="2044845"/>
            <a:ext cx="2692644" cy="929577"/>
          </a:xfrm>
          <a:prstGeom prst="roundRect">
            <a:avLst>
              <a:gd name="adj" fmla="val 8676"/>
            </a:avLst>
          </a:prstGeom>
          <a:solidFill>
            <a:srgbClr val="FFFFE4">
              <a:alpha val="8823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B0B0B552-5982-E07A-6B99-57EB4C9EE8F5}"/>
              </a:ext>
            </a:extLst>
          </p:cNvPr>
          <p:cNvSpPr txBox="1"/>
          <p:nvPr/>
        </p:nvSpPr>
        <p:spPr>
          <a:xfrm>
            <a:off x="1864958" y="2084153"/>
            <a:ext cx="569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Helvetica" pitchFamily="2" charset="0"/>
              </a:rPr>
              <a:t>MPE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187" name="圆角矩形 186">
            <a:extLst>
              <a:ext uri="{FF2B5EF4-FFF2-40B4-BE49-F238E27FC236}">
                <a16:creationId xmlns:a16="http://schemas.microsoft.com/office/drawing/2014/main" id="{4AF15C3D-1AF2-052E-56D7-3D5618832A63}"/>
              </a:ext>
            </a:extLst>
          </p:cNvPr>
          <p:cNvSpPr/>
          <p:nvPr/>
        </p:nvSpPr>
        <p:spPr>
          <a:xfrm>
            <a:off x="1079870" y="2448000"/>
            <a:ext cx="864000" cy="360000"/>
          </a:xfrm>
          <a:prstGeom prst="roundRect">
            <a:avLst>
              <a:gd name="adj" fmla="val 8676"/>
            </a:avLst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zh-CN" altLang="zh-CN" sz="12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Control </a:t>
            </a:r>
            <a:endParaRPr lang="en-US" altLang="zh-CN" sz="1200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88" name="圆角矩形 187">
            <a:extLst>
              <a:ext uri="{FF2B5EF4-FFF2-40B4-BE49-F238E27FC236}">
                <a16:creationId xmlns:a16="http://schemas.microsoft.com/office/drawing/2014/main" id="{4EEC9E2E-C134-A37F-4A97-0F62E1AF6A9A}"/>
              </a:ext>
            </a:extLst>
          </p:cNvPr>
          <p:cNvSpPr/>
          <p:nvPr/>
        </p:nvSpPr>
        <p:spPr>
          <a:xfrm>
            <a:off x="720055" y="3398218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682F5409-1F29-6402-AD62-3D2643100A29}"/>
              </a:ext>
            </a:extLst>
          </p:cNvPr>
          <p:cNvSpPr/>
          <p:nvPr/>
        </p:nvSpPr>
        <p:spPr>
          <a:xfrm>
            <a:off x="1523811" y="3398217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圆角矩形 189">
            <a:extLst>
              <a:ext uri="{FF2B5EF4-FFF2-40B4-BE49-F238E27FC236}">
                <a16:creationId xmlns:a16="http://schemas.microsoft.com/office/drawing/2014/main" id="{758E3908-D100-D83D-758F-6F1167C6284B}"/>
              </a:ext>
            </a:extLst>
          </p:cNvPr>
          <p:cNvSpPr/>
          <p:nvPr/>
        </p:nvSpPr>
        <p:spPr>
          <a:xfrm>
            <a:off x="2752365" y="3398217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175B5BEE-C075-237A-050F-211F38FFCB3C}"/>
              </a:ext>
            </a:extLst>
          </p:cNvPr>
          <p:cNvSpPr/>
          <p:nvPr/>
        </p:nvSpPr>
        <p:spPr>
          <a:xfrm>
            <a:off x="628034" y="3310312"/>
            <a:ext cx="2943902" cy="1510662"/>
          </a:xfrm>
          <a:prstGeom prst="roundRect">
            <a:avLst>
              <a:gd name="adj" fmla="val 4015"/>
            </a:avLst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7" name="直线箭头连接符 196">
            <a:extLst>
              <a:ext uri="{FF2B5EF4-FFF2-40B4-BE49-F238E27FC236}">
                <a16:creationId xmlns:a16="http://schemas.microsoft.com/office/drawing/2014/main" id="{130B5ED3-9B90-7E5B-3C4F-A16012915028}"/>
              </a:ext>
            </a:extLst>
          </p:cNvPr>
          <p:cNvCxnSpPr>
            <a:cxnSpLocks/>
          </p:cNvCxnSpPr>
          <p:nvPr/>
        </p:nvCxnSpPr>
        <p:spPr>
          <a:xfrm>
            <a:off x="1334452" y="2984041"/>
            <a:ext cx="0" cy="2863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圆角矩形 197">
            <a:extLst>
              <a:ext uri="{FF2B5EF4-FFF2-40B4-BE49-F238E27FC236}">
                <a16:creationId xmlns:a16="http://schemas.microsoft.com/office/drawing/2014/main" id="{E839536D-A9AD-40D6-6A2D-035AEB3D1FCA}"/>
              </a:ext>
            </a:extLst>
          </p:cNvPr>
          <p:cNvSpPr/>
          <p:nvPr/>
        </p:nvSpPr>
        <p:spPr>
          <a:xfrm>
            <a:off x="3956073" y="1773936"/>
            <a:ext cx="7607894" cy="3213053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zh-CN" altLang="en-US" sz="800" baseline="-250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F0312B19-DF98-C645-6ADF-B5283E131779}"/>
              </a:ext>
            </a:extLst>
          </p:cNvPr>
          <p:cNvCxnSpPr>
            <a:cxnSpLocks/>
          </p:cNvCxnSpPr>
          <p:nvPr/>
        </p:nvCxnSpPr>
        <p:spPr>
          <a:xfrm flipV="1">
            <a:off x="3462907" y="2710217"/>
            <a:ext cx="493165" cy="106529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2D91CB4B-C348-6FA8-D9BB-2A7585A3F583}"/>
              </a:ext>
            </a:extLst>
          </p:cNvPr>
          <p:cNvCxnSpPr>
            <a:cxnSpLocks/>
          </p:cNvCxnSpPr>
          <p:nvPr/>
        </p:nvCxnSpPr>
        <p:spPr>
          <a:xfrm>
            <a:off x="3471995" y="4083289"/>
            <a:ext cx="484077" cy="649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矩形 200">
            <a:extLst>
              <a:ext uri="{FF2B5EF4-FFF2-40B4-BE49-F238E27FC236}">
                <a16:creationId xmlns:a16="http://schemas.microsoft.com/office/drawing/2014/main" id="{1574523D-E477-7CCF-4DC0-18BCCCB04E8D}"/>
              </a:ext>
            </a:extLst>
          </p:cNvPr>
          <p:cNvSpPr/>
          <p:nvPr/>
        </p:nvSpPr>
        <p:spPr>
          <a:xfrm>
            <a:off x="5004512" y="1858009"/>
            <a:ext cx="6362180" cy="7747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E22842E8-5074-E090-E9FB-C178C852C250}"/>
              </a:ext>
            </a:extLst>
          </p:cNvPr>
          <p:cNvSpPr txBox="1"/>
          <p:nvPr/>
        </p:nvSpPr>
        <p:spPr>
          <a:xfrm>
            <a:off x="9993250" y="2136064"/>
            <a:ext cx="1398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1400" b="1" dirty="0">
                <a:latin typeface="Helvetica" pitchFamily="2" charset="0"/>
              </a:rPr>
              <a:t>LDM</a:t>
            </a:r>
            <a:r>
              <a:rPr kumimoji="1" lang="en-US" altLang="zh-CN" sz="1200" b="1" dirty="0">
                <a:latin typeface="Helvetica" pitchFamily="2" charset="0"/>
              </a:rPr>
              <a:t> </a:t>
            </a: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ED52F577-C0BC-39A7-2F11-F9FBD94CCD8B}"/>
              </a:ext>
            </a:extLst>
          </p:cNvPr>
          <p:cNvSpPr/>
          <p:nvPr/>
        </p:nvSpPr>
        <p:spPr>
          <a:xfrm>
            <a:off x="8751600" y="2027464"/>
            <a:ext cx="1800000" cy="3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B2CD77DA-DF14-B58D-0D9E-1D1D7457FD69}"/>
              </a:ext>
            </a:extLst>
          </p:cNvPr>
          <p:cNvSpPr/>
          <p:nvPr/>
        </p:nvSpPr>
        <p:spPr>
          <a:xfrm>
            <a:off x="5150497" y="2027464"/>
            <a:ext cx="1800000" cy="36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CF52725D-A73E-D23F-3923-E9C4C6EDD691}"/>
              </a:ext>
            </a:extLst>
          </p:cNvPr>
          <p:cNvSpPr/>
          <p:nvPr/>
        </p:nvSpPr>
        <p:spPr>
          <a:xfrm>
            <a:off x="6951600" y="2027464"/>
            <a:ext cx="1800000" cy="360000"/>
          </a:xfrm>
          <a:prstGeom prst="rect">
            <a:avLst/>
          </a:prstGeom>
          <a:noFill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Transform, reorder, </a:t>
            </a:r>
            <a:endParaRPr lang="en-US" altLang="zh-CN" sz="8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SIMD/state temporaries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EF5326F2-7CB3-C5CA-36B1-096D722497D1}"/>
              </a:ext>
            </a:extLst>
          </p:cNvPr>
          <p:cNvGrpSpPr/>
          <p:nvPr/>
        </p:nvGrpSpPr>
        <p:grpSpPr>
          <a:xfrm>
            <a:off x="5524476" y="2091073"/>
            <a:ext cx="1052041" cy="222251"/>
            <a:chOff x="3066145" y="3888703"/>
            <a:chExt cx="1052041" cy="22225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7" name="立方体 206">
              <a:extLst>
                <a:ext uri="{FF2B5EF4-FFF2-40B4-BE49-F238E27FC236}">
                  <a16:creationId xmlns:a16="http://schemas.microsoft.com/office/drawing/2014/main" id="{E6BEFC67-5D79-A1C1-A642-ABAD2CFAD404}"/>
                </a:ext>
              </a:extLst>
            </p:cNvPr>
            <p:cNvSpPr/>
            <p:nvPr/>
          </p:nvSpPr>
          <p:spPr>
            <a:xfrm>
              <a:off x="3066145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8" name="立方体 207">
              <a:extLst>
                <a:ext uri="{FF2B5EF4-FFF2-40B4-BE49-F238E27FC236}">
                  <a16:creationId xmlns:a16="http://schemas.microsoft.com/office/drawing/2014/main" id="{11822E71-11E8-F2C9-59F3-768D3D84CE4F}"/>
                </a:ext>
              </a:extLst>
            </p:cNvPr>
            <p:cNvSpPr/>
            <p:nvPr/>
          </p:nvSpPr>
          <p:spPr>
            <a:xfrm>
              <a:off x="3232257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9" name="立方体 208">
              <a:extLst>
                <a:ext uri="{FF2B5EF4-FFF2-40B4-BE49-F238E27FC236}">
                  <a16:creationId xmlns:a16="http://schemas.microsoft.com/office/drawing/2014/main" id="{E8C23509-5558-82E6-CF0C-08753B0E6F20}"/>
                </a:ext>
              </a:extLst>
            </p:cNvPr>
            <p:cNvSpPr/>
            <p:nvPr/>
          </p:nvSpPr>
          <p:spPr>
            <a:xfrm>
              <a:off x="3398369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0" name="立方体 209">
              <a:extLst>
                <a:ext uri="{FF2B5EF4-FFF2-40B4-BE49-F238E27FC236}">
                  <a16:creationId xmlns:a16="http://schemas.microsoft.com/office/drawing/2014/main" id="{343EE756-EBA5-3423-F9A1-DB24AFD60AB4}"/>
                </a:ext>
              </a:extLst>
            </p:cNvPr>
            <p:cNvSpPr/>
            <p:nvPr/>
          </p:nvSpPr>
          <p:spPr>
            <a:xfrm>
              <a:off x="3564481" y="3889472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11" name="立方体 210">
              <a:extLst>
                <a:ext uri="{FF2B5EF4-FFF2-40B4-BE49-F238E27FC236}">
                  <a16:creationId xmlns:a16="http://schemas.microsoft.com/office/drawing/2014/main" id="{475CF0C4-654D-18E6-5A90-62DA3E24F685}"/>
                </a:ext>
              </a:extLst>
            </p:cNvPr>
            <p:cNvSpPr/>
            <p:nvPr/>
          </p:nvSpPr>
          <p:spPr>
            <a:xfrm>
              <a:off x="3730592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2" name="立方体 211">
              <a:extLst>
                <a:ext uri="{FF2B5EF4-FFF2-40B4-BE49-F238E27FC236}">
                  <a16:creationId xmlns:a16="http://schemas.microsoft.com/office/drawing/2014/main" id="{793FA059-CA2D-2E27-7E0F-F44D6781CFC1}"/>
                </a:ext>
              </a:extLst>
            </p:cNvPr>
            <p:cNvSpPr/>
            <p:nvPr/>
          </p:nvSpPr>
          <p:spPr>
            <a:xfrm>
              <a:off x="3896704" y="3888703"/>
              <a:ext cx="221482" cy="221482"/>
            </a:xfrm>
            <a:prstGeom prst="cub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13" name="文本框 212">
            <a:extLst>
              <a:ext uri="{FF2B5EF4-FFF2-40B4-BE49-F238E27FC236}">
                <a16:creationId xmlns:a16="http://schemas.microsoft.com/office/drawing/2014/main" id="{2A07ED3A-8BEF-D701-8AFA-76B9C548DC25}"/>
              </a:ext>
            </a:extLst>
          </p:cNvPr>
          <p:cNvSpPr txBox="1"/>
          <p:nvPr/>
        </p:nvSpPr>
        <p:spPr>
          <a:xfrm>
            <a:off x="5503506" y="2381272"/>
            <a:ext cx="1184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Block</a:t>
            </a:r>
            <a:r>
              <a:rPr kumimoji="1" lang="zh-CN" altLang="en-US" sz="1000" b="1" dirty="0">
                <a:latin typeface="Helvetica" pitchFamily="2" charset="0"/>
              </a:rPr>
              <a:t> </a:t>
            </a:r>
            <a:r>
              <a:rPr kumimoji="1" lang="en-US" altLang="zh-CN" sz="1000" b="1" dirty="0">
                <a:latin typeface="Helvetica" pitchFamily="2" charset="0"/>
              </a:rPr>
              <a:t>Buffer(s)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F092575D-7CDA-D786-D44B-4329A88A52EB}"/>
              </a:ext>
            </a:extLst>
          </p:cNvPr>
          <p:cNvSpPr txBox="1"/>
          <p:nvPr/>
        </p:nvSpPr>
        <p:spPr>
          <a:xfrm>
            <a:off x="9216332" y="2381768"/>
            <a:ext cx="8705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Slot</a:t>
            </a:r>
            <a:r>
              <a:rPr kumimoji="1" lang="zh-CN" altLang="en-US" sz="1000" b="1" dirty="0">
                <a:latin typeface="Helvetica" pitchFamily="2" charset="0"/>
              </a:rPr>
              <a:t> </a:t>
            </a:r>
            <a:r>
              <a:rPr kumimoji="1" lang="en-US" altLang="zh-CN" sz="1000" b="1" dirty="0">
                <a:latin typeface="Helvetica" pitchFamily="2" charset="0"/>
              </a:rPr>
              <a:t>Buffer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D831985F-486F-83E3-AE75-C77C411F84A9}"/>
              </a:ext>
            </a:extLst>
          </p:cNvPr>
          <p:cNvSpPr txBox="1"/>
          <p:nvPr/>
        </p:nvSpPr>
        <p:spPr>
          <a:xfrm>
            <a:off x="5637954" y="1426982"/>
            <a:ext cx="2606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elvetica" pitchFamily="2" charset="0"/>
              </a:rPr>
              <a:t>DMA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200" b="1" dirty="0">
                <a:latin typeface="Helvetica" pitchFamily="2" charset="0"/>
              </a:rPr>
              <a:t>GET(encode) / PUT(decode)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104AB27A-3EE8-FFF3-EED7-0E39210092B9}"/>
              </a:ext>
            </a:extLst>
          </p:cNvPr>
          <p:cNvSpPr txBox="1"/>
          <p:nvPr/>
        </p:nvSpPr>
        <p:spPr>
          <a:xfrm>
            <a:off x="7345837" y="2376442"/>
            <a:ext cx="8814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Workspace</a:t>
            </a:r>
          </a:p>
        </p:txBody>
      </p:sp>
      <p:sp>
        <p:nvSpPr>
          <p:cNvPr id="217" name="圆角矩形 216">
            <a:extLst>
              <a:ext uri="{FF2B5EF4-FFF2-40B4-BE49-F238E27FC236}">
                <a16:creationId xmlns:a16="http://schemas.microsoft.com/office/drawing/2014/main" id="{E3FE7B59-C558-0FCC-E1F1-11C6E68B31F6}"/>
              </a:ext>
            </a:extLst>
          </p:cNvPr>
          <p:cNvSpPr/>
          <p:nvPr/>
        </p:nvSpPr>
        <p:spPr>
          <a:xfrm>
            <a:off x="4122969" y="2715396"/>
            <a:ext cx="7268514" cy="2169023"/>
          </a:xfrm>
          <a:prstGeom prst="roundRect">
            <a:avLst>
              <a:gd name="adj" fmla="val 8676"/>
            </a:avLst>
          </a:prstGeom>
          <a:solidFill>
            <a:srgbClr val="FFDE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zh-CN" altLang="en-US" sz="800" baseline="-250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547ADD95-7990-0AD4-8F27-A03D335C9108}"/>
              </a:ext>
            </a:extLst>
          </p:cNvPr>
          <p:cNvSpPr txBox="1"/>
          <p:nvPr/>
        </p:nvSpPr>
        <p:spPr>
          <a:xfrm>
            <a:off x="4179209" y="2697190"/>
            <a:ext cx="38841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elvetica" pitchFamily="2" charset="0"/>
              </a:rPr>
              <a:t>Block-local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200" b="1" dirty="0">
                <a:latin typeface="Helvetica" pitchFamily="2" charset="0"/>
              </a:rPr>
              <a:t>Codec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000" dirty="0">
                <a:latin typeface="Helvetica" pitchFamily="2" charset="0"/>
              </a:rPr>
              <a:t>(process blocks sequentially in LDM)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C860BDC-B688-2F67-1AFE-309A7B0B97A6}"/>
              </a:ext>
            </a:extLst>
          </p:cNvPr>
          <p:cNvSpPr txBox="1"/>
          <p:nvPr/>
        </p:nvSpPr>
        <p:spPr>
          <a:xfrm>
            <a:off x="9726615" y="1824963"/>
            <a:ext cx="170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dirty="0">
                <a:latin typeface="Helvetica" pitchFamily="2" charset="0"/>
              </a:rPr>
              <a:t>Pre-allocated</a:t>
            </a:r>
            <a:r>
              <a:rPr kumimoji="1" lang="zh-CN" altLang="en-US" sz="1000" dirty="0">
                <a:latin typeface="Helvetica" pitchFamily="2" charset="0"/>
              </a:rPr>
              <a:t> </a:t>
            </a:r>
            <a:r>
              <a:rPr kumimoji="1" lang="en-US" altLang="zh-CN" sz="1000" dirty="0">
                <a:latin typeface="Helvetica" pitchFamily="2" charset="0"/>
              </a:rPr>
              <a:t>LDM</a:t>
            </a:r>
            <a:r>
              <a:rPr kumimoji="1" lang="zh-CN" altLang="en-US" sz="1000" dirty="0">
                <a:latin typeface="Helvetica" pitchFamily="2" charset="0"/>
              </a:rPr>
              <a:t> </a:t>
            </a:r>
            <a:r>
              <a:rPr kumimoji="1" lang="en-US" altLang="zh-CN" sz="1000" dirty="0">
                <a:latin typeface="Helvetica" pitchFamily="2" charset="0"/>
              </a:rPr>
              <a:t>regions</a:t>
            </a:r>
            <a:endParaRPr kumimoji="1" lang="zh-CN" altLang="en-US" sz="1000" dirty="0">
              <a:latin typeface="Helvetica" pitchFamily="2" charset="0"/>
            </a:endParaRPr>
          </a:p>
        </p:txBody>
      </p: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530958CA-B75F-4B86-60A8-54F743C79C89}"/>
              </a:ext>
            </a:extLst>
          </p:cNvPr>
          <p:cNvGrpSpPr/>
          <p:nvPr/>
        </p:nvGrpSpPr>
        <p:grpSpPr>
          <a:xfrm>
            <a:off x="7787835" y="582255"/>
            <a:ext cx="1080000" cy="180000"/>
            <a:chOff x="8781686" y="1044000"/>
            <a:chExt cx="1080000" cy="180000"/>
          </a:xfrm>
        </p:grpSpPr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4E83F174-C5E7-4FBF-111F-E7136A7A7147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1149DFB0-EAC8-CDEE-B83E-1062F220A9D3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BACEAFCF-9FEA-E73E-F58D-83C47FDAC73E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23" name="组合 222">
              <a:extLst>
                <a:ext uri="{FF2B5EF4-FFF2-40B4-BE49-F238E27FC236}">
                  <a16:creationId xmlns:a16="http://schemas.microsoft.com/office/drawing/2014/main" id="{0D65FFBE-182E-E448-C760-73E210E4D6F6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3A240DD2-2DDE-8C01-1EFD-3219EAB4D0ED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31B645EB-7110-AEAE-96D4-0C2AD8F5DD0A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E7C00AF6-34A7-565C-2C5C-08B7B5F96056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25" name="矩形 224">
                <a:extLst>
                  <a:ext uri="{FF2B5EF4-FFF2-40B4-BE49-F238E27FC236}">
                    <a16:creationId xmlns:a16="http://schemas.microsoft.com/office/drawing/2014/main" id="{CD140B98-72B5-1C90-B54E-D6F3BCAD7529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65AB5EB5-A40D-0722-78A2-B2A9391F1DCA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5064D018-0209-09B8-2C90-AC383F3DEC67}"/>
              </a:ext>
            </a:extLst>
          </p:cNvPr>
          <p:cNvGrpSpPr/>
          <p:nvPr/>
        </p:nvGrpSpPr>
        <p:grpSpPr>
          <a:xfrm>
            <a:off x="9222900" y="582255"/>
            <a:ext cx="360000" cy="180000"/>
            <a:chOff x="7560000" y="1055281"/>
            <a:chExt cx="360000" cy="180000"/>
          </a:xfrm>
        </p:grpSpPr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FC12A0C9-581D-18B8-1920-46B016DB00E1}"/>
                </a:ext>
              </a:extLst>
            </p:cNvPr>
            <p:cNvSpPr/>
            <p:nvPr/>
          </p:nvSpPr>
          <p:spPr>
            <a:xfrm>
              <a:off x="756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A95F4D9E-53E7-4F1A-704D-90F714FECEED}"/>
                </a:ext>
              </a:extLst>
            </p:cNvPr>
            <p:cNvSpPr/>
            <p:nvPr/>
          </p:nvSpPr>
          <p:spPr>
            <a:xfrm>
              <a:off x="774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6A182275-76B1-CF66-155C-715BB41992A2}"/>
              </a:ext>
            </a:extLst>
          </p:cNvPr>
          <p:cNvGrpSpPr/>
          <p:nvPr/>
        </p:nvGrpSpPr>
        <p:grpSpPr>
          <a:xfrm>
            <a:off x="7068194" y="582255"/>
            <a:ext cx="360000" cy="180000"/>
            <a:chOff x="7560000" y="1055281"/>
            <a:chExt cx="360000" cy="180000"/>
          </a:xfrm>
        </p:grpSpPr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759728F7-FB13-9F57-781B-B2158240C221}"/>
                </a:ext>
              </a:extLst>
            </p:cNvPr>
            <p:cNvSpPr/>
            <p:nvPr/>
          </p:nvSpPr>
          <p:spPr>
            <a:xfrm>
              <a:off x="756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802F1056-F8D1-B960-0976-87F6C0E96275}"/>
                </a:ext>
              </a:extLst>
            </p:cNvPr>
            <p:cNvSpPr/>
            <p:nvPr/>
          </p:nvSpPr>
          <p:spPr>
            <a:xfrm>
              <a:off x="7740000" y="1055281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37" name="圆角矩形 236">
            <a:extLst>
              <a:ext uri="{FF2B5EF4-FFF2-40B4-BE49-F238E27FC236}">
                <a16:creationId xmlns:a16="http://schemas.microsoft.com/office/drawing/2014/main" id="{AF68DAA8-D2F9-FF0D-4437-9DEDE613D16A}"/>
              </a:ext>
            </a:extLst>
          </p:cNvPr>
          <p:cNvSpPr/>
          <p:nvPr/>
        </p:nvSpPr>
        <p:spPr>
          <a:xfrm>
            <a:off x="6965926" y="477400"/>
            <a:ext cx="2735706" cy="370347"/>
          </a:xfrm>
          <a:prstGeom prst="roundRect">
            <a:avLst>
              <a:gd name="adj" fmla="val 401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C8906396-A486-90D3-A8F3-D8A51FF16028}"/>
              </a:ext>
            </a:extLst>
          </p:cNvPr>
          <p:cNvGrpSpPr/>
          <p:nvPr/>
        </p:nvGrpSpPr>
        <p:grpSpPr>
          <a:xfrm>
            <a:off x="9087958" y="2108122"/>
            <a:ext cx="1080000" cy="180000"/>
            <a:chOff x="8781686" y="1044000"/>
            <a:chExt cx="1080000" cy="180000"/>
          </a:xfrm>
        </p:grpSpPr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C8B499B0-8F41-6C44-332D-D31086D88C3A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25150473-0579-4CDF-BB6E-105986E9F0B7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1DD746AF-58A8-1BF9-A0C2-C432E9B569B8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40" name="组合 239">
              <a:extLst>
                <a:ext uri="{FF2B5EF4-FFF2-40B4-BE49-F238E27FC236}">
                  <a16:creationId xmlns:a16="http://schemas.microsoft.com/office/drawing/2014/main" id="{7AA98681-CDDA-9934-33F4-872C82A8B7ED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B557A86B-306C-0189-85CB-8617895EA505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A9D0FBD8-A00A-7C27-75F5-F958591DF977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47895AEF-3E8B-B83C-DB66-382BAA4A08B5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244F49A1-53C3-B400-7E4C-E14419939827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D86E14A4-216F-33B6-8D9B-CB1B6C6FAC5C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248" name="矩形 247">
            <a:extLst>
              <a:ext uri="{FF2B5EF4-FFF2-40B4-BE49-F238E27FC236}">
                <a16:creationId xmlns:a16="http://schemas.microsoft.com/office/drawing/2014/main" id="{451B9C3C-A9A9-BB82-386C-54E3E66F160C}"/>
              </a:ext>
            </a:extLst>
          </p:cNvPr>
          <p:cNvSpPr/>
          <p:nvPr/>
        </p:nvSpPr>
        <p:spPr>
          <a:xfrm>
            <a:off x="7426547" y="582255"/>
            <a:ext cx="36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8D752BEC-0081-3D27-0843-183F2D98389D}"/>
              </a:ext>
            </a:extLst>
          </p:cNvPr>
          <p:cNvSpPr/>
          <p:nvPr/>
        </p:nvSpPr>
        <p:spPr>
          <a:xfrm>
            <a:off x="8869250" y="582255"/>
            <a:ext cx="36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0C4886A1-8CAF-CC81-22F8-64F6A421CDD2}"/>
              </a:ext>
            </a:extLst>
          </p:cNvPr>
          <p:cNvSpPr txBox="1"/>
          <p:nvPr/>
        </p:nvSpPr>
        <p:spPr>
          <a:xfrm>
            <a:off x="7556430" y="235158"/>
            <a:ext cx="1574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Compressed Stream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257" name="圆角矩形 256">
            <a:extLst>
              <a:ext uri="{FF2B5EF4-FFF2-40B4-BE49-F238E27FC236}">
                <a16:creationId xmlns:a16="http://schemas.microsoft.com/office/drawing/2014/main" id="{B919351F-42A6-A36A-E8C2-61B2A230334B}"/>
              </a:ext>
            </a:extLst>
          </p:cNvPr>
          <p:cNvSpPr/>
          <p:nvPr/>
        </p:nvSpPr>
        <p:spPr>
          <a:xfrm>
            <a:off x="4207094" y="2943964"/>
            <a:ext cx="7100985" cy="1877009"/>
          </a:xfrm>
          <a:prstGeom prst="roundRect">
            <a:avLst>
              <a:gd name="adj" fmla="val 8676"/>
            </a:avLst>
          </a:prstGeom>
          <a:solidFill>
            <a:srgbClr val="FFF1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zh-CN" altLang="en-US" sz="800" baseline="-25000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258" name="直线连接符 257">
            <a:extLst>
              <a:ext uri="{FF2B5EF4-FFF2-40B4-BE49-F238E27FC236}">
                <a16:creationId xmlns:a16="http://schemas.microsoft.com/office/drawing/2014/main" id="{AF1B1436-BBDF-6368-3FA5-4C89760AE7F5}"/>
              </a:ext>
            </a:extLst>
          </p:cNvPr>
          <p:cNvCxnSpPr>
            <a:cxnSpLocks/>
          </p:cNvCxnSpPr>
          <p:nvPr/>
        </p:nvCxnSpPr>
        <p:spPr>
          <a:xfrm>
            <a:off x="5339355" y="3864794"/>
            <a:ext cx="4491423" cy="22795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立方体 258">
            <a:extLst>
              <a:ext uri="{FF2B5EF4-FFF2-40B4-BE49-F238E27FC236}">
                <a16:creationId xmlns:a16="http://schemas.microsoft.com/office/drawing/2014/main" id="{7C76C293-3FC4-306E-9E07-FE099A7BA07C}"/>
              </a:ext>
            </a:extLst>
          </p:cNvPr>
          <p:cNvSpPr/>
          <p:nvPr/>
        </p:nvSpPr>
        <p:spPr>
          <a:xfrm>
            <a:off x="4618353" y="3716068"/>
            <a:ext cx="221482" cy="221482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Helvetica" pitchFamily="2" charset="0"/>
            </a:endParaRP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CAE3032D-031C-3D3E-A45A-9DFEFEEFB24C}"/>
              </a:ext>
            </a:extLst>
          </p:cNvPr>
          <p:cNvSpPr/>
          <p:nvPr/>
        </p:nvSpPr>
        <p:spPr>
          <a:xfrm>
            <a:off x="10859556" y="3646217"/>
            <a:ext cx="18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514B1544-636D-149D-EE36-681E499813DB}"/>
              </a:ext>
            </a:extLst>
          </p:cNvPr>
          <p:cNvSpPr txBox="1"/>
          <p:nvPr/>
        </p:nvSpPr>
        <p:spPr>
          <a:xfrm>
            <a:off x="10330299" y="3870300"/>
            <a:ext cx="1056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b="1" dirty="0">
                <a:latin typeface="Helvetica" pitchFamily="2" charset="0"/>
              </a:rPr>
              <a:t>Fixed-rate Slot </a:t>
            </a:r>
            <a:r>
              <a:rPr lang="en-US" altLang="zh-CN" sz="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(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bits / block) 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BEB8E625-12C4-A831-475B-45B2E0128DBA}"/>
              </a:ext>
            </a:extLst>
          </p:cNvPr>
          <p:cNvSpPr txBox="1"/>
          <p:nvPr/>
        </p:nvSpPr>
        <p:spPr>
          <a:xfrm>
            <a:off x="8466196" y="3045916"/>
            <a:ext cx="5219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b="1" dirty="0">
                <a:latin typeface="Helvetica" pitchFamily="2" charset="0"/>
              </a:rPr>
              <a:t>SIM</a:t>
            </a:r>
            <a:r>
              <a:rPr lang="en-US" altLang="zh-CN" sz="800" b="1" dirty="0">
                <a:latin typeface="Helvetica" pitchFamily="2" charset="0"/>
              </a:rPr>
              <a:t>D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ADC7D468-D420-398A-2C96-A3816CFE62A9}"/>
              </a:ext>
            </a:extLst>
          </p:cNvPr>
          <p:cNvSpPr txBox="1"/>
          <p:nvPr/>
        </p:nvSpPr>
        <p:spPr>
          <a:xfrm>
            <a:off x="8950142" y="3018666"/>
            <a:ext cx="15265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latin typeface="Helvetica" pitchFamily="2" charset="0"/>
              </a:rPr>
              <a:t>S</a:t>
            </a:r>
            <a:r>
              <a:rPr lang="zh-CN" altLang="zh-CN" sz="800" b="1" dirty="0">
                <a:latin typeface="Helvetica" pitchFamily="2" charset="0"/>
              </a:rPr>
              <a:t>ignificance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en-US" altLang="zh-CN" sz="800" b="1" dirty="0">
                <a:latin typeface="Helvetica" pitchFamily="2" charset="0"/>
              </a:rPr>
              <a:t>+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zh-CN" altLang="zh-CN" sz="800" b="1" dirty="0">
                <a:latin typeface="Helvetica" pitchFamily="2" charset="0"/>
              </a:rPr>
              <a:t>CTZ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en-US" altLang="zh-CN" sz="800" b="1" dirty="0">
                <a:latin typeface="Helvetica" pitchFamily="2" charset="0"/>
              </a:rPr>
              <a:t>+</a:t>
            </a:r>
            <a:r>
              <a:rPr lang="zh-CN" altLang="en-US" sz="800" b="1" dirty="0">
                <a:latin typeface="Helvetica" pitchFamily="2" charset="0"/>
              </a:rPr>
              <a:t> </a:t>
            </a:r>
            <a:r>
              <a:rPr lang="zh-CN" altLang="zh-CN" sz="800" b="1" dirty="0">
                <a:latin typeface="Helvetica" pitchFamily="2" charset="0"/>
              </a:rPr>
              <a:t>writer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E3B77435-3C81-8EB9-5863-1722710C3F65}"/>
              </a:ext>
            </a:extLst>
          </p:cNvPr>
          <p:cNvSpPr txBox="1"/>
          <p:nvPr/>
        </p:nvSpPr>
        <p:spPr>
          <a:xfrm>
            <a:off x="9338075" y="3943638"/>
            <a:ext cx="9304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latin typeface="Helvetica" pitchFamily="2" charset="0"/>
              </a:rPr>
              <a:t>B</a:t>
            </a:r>
            <a:r>
              <a:rPr lang="zh-CN" altLang="zh-CN" sz="800" b="1" dirty="0">
                <a:latin typeface="Helvetica" pitchFamily="2" charset="0"/>
              </a:rPr>
              <a:t>ounded state</a:t>
            </a:r>
            <a:endParaRPr lang="en-US" altLang="zh-CN" sz="800" b="1" dirty="0">
              <a:latin typeface="Helvetica" pitchFamily="2" charset="0"/>
            </a:endParaRPr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8B995816-8E34-4A30-142F-38D6BEF71579}"/>
              </a:ext>
            </a:extLst>
          </p:cNvPr>
          <p:cNvSpPr txBox="1"/>
          <p:nvPr/>
        </p:nvSpPr>
        <p:spPr>
          <a:xfrm>
            <a:off x="8117540" y="3957822"/>
            <a:ext cx="11768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latin typeface="Helvetica" pitchFamily="2" charset="0"/>
              </a:rPr>
              <a:t>S</a:t>
            </a:r>
            <a:r>
              <a:rPr lang="zh-CN" altLang="zh-CN" sz="800" b="1" dirty="0">
                <a:latin typeface="Helvetica" pitchFamily="2" charset="0"/>
              </a:rPr>
              <a:t>elective SIMD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F2505C0B-352B-F180-37E0-6B49FE08EDFB}"/>
              </a:ext>
            </a:extLst>
          </p:cNvPr>
          <p:cNvSpPr txBox="1"/>
          <p:nvPr/>
        </p:nvSpPr>
        <p:spPr>
          <a:xfrm>
            <a:off x="5142611" y="2973566"/>
            <a:ext cx="10638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Encode Path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00D7BC01-C8DC-9BAE-2D23-D17282DFCF4E}"/>
              </a:ext>
            </a:extLst>
          </p:cNvPr>
          <p:cNvSpPr txBox="1"/>
          <p:nvPr/>
        </p:nvSpPr>
        <p:spPr>
          <a:xfrm>
            <a:off x="5148581" y="3919836"/>
            <a:ext cx="1097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Decode Path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6763B0FE-2F32-A710-D368-9B74CAC2FE92}"/>
              </a:ext>
            </a:extLst>
          </p:cNvPr>
          <p:cNvSpPr txBox="1"/>
          <p:nvPr/>
        </p:nvSpPr>
        <p:spPr>
          <a:xfrm>
            <a:off x="4294952" y="3344679"/>
            <a:ext cx="868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b="1" dirty="0">
                <a:latin typeface="Helvetica" pitchFamily="2" charset="0"/>
              </a:rPr>
              <a:t>Original</a:t>
            </a:r>
          </a:p>
          <a:p>
            <a:pPr algn="ctr"/>
            <a:r>
              <a:rPr kumimoji="1" lang="en-US" altLang="zh-CN" sz="900" b="1" dirty="0">
                <a:latin typeface="Helvetica" pitchFamily="2" charset="0"/>
              </a:rPr>
              <a:t>Block </a:t>
            </a:r>
            <a:r>
              <a:rPr kumimoji="1" lang="en-US" altLang="zh-CN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2F7487E4-FBBA-22E0-9223-B1E61ABB0AD0}"/>
              </a:ext>
            </a:extLst>
          </p:cNvPr>
          <p:cNvSpPr txBox="1"/>
          <p:nvPr/>
        </p:nvSpPr>
        <p:spPr>
          <a:xfrm>
            <a:off x="4212811" y="3948543"/>
            <a:ext cx="103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b="1" dirty="0">
                <a:latin typeface="Helvetica" pitchFamily="2" charset="0"/>
              </a:rPr>
              <a:t>Reconstructed</a:t>
            </a:r>
          </a:p>
          <a:p>
            <a:pPr algn="ctr"/>
            <a:r>
              <a:rPr kumimoji="1" lang="en-US" altLang="zh-CN" sz="900" b="1" dirty="0">
                <a:latin typeface="Helvetica" pitchFamily="2" charset="0"/>
              </a:rPr>
              <a:t>Block </a:t>
            </a:r>
            <a:r>
              <a:rPr kumimoji="1" lang="en-US" altLang="zh-CN" sz="9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圆角矩形 270">
            <a:extLst>
              <a:ext uri="{FF2B5EF4-FFF2-40B4-BE49-F238E27FC236}">
                <a16:creationId xmlns:a16="http://schemas.microsoft.com/office/drawing/2014/main" id="{33351781-83DC-3269-58A0-5F3ACD8BE9DE}"/>
              </a:ext>
            </a:extLst>
          </p:cNvPr>
          <p:cNvSpPr/>
          <p:nvPr/>
        </p:nvSpPr>
        <p:spPr>
          <a:xfrm>
            <a:off x="5339355" y="4153706"/>
            <a:ext cx="641836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Type</a:t>
            </a:r>
          </a:p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Recovery</a:t>
            </a:r>
          </a:p>
        </p:txBody>
      </p:sp>
      <p:sp>
        <p:nvSpPr>
          <p:cNvPr id="272" name="圆角矩形 271">
            <a:extLst>
              <a:ext uri="{FF2B5EF4-FFF2-40B4-BE49-F238E27FC236}">
                <a16:creationId xmlns:a16="http://schemas.microsoft.com/office/drawing/2014/main" id="{28ADBB85-A6BA-687B-05A4-97B76F2227A3}"/>
              </a:ext>
            </a:extLst>
          </p:cNvPr>
          <p:cNvSpPr/>
          <p:nvPr/>
        </p:nvSpPr>
        <p:spPr>
          <a:xfrm>
            <a:off x="6217151" y="4146506"/>
            <a:ext cx="73086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Inv. Integer Transform</a:t>
            </a:r>
          </a:p>
        </p:txBody>
      </p:sp>
      <p:sp>
        <p:nvSpPr>
          <p:cNvPr id="273" name="圆角矩形 272">
            <a:extLst>
              <a:ext uri="{FF2B5EF4-FFF2-40B4-BE49-F238E27FC236}">
                <a16:creationId xmlns:a16="http://schemas.microsoft.com/office/drawing/2014/main" id="{D2871A2A-0E21-AF6B-97A1-EECEC6C74D9B}"/>
              </a:ext>
            </a:extLst>
          </p:cNvPr>
          <p:cNvSpPr/>
          <p:nvPr/>
        </p:nvSpPr>
        <p:spPr>
          <a:xfrm>
            <a:off x="7119112" y="4144111"/>
            <a:ext cx="941509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Inv. </a:t>
            </a:r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Negabinary</a:t>
            </a:r>
            <a:endParaRPr lang="en-US" altLang="zh-CN" sz="800" dirty="0">
              <a:solidFill>
                <a:schemeClr val="tx1"/>
              </a:solidFill>
              <a:latin typeface="Helvetica" pitchFamily="2" charset="0"/>
            </a:endParaRPr>
          </a:p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&amp; Reorder</a:t>
            </a:r>
          </a:p>
        </p:txBody>
      </p:sp>
      <p:sp>
        <p:nvSpPr>
          <p:cNvPr id="274" name="圆角矩形 273">
            <a:extLst>
              <a:ext uri="{FF2B5EF4-FFF2-40B4-BE49-F238E27FC236}">
                <a16:creationId xmlns:a16="http://schemas.microsoft.com/office/drawing/2014/main" id="{7AB103B0-2BAE-CE0D-9848-E2A82F5BDA5F}"/>
              </a:ext>
            </a:extLst>
          </p:cNvPr>
          <p:cNvSpPr/>
          <p:nvPr/>
        </p:nvSpPr>
        <p:spPr>
          <a:xfrm>
            <a:off x="8244622" y="4145926"/>
            <a:ext cx="965123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Bit-Plane Reconstruction</a:t>
            </a:r>
          </a:p>
        </p:txBody>
      </p:sp>
      <p:sp>
        <p:nvSpPr>
          <p:cNvPr id="275" name="圆角矩形 274">
            <a:extLst>
              <a:ext uri="{FF2B5EF4-FFF2-40B4-BE49-F238E27FC236}">
                <a16:creationId xmlns:a16="http://schemas.microsoft.com/office/drawing/2014/main" id="{A2E23D63-5FC4-8A8D-DDC9-43CD23302996}"/>
              </a:ext>
            </a:extLst>
          </p:cNvPr>
          <p:cNvSpPr/>
          <p:nvPr/>
        </p:nvSpPr>
        <p:spPr>
          <a:xfrm>
            <a:off x="9411535" y="4139306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State-Aware Decoding</a:t>
            </a:r>
          </a:p>
        </p:txBody>
      </p:sp>
      <p:sp>
        <p:nvSpPr>
          <p:cNvPr id="276" name="右箭头 275">
            <a:extLst>
              <a:ext uri="{FF2B5EF4-FFF2-40B4-BE49-F238E27FC236}">
                <a16:creationId xmlns:a16="http://schemas.microsoft.com/office/drawing/2014/main" id="{5B97DB6B-2F0A-D466-B8EC-A726FC18B444}"/>
              </a:ext>
            </a:extLst>
          </p:cNvPr>
          <p:cNvSpPr/>
          <p:nvPr/>
        </p:nvSpPr>
        <p:spPr>
          <a:xfrm>
            <a:off x="6110884" y="3031832"/>
            <a:ext cx="498104" cy="10155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7" name="右箭头 276">
            <a:extLst>
              <a:ext uri="{FF2B5EF4-FFF2-40B4-BE49-F238E27FC236}">
                <a16:creationId xmlns:a16="http://schemas.microsoft.com/office/drawing/2014/main" id="{8CF6C1B6-296F-138E-8173-5F3DE64EA4F1}"/>
              </a:ext>
            </a:extLst>
          </p:cNvPr>
          <p:cNvSpPr/>
          <p:nvPr/>
        </p:nvSpPr>
        <p:spPr>
          <a:xfrm rot="10800000">
            <a:off x="6137621" y="3995656"/>
            <a:ext cx="509773" cy="831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8" name="上下箭头 277">
            <a:extLst>
              <a:ext uri="{FF2B5EF4-FFF2-40B4-BE49-F238E27FC236}">
                <a16:creationId xmlns:a16="http://schemas.microsoft.com/office/drawing/2014/main" id="{89795AFD-4A57-6E15-DD2D-3D27B9390131}"/>
              </a:ext>
            </a:extLst>
          </p:cNvPr>
          <p:cNvSpPr/>
          <p:nvPr/>
        </p:nvSpPr>
        <p:spPr>
          <a:xfrm>
            <a:off x="5500092" y="1387587"/>
            <a:ext cx="214461" cy="607085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9" name="上下箭头 278">
            <a:extLst>
              <a:ext uri="{FF2B5EF4-FFF2-40B4-BE49-F238E27FC236}">
                <a16:creationId xmlns:a16="http://schemas.microsoft.com/office/drawing/2014/main" id="{25C42894-7F6F-36BE-4F54-F7412021DD09}"/>
              </a:ext>
            </a:extLst>
          </p:cNvPr>
          <p:cNvSpPr/>
          <p:nvPr/>
        </p:nvSpPr>
        <p:spPr>
          <a:xfrm>
            <a:off x="8938634" y="1301585"/>
            <a:ext cx="234767" cy="707657"/>
          </a:xfrm>
          <a:prstGeom prst="up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0D12EEA8-A5A2-FE46-7753-0C66C5DE35AC}"/>
              </a:ext>
            </a:extLst>
          </p:cNvPr>
          <p:cNvSpPr txBox="1"/>
          <p:nvPr/>
        </p:nvSpPr>
        <p:spPr>
          <a:xfrm>
            <a:off x="9065350" y="1418614"/>
            <a:ext cx="2606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Helvetica" pitchFamily="2" charset="0"/>
              </a:rPr>
              <a:t>DMA</a:t>
            </a:r>
            <a:r>
              <a:rPr kumimoji="1" lang="zh-CN" altLang="en-US" sz="1200" b="1" dirty="0">
                <a:latin typeface="Helvetica" pitchFamily="2" charset="0"/>
              </a:rPr>
              <a:t> </a:t>
            </a:r>
            <a:r>
              <a:rPr kumimoji="1" lang="en-US" altLang="zh-CN" sz="1200" b="1" dirty="0">
                <a:latin typeface="Helvetica" pitchFamily="2" charset="0"/>
              </a:rPr>
              <a:t>PUT(encode) / GET(decode)</a:t>
            </a: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7299F9BE-23C9-921A-BEA1-9275A8AC65F1}"/>
              </a:ext>
            </a:extLst>
          </p:cNvPr>
          <p:cNvSpPr txBox="1"/>
          <p:nvPr/>
        </p:nvSpPr>
        <p:spPr>
          <a:xfrm>
            <a:off x="4202588" y="2096473"/>
            <a:ext cx="712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>
                <a:latin typeface="Helvetica" pitchFamily="2" charset="0"/>
              </a:rPr>
              <a:t>CPE</a:t>
            </a:r>
            <a:r>
              <a:rPr kumimoji="1" lang="en-US" altLang="zh-CN" sz="1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282" name="左箭头 281">
            <a:extLst>
              <a:ext uri="{FF2B5EF4-FFF2-40B4-BE49-F238E27FC236}">
                <a16:creationId xmlns:a16="http://schemas.microsoft.com/office/drawing/2014/main" id="{4392A8D4-9327-B28C-847A-E418237A62AB}"/>
              </a:ext>
            </a:extLst>
          </p:cNvPr>
          <p:cNvSpPr/>
          <p:nvPr/>
        </p:nvSpPr>
        <p:spPr>
          <a:xfrm rot="10800000">
            <a:off x="4986246" y="3405615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3" name="圆角矩形 282">
            <a:extLst>
              <a:ext uri="{FF2B5EF4-FFF2-40B4-BE49-F238E27FC236}">
                <a16:creationId xmlns:a16="http://schemas.microsoft.com/office/drawing/2014/main" id="{C82D18E2-5490-CAAD-F1DE-2BEC87353C90}"/>
              </a:ext>
            </a:extLst>
          </p:cNvPr>
          <p:cNvSpPr/>
          <p:nvPr/>
        </p:nvSpPr>
        <p:spPr>
          <a:xfrm>
            <a:off x="6215915" y="3249142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Integer Transform</a:t>
            </a:r>
          </a:p>
        </p:txBody>
      </p:sp>
      <p:sp>
        <p:nvSpPr>
          <p:cNvPr id="284" name="圆角矩形 283">
            <a:extLst>
              <a:ext uri="{FF2B5EF4-FFF2-40B4-BE49-F238E27FC236}">
                <a16:creationId xmlns:a16="http://schemas.microsoft.com/office/drawing/2014/main" id="{F16349F6-2AE4-1253-C7DF-02C5BE44A07C}"/>
              </a:ext>
            </a:extLst>
          </p:cNvPr>
          <p:cNvSpPr/>
          <p:nvPr/>
        </p:nvSpPr>
        <p:spPr>
          <a:xfrm>
            <a:off x="5220777" y="3249142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Preprocess</a:t>
            </a:r>
          </a:p>
        </p:txBody>
      </p:sp>
      <p:sp>
        <p:nvSpPr>
          <p:cNvPr id="285" name="圆角矩形 284">
            <a:extLst>
              <a:ext uri="{FF2B5EF4-FFF2-40B4-BE49-F238E27FC236}">
                <a16:creationId xmlns:a16="http://schemas.microsoft.com/office/drawing/2014/main" id="{4E18B530-BE82-4DBF-1F7A-9FF02D7D9884}"/>
              </a:ext>
            </a:extLst>
          </p:cNvPr>
          <p:cNvSpPr/>
          <p:nvPr/>
        </p:nvSpPr>
        <p:spPr>
          <a:xfrm>
            <a:off x="7235088" y="3241305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FA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Reorder &amp; </a:t>
            </a:r>
            <a:r>
              <a:rPr lang="zh-CN" altLang="zh-CN" sz="800" dirty="0">
                <a:solidFill>
                  <a:schemeClr val="tx1"/>
                </a:solidFill>
                <a:latin typeface="Helvetica" pitchFamily="2" charset="0"/>
              </a:rPr>
              <a:t>Negabinary</a:t>
            </a:r>
            <a:endParaRPr kumimoji="1" lang="en-US" altLang="zh-CN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86" name="圆角矩形 285">
            <a:extLst>
              <a:ext uri="{FF2B5EF4-FFF2-40B4-BE49-F238E27FC236}">
                <a16:creationId xmlns:a16="http://schemas.microsoft.com/office/drawing/2014/main" id="{8B6448BE-DF21-29E4-07C5-3480E8D36D62}"/>
              </a:ext>
            </a:extLst>
          </p:cNvPr>
          <p:cNvSpPr/>
          <p:nvPr/>
        </p:nvSpPr>
        <p:spPr>
          <a:xfrm>
            <a:off x="8291828" y="3241305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SIMD</a:t>
            </a:r>
          </a:p>
          <a:p>
            <a:pPr algn="ctr"/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Bit-Plane Formation</a:t>
            </a:r>
          </a:p>
        </p:txBody>
      </p:sp>
      <p:sp>
        <p:nvSpPr>
          <p:cNvPr id="287" name="圆角矩形 286">
            <a:extLst>
              <a:ext uri="{FF2B5EF4-FFF2-40B4-BE49-F238E27FC236}">
                <a16:creationId xmlns:a16="http://schemas.microsoft.com/office/drawing/2014/main" id="{0C41ACC6-325C-4414-A02C-4DFE3698979B}"/>
              </a:ext>
            </a:extLst>
          </p:cNvPr>
          <p:cNvSpPr/>
          <p:nvPr/>
        </p:nvSpPr>
        <p:spPr>
          <a:xfrm>
            <a:off x="9343959" y="3225401"/>
            <a:ext cx="828242" cy="407198"/>
          </a:xfrm>
          <a:prstGeom prst="roundRect">
            <a:avLst>
              <a:gd name="adj" fmla="val 8676"/>
            </a:avLst>
          </a:prstGeom>
          <a:solidFill>
            <a:srgbClr val="FFDE4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800" b="1" dirty="0">
                <a:solidFill>
                  <a:srgbClr val="FF0000"/>
                </a:solidFill>
                <a:latin typeface="Helvetica" pitchFamily="2" charset="0"/>
              </a:rPr>
              <a:t>State-Aware Coding</a:t>
            </a:r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D7A10A36-89D6-D020-08E1-8396434060E3}"/>
              </a:ext>
            </a:extLst>
          </p:cNvPr>
          <p:cNvSpPr txBox="1"/>
          <p:nvPr/>
        </p:nvSpPr>
        <p:spPr>
          <a:xfrm>
            <a:off x="2318609" y="3373839"/>
            <a:ext cx="34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…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289" name="圆角矩形 288">
            <a:extLst>
              <a:ext uri="{FF2B5EF4-FFF2-40B4-BE49-F238E27FC236}">
                <a16:creationId xmlns:a16="http://schemas.microsoft.com/office/drawing/2014/main" id="{5CF719E8-1F64-94EC-DA4C-B52B8F63F3C4}"/>
              </a:ext>
            </a:extLst>
          </p:cNvPr>
          <p:cNvSpPr/>
          <p:nvPr/>
        </p:nvSpPr>
        <p:spPr>
          <a:xfrm>
            <a:off x="720055" y="3775513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圆角矩形 289">
            <a:extLst>
              <a:ext uri="{FF2B5EF4-FFF2-40B4-BE49-F238E27FC236}">
                <a16:creationId xmlns:a16="http://schemas.microsoft.com/office/drawing/2014/main" id="{1ABF4881-D3DC-5EA8-2191-2CA7F0911459}"/>
              </a:ext>
            </a:extLst>
          </p:cNvPr>
          <p:cNvSpPr/>
          <p:nvPr/>
        </p:nvSpPr>
        <p:spPr>
          <a:xfrm>
            <a:off x="1523811" y="3775512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圆角矩形 290">
            <a:extLst>
              <a:ext uri="{FF2B5EF4-FFF2-40B4-BE49-F238E27FC236}">
                <a16:creationId xmlns:a16="http://schemas.microsoft.com/office/drawing/2014/main" id="{DD758FA6-71A2-29B5-75EE-A213F351123F}"/>
              </a:ext>
            </a:extLst>
          </p:cNvPr>
          <p:cNvSpPr/>
          <p:nvPr/>
        </p:nvSpPr>
        <p:spPr>
          <a:xfrm>
            <a:off x="2752365" y="3775512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 err="1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35C35246-FF27-5C9E-A24D-3D747D7B4ADD}"/>
              </a:ext>
            </a:extLst>
          </p:cNvPr>
          <p:cNvSpPr txBox="1"/>
          <p:nvPr/>
        </p:nvSpPr>
        <p:spPr>
          <a:xfrm>
            <a:off x="2318609" y="3751134"/>
            <a:ext cx="34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…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293" name="圆角矩形 292">
            <a:extLst>
              <a:ext uri="{FF2B5EF4-FFF2-40B4-BE49-F238E27FC236}">
                <a16:creationId xmlns:a16="http://schemas.microsoft.com/office/drawing/2014/main" id="{CF38ACE1-6677-53F7-F125-83E988421F24}"/>
              </a:ext>
            </a:extLst>
          </p:cNvPr>
          <p:cNvSpPr/>
          <p:nvPr/>
        </p:nvSpPr>
        <p:spPr>
          <a:xfrm>
            <a:off x="720055" y="4412553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圆角矩形 293">
            <a:extLst>
              <a:ext uri="{FF2B5EF4-FFF2-40B4-BE49-F238E27FC236}">
                <a16:creationId xmlns:a16="http://schemas.microsoft.com/office/drawing/2014/main" id="{08956DFF-E7BA-1355-1E90-FCA2E243F683}"/>
              </a:ext>
            </a:extLst>
          </p:cNvPr>
          <p:cNvSpPr/>
          <p:nvPr/>
        </p:nvSpPr>
        <p:spPr>
          <a:xfrm>
            <a:off x="1523811" y="4412552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endParaRPr kumimoji="1" lang="zh-CN" altLang="en-US" sz="800" b="1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圆角矩形 294">
            <a:extLst>
              <a:ext uri="{FF2B5EF4-FFF2-40B4-BE49-F238E27FC236}">
                <a16:creationId xmlns:a16="http://schemas.microsoft.com/office/drawing/2014/main" id="{AE20A22C-C76B-466C-78ED-1EA6D23B5514}"/>
              </a:ext>
            </a:extLst>
          </p:cNvPr>
          <p:cNvSpPr/>
          <p:nvPr/>
        </p:nvSpPr>
        <p:spPr>
          <a:xfrm>
            <a:off x="2752365" y="4412552"/>
            <a:ext cx="719630" cy="307777"/>
          </a:xfrm>
          <a:prstGeom prst="roundRect">
            <a:avLst>
              <a:gd name="adj" fmla="val 8676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</a:rPr>
              <a:t>CPE</a:t>
            </a:r>
            <a:r>
              <a:rPr kumimoji="1" lang="en-US" altLang="zh-CN" sz="12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070BCEBC-AAD0-A200-286D-B4FB5C46B01C}"/>
              </a:ext>
            </a:extLst>
          </p:cNvPr>
          <p:cNvSpPr txBox="1"/>
          <p:nvPr/>
        </p:nvSpPr>
        <p:spPr>
          <a:xfrm>
            <a:off x="2318609" y="4388174"/>
            <a:ext cx="34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…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B1A6CC6E-6ADC-432A-D41C-F143EC781BE8}"/>
              </a:ext>
            </a:extLst>
          </p:cNvPr>
          <p:cNvSpPr txBox="1"/>
          <p:nvPr/>
        </p:nvSpPr>
        <p:spPr>
          <a:xfrm>
            <a:off x="1280525" y="4049255"/>
            <a:ext cx="34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…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9833FD97-3FEA-F849-5A05-AB7C40C84768}"/>
              </a:ext>
            </a:extLst>
          </p:cNvPr>
          <p:cNvSpPr txBox="1"/>
          <p:nvPr/>
        </p:nvSpPr>
        <p:spPr>
          <a:xfrm>
            <a:off x="2937962" y="4058617"/>
            <a:ext cx="34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…</a:t>
            </a:r>
            <a:endParaRPr kumimoji="1" lang="zh-CN" altLang="en-US" sz="1400" b="1" dirty="0">
              <a:latin typeface="Helvetica" pitchFamily="2" charset="0"/>
            </a:endParaRPr>
          </a:p>
        </p:txBody>
      </p:sp>
      <p:sp>
        <p:nvSpPr>
          <p:cNvPr id="301" name="圆角矩形 300">
            <a:extLst>
              <a:ext uri="{FF2B5EF4-FFF2-40B4-BE49-F238E27FC236}">
                <a16:creationId xmlns:a16="http://schemas.microsoft.com/office/drawing/2014/main" id="{0DD2DB82-8F6A-8D41-4124-76EA6BE4B2AB}"/>
              </a:ext>
            </a:extLst>
          </p:cNvPr>
          <p:cNvSpPr/>
          <p:nvPr/>
        </p:nvSpPr>
        <p:spPr>
          <a:xfrm>
            <a:off x="2260956" y="2448000"/>
            <a:ext cx="864000" cy="360000"/>
          </a:xfrm>
          <a:prstGeom prst="roundRect">
            <a:avLst>
              <a:gd name="adj" fmla="val 8676"/>
            </a:avLst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S</a:t>
            </a:r>
            <a:r>
              <a:rPr lang="zh-CN" altLang="zh-CN" sz="12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chedul</a:t>
            </a:r>
            <a:r>
              <a:rPr lang="en-US" altLang="zh-CN" sz="12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e</a:t>
            </a:r>
            <a:endParaRPr lang="zh-CN" altLang="en-US" sz="1200" dirty="0"/>
          </a:p>
        </p:txBody>
      </p:sp>
      <p:cxnSp>
        <p:nvCxnSpPr>
          <p:cNvPr id="304" name="直线箭头连接符 303">
            <a:extLst>
              <a:ext uri="{FF2B5EF4-FFF2-40B4-BE49-F238E27FC236}">
                <a16:creationId xmlns:a16="http://schemas.microsoft.com/office/drawing/2014/main" id="{96D035D5-661B-BD57-3684-29B630FE071F}"/>
              </a:ext>
            </a:extLst>
          </p:cNvPr>
          <p:cNvCxnSpPr>
            <a:cxnSpLocks/>
          </p:cNvCxnSpPr>
          <p:nvPr/>
        </p:nvCxnSpPr>
        <p:spPr>
          <a:xfrm flipV="1">
            <a:off x="2768557" y="2982288"/>
            <a:ext cx="0" cy="288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9" name="组合 318">
            <a:extLst>
              <a:ext uri="{FF2B5EF4-FFF2-40B4-BE49-F238E27FC236}">
                <a16:creationId xmlns:a16="http://schemas.microsoft.com/office/drawing/2014/main" id="{967BD64E-5BB5-3FE7-2433-7F1F8F9E9F01}"/>
              </a:ext>
            </a:extLst>
          </p:cNvPr>
          <p:cNvGrpSpPr/>
          <p:nvPr/>
        </p:nvGrpSpPr>
        <p:grpSpPr>
          <a:xfrm>
            <a:off x="8137067" y="1099502"/>
            <a:ext cx="1080000" cy="180000"/>
            <a:chOff x="8781686" y="1044000"/>
            <a:chExt cx="1080000" cy="180000"/>
          </a:xfrm>
        </p:grpSpPr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332CA1E9-38A6-728F-CDCB-F10558AF1850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327" name="矩形 326">
                <a:extLst>
                  <a:ext uri="{FF2B5EF4-FFF2-40B4-BE49-F238E27FC236}">
                    <a16:creationId xmlns:a16="http://schemas.microsoft.com/office/drawing/2014/main" id="{E86C702C-D890-B25E-A55F-9C1D7C607DDB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8" name="矩形 327">
                <a:extLst>
                  <a:ext uri="{FF2B5EF4-FFF2-40B4-BE49-F238E27FC236}">
                    <a16:creationId xmlns:a16="http://schemas.microsoft.com/office/drawing/2014/main" id="{7A11E3D4-1039-3E6C-80EC-23332E088836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21" name="组合 320">
              <a:extLst>
                <a:ext uri="{FF2B5EF4-FFF2-40B4-BE49-F238E27FC236}">
                  <a16:creationId xmlns:a16="http://schemas.microsoft.com/office/drawing/2014/main" id="{AD268148-0CD3-836B-E7C3-A20F53420CD9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325" name="矩形 324">
                <a:extLst>
                  <a:ext uri="{FF2B5EF4-FFF2-40B4-BE49-F238E27FC236}">
                    <a16:creationId xmlns:a16="http://schemas.microsoft.com/office/drawing/2014/main" id="{5F48CA64-857D-B8B4-C442-2F0A4AE6B362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5C1A71B2-06B2-324C-6D4E-AEF0FFF785B4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22" name="组合 321">
              <a:extLst>
                <a:ext uri="{FF2B5EF4-FFF2-40B4-BE49-F238E27FC236}">
                  <a16:creationId xmlns:a16="http://schemas.microsoft.com/office/drawing/2014/main" id="{0E1B7C0D-7622-8C94-8B1D-FAFD00B10706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323" name="矩形 322">
                <a:extLst>
                  <a:ext uri="{FF2B5EF4-FFF2-40B4-BE49-F238E27FC236}">
                    <a16:creationId xmlns:a16="http://schemas.microsoft.com/office/drawing/2014/main" id="{9B71AD86-8128-6351-66CB-81E3EAD4B09E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4" name="矩形 323">
                <a:extLst>
                  <a:ext uri="{FF2B5EF4-FFF2-40B4-BE49-F238E27FC236}">
                    <a16:creationId xmlns:a16="http://schemas.microsoft.com/office/drawing/2014/main" id="{02935FD0-6D3D-F215-5FA7-F08BE587DF17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cxnSp>
        <p:nvCxnSpPr>
          <p:cNvPr id="329" name="直线连接符 328">
            <a:extLst>
              <a:ext uri="{FF2B5EF4-FFF2-40B4-BE49-F238E27FC236}">
                <a16:creationId xmlns:a16="http://schemas.microsoft.com/office/drawing/2014/main" id="{11D8EE8D-5E70-2BBC-3318-D168BA70FC74}"/>
              </a:ext>
            </a:extLst>
          </p:cNvPr>
          <p:cNvCxnSpPr>
            <a:cxnSpLocks/>
          </p:cNvCxnSpPr>
          <p:nvPr/>
        </p:nvCxnSpPr>
        <p:spPr>
          <a:xfrm>
            <a:off x="7786547" y="774319"/>
            <a:ext cx="351613" cy="3110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1" name="文本框 330">
            <a:extLst>
              <a:ext uri="{FF2B5EF4-FFF2-40B4-BE49-F238E27FC236}">
                <a16:creationId xmlns:a16="http://schemas.microsoft.com/office/drawing/2014/main" id="{B88343C1-7935-F93F-88E7-180732371400}"/>
              </a:ext>
            </a:extLst>
          </p:cNvPr>
          <p:cNvSpPr txBox="1"/>
          <p:nvPr/>
        </p:nvSpPr>
        <p:spPr>
          <a:xfrm>
            <a:off x="1173841" y="4843833"/>
            <a:ext cx="1951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Helvetica" pitchFamily="2" charset="0"/>
              </a:rPr>
              <a:t>8×8 CPE Array(64 CPEs)</a:t>
            </a:r>
            <a:endParaRPr kumimoji="1" lang="zh-CN" altLang="en-US" sz="1200" b="1" dirty="0">
              <a:latin typeface="Helvetica" pitchFamily="2" charset="0"/>
            </a:endParaRPr>
          </a:p>
        </p:txBody>
      </p:sp>
      <p:cxnSp>
        <p:nvCxnSpPr>
          <p:cNvPr id="336" name="直线连接符 335">
            <a:extLst>
              <a:ext uri="{FF2B5EF4-FFF2-40B4-BE49-F238E27FC236}">
                <a16:creationId xmlns:a16="http://schemas.microsoft.com/office/drawing/2014/main" id="{4AC66587-ED89-EB3C-06F0-B61B6862283B}"/>
              </a:ext>
            </a:extLst>
          </p:cNvPr>
          <p:cNvCxnSpPr>
            <a:cxnSpLocks/>
          </p:cNvCxnSpPr>
          <p:nvPr/>
        </p:nvCxnSpPr>
        <p:spPr>
          <a:xfrm>
            <a:off x="8869143" y="769989"/>
            <a:ext cx="351613" cy="31106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7" name="文本框 336">
            <a:extLst>
              <a:ext uri="{FF2B5EF4-FFF2-40B4-BE49-F238E27FC236}">
                <a16:creationId xmlns:a16="http://schemas.microsoft.com/office/drawing/2014/main" id="{70D94747-B78A-E1B0-F7DA-CB80B91DB84C}"/>
              </a:ext>
            </a:extLst>
          </p:cNvPr>
          <p:cNvSpPr txBox="1"/>
          <p:nvPr/>
        </p:nvSpPr>
        <p:spPr>
          <a:xfrm>
            <a:off x="5198277" y="292979"/>
            <a:ext cx="1574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Compress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338" name="右箭头 337">
            <a:extLst>
              <a:ext uri="{FF2B5EF4-FFF2-40B4-BE49-F238E27FC236}">
                <a16:creationId xmlns:a16="http://schemas.microsoft.com/office/drawing/2014/main" id="{6ED48B42-2455-A7A7-EF07-8AF8E3D08664}"/>
              </a:ext>
            </a:extLst>
          </p:cNvPr>
          <p:cNvSpPr/>
          <p:nvPr/>
        </p:nvSpPr>
        <p:spPr>
          <a:xfrm>
            <a:off x="5225686" y="465102"/>
            <a:ext cx="1675871" cy="21454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2BAD3DB4-D441-473A-7B6B-FB0A9FCC508E}"/>
              </a:ext>
            </a:extLst>
          </p:cNvPr>
          <p:cNvSpPr/>
          <p:nvPr/>
        </p:nvSpPr>
        <p:spPr>
          <a:xfrm rot="10800000">
            <a:off x="5070618" y="617086"/>
            <a:ext cx="1675871" cy="21454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37986F53-25A3-5D07-AE2C-8C3B54B53CAC}"/>
              </a:ext>
            </a:extLst>
          </p:cNvPr>
          <p:cNvSpPr txBox="1"/>
          <p:nvPr/>
        </p:nvSpPr>
        <p:spPr>
          <a:xfrm>
            <a:off x="5263363" y="753933"/>
            <a:ext cx="1574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Decompress</a:t>
            </a:r>
            <a:endParaRPr kumimoji="1" lang="zh-CN" altLang="en-US" sz="1000" b="1" dirty="0">
              <a:latin typeface="Helvetica" pitchFamily="2" charset="0"/>
            </a:endParaRPr>
          </a:p>
        </p:txBody>
      </p:sp>
      <p:sp>
        <p:nvSpPr>
          <p:cNvPr id="341" name="左箭头 340">
            <a:extLst>
              <a:ext uri="{FF2B5EF4-FFF2-40B4-BE49-F238E27FC236}">
                <a16:creationId xmlns:a16="http://schemas.microsoft.com/office/drawing/2014/main" id="{A805A16B-0BCF-11A0-A655-78A8B887FD32}"/>
              </a:ext>
            </a:extLst>
          </p:cNvPr>
          <p:cNvSpPr/>
          <p:nvPr/>
        </p:nvSpPr>
        <p:spPr>
          <a:xfrm rot="10800000">
            <a:off x="6035356" y="3405235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左箭头 341">
            <a:extLst>
              <a:ext uri="{FF2B5EF4-FFF2-40B4-BE49-F238E27FC236}">
                <a16:creationId xmlns:a16="http://schemas.microsoft.com/office/drawing/2014/main" id="{5CFF8A6A-544A-9378-F966-B2DCFBFCD3DF}"/>
              </a:ext>
            </a:extLst>
          </p:cNvPr>
          <p:cNvSpPr/>
          <p:nvPr/>
        </p:nvSpPr>
        <p:spPr>
          <a:xfrm rot="10800000">
            <a:off x="7043992" y="3406910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3" name="左箭头 342">
            <a:extLst>
              <a:ext uri="{FF2B5EF4-FFF2-40B4-BE49-F238E27FC236}">
                <a16:creationId xmlns:a16="http://schemas.microsoft.com/office/drawing/2014/main" id="{9B23BB9A-5185-7A58-A69B-A0B17B7BBEDB}"/>
              </a:ext>
            </a:extLst>
          </p:cNvPr>
          <p:cNvSpPr/>
          <p:nvPr/>
        </p:nvSpPr>
        <p:spPr>
          <a:xfrm rot="10800000">
            <a:off x="8074792" y="3408110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4" name="左箭头 343">
            <a:extLst>
              <a:ext uri="{FF2B5EF4-FFF2-40B4-BE49-F238E27FC236}">
                <a16:creationId xmlns:a16="http://schemas.microsoft.com/office/drawing/2014/main" id="{1751FD2D-B2B3-A698-7A65-E7E392CF843E}"/>
              </a:ext>
            </a:extLst>
          </p:cNvPr>
          <p:cNvSpPr/>
          <p:nvPr/>
        </p:nvSpPr>
        <p:spPr>
          <a:xfrm rot="10800000">
            <a:off x="9134392" y="3409310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5" name="左箭头 344">
            <a:extLst>
              <a:ext uri="{FF2B5EF4-FFF2-40B4-BE49-F238E27FC236}">
                <a16:creationId xmlns:a16="http://schemas.microsoft.com/office/drawing/2014/main" id="{0254043F-92A3-F1CF-D1F5-278F9A3D9EE1}"/>
              </a:ext>
            </a:extLst>
          </p:cNvPr>
          <p:cNvSpPr/>
          <p:nvPr/>
        </p:nvSpPr>
        <p:spPr>
          <a:xfrm rot="10800000">
            <a:off x="10201191" y="3410509"/>
            <a:ext cx="419881" cy="108891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6" name="左箭头 345">
            <a:extLst>
              <a:ext uri="{FF2B5EF4-FFF2-40B4-BE49-F238E27FC236}">
                <a16:creationId xmlns:a16="http://schemas.microsoft.com/office/drawing/2014/main" id="{DB0C3C32-A4D2-8E76-7FCD-4F5B9B8A071B}"/>
              </a:ext>
            </a:extLst>
          </p:cNvPr>
          <p:cNvSpPr/>
          <p:nvPr/>
        </p:nvSpPr>
        <p:spPr>
          <a:xfrm>
            <a:off x="10284396" y="4293264"/>
            <a:ext cx="419881" cy="108891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7" name="左箭头 346">
            <a:extLst>
              <a:ext uri="{FF2B5EF4-FFF2-40B4-BE49-F238E27FC236}">
                <a16:creationId xmlns:a16="http://schemas.microsoft.com/office/drawing/2014/main" id="{6388BC46-4697-590B-3904-04BE6D5F7476}"/>
              </a:ext>
            </a:extLst>
          </p:cNvPr>
          <p:cNvSpPr/>
          <p:nvPr/>
        </p:nvSpPr>
        <p:spPr>
          <a:xfrm>
            <a:off x="9193351" y="4295281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8" name="左箭头 347">
            <a:extLst>
              <a:ext uri="{FF2B5EF4-FFF2-40B4-BE49-F238E27FC236}">
                <a16:creationId xmlns:a16="http://schemas.microsoft.com/office/drawing/2014/main" id="{FF02AE04-07C2-CFB2-C1BD-84DBF28D5F63}"/>
              </a:ext>
            </a:extLst>
          </p:cNvPr>
          <p:cNvSpPr/>
          <p:nvPr/>
        </p:nvSpPr>
        <p:spPr>
          <a:xfrm>
            <a:off x="8035351" y="4296481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9" name="左箭头 348">
            <a:extLst>
              <a:ext uri="{FF2B5EF4-FFF2-40B4-BE49-F238E27FC236}">
                <a16:creationId xmlns:a16="http://schemas.microsoft.com/office/drawing/2014/main" id="{5ABC57BA-F426-2798-8E14-A254B2B2358B}"/>
              </a:ext>
            </a:extLst>
          </p:cNvPr>
          <p:cNvSpPr/>
          <p:nvPr/>
        </p:nvSpPr>
        <p:spPr>
          <a:xfrm>
            <a:off x="6913351" y="4297681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0" name="左箭头 349">
            <a:extLst>
              <a:ext uri="{FF2B5EF4-FFF2-40B4-BE49-F238E27FC236}">
                <a16:creationId xmlns:a16="http://schemas.microsoft.com/office/drawing/2014/main" id="{4EB4386A-BD7D-3212-1933-58B93D358713}"/>
              </a:ext>
            </a:extLst>
          </p:cNvPr>
          <p:cNvSpPr/>
          <p:nvPr/>
        </p:nvSpPr>
        <p:spPr>
          <a:xfrm>
            <a:off x="5985751" y="4291681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1" name="左箭头 350">
            <a:extLst>
              <a:ext uri="{FF2B5EF4-FFF2-40B4-BE49-F238E27FC236}">
                <a16:creationId xmlns:a16="http://schemas.microsoft.com/office/drawing/2014/main" id="{42230066-6B39-6ACC-325F-D10ED28C5BE4}"/>
              </a:ext>
            </a:extLst>
          </p:cNvPr>
          <p:cNvSpPr/>
          <p:nvPr/>
        </p:nvSpPr>
        <p:spPr>
          <a:xfrm>
            <a:off x="5101351" y="4292881"/>
            <a:ext cx="211158" cy="11378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2" name="圆角矩形 351">
            <a:extLst>
              <a:ext uri="{FF2B5EF4-FFF2-40B4-BE49-F238E27FC236}">
                <a16:creationId xmlns:a16="http://schemas.microsoft.com/office/drawing/2014/main" id="{B3BBDE1F-B96E-A4FA-6022-8CB898B06C0F}"/>
              </a:ext>
            </a:extLst>
          </p:cNvPr>
          <p:cNvSpPr/>
          <p:nvPr/>
        </p:nvSpPr>
        <p:spPr>
          <a:xfrm>
            <a:off x="3244231" y="295998"/>
            <a:ext cx="1798391" cy="1075380"/>
          </a:xfrm>
          <a:prstGeom prst="roundRect">
            <a:avLst>
              <a:gd name="adj" fmla="val 4015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2" name="圆角矩形 251">
            <a:extLst>
              <a:ext uri="{FF2B5EF4-FFF2-40B4-BE49-F238E27FC236}">
                <a16:creationId xmlns:a16="http://schemas.microsoft.com/office/drawing/2014/main" id="{E156AAB9-59E7-CDC5-AE75-6354B2681353}"/>
              </a:ext>
            </a:extLst>
          </p:cNvPr>
          <p:cNvSpPr/>
          <p:nvPr/>
        </p:nvSpPr>
        <p:spPr>
          <a:xfrm>
            <a:off x="8140229" y="2995479"/>
            <a:ext cx="2261546" cy="1625725"/>
          </a:xfrm>
          <a:prstGeom prst="roundRect">
            <a:avLst>
              <a:gd name="adj" fmla="val 4015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B3DD5AFE-91B7-4A26-36EB-D5B145772D3D}"/>
              </a:ext>
            </a:extLst>
          </p:cNvPr>
          <p:cNvSpPr txBox="1"/>
          <p:nvPr/>
        </p:nvSpPr>
        <p:spPr>
          <a:xfrm>
            <a:off x="10156656" y="4495951"/>
            <a:ext cx="1056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FF0000"/>
                </a:solidFill>
                <a:latin typeface="Helvetica" pitchFamily="2" charset="0"/>
              </a:rPr>
              <a:t>Hotspot</a:t>
            </a:r>
            <a:endParaRPr lang="en-US" altLang="zh-CN" sz="1000" b="1" dirty="0">
              <a:solidFill>
                <a:srgbClr val="FF0000"/>
              </a:solidFill>
              <a:latin typeface="Helvetica" pitchFamily="2" charset="0"/>
            </a:endParaRPr>
          </a:p>
        </p:txBody>
      </p:sp>
      <p:sp>
        <p:nvSpPr>
          <p:cNvPr id="354" name="圆角矩形 353">
            <a:extLst>
              <a:ext uri="{FF2B5EF4-FFF2-40B4-BE49-F238E27FC236}">
                <a16:creationId xmlns:a16="http://schemas.microsoft.com/office/drawing/2014/main" id="{D9DCB109-96DB-8607-EF20-9ECA161DACC9}"/>
              </a:ext>
            </a:extLst>
          </p:cNvPr>
          <p:cNvSpPr/>
          <p:nvPr/>
        </p:nvSpPr>
        <p:spPr>
          <a:xfrm>
            <a:off x="9931321" y="361965"/>
            <a:ext cx="1703879" cy="943317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0" name="立方体 219">
            <a:extLst>
              <a:ext uri="{FF2B5EF4-FFF2-40B4-BE49-F238E27FC236}">
                <a16:creationId xmlns:a16="http://schemas.microsoft.com/office/drawing/2014/main" id="{A5F6CEAF-F270-3CC0-C52E-2DA5923A5E49}"/>
              </a:ext>
            </a:extLst>
          </p:cNvPr>
          <p:cNvSpPr/>
          <p:nvPr/>
        </p:nvSpPr>
        <p:spPr>
          <a:xfrm>
            <a:off x="10372540" y="473563"/>
            <a:ext cx="221482" cy="221482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1" name="立方体 250">
            <a:extLst>
              <a:ext uri="{FF2B5EF4-FFF2-40B4-BE49-F238E27FC236}">
                <a16:creationId xmlns:a16="http://schemas.microsoft.com/office/drawing/2014/main" id="{217D10F5-D7AD-5E35-E8A5-5F938AE84028}"/>
              </a:ext>
            </a:extLst>
          </p:cNvPr>
          <p:cNvSpPr/>
          <p:nvPr/>
        </p:nvSpPr>
        <p:spPr>
          <a:xfrm>
            <a:off x="10122956" y="473756"/>
            <a:ext cx="221482" cy="221482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FF08D5A8-3C46-3331-9A98-D8EDEFE2CF2B}"/>
              </a:ext>
            </a:extLst>
          </p:cNvPr>
          <p:cNvSpPr/>
          <p:nvPr/>
        </p:nvSpPr>
        <p:spPr>
          <a:xfrm>
            <a:off x="10128723" y="979090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B1ABFFC7-46C0-F0B6-9315-8A0CA88F539D}"/>
              </a:ext>
            </a:extLst>
          </p:cNvPr>
          <p:cNvSpPr/>
          <p:nvPr/>
        </p:nvSpPr>
        <p:spPr>
          <a:xfrm>
            <a:off x="10363061" y="973590"/>
            <a:ext cx="18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E55C12F9-EC89-BA45-597F-864D5420DFA2}"/>
              </a:ext>
            </a:extLst>
          </p:cNvPr>
          <p:cNvSpPr txBox="1"/>
          <p:nvPr/>
        </p:nvSpPr>
        <p:spPr>
          <a:xfrm>
            <a:off x="10569674" y="396391"/>
            <a:ext cx="868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ZFP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block</a:t>
            </a:r>
          </a:p>
          <a:p>
            <a:pPr algn="ctr"/>
            <a:r>
              <a:rPr kumimoji="1" lang="zh-CN" altLang="en-US" sz="800" b="1" dirty="0">
                <a:latin typeface="Helvetica" pitchFamily="2" charset="0"/>
              </a:rPr>
              <a:t>（</a:t>
            </a:r>
            <a:r>
              <a:rPr kumimoji="1" lang="en-US" altLang="zh-CN" sz="800" b="1" dirty="0">
                <a:latin typeface="Helvetica" pitchFamily="2" charset="0"/>
              </a:rPr>
              <a:t>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</a:t>
            </a:r>
            <a:r>
              <a:rPr kumimoji="1" lang="zh-CN" altLang="en-US" sz="800" b="1" dirty="0">
                <a:latin typeface="Helvetica" pitchFamily="2" charset="0"/>
              </a:rPr>
              <a:t>）</a:t>
            </a:r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3FF5BD71-59BE-CEDE-F7B5-B5705D55E062}"/>
              </a:ext>
            </a:extLst>
          </p:cNvPr>
          <p:cNvSpPr txBox="1"/>
          <p:nvPr/>
        </p:nvSpPr>
        <p:spPr>
          <a:xfrm>
            <a:off x="10473756" y="876594"/>
            <a:ext cx="1088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Fixed-rate Compressed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endParaRPr kumimoji="1" lang="en-US" altLang="zh-CN" sz="800" b="1" dirty="0">
              <a:latin typeface="Helvetica" pitchFamily="2" charset="0"/>
            </a:endParaRPr>
          </a:p>
          <a:p>
            <a:pPr algn="ctr"/>
            <a:r>
              <a:rPr lang="zh-CN" altLang="zh-CN" sz="800" b="1" dirty="0">
                <a:latin typeface="Helvetica" pitchFamily="2" charset="0"/>
              </a:rPr>
              <a:t>Slot</a:t>
            </a:r>
            <a:endParaRPr kumimoji="1" lang="en-US" altLang="zh-CN" sz="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24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92F32-1312-1FB4-98E5-EE9B5EE8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017F1F1D-D0FF-FD97-4995-9FA58B78B712}"/>
              </a:ext>
            </a:extLst>
          </p:cNvPr>
          <p:cNvSpPr/>
          <p:nvPr/>
        </p:nvSpPr>
        <p:spPr>
          <a:xfrm>
            <a:off x="76200" y="55419"/>
            <a:ext cx="12046527" cy="6719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EC885A-D7AB-9DAC-210D-D55DDE9C422F}"/>
              </a:ext>
            </a:extLst>
          </p:cNvPr>
          <p:cNvSpPr txBox="1"/>
          <p:nvPr/>
        </p:nvSpPr>
        <p:spPr>
          <a:xfrm>
            <a:off x="131618" y="138545"/>
            <a:ext cx="28540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Bit-Plane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Formation</a:t>
            </a:r>
          </a:p>
          <a:p>
            <a:r>
              <a:rPr kumimoji="1" lang="en-US" altLang="zh-CN" sz="1200" dirty="0">
                <a:latin typeface="Helvetica" pitchFamily="2" charset="0"/>
              </a:rPr>
              <a:t>(from transformed coefficients)</a:t>
            </a:r>
            <a:endParaRPr kumimoji="1" lang="zh-CN" altLang="en-US" sz="1200" dirty="0">
              <a:latin typeface="Helvetica" pitchFamily="2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0A8C06D-B0AA-EC00-CAD2-757C00AD63A7}"/>
              </a:ext>
            </a:extLst>
          </p:cNvPr>
          <p:cNvSpPr/>
          <p:nvPr/>
        </p:nvSpPr>
        <p:spPr>
          <a:xfrm>
            <a:off x="72737" y="817418"/>
            <a:ext cx="5947063" cy="309649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D42F2A5-1820-FA12-0DFC-DC59ED205E2B}"/>
              </a:ext>
            </a:extLst>
          </p:cNvPr>
          <p:cNvSpPr/>
          <p:nvPr/>
        </p:nvSpPr>
        <p:spPr>
          <a:xfrm>
            <a:off x="72737" y="817418"/>
            <a:ext cx="5947063" cy="332510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E9109B7-815B-A742-154A-0377D48A6276}"/>
              </a:ext>
            </a:extLst>
          </p:cNvPr>
          <p:cNvSpPr/>
          <p:nvPr/>
        </p:nvSpPr>
        <p:spPr>
          <a:xfrm>
            <a:off x="6172200" y="817418"/>
            <a:ext cx="5947063" cy="309649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746C0D6-6D48-C3F4-7012-FBDA1D2D61DF}"/>
              </a:ext>
            </a:extLst>
          </p:cNvPr>
          <p:cNvSpPr/>
          <p:nvPr/>
        </p:nvSpPr>
        <p:spPr>
          <a:xfrm>
            <a:off x="6172200" y="817418"/>
            <a:ext cx="5947063" cy="332510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9E9E88-1E84-BBA4-8DB4-6D38F13881AF}"/>
              </a:ext>
            </a:extLst>
          </p:cNvPr>
          <p:cNvSpPr txBox="1"/>
          <p:nvPr/>
        </p:nvSpPr>
        <p:spPr>
          <a:xfrm>
            <a:off x="72737" y="822349"/>
            <a:ext cx="4197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(a) Coefficient-Parallel Mapping</a:t>
            </a:r>
            <a:endParaRPr kumimoji="1" lang="zh-CN" altLang="en-US" sz="1200" dirty="0">
              <a:latin typeface="Helvetica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0E440F-F6DE-6086-8CAE-6C573D7EB8C4}"/>
              </a:ext>
            </a:extLst>
          </p:cNvPr>
          <p:cNvSpPr txBox="1"/>
          <p:nvPr/>
        </p:nvSpPr>
        <p:spPr>
          <a:xfrm>
            <a:off x="6172200" y="829784"/>
            <a:ext cx="4197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(c) Plane-Parallel Mapping</a:t>
            </a:r>
            <a:endParaRPr kumimoji="1" lang="zh-CN" altLang="en-US" sz="1200" dirty="0">
              <a:latin typeface="Helvetica" pitchFamily="2" charset="0"/>
            </a:endParaRPr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03E38D89-53AE-F05D-F2D8-FB79DC2DFB8A}"/>
              </a:ext>
            </a:extLst>
          </p:cNvPr>
          <p:cNvSpPr/>
          <p:nvPr/>
        </p:nvSpPr>
        <p:spPr>
          <a:xfrm>
            <a:off x="2422052" y="274025"/>
            <a:ext cx="221482" cy="221482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18351F9-9C1C-AFF9-1C4E-DAF635B6D4A6}"/>
              </a:ext>
            </a:extLst>
          </p:cNvPr>
          <p:cNvSpPr txBox="1"/>
          <p:nvPr/>
        </p:nvSpPr>
        <p:spPr>
          <a:xfrm>
            <a:off x="2581547" y="215489"/>
            <a:ext cx="868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ZFP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block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(4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values)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67B4D39D-F4DB-3634-C0BB-B88DABC6789A}"/>
              </a:ext>
            </a:extLst>
          </p:cNvPr>
          <p:cNvSpPr/>
          <p:nvPr/>
        </p:nvSpPr>
        <p:spPr>
          <a:xfrm>
            <a:off x="3449830" y="384766"/>
            <a:ext cx="921327" cy="11074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E4F645-D7DB-934E-1506-7D5B31174B26}"/>
              </a:ext>
            </a:extLst>
          </p:cNvPr>
          <p:cNvSpPr txBox="1"/>
          <p:nvPr/>
        </p:nvSpPr>
        <p:spPr>
          <a:xfrm>
            <a:off x="3268392" y="109844"/>
            <a:ext cx="12842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dirty="0">
                <a:latin typeface="Helvetica" pitchFamily="2" charset="0"/>
              </a:rPr>
              <a:t>Reorder + </a:t>
            </a:r>
            <a:endParaRPr lang="en-US" altLang="zh-CN" sz="800" dirty="0">
              <a:latin typeface="Helvetica" pitchFamily="2" charset="0"/>
            </a:endParaRPr>
          </a:p>
          <a:p>
            <a:pPr algn="ctr"/>
            <a:r>
              <a:rPr lang="en-US" altLang="zh-CN" sz="800" dirty="0">
                <a:latin typeface="Helvetica" pitchFamily="2" charset="0"/>
              </a:rPr>
              <a:t>N</a:t>
            </a:r>
            <a:r>
              <a:rPr lang="zh-CN" altLang="zh-CN" sz="800" dirty="0">
                <a:latin typeface="Helvetica" pitchFamily="2" charset="0"/>
              </a:rPr>
              <a:t>egabinary</a:t>
            </a:r>
            <a:r>
              <a:rPr lang="en-US" altLang="zh-CN" sz="800" dirty="0">
                <a:latin typeface="Helvetica" pitchFamily="2" charset="0"/>
              </a:rPr>
              <a:t> </a:t>
            </a:r>
            <a:r>
              <a:rPr lang="zh-CN" altLang="zh-CN" sz="800" dirty="0">
                <a:latin typeface="Helvetica" pitchFamily="2" charset="0"/>
              </a:rPr>
              <a:t>conversion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E75E7EA-0F9F-BAFF-194B-B679A32EE562}"/>
              </a:ext>
            </a:extLst>
          </p:cNvPr>
          <p:cNvGrpSpPr/>
          <p:nvPr/>
        </p:nvGrpSpPr>
        <p:grpSpPr>
          <a:xfrm>
            <a:off x="4439114" y="398045"/>
            <a:ext cx="1802703" cy="180000"/>
            <a:chOff x="7790818" y="849130"/>
            <a:chExt cx="1802703" cy="180000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0AFEE4F-3951-01DB-8EA4-A536D57CF1B3}"/>
                </a:ext>
              </a:extLst>
            </p:cNvPr>
            <p:cNvGrpSpPr/>
            <p:nvPr/>
          </p:nvGrpSpPr>
          <p:grpSpPr>
            <a:xfrm>
              <a:off x="8152106" y="849130"/>
              <a:ext cx="1080000" cy="180000"/>
              <a:chOff x="8781686" y="1044000"/>
              <a:chExt cx="1080000" cy="18000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49600A4F-0EB0-67D0-4142-EA88668BE1B3}"/>
                  </a:ext>
                </a:extLst>
              </p:cNvPr>
              <p:cNvGrpSpPr/>
              <p:nvPr/>
            </p:nvGrpSpPr>
            <p:grpSpPr>
              <a:xfrm>
                <a:off x="878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7CC9FAE4-5382-A66D-B746-DE87ABD3C081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17503E3A-61A3-E6A9-D659-B83E32CBC565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0FD58BF2-9478-5D92-4C5F-D3BFCD87087F}"/>
                  </a:ext>
                </a:extLst>
              </p:cNvPr>
              <p:cNvGrpSpPr/>
              <p:nvPr/>
            </p:nvGrpSpPr>
            <p:grpSpPr>
              <a:xfrm>
                <a:off x="914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2AF0D8D2-35DA-D375-6363-D1BEA19E13DA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A01EA7B4-B2B1-2FD3-C8F5-03C05C159B55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2AA68A2A-3A1A-25CC-4A99-CDDEA55E060B}"/>
                  </a:ext>
                </a:extLst>
              </p:cNvPr>
              <p:cNvGrpSpPr/>
              <p:nvPr/>
            </p:nvGrpSpPr>
            <p:grpSpPr>
              <a:xfrm>
                <a:off x="950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0C39D889-44F4-87EC-8149-54AD8497847F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764E08BC-2CB8-EC5B-EE8C-42871D56158F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D2733D1-54F3-A741-F48E-FF97B0EA32FD}"/>
                </a:ext>
              </a:extLst>
            </p:cNvPr>
            <p:cNvSpPr/>
            <p:nvPr/>
          </p:nvSpPr>
          <p:spPr>
            <a:xfrm>
              <a:off x="7790818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022EB06-1E76-92B2-8110-01F7DEB1F04B}"/>
                </a:ext>
              </a:extLst>
            </p:cNvPr>
            <p:cNvSpPr/>
            <p:nvPr/>
          </p:nvSpPr>
          <p:spPr>
            <a:xfrm>
              <a:off x="9233521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D05D10EE-6F34-6C3E-4561-E0389D64E5C8}"/>
              </a:ext>
            </a:extLst>
          </p:cNvPr>
          <p:cNvSpPr txBox="1"/>
          <p:nvPr/>
        </p:nvSpPr>
        <p:spPr>
          <a:xfrm>
            <a:off x="4583814" y="102904"/>
            <a:ext cx="17239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Unsigned Coefficient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Stream (4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800" b="1" i="1" baseline="30000" dirty="0"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values)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BAEF449B-FB68-F468-4307-2F19F7461D82}"/>
              </a:ext>
            </a:extLst>
          </p:cNvPr>
          <p:cNvSpPr/>
          <p:nvPr/>
        </p:nvSpPr>
        <p:spPr>
          <a:xfrm>
            <a:off x="4270664" y="848759"/>
            <a:ext cx="1660873" cy="2500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Lane</a:t>
            </a:r>
            <a:r>
              <a:rPr kumimoji="1" lang="zh-CN" altLang="en-US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⇐ </a:t>
            </a: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coefficient</a:t>
            </a:r>
            <a:endParaRPr kumimoji="1" lang="zh-CN" altLang="en-US" sz="1200" b="1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3C8E6E4F-2665-6CAF-B7A3-DDAE2F12D7E9}"/>
              </a:ext>
            </a:extLst>
          </p:cNvPr>
          <p:cNvSpPr/>
          <p:nvPr/>
        </p:nvSpPr>
        <p:spPr>
          <a:xfrm>
            <a:off x="10370127" y="858656"/>
            <a:ext cx="1660873" cy="25003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Lane</a:t>
            </a:r>
            <a:r>
              <a:rPr kumimoji="1" lang="zh-CN" altLang="en-US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⇐ </a:t>
            </a:r>
            <a:r>
              <a:rPr kumimoji="1" lang="en-US" altLang="zh-CN" sz="1200" b="1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bit position</a:t>
            </a:r>
            <a:endParaRPr kumimoji="1" lang="zh-CN" altLang="en-US" sz="1200" b="1" dirty="0">
              <a:solidFill>
                <a:schemeClr val="tx1"/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F0A3D2D1-AEC4-645F-B5FC-1C778418565A}"/>
              </a:ext>
            </a:extLst>
          </p:cNvPr>
          <p:cNvSpPr/>
          <p:nvPr/>
        </p:nvSpPr>
        <p:spPr>
          <a:xfrm>
            <a:off x="4642266" y="3990733"/>
            <a:ext cx="3351237" cy="1917255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40AB1490-33D6-ADCE-0A75-1DB648C9BC02}"/>
              </a:ext>
            </a:extLst>
          </p:cNvPr>
          <p:cNvSpPr/>
          <p:nvPr/>
        </p:nvSpPr>
        <p:spPr>
          <a:xfrm>
            <a:off x="4642267" y="3990732"/>
            <a:ext cx="3351236" cy="332510"/>
          </a:xfrm>
          <a:prstGeom prst="roundRect">
            <a:avLst>
              <a:gd name="adj" fmla="val 2798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198510E-6412-8186-289F-EAB55C87A211}"/>
              </a:ext>
            </a:extLst>
          </p:cNvPr>
          <p:cNvSpPr txBox="1"/>
          <p:nvPr/>
        </p:nvSpPr>
        <p:spPr>
          <a:xfrm>
            <a:off x="4644187" y="4003098"/>
            <a:ext cx="3345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(d) </a:t>
            </a:r>
            <a:r>
              <a:rPr lang="zh-CN" altLang="zh-CN" sz="1400" b="1" dirty="0">
                <a:latin typeface="Helvetica" pitchFamily="2" charset="0"/>
              </a:rPr>
              <a:t>64-bit </a:t>
            </a:r>
            <a:r>
              <a:rPr lang="en-US" altLang="zh-CN" sz="1400" b="1" dirty="0">
                <a:latin typeface="Helvetica" pitchFamily="2" charset="0"/>
              </a:rPr>
              <a:t>Coefficient</a:t>
            </a:r>
            <a:r>
              <a:rPr lang="zh-CN" altLang="zh-CN" sz="1400" b="1" dirty="0">
                <a:latin typeface="Helvetica" pitchFamily="2" charset="0"/>
              </a:rPr>
              <a:t> Representation</a:t>
            </a:r>
            <a:endParaRPr kumimoji="1" lang="zh-CN" altLang="en-US" sz="1200" b="1" dirty="0">
              <a:latin typeface="Helvetica" pitchFamily="2" charset="0"/>
            </a:endParaRP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87F8CCB6-E821-B6DB-8070-673FD86ACDAE}"/>
              </a:ext>
            </a:extLst>
          </p:cNvPr>
          <p:cNvCxnSpPr>
            <a:cxnSpLocks/>
          </p:cNvCxnSpPr>
          <p:nvPr/>
        </p:nvCxnSpPr>
        <p:spPr>
          <a:xfrm flipH="1">
            <a:off x="6276240" y="4304151"/>
            <a:ext cx="837" cy="1584746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66C1DF30-D0DA-073E-5090-C8CB44C6C2C6}"/>
              </a:ext>
            </a:extLst>
          </p:cNvPr>
          <p:cNvSpPr/>
          <p:nvPr/>
        </p:nvSpPr>
        <p:spPr>
          <a:xfrm>
            <a:off x="72735" y="4003099"/>
            <a:ext cx="4511077" cy="1904890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DAC1BE42-4760-8089-BC95-4C6333463FC6}"/>
              </a:ext>
            </a:extLst>
          </p:cNvPr>
          <p:cNvSpPr/>
          <p:nvPr/>
        </p:nvSpPr>
        <p:spPr>
          <a:xfrm>
            <a:off x="72736" y="4003098"/>
            <a:ext cx="4511078" cy="332510"/>
          </a:xfrm>
          <a:prstGeom prst="roundRect">
            <a:avLst>
              <a:gd name="adj" fmla="val 2798"/>
            </a:avLst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71D411A-E4C4-45EB-2D5E-07139DDA276A}"/>
              </a:ext>
            </a:extLst>
          </p:cNvPr>
          <p:cNvSpPr txBox="1"/>
          <p:nvPr/>
        </p:nvSpPr>
        <p:spPr>
          <a:xfrm>
            <a:off x="72735" y="4015464"/>
            <a:ext cx="4144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(b)</a:t>
            </a:r>
            <a:r>
              <a:rPr lang="zh-CN" altLang="zh-CN" sz="1400" b="1" dirty="0">
                <a:latin typeface="Helvetica" pitchFamily="2" charset="0"/>
              </a:rPr>
              <a:t> Shuffle-and-OR Reduction</a:t>
            </a:r>
            <a:endParaRPr kumimoji="1" lang="zh-CN" altLang="en-US" sz="1200" b="1" dirty="0">
              <a:latin typeface="Helvetica" pitchFamily="2" charset="0"/>
            </a:endParaRP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3C8C6C74-077B-78A7-991C-AB6F54014822}"/>
              </a:ext>
            </a:extLst>
          </p:cNvPr>
          <p:cNvSpPr/>
          <p:nvPr/>
        </p:nvSpPr>
        <p:spPr>
          <a:xfrm>
            <a:off x="8051957" y="3990733"/>
            <a:ext cx="4067305" cy="1917256"/>
          </a:xfrm>
          <a:prstGeom prst="roundRect">
            <a:avLst>
              <a:gd name="adj" fmla="val 2798"/>
            </a:avLst>
          </a:prstGeom>
          <a:noFill/>
          <a:ln w="19050">
            <a:solidFill>
              <a:srgbClr val="FF3D7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16ED6D3A-EB34-53EF-49F7-7A68DE0C045D}"/>
              </a:ext>
            </a:extLst>
          </p:cNvPr>
          <p:cNvSpPr/>
          <p:nvPr/>
        </p:nvSpPr>
        <p:spPr>
          <a:xfrm>
            <a:off x="8051957" y="3990732"/>
            <a:ext cx="4067305" cy="332510"/>
          </a:xfrm>
          <a:prstGeom prst="roundRect">
            <a:avLst>
              <a:gd name="adj" fmla="val 2798"/>
            </a:avLst>
          </a:prstGeom>
          <a:solidFill>
            <a:srgbClr val="FF6878"/>
          </a:solidFill>
          <a:ln w="19050">
            <a:solidFill>
              <a:srgbClr val="FF3D78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D9BCE55-0E7C-B862-A743-2C8B894562AE}"/>
              </a:ext>
            </a:extLst>
          </p:cNvPr>
          <p:cNvSpPr txBox="1"/>
          <p:nvPr/>
        </p:nvSpPr>
        <p:spPr>
          <a:xfrm>
            <a:off x="8067290" y="3996604"/>
            <a:ext cx="3531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latin typeface="Helvetica" pitchFamily="2" charset="0"/>
              </a:rPr>
              <a:t>(e) SIMD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Strategy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(Design</a:t>
            </a:r>
            <a:r>
              <a:rPr kumimoji="1" lang="zh-CN" altLang="en-US" sz="1400" b="1" dirty="0">
                <a:latin typeface="Helvetica" pitchFamily="2" charset="0"/>
              </a:rPr>
              <a:t> </a:t>
            </a:r>
            <a:r>
              <a:rPr kumimoji="1" lang="en-US" altLang="zh-CN" sz="1400" b="1" dirty="0">
                <a:latin typeface="Helvetica" pitchFamily="2" charset="0"/>
              </a:rPr>
              <a:t>Choice)</a:t>
            </a:r>
            <a:endParaRPr kumimoji="1" lang="zh-CN" altLang="en-US" sz="1200" dirty="0">
              <a:latin typeface="Helvetica" pitchFamily="2" charset="0"/>
            </a:endParaRPr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D37A9D8A-C2CE-FE8C-919F-29619F9F06B1}"/>
              </a:ext>
            </a:extLst>
          </p:cNvPr>
          <p:cNvCxnSpPr>
            <a:cxnSpLocks/>
          </p:cNvCxnSpPr>
          <p:nvPr/>
        </p:nvCxnSpPr>
        <p:spPr>
          <a:xfrm flipH="1" flipV="1">
            <a:off x="10091077" y="4316516"/>
            <a:ext cx="542" cy="1572381"/>
          </a:xfrm>
          <a:prstGeom prst="line">
            <a:avLst/>
          </a:prstGeom>
          <a:ln>
            <a:solidFill>
              <a:srgbClr val="FF3D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32CBE667-2944-9294-9C99-96A75416DD33}"/>
              </a:ext>
            </a:extLst>
          </p:cNvPr>
          <p:cNvSpPr/>
          <p:nvPr/>
        </p:nvSpPr>
        <p:spPr>
          <a:xfrm>
            <a:off x="4755537" y="4400065"/>
            <a:ext cx="1402612" cy="4149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Native</a:t>
            </a:r>
            <a:r>
              <a:rPr kumimoji="1" lang="zh-CN" altLang="en-US" sz="10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64-bit</a:t>
            </a:r>
          </a:p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(when supported)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36882AEC-AAD7-05A8-673B-3E2ED336B1D0}"/>
              </a:ext>
            </a:extLst>
          </p:cNvPr>
          <p:cNvSpPr/>
          <p:nvPr/>
        </p:nvSpPr>
        <p:spPr>
          <a:xfrm>
            <a:off x="6333917" y="4385614"/>
            <a:ext cx="1608013" cy="41498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Split 32-bit</a:t>
            </a:r>
          </a:p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(when favorable)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4BD681F-E841-3B02-76AE-E2CF6F7561DC}"/>
              </a:ext>
            </a:extLst>
          </p:cNvPr>
          <p:cNvSpPr/>
          <p:nvPr/>
        </p:nvSpPr>
        <p:spPr>
          <a:xfrm>
            <a:off x="4741973" y="5000934"/>
            <a:ext cx="1385334" cy="162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Full</a:t>
            </a:r>
            <a:r>
              <a:rPr kumimoji="1" lang="zh-CN" altLang="en-US" sz="8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64-bit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CD20648-BF09-AD00-C076-5A72114F6D66}"/>
              </a:ext>
            </a:extLst>
          </p:cNvPr>
          <p:cNvSpPr/>
          <p:nvPr/>
        </p:nvSpPr>
        <p:spPr>
          <a:xfrm>
            <a:off x="6333917" y="4995452"/>
            <a:ext cx="787182" cy="162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High 32-bit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C14A0BF-3782-9247-2DDD-6E94525225E9}"/>
              </a:ext>
            </a:extLst>
          </p:cNvPr>
          <p:cNvSpPr/>
          <p:nvPr/>
        </p:nvSpPr>
        <p:spPr>
          <a:xfrm>
            <a:off x="7118637" y="4995452"/>
            <a:ext cx="781628" cy="162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Low 32-bit</a:t>
            </a:r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463F72A-F06E-CE12-1F78-60B329CF0B12}"/>
              </a:ext>
            </a:extLst>
          </p:cNvPr>
          <p:cNvGrpSpPr/>
          <p:nvPr/>
        </p:nvGrpSpPr>
        <p:grpSpPr>
          <a:xfrm>
            <a:off x="4929881" y="5377802"/>
            <a:ext cx="1080000" cy="180000"/>
            <a:chOff x="8781686" y="1044000"/>
            <a:chExt cx="1080000" cy="180000"/>
          </a:xfrm>
          <a:solidFill>
            <a:schemeClr val="accent6">
              <a:lumMod val="20000"/>
              <a:lumOff val="80000"/>
            </a:schemeClr>
          </a:solidFill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F39B2393-C4B0-F42F-9853-44B5748CCDB2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36DE7E5-D106-2A52-7AAD-CD05029C8721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2A7E70B8-5BFB-B81F-7A2D-301F50ED4C2C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66D57A39-766F-5FC5-9C00-0CEAC3AC8306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6C577711-8446-F36A-7244-C84ECB70C896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EC720C28-F5FC-F236-5A88-10E981226954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561A692D-7336-5035-5EC9-9715F7AD9E4D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5C8293A9-0188-F6A7-8F90-E05568C23A08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ABF49168-C46C-BAD8-B3A1-8DC86B78201D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1B1D386C-3E80-01ED-27B4-7DC463F578D0}"/>
              </a:ext>
            </a:extLst>
          </p:cNvPr>
          <p:cNvSpPr txBox="1"/>
          <p:nvPr/>
        </p:nvSpPr>
        <p:spPr>
          <a:xfrm>
            <a:off x="5020218" y="5569434"/>
            <a:ext cx="1049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8×64-bit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</a:t>
            </a: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(e.g., x86 AVX-512)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F629FE20-3B7B-0EF0-F23E-009F464F321D}"/>
              </a:ext>
            </a:extLst>
          </p:cNvPr>
          <p:cNvGrpSpPr/>
          <p:nvPr/>
        </p:nvGrpSpPr>
        <p:grpSpPr>
          <a:xfrm>
            <a:off x="6426105" y="5377033"/>
            <a:ext cx="540000" cy="180000"/>
            <a:chOff x="6437334" y="5414407"/>
            <a:chExt cx="540000" cy="180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64DC39AB-7FDA-BF89-862C-3308A09D7B59}"/>
                </a:ext>
              </a:extLst>
            </p:cNvPr>
            <p:cNvSpPr/>
            <p:nvPr/>
          </p:nvSpPr>
          <p:spPr>
            <a:xfrm>
              <a:off x="643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7B7B218C-E634-F2D7-D999-887600A937CB}"/>
                </a:ext>
              </a:extLst>
            </p:cNvPr>
            <p:cNvSpPr/>
            <p:nvPr/>
          </p:nvSpPr>
          <p:spPr>
            <a:xfrm>
              <a:off x="661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E2958CD4-7D7B-316B-B990-4FAD5FEECA23}"/>
                </a:ext>
              </a:extLst>
            </p:cNvPr>
            <p:cNvSpPr/>
            <p:nvPr/>
          </p:nvSpPr>
          <p:spPr>
            <a:xfrm>
              <a:off x="679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D2B013A1-B453-3420-FF46-332CBFFCA584}"/>
              </a:ext>
            </a:extLst>
          </p:cNvPr>
          <p:cNvGrpSpPr/>
          <p:nvPr/>
        </p:nvGrpSpPr>
        <p:grpSpPr>
          <a:xfrm>
            <a:off x="7264013" y="5377033"/>
            <a:ext cx="540000" cy="180000"/>
            <a:chOff x="6977334" y="5414407"/>
            <a:chExt cx="540000" cy="1800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FFDBA7F5-8B46-B297-FDB4-EA4DE42113B8}"/>
                </a:ext>
              </a:extLst>
            </p:cNvPr>
            <p:cNvSpPr/>
            <p:nvPr/>
          </p:nvSpPr>
          <p:spPr>
            <a:xfrm>
              <a:off x="697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FACC493-C85E-B091-1439-E9B25A52FA53}"/>
                </a:ext>
              </a:extLst>
            </p:cNvPr>
            <p:cNvSpPr/>
            <p:nvPr/>
          </p:nvSpPr>
          <p:spPr>
            <a:xfrm>
              <a:off x="715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845390B7-B3D2-6BA3-8E0E-BBC19784E88C}"/>
                </a:ext>
              </a:extLst>
            </p:cNvPr>
            <p:cNvSpPr/>
            <p:nvPr/>
          </p:nvSpPr>
          <p:spPr>
            <a:xfrm>
              <a:off x="7337334" y="5414407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648199A5-9769-66F2-A5EA-51F3CA96C3DF}"/>
              </a:ext>
            </a:extLst>
          </p:cNvPr>
          <p:cNvSpPr txBox="1"/>
          <p:nvPr/>
        </p:nvSpPr>
        <p:spPr>
          <a:xfrm>
            <a:off x="6487066" y="5570285"/>
            <a:ext cx="1208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16×32-bit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</a:t>
            </a: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(e.g., Sunway / SVE)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00" name="下箭头 99">
            <a:extLst>
              <a:ext uri="{FF2B5EF4-FFF2-40B4-BE49-F238E27FC236}">
                <a16:creationId xmlns:a16="http://schemas.microsoft.com/office/drawing/2014/main" id="{4B2D843B-8110-A98D-46EA-7307E5898770}"/>
              </a:ext>
            </a:extLst>
          </p:cNvPr>
          <p:cNvSpPr/>
          <p:nvPr/>
        </p:nvSpPr>
        <p:spPr>
          <a:xfrm>
            <a:off x="5369243" y="5163929"/>
            <a:ext cx="161788" cy="1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下箭头 100">
            <a:extLst>
              <a:ext uri="{FF2B5EF4-FFF2-40B4-BE49-F238E27FC236}">
                <a16:creationId xmlns:a16="http://schemas.microsoft.com/office/drawing/2014/main" id="{796FAC8F-EFCC-D5B2-FF7F-D742976BD51C}"/>
              </a:ext>
            </a:extLst>
          </p:cNvPr>
          <p:cNvSpPr/>
          <p:nvPr/>
        </p:nvSpPr>
        <p:spPr>
          <a:xfrm>
            <a:off x="6623785" y="5161188"/>
            <a:ext cx="161788" cy="1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下箭头 101">
            <a:extLst>
              <a:ext uri="{FF2B5EF4-FFF2-40B4-BE49-F238E27FC236}">
                <a16:creationId xmlns:a16="http://schemas.microsoft.com/office/drawing/2014/main" id="{A048DBB8-7EB8-569C-A605-CD7A72F7E955}"/>
              </a:ext>
            </a:extLst>
          </p:cNvPr>
          <p:cNvSpPr/>
          <p:nvPr/>
        </p:nvSpPr>
        <p:spPr>
          <a:xfrm>
            <a:off x="7455096" y="5158449"/>
            <a:ext cx="161788" cy="1921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933CED6-186B-783B-8846-A413E1DCE7F2}"/>
              </a:ext>
            </a:extLst>
          </p:cNvPr>
          <p:cNvSpPr txBox="1"/>
          <p:nvPr/>
        </p:nvSpPr>
        <p:spPr>
          <a:xfrm>
            <a:off x="4629631" y="4815832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63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B6F8535-8450-557E-F860-5498BBFB9894}"/>
              </a:ext>
            </a:extLst>
          </p:cNvPr>
          <p:cNvSpPr txBox="1"/>
          <p:nvPr/>
        </p:nvSpPr>
        <p:spPr>
          <a:xfrm>
            <a:off x="5973892" y="4837325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0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3C05061-FCDD-6902-B614-4E703CD77218}"/>
              </a:ext>
            </a:extLst>
          </p:cNvPr>
          <p:cNvSpPr txBox="1"/>
          <p:nvPr/>
        </p:nvSpPr>
        <p:spPr>
          <a:xfrm>
            <a:off x="6237581" y="4837325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63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85AEE5BB-411E-73D4-15C0-425FFFF17239}"/>
              </a:ext>
            </a:extLst>
          </p:cNvPr>
          <p:cNvSpPr txBox="1"/>
          <p:nvPr/>
        </p:nvSpPr>
        <p:spPr>
          <a:xfrm>
            <a:off x="7722826" y="4830469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0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ECF1D9C-CCF3-9DB3-83C5-3F60619E56A5}"/>
              </a:ext>
            </a:extLst>
          </p:cNvPr>
          <p:cNvSpPr txBox="1"/>
          <p:nvPr/>
        </p:nvSpPr>
        <p:spPr>
          <a:xfrm>
            <a:off x="6883082" y="4830469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32</a:t>
            </a:r>
            <a:endParaRPr kumimoji="1" lang="zh-CN" altLang="en-US" sz="800" dirty="0">
              <a:latin typeface="Helvetica" pitchFamily="2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1252821B-F6D0-5916-B877-62C84DCD9FCB}"/>
              </a:ext>
            </a:extLst>
          </p:cNvPr>
          <p:cNvSpPr txBox="1"/>
          <p:nvPr/>
        </p:nvSpPr>
        <p:spPr>
          <a:xfrm>
            <a:off x="7018433" y="4831200"/>
            <a:ext cx="3169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31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41475564-35AA-A8BA-F2ED-9D2DC249B3DF}"/>
              </a:ext>
            </a:extLst>
          </p:cNvPr>
          <p:cNvGrpSpPr/>
          <p:nvPr/>
        </p:nvGrpSpPr>
        <p:grpSpPr>
          <a:xfrm>
            <a:off x="8536160" y="5570288"/>
            <a:ext cx="1080000" cy="180000"/>
            <a:chOff x="8781686" y="1044000"/>
            <a:chExt cx="1080000" cy="180000"/>
          </a:xfrm>
          <a:solidFill>
            <a:schemeClr val="accent6">
              <a:lumMod val="20000"/>
              <a:lumOff val="80000"/>
            </a:schemeClr>
          </a:solidFill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13EDD324-2B74-3728-7A48-5DEFA866BE6A}"/>
                </a:ext>
              </a:extLst>
            </p:cNvPr>
            <p:cNvGrpSpPr/>
            <p:nvPr/>
          </p:nvGrpSpPr>
          <p:grpSpPr>
            <a:xfrm>
              <a:off x="878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DC6FC73-BC37-398B-4AC4-61E65C368266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8E1CA764-9C06-B03A-3513-EB30E8F01CDB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B810251F-0279-6729-9777-8CE644FB7A82}"/>
                </a:ext>
              </a:extLst>
            </p:cNvPr>
            <p:cNvGrpSpPr/>
            <p:nvPr/>
          </p:nvGrpSpPr>
          <p:grpSpPr>
            <a:xfrm>
              <a:off x="914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865959CB-F82B-FB21-5684-F2E78FB3E38F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5E469F78-7728-9744-D4B5-B8827E945975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5E59CE12-B64E-C38F-D5D9-51EB3E57FB9D}"/>
                </a:ext>
              </a:extLst>
            </p:cNvPr>
            <p:cNvGrpSpPr/>
            <p:nvPr/>
          </p:nvGrpSpPr>
          <p:grpSpPr>
            <a:xfrm>
              <a:off x="9501686" y="1044000"/>
              <a:ext cx="360000" cy="180000"/>
              <a:chOff x="7560000" y="1055281"/>
              <a:chExt cx="360000" cy="180000"/>
            </a:xfrm>
            <a:grpFill/>
          </p:grpSpPr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6CEC822A-9E07-2E18-832D-008136A31807}"/>
                  </a:ext>
                </a:extLst>
              </p:cNvPr>
              <p:cNvSpPr/>
              <p:nvPr/>
            </p:nvSpPr>
            <p:spPr>
              <a:xfrm>
                <a:off x="756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DB355ACF-2674-54CC-A113-325D9AAEBC6B}"/>
                  </a:ext>
                </a:extLst>
              </p:cNvPr>
              <p:cNvSpPr/>
              <p:nvPr/>
            </p:nvSpPr>
            <p:spPr>
              <a:xfrm>
                <a:off x="7740000" y="1055281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5A56AA1-5CEE-8B65-91CB-9096E2ADEF55}"/>
              </a:ext>
            </a:extLst>
          </p:cNvPr>
          <p:cNvSpPr txBox="1"/>
          <p:nvPr/>
        </p:nvSpPr>
        <p:spPr>
          <a:xfrm>
            <a:off x="8465460" y="5719439"/>
            <a:ext cx="12084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SIMD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Processing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Unit</a:t>
            </a:r>
            <a:endParaRPr kumimoji="1" lang="zh-CN" altLang="en-US" sz="800" dirty="0">
              <a:latin typeface="Helvetica" pitchFamily="2" charset="0"/>
            </a:endParaRPr>
          </a:p>
        </p:txBody>
      </p: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3A2BF331-F407-84CC-05CB-61ED90373395}"/>
              </a:ext>
            </a:extLst>
          </p:cNvPr>
          <p:cNvGrpSpPr/>
          <p:nvPr/>
        </p:nvGrpSpPr>
        <p:grpSpPr>
          <a:xfrm>
            <a:off x="8567417" y="4625547"/>
            <a:ext cx="1458920" cy="222248"/>
            <a:chOff x="8124495" y="4460858"/>
            <a:chExt cx="1458920" cy="222248"/>
          </a:xfrm>
        </p:grpSpPr>
        <p:sp>
          <p:nvSpPr>
            <p:cNvPr id="153" name="立方体 152">
              <a:extLst>
                <a:ext uri="{FF2B5EF4-FFF2-40B4-BE49-F238E27FC236}">
                  <a16:creationId xmlns:a16="http://schemas.microsoft.com/office/drawing/2014/main" id="{81E3CF6F-495F-13E1-AFF2-C9720AB28E21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2E6C64CB-5CD9-C100-2412-97D607C61955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157" name="组合 156">
                <a:extLst>
                  <a:ext uri="{FF2B5EF4-FFF2-40B4-BE49-F238E27FC236}">
                    <a16:creationId xmlns:a16="http://schemas.microsoft.com/office/drawing/2014/main" id="{A5376480-163E-EC62-FF42-5B9B1533C1AA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161" name="组合 160">
                  <a:extLst>
                    <a:ext uri="{FF2B5EF4-FFF2-40B4-BE49-F238E27FC236}">
                      <a16:creationId xmlns:a16="http://schemas.microsoft.com/office/drawing/2014/main" id="{636B5589-C656-4295-2885-E75C2C2AB8B7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65" name="矩形 164">
                    <a:extLst>
                      <a:ext uri="{FF2B5EF4-FFF2-40B4-BE49-F238E27FC236}">
                        <a16:creationId xmlns:a16="http://schemas.microsoft.com/office/drawing/2014/main" id="{CD3FBAF6-7FD3-8752-5224-B786A22C69CD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66" name="矩形 165">
                    <a:extLst>
                      <a:ext uri="{FF2B5EF4-FFF2-40B4-BE49-F238E27FC236}">
                        <a16:creationId xmlns:a16="http://schemas.microsoft.com/office/drawing/2014/main" id="{17F151FA-8276-1B9E-60D3-959A052B5E36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62" name="组合 161">
                  <a:extLst>
                    <a:ext uri="{FF2B5EF4-FFF2-40B4-BE49-F238E27FC236}">
                      <a16:creationId xmlns:a16="http://schemas.microsoft.com/office/drawing/2014/main" id="{F103DA28-E095-5821-33C7-674FB60153A6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63" name="矩形 162">
                    <a:extLst>
                      <a:ext uri="{FF2B5EF4-FFF2-40B4-BE49-F238E27FC236}">
                        <a16:creationId xmlns:a16="http://schemas.microsoft.com/office/drawing/2014/main" id="{AE2558C8-248C-C5A5-41CB-DADD23A4479A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64" name="矩形 163">
                    <a:extLst>
                      <a:ext uri="{FF2B5EF4-FFF2-40B4-BE49-F238E27FC236}">
                        <a16:creationId xmlns:a16="http://schemas.microsoft.com/office/drawing/2014/main" id="{36C4079C-956A-2089-0A14-4C2510DAC799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838BC54C-B35D-9FA3-70ED-D869D0DE022E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C38B17F6-60AB-A7F0-EA32-6565ECA71EF8}"/>
              </a:ext>
            </a:extLst>
          </p:cNvPr>
          <p:cNvGrpSpPr/>
          <p:nvPr/>
        </p:nvGrpSpPr>
        <p:grpSpPr>
          <a:xfrm>
            <a:off x="8567417" y="4853736"/>
            <a:ext cx="1458920" cy="222248"/>
            <a:chOff x="8124495" y="4460858"/>
            <a:chExt cx="1458920" cy="222248"/>
          </a:xfrm>
        </p:grpSpPr>
        <p:sp>
          <p:nvSpPr>
            <p:cNvPr id="181" name="立方体 180">
              <a:extLst>
                <a:ext uri="{FF2B5EF4-FFF2-40B4-BE49-F238E27FC236}">
                  <a16:creationId xmlns:a16="http://schemas.microsoft.com/office/drawing/2014/main" id="{6CB6C57A-A228-062B-FD3C-CF62C30357A5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182" name="组合 181">
              <a:extLst>
                <a:ext uri="{FF2B5EF4-FFF2-40B4-BE49-F238E27FC236}">
                  <a16:creationId xmlns:a16="http://schemas.microsoft.com/office/drawing/2014/main" id="{289BAF35-6E4C-2A3C-61FC-2015825BFB1D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183" name="组合 182">
                <a:extLst>
                  <a:ext uri="{FF2B5EF4-FFF2-40B4-BE49-F238E27FC236}">
                    <a16:creationId xmlns:a16="http://schemas.microsoft.com/office/drawing/2014/main" id="{0669C574-13B3-8438-770D-9B8D8EC00A6D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185" name="组合 184">
                  <a:extLst>
                    <a:ext uri="{FF2B5EF4-FFF2-40B4-BE49-F238E27FC236}">
                      <a16:creationId xmlns:a16="http://schemas.microsoft.com/office/drawing/2014/main" id="{7483D04B-FE9E-DAC4-E7B4-94D91AF53236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89" name="矩形 188">
                    <a:extLst>
                      <a:ext uri="{FF2B5EF4-FFF2-40B4-BE49-F238E27FC236}">
                        <a16:creationId xmlns:a16="http://schemas.microsoft.com/office/drawing/2014/main" id="{CE91F4CB-AB65-B751-45DE-3D5C1BC040A3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90" name="矩形 189">
                    <a:extLst>
                      <a:ext uri="{FF2B5EF4-FFF2-40B4-BE49-F238E27FC236}">
                        <a16:creationId xmlns:a16="http://schemas.microsoft.com/office/drawing/2014/main" id="{00169BD9-7697-DC74-B798-B9F91558E408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86" name="组合 185">
                  <a:extLst>
                    <a:ext uri="{FF2B5EF4-FFF2-40B4-BE49-F238E27FC236}">
                      <a16:creationId xmlns:a16="http://schemas.microsoft.com/office/drawing/2014/main" id="{66E35F4F-3CE3-681E-0198-FDFA5641F06C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87" name="矩形 186">
                    <a:extLst>
                      <a:ext uri="{FF2B5EF4-FFF2-40B4-BE49-F238E27FC236}">
                        <a16:creationId xmlns:a16="http://schemas.microsoft.com/office/drawing/2014/main" id="{DA0EBF94-2CC4-9576-A52B-B5E5FF90AC0B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88" name="矩形 187">
                    <a:extLst>
                      <a:ext uri="{FF2B5EF4-FFF2-40B4-BE49-F238E27FC236}">
                        <a16:creationId xmlns:a16="http://schemas.microsoft.com/office/drawing/2014/main" id="{0AD77A22-F299-9BBD-D884-9DF0E1C88E65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0703A55F-5CC1-C47A-615B-657A8A47C0B6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CB1BDA0D-4C32-1BD5-87E0-6A2F5ECE7512}"/>
              </a:ext>
            </a:extLst>
          </p:cNvPr>
          <p:cNvGrpSpPr/>
          <p:nvPr/>
        </p:nvGrpSpPr>
        <p:grpSpPr>
          <a:xfrm>
            <a:off x="8567417" y="5201704"/>
            <a:ext cx="1458920" cy="222248"/>
            <a:chOff x="8124495" y="4460858"/>
            <a:chExt cx="1458920" cy="222248"/>
          </a:xfrm>
        </p:grpSpPr>
        <p:sp>
          <p:nvSpPr>
            <p:cNvPr id="192" name="立方体 191">
              <a:extLst>
                <a:ext uri="{FF2B5EF4-FFF2-40B4-BE49-F238E27FC236}">
                  <a16:creationId xmlns:a16="http://schemas.microsoft.com/office/drawing/2014/main" id="{5468AAC4-5BF2-8ECD-4030-B0FAC9F4FA0E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5627AC52-8249-6441-C864-E8618FC61966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194" name="组合 193">
                <a:extLst>
                  <a:ext uri="{FF2B5EF4-FFF2-40B4-BE49-F238E27FC236}">
                    <a16:creationId xmlns:a16="http://schemas.microsoft.com/office/drawing/2014/main" id="{C7AAB953-921E-B586-D418-B07A9AE4817D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196" name="组合 195">
                  <a:extLst>
                    <a:ext uri="{FF2B5EF4-FFF2-40B4-BE49-F238E27FC236}">
                      <a16:creationId xmlns:a16="http://schemas.microsoft.com/office/drawing/2014/main" id="{57404518-8A3B-D155-1B9C-F07B3F2A4C3F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00" name="矩形 199">
                    <a:extLst>
                      <a:ext uri="{FF2B5EF4-FFF2-40B4-BE49-F238E27FC236}">
                        <a16:creationId xmlns:a16="http://schemas.microsoft.com/office/drawing/2014/main" id="{53961397-6DE8-19D9-C75B-50BFBB3D577A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201" name="矩形 200">
                    <a:extLst>
                      <a:ext uri="{FF2B5EF4-FFF2-40B4-BE49-F238E27FC236}">
                        <a16:creationId xmlns:a16="http://schemas.microsoft.com/office/drawing/2014/main" id="{4ACA9925-63D3-675A-A48C-31DECB508A81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197" name="组合 196">
                  <a:extLst>
                    <a:ext uri="{FF2B5EF4-FFF2-40B4-BE49-F238E27FC236}">
                      <a16:creationId xmlns:a16="http://schemas.microsoft.com/office/drawing/2014/main" id="{7AAD3746-C6ED-62E2-6030-F60D3E989327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98" name="矩形 197">
                    <a:extLst>
                      <a:ext uri="{FF2B5EF4-FFF2-40B4-BE49-F238E27FC236}">
                        <a16:creationId xmlns:a16="http://schemas.microsoft.com/office/drawing/2014/main" id="{990C8AA3-2350-A40C-60D4-5DC19DDC1242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199" name="矩形 198">
                    <a:extLst>
                      <a:ext uri="{FF2B5EF4-FFF2-40B4-BE49-F238E27FC236}">
                        <a16:creationId xmlns:a16="http://schemas.microsoft.com/office/drawing/2014/main" id="{66249ED0-D9FA-3A24-25E3-C3B76B787ABE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AA3CD09F-423B-8E5E-E407-0D71608630EA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0C5F5FA-AA4D-505F-AD2A-7442F2B67E47}"/>
              </a:ext>
            </a:extLst>
          </p:cNvPr>
          <p:cNvSpPr txBox="1"/>
          <p:nvPr/>
        </p:nvSpPr>
        <p:spPr>
          <a:xfrm>
            <a:off x="8001667" y="4647681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0</a:t>
            </a: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28BAC63D-7521-7B85-FD60-0B8BEFA44D43}"/>
              </a:ext>
            </a:extLst>
          </p:cNvPr>
          <p:cNvSpPr txBox="1"/>
          <p:nvPr/>
        </p:nvSpPr>
        <p:spPr>
          <a:xfrm>
            <a:off x="8001667" y="4908398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1</a:t>
            </a: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DBC3334E-C796-036F-A0EE-0FD9C2C77BC9}"/>
              </a:ext>
            </a:extLst>
          </p:cNvPr>
          <p:cNvSpPr txBox="1"/>
          <p:nvPr/>
        </p:nvSpPr>
        <p:spPr>
          <a:xfrm>
            <a:off x="8001667" y="5270610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k</a:t>
            </a: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39B589DF-F2BC-F481-3912-13315A070929}"/>
              </a:ext>
            </a:extLst>
          </p:cNvPr>
          <p:cNvSpPr txBox="1"/>
          <p:nvPr/>
        </p:nvSpPr>
        <p:spPr>
          <a:xfrm>
            <a:off x="8844904" y="5010420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…</a:t>
            </a:r>
          </a:p>
        </p:txBody>
      </p:sp>
      <p:sp>
        <p:nvSpPr>
          <p:cNvPr id="207" name="下箭头 206">
            <a:extLst>
              <a:ext uri="{FF2B5EF4-FFF2-40B4-BE49-F238E27FC236}">
                <a16:creationId xmlns:a16="http://schemas.microsoft.com/office/drawing/2014/main" id="{F211B61E-C310-77C4-1F12-A62F6642B667}"/>
              </a:ext>
            </a:extLst>
          </p:cNvPr>
          <p:cNvSpPr/>
          <p:nvPr/>
        </p:nvSpPr>
        <p:spPr>
          <a:xfrm>
            <a:off x="8973522" y="5445695"/>
            <a:ext cx="102637" cy="12336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CE6BE358-E73A-D89A-DA5E-5BFAB1CA8272}"/>
              </a:ext>
            </a:extLst>
          </p:cNvPr>
          <p:cNvGrpSpPr/>
          <p:nvPr/>
        </p:nvGrpSpPr>
        <p:grpSpPr>
          <a:xfrm>
            <a:off x="10572597" y="4615761"/>
            <a:ext cx="1458920" cy="222248"/>
            <a:chOff x="8124495" y="4460858"/>
            <a:chExt cx="1458920" cy="222248"/>
          </a:xfrm>
        </p:grpSpPr>
        <p:sp>
          <p:nvSpPr>
            <p:cNvPr id="209" name="立方体 208">
              <a:extLst>
                <a:ext uri="{FF2B5EF4-FFF2-40B4-BE49-F238E27FC236}">
                  <a16:creationId xmlns:a16="http://schemas.microsoft.com/office/drawing/2014/main" id="{02D607DD-2925-1A9D-345A-F7022B9D4726}"/>
                </a:ext>
              </a:extLst>
            </p:cNvPr>
            <p:cNvSpPr/>
            <p:nvPr/>
          </p:nvSpPr>
          <p:spPr>
            <a:xfrm>
              <a:off x="8124495" y="4460858"/>
              <a:ext cx="221482" cy="221482"/>
            </a:xfrm>
            <a:prstGeom prst="cub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Helvetica" pitchFamily="2" charset="0"/>
              </a:endParaRPr>
            </a:p>
          </p:txBody>
        </p: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FE3B84BA-30BE-939A-777B-0F4A6635491F}"/>
                </a:ext>
              </a:extLst>
            </p:cNvPr>
            <p:cNvGrpSpPr/>
            <p:nvPr/>
          </p:nvGrpSpPr>
          <p:grpSpPr>
            <a:xfrm>
              <a:off x="8502000" y="4503106"/>
              <a:ext cx="1081415" cy="180000"/>
              <a:chOff x="8512106" y="849130"/>
              <a:chExt cx="1081415" cy="180000"/>
            </a:xfrm>
          </p:grpSpPr>
          <p:grpSp>
            <p:nvGrpSpPr>
              <p:cNvPr id="211" name="组合 210">
                <a:extLst>
                  <a:ext uri="{FF2B5EF4-FFF2-40B4-BE49-F238E27FC236}">
                    <a16:creationId xmlns:a16="http://schemas.microsoft.com/office/drawing/2014/main" id="{D076D7F8-7E81-EBA6-943C-0B3F03C3AD9B}"/>
                  </a:ext>
                </a:extLst>
              </p:cNvPr>
              <p:cNvGrpSpPr/>
              <p:nvPr/>
            </p:nvGrpSpPr>
            <p:grpSpPr>
              <a:xfrm>
                <a:off x="8512106" y="849130"/>
                <a:ext cx="720000" cy="180000"/>
                <a:chOff x="9141686" y="1044000"/>
                <a:chExt cx="720000" cy="180000"/>
              </a:xfrm>
            </p:grpSpPr>
            <p:grpSp>
              <p:nvGrpSpPr>
                <p:cNvPr id="213" name="组合 212">
                  <a:extLst>
                    <a:ext uri="{FF2B5EF4-FFF2-40B4-BE49-F238E27FC236}">
                      <a16:creationId xmlns:a16="http://schemas.microsoft.com/office/drawing/2014/main" id="{021D6630-17F8-A9BF-63A5-BF7C681E49E3}"/>
                    </a:ext>
                  </a:extLst>
                </p:cNvPr>
                <p:cNvGrpSpPr/>
                <p:nvPr/>
              </p:nvGrpSpPr>
              <p:grpSpPr>
                <a:xfrm>
                  <a:off x="914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17" name="矩形 216">
                    <a:extLst>
                      <a:ext uri="{FF2B5EF4-FFF2-40B4-BE49-F238E27FC236}">
                        <a16:creationId xmlns:a16="http://schemas.microsoft.com/office/drawing/2014/main" id="{E9F2679D-DC51-A261-4ECD-CCC248CBCFB6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0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218" name="矩形 217">
                    <a:extLst>
                      <a:ext uri="{FF2B5EF4-FFF2-40B4-BE49-F238E27FC236}">
                        <a16:creationId xmlns:a16="http://schemas.microsoft.com/office/drawing/2014/main" id="{498B184C-8300-BE65-6E3F-68A3F09364B5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1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  <p:grpSp>
              <p:nvGrpSpPr>
                <p:cNvPr id="214" name="组合 213">
                  <a:extLst>
                    <a:ext uri="{FF2B5EF4-FFF2-40B4-BE49-F238E27FC236}">
                      <a16:creationId xmlns:a16="http://schemas.microsoft.com/office/drawing/2014/main" id="{E36DD5CD-3447-7428-F18B-3FCEEBA41D90}"/>
                    </a:ext>
                  </a:extLst>
                </p:cNvPr>
                <p:cNvGrpSpPr/>
                <p:nvPr/>
              </p:nvGrpSpPr>
              <p:grpSpPr>
                <a:xfrm>
                  <a:off x="9501686" y="1044000"/>
                  <a:ext cx="360000" cy="180000"/>
                  <a:chOff x="7560000" y="1055281"/>
                  <a:chExt cx="360000" cy="180000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15" name="矩形 214">
                    <a:extLst>
                      <a:ext uri="{FF2B5EF4-FFF2-40B4-BE49-F238E27FC236}">
                        <a16:creationId xmlns:a16="http://schemas.microsoft.com/office/drawing/2014/main" id="{C351EB68-C152-5CE8-CCB0-15307DAA77B7}"/>
                      </a:ext>
                    </a:extLst>
                  </p:cNvPr>
                  <p:cNvSpPr/>
                  <p:nvPr/>
                </p:nvSpPr>
                <p:spPr>
                  <a:xfrm>
                    <a:off x="756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2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  <p:sp>
                <p:nvSpPr>
                  <p:cNvPr id="216" name="矩形 215">
                    <a:extLst>
                      <a:ext uri="{FF2B5EF4-FFF2-40B4-BE49-F238E27FC236}">
                        <a16:creationId xmlns:a16="http://schemas.microsoft.com/office/drawing/2014/main" id="{08DA6AB8-1F3B-5DA3-83AB-CE96141657E4}"/>
                      </a:ext>
                    </a:extLst>
                  </p:cNvPr>
                  <p:cNvSpPr/>
                  <p:nvPr/>
                </p:nvSpPr>
                <p:spPr>
                  <a:xfrm>
                    <a:off x="7740000" y="1055281"/>
                    <a:ext cx="180000" cy="180000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zh-CN" sz="800" b="1" dirty="0">
                        <a:solidFill>
                          <a:schemeClr val="tx1"/>
                        </a:solidFill>
                        <a:latin typeface="Helvetica" pitchFamily="2" charset="0"/>
                      </a:rPr>
                      <a:t>3</a:t>
                    </a:r>
                    <a:endParaRPr kumimoji="1" lang="zh-CN" altLang="en-US" sz="800" b="1" dirty="0">
                      <a:solidFill>
                        <a:schemeClr val="tx1"/>
                      </a:solidFill>
                      <a:latin typeface="Helvetica" pitchFamily="2" charset="0"/>
                    </a:endParaRPr>
                  </a:p>
                </p:txBody>
              </p:sp>
            </p:grpSp>
          </p:grpSp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72CBE242-E60C-3E64-1171-CA842BB3E11F}"/>
                  </a:ext>
                </a:extLst>
              </p:cNvPr>
              <p:cNvSpPr/>
              <p:nvPr/>
            </p:nvSpPr>
            <p:spPr>
              <a:xfrm>
                <a:off x="9233521" y="849130"/>
                <a:ext cx="360000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+mj-lt"/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</p:grpSp>
      <p:sp>
        <p:nvSpPr>
          <p:cNvPr id="219" name="文本框 218">
            <a:extLst>
              <a:ext uri="{FF2B5EF4-FFF2-40B4-BE49-F238E27FC236}">
                <a16:creationId xmlns:a16="http://schemas.microsoft.com/office/drawing/2014/main" id="{1879673A-5D7E-14A8-AB9E-47C4529D48B4}"/>
              </a:ext>
            </a:extLst>
          </p:cNvPr>
          <p:cNvSpPr txBox="1"/>
          <p:nvPr/>
        </p:nvSpPr>
        <p:spPr>
          <a:xfrm>
            <a:off x="10046847" y="4635104"/>
            <a:ext cx="5667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Block</a:t>
            </a:r>
          </a:p>
        </p:txBody>
      </p:sp>
      <p:sp>
        <p:nvSpPr>
          <p:cNvPr id="224" name="圆角矩形 223">
            <a:extLst>
              <a:ext uri="{FF2B5EF4-FFF2-40B4-BE49-F238E27FC236}">
                <a16:creationId xmlns:a16="http://schemas.microsoft.com/office/drawing/2014/main" id="{9B9A4EBB-C870-3107-5D5D-953AE737930F}"/>
              </a:ext>
            </a:extLst>
          </p:cNvPr>
          <p:cNvSpPr/>
          <p:nvPr/>
        </p:nvSpPr>
        <p:spPr>
          <a:xfrm>
            <a:off x="10207026" y="5257491"/>
            <a:ext cx="882298" cy="600101"/>
          </a:xfrm>
          <a:prstGeom prst="roundRect">
            <a:avLst>
              <a:gd name="adj" fmla="val 2798"/>
            </a:avLst>
          </a:prstGeom>
          <a:solidFill>
            <a:schemeClr val="bg1"/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圆角矩形 224">
            <a:extLst>
              <a:ext uri="{FF2B5EF4-FFF2-40B4-BE49-F238E27FC236}">
                <a16:creationId xmlns:a16="http://schemas.microsoft.com/office/drawing/2014/main" id="{8A24220F-2E2B-89C4-86EB-38B82C754FE8}"/>
              </a:ext>
            </a:extLst>
          </p:cNvPr>
          <p:cNvSpPr/>
          <p:nvPr/>
        </p:nvSpPr>
        <p:spPr>
          <a:xfrm>
            <a:off x="10207026" y="5257491"/>
            <a:ext cx="882298" cy="348416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BC93BEB9-1384-8977-26F8-22FF963B8489}"/>
              </a:ext>
            </a:extLst>
          </p:cNvPr>
          <p:cNvSpPr txBox="1"/>
          <p:nvPr/>
        </p:nvSpPr>
        <p:spPr>
          <a:xfrm>
            <a:off x="10169996" y="5270610"/>
            <a:ext cx="1085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latin typeface="Helvetica" pitchFamily="2" charset="0"/>
              </a:rPr>
              <a:t>(a) Coefficient-Parallel Mapping</a:t>
            </a:r>
          </a:p>
        </p:txBody>
      </p:sp>
      <p:sp>
        <p:nvSpPr>
          <p:cNvPr id="227" name="圆角矩形 226">
            <a:extLst>
              <a:ext uri="{FF2B5EF4-FFF2-40B4-BE49-F238E27FC236}">
                <a16:creationId xmlns:a16="http://schemas.microsoft.com/office/drawing/2014/main" id="{F81925F0-B2EE-970D-3A1C-F4461FE8D6A6}"/>
              </a:ext>
            </a:extLst>
          </p:cNvPr>
          <p:cNvSpPr/>
          <p:nvPr/>
        </p:nvSpPr>
        <p:spPr>
          <a:xfrm>
            <a:off x="11160753" y="5252425"/>
            <a:ext cx="882298" cy="600101"/>
          </a:xfrm>
          <a:prstGeom prst="roundRect">
            <a:avLst>
              <a:gd name="adj" fmla="val 2798"/>
            </a:avLst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8" name="圆角矩形 227">
            <a:extLst>
              <a:ext uri="{FF2B5EF4-FFF2-40B4-BE49-F238E27FC236}">
                <a16:creationId xmlns:a16="http://schemas.microsoft.com/office/drawing/2014/main" id="{618A5AF7-1B0C-2A31-82F2-5EC7953A3442}"/>
              </a:ext>
            </a:extLst>
          </p:cNvPr>
          <p:cNvSpPr/>
          <p:nvPr/>
        </p:nvSpPr>
        <p:spPr>
          <a:xfrm>
            <a:off x="11160753" y="5252425"/>
            <a:ext cx="882298" cy="348416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B4BD7229-93BF-0D8A-5777-C0053E27B142}"/>
              </a:ext>
            </a:extLst>
          </p:cNvPr>
          <p:cNvSpPr txBox="1"/>
          <p:nvPr/>
        </p:nvSpPr>
        <p:spPr>
          <a:xfrm>
            <a:off x="11109458" y="5241359"/>
            <a:ext cx="1085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latin typeface="Helvetica" pitchFamily="2" charset="0"/>
              </a:rPr>
              <a:t>(c) Plane-</a:t>
            </a:r>
          </a:p>
          <a:p>
            <a:r>
              <a:rPr kumimoji="1" lang="en-US" altLang="zh-CN" sz="800" b="1" dirty="0">
                <a:latin typeface="Helvetica" pitchFamily="2" charset="0"/>
              </a:rPr>
              <a:t>Parallel Mapping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2C93E8BC-0BB6-94C5-1B3D-6190AC142368}"/>
              </a:ext>
            </a:extLst>
          </p:cNvPr>
          <p:cNvSpPr txBox="1"/>
          <p:nvPr/>
        </p:nvSpPr>
        <p:spPr>
          <a:xfrm>
            <a:off x="10416595" y="5611743"/>
            <a:ext cx="5667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…</a:t>
            </a: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4A573374-E4BA-B55D-1519-B81F3569D679}"/>
              </a:ext>
            </a:extLst>
          </p:cNvPr>
          <p:cNvSpPr txBox="1"/>
          <p:nvPr/>
        </p:nvSpPr>
        <p:spPr>
          <a:xfrm>
            <a:off x="11319048" y="5592048"/>
            <a:ext cx="5667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b="1" dirty="0">
                <a:latin typeface="Helvetica" pitchFamily="2" charset="0"/>
              </a:rPr>
              <a:t>…</a:t>
            </a:r>
          </a:p>
        </p:txBody>
      </p:sp>
      <p:sp>
        <p:nvSpPr>
          <p:cNvPr id="234" name="下箭头 233">
            <a:extLst>
              <a:ext uri="{FF2B5EF4-FFF2-40B4-BE49-F238E27FC236}">
                <a16:creationId xmlns:a16="http://schemas.microsoft.com/office/drawing/2014/main" id="{84FFA18A-56AE-7171-09CA-1D1CFBE348B5}"/>
              </a:ext>
            </a:extLst>
          </p:cNvPr>
          <p:cNvSpPr/>
          <p:nvPr/>
        </p:nvSpPr>
        <p:spPr>
          <a:xfrm rot="2700000">
            <a:off x="10802847" y="4825521"/>
            <a:ext cx="215517" cy="492004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5" name="下箭头 234">
            <a:extLst>
              <a:ext uri="{FF2B5EF4-FFF2-40B4-BE49-F238E27FC236}">
                <a16:creationId xmlns:a16="http://schemas.microsoft.com/office/drawing/2014/main" id="{2E5790C1-BB08-764D-9E10-93F99A31755B}"/>
              </a:ext>
            </a:extLst>
          </p:cNvPr>
          <p:cNvSpPr/>
          <p:nvPr/>
        </p:nvSpPr>
        <p:spPr>
          <a:xfrm rot="-2700000">
            <a:off x="11507448" y="4819977"/>
            <a:ext cx="215517" cy="492004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DDFA6805-1749-5C2A-3017-1F15C99FCABB}"/>
              </a:ext>
            </a:extLst>
          </p:cNvPr>
          <p:cNvSpPr txBox="1"/>
          <p:nvPr/>
        </p:nvSpPr>
        <p:spPr>
          <a:xfrm>
            <a:off x="10818509" y="4958257"/>
            <a:ext cx="863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Select/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Switch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38" name="右箭头 237">
            <a:extLst>
              <a:ext uri="{FF2B5EF4-FFF2-40B4-BE49-F238E27FC236}">
                <a16:creationId xmlns:a16="http://schemas.microsoft.com/office/drawing/2014/main" id="{B06EF726-A957-BA21-BC44-C56FD86CC432}"/>
              </a:ext>
            </a:extLst>
          </p:cNvPr>
          <p:cNvSpPr/>
          <p:nvPr/>
        </p:nvSpPr>
        <p:spPr>
          <a:xfrm>
            <a:off x="8798632" y="4747664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9" name="右箭头 238">
            <a:extLst>
              <a:ext uri="{FF2B5EF4-FFF2-40B4-BE49-F238E27FC236}">
                <a16:creationId xmlns:a16="http://schemas.microsoft.com/office/drawing/2014/main" id="{A98008C3-AA05-2840-C925-47C0357B0C95}"/>
              </a:ext>
            </a:extLst>
          </p:cNvPr>
          <p:cNvSpPr/>
          <p:nvPr/>
        </p:nvSpPr>
        <p:spPr>
          <a:xfrm>
            <a:off x="8802383" y="4977278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0" name="右箭头 239">
            <a:extLst>
              <a:ext uri="{FF2B5EF4-FFF2-40B4-BE49-F238E27FC236}">
                <a16:creationId xmlns:a16="http://schemas.microsoft.com/office/drawing/2014/main" id="{D0164365-8097-36A5-20AD-ACDD884FA0A0}"/>
              </a:ext>
            </a:extLst>
          </p:cNvPr>
          <p:cNvSpPr/>
          <p:nvPr/>
        </p:nvSpPr>
        <p:spPr>
          <a:xfrm>
            <a:off x="8795780" y="5322105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圆角矩形 205">
            <a:extLst>
              <a:ext uri="{FF2B5EF4-FFF2-40B4-BE49-F238E27FC236}">
                <a16:creationId xmlns:a16="http://schemas.microsoft.com/office/drawing/2014/main" id="{A40DD1AA-8299-E596-3B0B-1EB9AAFCB09C}"/>
              </a:ext>
            </a:extLst>
          </p:cNvPr>
          <p:cNvSpPr/>
          <p:nvPr/>
        </p:nvSpPr>
        <p:spPr>
          <a:xfrm>
            <a:off x="8886096" y="4625548"/>
            <a:ext cx="282920" cy="793254"/>
          </a:xfrm>
          <a:prstGeom prst="round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1" name="右箭头 240">
            <a:extLst>
              <a:ext uri="{FF2B5EF4-FFF2-40B4-BE49-F238E27FC236}">
                <a16:creationId xmlns:a16="http://schemas.microsoft.com/office/drawing/2014/main" id="{7FDDC209-5D39-6377-3103-8208531986AF}"/>
              </a:ext>
            </a:extLst>
          </p:cNvPr>
          <p:cNvSpPr/>
          <p:nvPr/>
        </p:nvSpPr>
        <p:spPr>
          <a:xfrm>
            <a:off x="10809751" y="4737668"/>
            <a:ext cx="132022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2" name="圆角矩形 241">
            <a:extLst>
              <a:ext uri="{FF2B5EF4-FFF2-40B4-BE49-F238E27FC236}">
                <a16:creationId xmlns:a16="http://schemas.microsoft.com/office/drawing/2014/main" id="{6439DF11-9CA9-DC05-D80D-348D1AE30EA1}"/>
              </a:ext>
            </a:extLst>
          </p:cNvPr>
          <p:cNvSpPr/>
          <p:nvPr/>
        </p:nvSpPr>
        <p:spPr>
          <a:xfrm>
            <a:off x="8095442" y="4355413"/>
            <a:ext cx="1510418" cy="215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Cross-block (optional)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43" name="圆角矩形 242">
            <a:extLst>
              <a:ext uri="{FF2B5EF4-FFF2-40B4-BE49-F238E27FC236}">
                <a16:creationId xmlns:a16="http://schemas.microsoft.com/office/drawing/2014/main" id="{DE79A8FE-AB8F-7772-5493-D6B70D8F8728}"/>
              </a:ext>
            </a:extLst>
          </p:cNvPr>
          <p:cNvSpPr/>
          <p:nvPr/>
        </p:nvSpPr>
        <p:spPr>
          <a:xfrm>
            <a:off x="10170218" y="4361231"/>
            <a:ext cx="1510418" cy="2154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solidFill>
                  <a:schemeClr val="tx1"/>
                </a:solidFill>
                <a:latin typeface="Helvetica" pitchFamily="2" charset="0"/>
              </a:rPr>
              <a:t>Within-block (default)</a:t>
            </a:r>
            <a:endParaRPr kumimoji="1" lang="zh-CN" altLang="en-US" sz="10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C22F58D6-80CE-D242-E85C-D5F85D208B4F}"/>
              </a:ext>
            </a:extLst>
          </p:cNvPr>
          <p:cNvSpPr txBox="1"/>
          <p:nvPr/>
        </p:nvSpPr>
        <p:spPr>
          <a:xfrm>
            <a:off x="76200" y="1150132"/>
            <a:ext cx="593845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00" b="1" dirty="0">
                <a:latin typeface="Helvetica" pitchFamily="2" charset="0"/>
              </a:rPr>
              <a:t>Each SIMD lane processes one coefficient and extracts one or two adjacent bits.</a:t>
            </a:r>
            <a:endParaRPr lang="en-US" altLang="zh-CN" sz="1000" b="1" dirty="0">
              <a:latin typeface="Helvetica" pitchFamily="2" charset="0"/>
            </a:endParaRPr>
          </a:p>
          <a:p>
            <a:pPr algn="ctr"/>
            <a:r>
              <a:rPr lang="zh-CN" altLang="zh-CN" sz="1000" b="1" dirty="0">
                <a:latin typeface="Helvetica" pitchFamily="2" charset="0"/>
              </a:rPr>
              <a:t>Forms one or two plane masks at a time </a:t>
            </a:r>
            <a:r>
              <a:rPr kumimoji="1" lang="en-US" altLang="zh-CN" sz="1000" b="1" dirty="0">
                <a:latin typeface="Helvetica" pitchFamily="2" charset="0"/>
              </a:rPr>
              <a:t>(</a:t>
            </a:r>
            <a:r>
              <a:rPr kumimoji="1" lang="en-US" altLang="zh-CN" sz="1000" b="1" i="1" dirty="0">
                <a:latin typeface="Helvetica" pitchFamily="2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1000" b="1" dirty="0">
                <a:latin typeface="Helvetica" pitchFamily="2" charset="0"/>
              </a:rPr>
              <a:t> is fixed across lanes).</a:t>
            </a:r>
            <a:r>
              <a:rPr lang="zh-CN" altLang="zh-CN" sz="1000" b="1" dirty="0">
                <a:latin typeface="Helvetica" pitchFamily="2" charset="0"/>
              </a:rPr>
              <a:t> </a:t>
            </a:r>
            <a:endParaRPr kumimoji="1" lang="en-US" altLang="zh-CN" sz="1000" b="1" dirty="0">
              <a:latin typeface="Helvetica" pitchFamily="2" charset="0"/>
            </a:endParaRPr>
          </a:p>
        </p:txBody>
      </p: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6A795EAC-582A-81CC-A7A4-3C96AC85DD67}"/>
              </a:ext>
            </a:extLst>
          </p:cNvPr>
          <p:cNvGrpSpPr/>
          <p:nvPr/>
        </p:nvGrpSpPr>
        <p:grpSpPr>
          <a:xfrm>
            <a:off x="858556" y="1755792"/>
            <a:ext cx="1081415" cy="180000"/>
            <a:chOff x="8512106" y="849130"/>
            <a:chExt cx="1081415" cy="180000"/>
          </a:xfrm>
        </p:grpSpPr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80382EED-DF34-D89F-3E2E-7C61C5B839C0}"/>
                </a:ext>
              </a:extLst>
            </p:cNvPr>
            <p:cNvGrpSpPr/>
            <p:nvPr/>
          </p:nvGrpSpPr>
          <p:grpSpPr>
            <a:xfrm>
              <a:off x="8512106" y="849130"/>
              <a:ext cx="720000" cy="180000"/>
              <a:chOff x="9141686" y="1044000"/>
              <a:chExt cx="720000" cy="180000"/>
            </a:xfrm>
          </p:grpSpPr>
          <p:grpSp>
            <p:nvGrpSpPr>
              <p:cNvPr id="250" name="组合 249">
                <a:extLst>
                  <a:ext uri="{FF2B5EF4-FFF2-40B4-BE49-F238E27FC236}">
                    <a16:creationId xmlns:a16="http://schemas.microsoft.com/office/drawing/2014/main" id="{707B45C1-52EE-9293-D97A-0FB518839EAA}"/>
                  </a:ext>
                </a:extLst>
              </p:cNvPr>
              <p:cNvGrpSpPr/>
              <p:nvPr/>
            </p:nvGrpSpPr>
            <p:grpSpPr>
              <a:xfrm>
                <a:off x="914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03C7BF4D-E57B-A8CE-3E77-1DE5043BF7CF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55" name="矩形 254">
                  <a:extLst>
                    <a:ext uri="{FF2B5EF4-FFF2-40B4-BE49-F238E27FC236}">
                      <a16:creationId xmlns:a16="http://schemas.microsoft.com/office/drawing/2014/main" id="{46493C75-DA39-C0FD-0286-EE490B52E842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51" name="组合 250">
                <a:extLst>
                  <a:ext uri="{FF2B5EF4-FFF2-40B4-BE49-F238E27FC236}">
                    <a16:creationId xmlns:a16="http://schemas.microsoft.com/office/drawing/2014/main" id="{4B1C1823-FE28-4DB8-3376-0225D8204F99}"/>
                  </a:ext>
                </a:extLst>
              </p:cNvPr>
              <p:cNvGrpSpPr/>
              <p:nvPr/>
            </p:nvGrpSpPr>
            <p:grpSpPr>
              <a:xfrm>
                <a:off x="950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52" name="矩形 251">
                  <a:extLst>
                    <a:ext uri="{FF2B5EF4-FFF2-40B4-BE49-F238E27FC236}">
                      <a16:creationId xmlns:a16="http://schemas.microsoft.com/office/drawing/2014/main" id="{FA0914E8-4723-BBD6-6732-88818C5769DA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53" name="矩形 252">
                  <a:extLst>
                    <a:ext uri="{FF2B5EF4-FFF2-40B4-BE49-F238E27FC236}">
                      <a16:creationId xmlns:a16="http://schemas.microsoft.com/office/drawing/2014/main" id="{9480A93E-42A8-0FEE-B7FB-1841D0E2AD2E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1A2780A9-F9A3-3BF5-5C8C-1C017C084C76}"/>
                </a:ext>
              </a:extLst>
            </p:cNvPr>
            <p:cNvSpPr/>
            <p:nvPr/>
          </p:nvSpPr>
          <p:spPr>
            <a:xfrm>
              <a:off x="9233521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58" name="文本框 257">
            <a:extLst>
              <a:ext uri="{FF2B5EF4-FFF2-40B4-BE49-F238E27FC236}">
                <a16:creationId xmlns:a16="http://schemas.microsoft.com/office/drawing/2014/main" id="{4916A2F8-47AD-F111-FFD0-955584D863FA}"/>
              </a:ext>
            </a:extLst>
          </p:cNvPr>
          <p:cNvSpPr txBox="1"/>
          <p:nvPr/>
        </p:nvSpPr>
        <p:spPr>
          <a:xfrm>
            <a:off x="72736" y="1677506"/>
            <a:ext cx="781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Coefficient</a:t>
            </a:r>
          </a:p>
          <a:p>
            <a:pPr algn="ctr"/>
            <a:r>
              <a:rPr kumimoji="1" lang="en-US" altLang="zh-CN" sz="800" b="1" dirty="0">
                <a:latin typeface="Helvetica" pitchFamily="2" charset="0"/>
              </a:rPr>
              <a:t>Stream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60" name="圆角矩形 259">
            <a:extLst>
              <a:ext uri="{FF2B5EF4-FFF2-40B4-BE49-F238E27FC236}">
                <a16:creationId xmlns:a16="http://schemas.microsoft.com/office/drawing/2014/main" id="{E5026807-1BCA-14A7-29EE-42960356BE39}"/>
              </a:ext>
            </a:extLst>
          </p:cNvPr>
          <p:cNvSpPr/>
          <p:nvPr/>
        </p:nvSpPr>
        <p:spPr>
          <a:xfrm>
            <a:off x="815523" y="1721961"/>
            <a:ext cx="912425" cy="249645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134B16D1-FBD5-C1CA-36FB-C666EBC05C2E}"/>
              </a:ext>
            </a:extLst>
          </p:cNvPr>
          <p:cNvGrpSpPr/>
          <p:nvPr/>
        </p:nvGrpSpPr>
        <p:grpSpPr>
          <a:xfrm>
            <a:off x="880783" y="2153165"/>
            <a:ext cx="1048866" cy="180000"/>
            <a:chOff x="8872106" y="849130"/>
            <a:chExt cx="1048866" cy="180000"/>
          </a:xfrm>
        </p:grpSpPr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A1C3C409-A749-39EE-A154-C4188FCF2AB6}"/>
                </a:ext>
              </a:extLst>
            </p:cNvPr>
            <p:cNvGrpSpPr/>
            <p:nvPr/>
          </p:nvGrpSpPr>
          <p:grpSpPr>
            <a:xfrm>
              <a:off x="8872106" y="849130"/>
              <a:ext cx="1048866" cy="180000"/>
              <a:chOff x="9501686" y="1044000"/>
              <a:chExt cx="1048866" cy="180000"/>
            </a:xfrm>
          </p:grpSpPr>
          <p:sp>
            <p:nvSpPr>
              <p:cNvPr id="269" name="矩形 268">
                <a:extLst>
                  <a:ext uri="{FF2B5EF4-FFF2-40B4-BE49-F238E27FC236}">
                    <a16:creationId xmlns:a16="http://schemas.microsoft.com/office/drawing/2014/main" id="{AC6DC9C9-51AB-36BD-17A8-32344C0E2BF6}"/>
                  </a:ext>
                </a:extLst>
              </p:cNvPr>
              <p:cNvSpPr/>
              <p:nvPr/>
            </p:nvSpPr>
            <p:spPr>
              <a:xfrm>
                <a:off x="10222634" y="1044000"/>
                <a:ext cx="327918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800" b="1" dirty="0">
                    <a:solidFill>
                      <a:schemeClr val="tx1"/>
                    </a:solidFill>
                    <a:latin typeface="Helvetica" pitchFamily="2" charset="0"/>
                  </a:rPr>
                  <a:t>15</a:t>
                </a:r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grpSp>
            <p:nvGrpSpPr>
              <p:cNvPr id="265" name="组合 264">
                <a:extLst>
                  <a:ext uri="{FF2B5EF4-FFF2-40B4-BE49-F238E27FC236}">
                    <a16:creationId xmlns:a16="http://schemas.microsoft.com/office/drawing/2014/main" id="{52AA2557-CF72-CDDA-4E2F-241056744C0C}"/>
                  </a:ext>
                </a:extLst>
              </p:cNvPr>
              <p:cNvGrpSpPr/>
              <p:nvPr/>
            </p:nvGrpSpPr>
            <p:grpSpPr>
              <a:xfrm>
                <a:off x="9501686" y="1044000"/>
                <a:ext cx="360000" cy="180000"/>
                <a:chOff x="7560000" y="1055281"/>
                <a:chExt cx="360000" cy="180000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66" name="矩形 265">
                  <a:extLst>
                    <a:ext uri="{FF2B5EF4-FFF2-40B4-BE49-F238E27FC236}">
                      <a16:creationId xmlns:a16="http://schemas.microsoft.com/office/drawing/2014/main" id="{2EC41072-E138-2619-24D4-7233035C249C}"/>
                    </a:ext>
                  </a:extLst>
                </p:cNvPr>
                <p:cNvSpPr/>
                <p:nvPr/>
              </p:nvSpPr>
              <p:spPr>
                <a:xfrm>
                  <a:off x="756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800" b="1" dirty="0">
                      <a:solidFill>
                        <a:schemeClr val="tx1"/>
                      </a:solidFill>
                      <a:latin typeface="Helvetica" pitchFamily="2" charset="0"/>
                    </a:rPr>
                    <a:t>0</a:t>
                  </a:r>
                  <a:endParaRPr kumimoji="1" lang="zh-CN" altLang="en-US" sz="800" b="1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267" name="矩形 266">
                  <a:extLst>
                    <a:ext uri="{FF2B5EF4-FFF2-40B4-BE49-F238E27FC236}">
                      <a16:creationId xmlns:a16="http://schemas.microsoft.com/office/drawing/2014/main" id="{2510AB81-6C89-F7FE-108E-7C7ECD7F137C}"/>
                    </a:ext>
                  </a:extLst>
                </p:cNvPr>
                <p:cNvSpPr/>
                <p:nvPr/>
              </p:nvSpPr>
              <p:spPr>
                <a:xfrm>
                  <a:off x="7740000" y="1055281"/>
                  <a:ext cx="180000" cy="18000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800" b="1" dirty="0">
                      <a:solidFill>
                        <a:schemeClr val="tx1"/>
                      </a:solidFill>
                      <a:latin typeface="Helvetica" pitchFamily="2" charset="0"/>
                    </a:rPr>
                    <a:t>1</a:t>
                  </a:r>
                  <a:endParaRPr kumimoji="1" lang="zh-CN" altLang="en-US" sz="800" b="1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</p:grpSp>
        </p:grp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5B3BFD91-9A37-9510-B15A-7FE127CECF35}"/>
                </a:ext>
              </a:extLst>
            </p:cNvPr>
            <p:cNvSpPr/>
            <p:nvPr/>
          </p:nvSpPr>
          <p:spPr>
            <a:xfrm>
              <a:off x="9233521" y="849130"/>
              <a:ext cx="36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…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70" name="文本框 269">
            <a:extLst>
              <a:ext uri="{FF2B5EF4-FFF2-40B4-BE49-F238E27FC236}">
                <a16:creationId xmlns:a16="http://schemas.microsoft.com/office/drawing/2014/main" id="{4BA27A81-ADC2-5569-CEDB-5F506DE5D035}"/>
              </a:ext>
            </a:extLst>
          </p:cNvPr>
          <p:cNvSpPr txBox="1"/>
          <p:nvPr/>
        </p:nvSpPr>
        <p:spPr>
          <a:xfrm>
            <a:off x="7100" y="2114982"/>
            <a:ext cx="912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16 Coefficients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271" name="下箭头 270">
            <a:extLst>
              <a:ext uri="{FF2B5EF4-FFF2-40B4-BE49-F238E27FC236}">
                <a16:creationId xmlns:a16="http://schemas.microsoft.com/office/drawing/2014/main" id="{75A9486C-AD8B-4954-6BFD-1BE48D45E020}"/>
              </a:ext>
            </a:extLst>
          </p:cNvPr>
          <p:cNvSpPr/>
          <p:nvPr/>
        </p:nvSpPr>
        <p:spPr>
          <a:xfrm>
            <a:off x="1129554" y="2016060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4603AB45-B67D-EF7B-925E-1B4D7292BC94}"/>
              </a:ext>
            </a:extLst>
          </p:cNvPr>
          <p:cNvSpPr/>
          <p:nvPr/>
        </p:nvSpPr>
        <p:spPr>
          <a:xfrm>
            <a:off x="197709" y="2530558"/>
            <a:ext cx="1760837" cy="3697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Load</a:t>
            </a:r>
            <a:r>
              <a:rPr kumimoji="1" lang="zh-CN" altLang="en-US" sz="800" b="1" dirty="0">
                <a:solidFill>
                  <a:schemeClr val="tx1"/>
                </a:solidFill>
                <a:latin typeface="Helvetica" pitchFamily="2" charset="0"/>
              </a:rPr>
              <a:t> </a:t>
            </a:r>
            <a:r>
              <a:rPr kumimoji="1" lang="en-US" altLang="zh-CN" sz="800" b="1" dirty="0">
                <a:solidFill>
                  <a:schemeClr val="tx1"/>
                </a:solidFill>
                <a:latin typeface="Helvetica" pitchFamily="2" charset="0"/>
              </a:rPr>
              <a:t>into SIMD registers</a:t>
            </a:r>
          </a:p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( lane</a:t>
            </a:r>
            <a:r>
              <a:rPr kumimoji="1"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← coefficient c</a:t>
            </a:r>
            <a:r>
              <a:rPr kumimoji="1" lang="en-US" altLang="zh-CN" sz="8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 )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73" name="下箭头 272">
            <a:extLst>
              <a:ext uri="{FF2B5EF4-FFF2-40B4-BE49-F238E27FC236}">
                <a16:creationId xmlns:a16="http://schemas.microsoft.com/office/drawing/2014/main" id="{3E974744-3341-84DD-E35B-33F932390D24}"/>
              </a:ext>
            </a:extLst>
          </p:cNvPr>
          <p:cNvSpPr/>
          <p:nvPr/>
        </p:nvSpPr>
        <p:spPr>
          <a:xfrm>
            <a:off x="1129554" y="2369572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DA7D446-ADC3-8D0D-1B9A-A922C7C47BF5}"/>
              </a:ext>
            </a:extLst>
          </p:cNvPr>
          <p:cNvSpPr/>
          <p:nvPr/>
        </p:nvSpPr>
        <p:spPr>
          <a:xfrm>
            <a:off x="875665" y="3036310"/>
            <a:ext cx="414593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D192B4CD-76E6-3CD3-99F4-6C16C28F0360}"/>
                  </a:ext>
                </a:extLst>
              </p:cNvPr>
              <p:cNvSpPr/>
              <p:nvPr/>
            </p:nvSpPr>
            <p:spPr>
              <a:xfrm>
                <a:off x="1289005" y="3036310"/>
                <a:ext cx="559041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D192B4CD-76E6-3CD3-99F4-6C16C28F03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005" y="3036310"/>
                <a:ext cx="559041" cy="18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7A0E817A-5DB9-5F91-CB3C-EB0A1D45CBC1}"/>
                  </a:ext>
                </a:extLst>
              </p:cNvPr>
              <p:cNvSpPr/>
              <p:nvPr/>
            </p:nvSpPr>
            <p:spPr>
              <a:xfrm>
                <a:off x="316624" y="3036310"/>
                <a:ext cx="559041" cy="1800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1" lang="en-US" altLang="zh-CN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7A0E817A-5DB9-5F91-CB3C-EB0A1D45CB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4" y="3036310"/>
                <a:ext cx="559041" cy="18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矩形 288">
            <a:extLst>
              <a:ext uri="{FF2B5EF4-FFF2-40B4-BE49-F238E27FC236}">
                <a16:creationId xmlns:a16="http://schemas.microsoft.com/office/drawing/2014/main" id="{6598ACDE-C615-4390-A6E3-914AC39D03FA}"/>
              </a:ext>
            </a:extLst>
          </p:cNvPr>
          <p:cNvSpPr/>
          <p:nvPr/>
        </p:nvSpPr>
        <p:spPr>
          <a:xfrm>
            <a:off x="871930" y="3379207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02866B46-C476-8ADD-464D-2483FCAE2BA7}"/>
              </a:ext>
            </a:extLst>
          </p:cNvPr>
          <p:cNvSpPr/>
          <p:nvPr/>
        </p:nvSpPr>
        <p:spPr>
          <a:xfrm>
            <a:off x="1285270" y="337920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6F1E4778-9634-7CC1-5CDB-F20D66CF977A}"/>
              </a:ext>
            </a:extLst>
          </p:cNvPr>
          <p:cNvSpPr/>
          <p:nvPr/>
        </p:nvSpPr>
        <p:spPr>
          <a:xfrm>
            <a:off x="312889" y="337920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0EA37095-70C6-3886-6627-FF0AA77AE363}"/>
              </a:ext>
            </a:extLst>
          </p:cNvPr>
          <p:cNvSpPr/>
          <p:nvPr/>
        </p:nvSpPr>
        <p:spPr>
          <a:xfrm>
            <a:off x="197710" y="2538250"/>
            <a:ext cx="1764698" cy="1261963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FA3D3FC8-425E-21B5-FA9A-E9C0D571DF3F}"/>
              </a:ext>
            </a:extLst>
          </p:cNvPr>
          <p:cNvSpPr txBox="1"/>
          <p:nvPr/>
        </p:nvSpPr>
        <p:spPr>
          <a:xfrm>
            <a:off x="197709" y="3569607"/>
            <a:ext cx="16496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SIMD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register (16×32-bit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lanes)</a:t>
            </a:r>
          </a:p>
        </p:txBody>
      </p:sp>
      <p:sp>
        <p:nvSpPr>
          <p:cNvPr id="294" name="下箭头 293">
            <a:extLst>
              <a:ext uri="{FF2B5EF4-FFF2-40B4-BE49-F238E27FC236}">
                <a16:creationId xmlns:a16="http://schemas.microsoft.com/office/drawing/2014/main" id="{8270647F-AC60-3AB7-ECED-92AA0C3DBEE2}"/>
              </a:ext>
            </a:extLst>
          </p:cNvPr>
          <p:cNvSpPr/>
          <p:nvPr/>
        </p:nvSpPr>
        <p:spPr>
          <a:xfrm>
            <a:off x="552489" y="3246019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5" name="下箭头 294">
            <a:extLst>
              <a:ext uri="{FF2B5EF4-FFF2-40B4-BE49-F238E27FC236}">
                <a16:creationId xmlns:a16="http://schemas.microsoft.com/office/drawing/2014/main" id="{E8655FB4-6D0A-6AB1-5718-A7147AE15A89}"/>
              </a:ext>
            </a:extLst>
          </p:cNvPr>
          <p:cNvSpPr/>
          <p:nvPr/>
        </p:nvSpPr>
        <p:spPr>
          <a:xfrm>
            <a:off x="1514933" y="3247200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6" name="圆角矩形 295">
            <a:extLst>
              <a:ext uri="{FF2B5EF4-FFF2-40B4-BE49-F238E27FC236}">
                <a16:creationId xmlns:a16="http://schemas.microsoft.com/office/drawing/2014/main" id="{B5C1BEBD-264B-CC87-A123-1F68380262FA}"/>
              </a:ext>
            </a:extLst>
          </p:cNvPr>
          <p:cNvSpPr/>
          <p:nvPr/>
        </p:nvSpPr>
        <p:spPr>
          <a:xfrm>
            <a:off x="2105913" y="1614239"/>
            <a:ext cx="1835999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7" name="圆角矩形 296">
            <a:extLst>
              <a:ext uri="{FF2B5EF4-FFF2-40B4-BE49-F238E27FC236}">
                <a16:creationId xmlns:a16="http://schemas.microsoft.com/office/drawing/2014/main" id="{B12D4570-285E-CDDB-2D0D-173C37E5CF90}"/>
              </a:ext>
            </a:extLst>
          </p:cNvPr>
          <p:cNvSpPr/>
          <p:nvPr/>
        </p:nvSpPr>
        <p:spPr>
          <a:xfrm>
            <a:off x="2105912" y="1614239"/>
            <a:ext cx="1837179" cy="249644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C7DBA082-E116-8184-1206-0BA15808567C}"/>
              </a:ext>
            </a:extLst>
          </p:cNvPr>
          <p:cNvSpPr txBox="1"/>
          <p:nvPr/>
        </p:nvSpPr>
        <p:spPr>
          <a:xfrm>
            <a:off x="2105913" y="1619170"/>
            <a:ext cx="1584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Single-plane extraction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340" name="圆角矩形 339">
            <a:extLst>
              <a:ext uri="{FF2B5EF4-FFF2-40B4-BE49-F238E27FC236}">
                <a16:creationId xmlns:a16="http://schemas.microsoft.com/office/drawing/2014/main" id="{437EC96E-6470-8865-9457-F32982A8F214}"/>
              </a:ext>
            </a:extLst>
          </p:cNvPr>
          <p:cNvSpPr/>
          <p:nvPr/>
        </p:nvSpPr>
        <p:spPr>
          <a:xfrm>
            <a:off x="4094359" y="1610896"/>
            <a:ext cx="1835999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圆角矩形 340">
            <a:extLst>
              <a:ext uri="{FF2B5EF4-FFF2-40B4-BE49-F238E27FC236}">
                <a16:creationId xmlns:a16="http://schemas.microsoft.com/office/drawing/2014/main" id="{D24CC3C9-6184-98CF-AD17-24BB1CBA9022}"/>
              </a:ext>
            </a:extLst>
          </p:cNvPr>
          <p:cNvSpPr/>
          <p:nvPr/>
        </p:nvSpPr>
        <p:spPr>
          <a:xfrm>
            <a:off x="4094358" y="1610896"/>
            <a:ext cx="1837179" cy="249644"/>
          </a:xfrm>
          <a:prstGeom prst="roundRect">
            <a:avLst>
              <a:gd name="adj" fmla="val 2798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191A0837-D1E4-9C2F-62E3-CAFC6BDC621C}"/>
              </a:ext>
            </a:extLst>
          </p:cNvPr>
          <p:cNvSpPr txBox="1"/>
          <p:nvPr/>
        </p:nvSpPr>
        <p:spPr>
          <a:xfrm>
            <a:off x="4094359" y="1615827"/>
            <a:ext cx="1584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Paired-plane extraction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67E1FF88-5D7D-BDAC-A0FF-F1BB97A2D813}"/>
              </a:ext>
            </a:extLst>
          </p:cNvPr>
          <p:cNvSpPr/>
          <p:nvPr/>
        </p:nvSpPr>
        <p:spPr>
          <a:xfrm>
            <a:off x="2827258" y="1934982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DF11C9DA-2AC3-FFA9-F9F4-43C51568E51D}"/>
              </a:ext>
            </a:extLst>
          </p:cNvPr>
          <p:cNvSpPr/>
          <p:nvPr/>
        </p:nvSpPr>
        <p:spPr>
          <a:xfrm>
            <a:off x="3240598" y="1934982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A1D85777-C178-A59A-1A3A-7D72E668F246}"/>
              </a:ext>
            </a:extLst>
          </p:cNvPr>
          <p:cNvSpPr/>
          <p:nvPr/>
        </p:nvSpPr>
        <p:spPr>
          <a:xfrm>
            <a:off x="2268217" y="1934982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6" name="圆角矩形 345">
                <a:extLst>
                  <a:ext uri="{FF2B5EF4-FFF2-40B4-BE49-F238E27FC236}">
                    <a16:creationId xmlns:a16="http://schemas.microsoft.com/office/drawing/2014/main" id="{47505D1C-5848-72BE-C89F-E2C62DF4BFB1}"/>
                  </a:ext>
                </a:extLst>
              </p:cNvPr>
              <p:cNvSpPr/>
              <p:nvPr/>
            </p:nvSpPr>
            <p:spPr>
              <a:xfrm>
                <a:off x="2273777" y="2255979"/>
                <a:ext cx="1517101" cy="297723"/>
              </a:xfrm>
              <a:prstGeom prst="roundRect">
                <a:avLst/>
              </a:prstGeom>
              <a:solidFill>
                <a:srgbClr val="FFFFB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)&amp;1</m:t>
                      </m:r>
                    </m:oMath>
                  </m:oMathPara>
                </a14:m>
                <a:endParaRPr kumimoji="1" lang="en-US" altLang="zh-CN" sz="800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 algn="ctr"/>
                <a:r>
                  <a:rPr kumimoji="1" lang="en-US" altLang="zh-CN" sz="800" dirty="0">
                    <a:solidFill>
                      <a:schemeClr val="tx1"/>
                    </a:solidFill>
                    <a:latin typeface="Helvetica" pitchFamily="2" charset="0"/>
                  </a:rPr>
                  <a:t>(vector operation)</a:t>
                </a:r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46" name="圆角矩形 345">
                <a:extLst>
                  <a:ext uri="{FF2B5EF4-FFF2-40B4-BE49-F238E27FC236}">
                    <a16:creationId xmlns:a16="http://schemas.microsoft.com/office/drawing/2014/main" id="{47505D1C-5848-72BE-C89F-E2C62DF4BF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777" y="2255979"/>
                <a:ext cx="1517101" cy="297723"/>
              </a:xfrm>
              <a:prstGeom prst="roundRect">
                <a:avLst/>
              </a:prstGeom>
              <a:blipFill>
                <a:blip r:embed="rId5"/>
                <a:stretch>
                  <a:fillRect b="-769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" name="下箭头 347">
            <a:extLst>
              <a:ext uri="{FF2B5EF4-FFF2-40B4-BE49-F238E27FC236}">
                <a16:creationId xmlns:a16="http://schemas.microsoft.com/office/drawing/2014/main" id="{89A0B9E8-E03A-825C-E1DE-45944EE0B5A8}"/>
              </a:ext>
            </a:extLst>
          </p:cNvPr>
          <p:cNvSpPr/>
          <p:nvPr/>
        </p:nvSpPr>
        <p:spPr>
          <a:xfrm>
            <a:off x="3001726" y="2123782"/>
            <a:ext cx="87406" cy="9892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8" name="下箭头 357">
            <a:extLst>
              <a:ext uri="{FF2B5EF4-FFF2-40B4-BE49-F238E27FC236}">
                <a16:creationId xmlns:a16="http://schemas.microsoft.com/office/drawing/2014/main" id="{11250BF6-329E-6B35-B388-9BB4F2B269F7}"/>
              </a:ext>
            </a:extLst>
          </p:cNvPr>
          <p:cNvSpPr/>
          <p:nvPr/>
        </p:nvSpPr>
        <p:spPr>
          <a:xfrm>
            <a:off x="3411773" y="2613656"/>
            <a:ext cx="114382" cy="81534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F1F60D9D-B815-8C23-4340-C4DE983DC8B4}"/>
              </a:ext>
            </a:extLst>
          </p:cNvPr>
          <p:cNvSpPr txBox="1"/>
          <p:nvPr/>
        </p:nvSpPr>
        <p:spPr>
          <a:xfrm>
            <a:off x="3411257" y="2731075"/>
            <a:ext cx="633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compact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endParaRPr kumimoji="1" lang="en-US" altLang="zh-CN" sz="800" dirty="0">
              <a:latin typeface="Helvetica" pitchFamily="2" charset="0"/>
            </a:endParaRP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mask</a:t>
            </a: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048D17C7-16FC-2E19-AE0E-3F1A680A0EA1}"/>
              </a:ext>
            </a:extLst>
          </p:cNvPr>
          <p:cNvSpPr/>
          <p:nvPr/>
        </p:nvSpPr>
        <p:spPr>
          <a:xfrm>
            <a:off x="2493109" y="2730245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59B14EBE-F0EF-3260-3A0A-FB7D1F002C92}"/>
                  </a:ext>
                </a:extLst>
              </p:cNvPr>
              <p:cNvSpPr/>
              <p:nvPr/>
            </p:nvSpPr>
            <p:spPr>
              <a:xfrm>
                <a:off x="2150679" y="2730245"/>
                <a:ext cx="343682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59B14EBE-F0EF-3260-3A0A-FB7D1F002C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679" y="2730245"/>
                <a:ext cx="343682" cy="18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021B0687-7E80-720A-A791-DCB9E266B483}"/>
                  </a:ext>
                </a:extLst>
              </p:cNvPr>
              <p:cNvSpPr/>
              <p:nvPr/>
            </p:nvSpPr>
            <p:spPr>
              <a:xfrm>
                <a:off x="2723061" y="2730245"/>
                <a:ext cx="378977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021B0687-7E80-720A-A791-DCB9E266B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061" y="2730245"/>
                <a:ext cx="378977" cy="180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6" name="下箭头 365">
            <a:extLst>
              <a:ext uri="{FF2B5EF4-FFF2-40B4-BE49-F238E27FC236}">
                <a16:creationId xmlns:a16="http://schemas.microsoft.com/office/drawing/2014/main" id="{7A475389-F5EE-28F1-F47F-866E160B209F}"/>
              </a:ext>
            </a:extLst>
          </p:cNvPr>
          <p:cNvSpPr/>
          <p:nvPr/>
        </p:nvSpPr>
        <p:spPr>
          <a:xfrm>
            <a:off x="2958182" y="2583693"/>
            <a:ext cx="68047" cy="12031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19F1157F-3BC1-625A-AC45-7DD101D0CBC6}"/>
              </a:ext>
            </a:extLst>
          </p:cNvPr>
          <p:cNvSpPr txBox="1"/>
          <p:nvPr/>
        </p:nvSpPr>
        <p:spPr>
          <a:xfrm>
            <a:off x="3068204" y="2530558"/>
            <a:ext cx="3369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OR</a:t>
            </a:r>
          </a:p>
        </p:txBody>
      </p:sp>
      <p:sp>
        <p:nvSpPr>
          <p:cNvPr id="369" name="下箭头 368">
            <a:extLst>
              <a:ext uri="{FF2B5EF4-FFF2-40B4-BE49-F238E27FC236}">
                <a16:creationId xmlns:a16="http://schemas.microsoft.com/office/drawing/2014/main" id="{52FDE25F-75CA-D0E3-E3BD-E5289752A9E5}"/>
              </a:ext>
            </a:extLst>
          </p:cNvPr>
          <p:cNvSpPr/>
          <p:nvPr/>
        </p:nvSpPr>
        <p:spPr>
          <a:xfrm>
            <a:off x="2958182" y="3041063"/>
            <a:ext cx="61465" cy="23965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1" name="矩形 370">
            <a:extLst>
              <a:ext uri="{FF2B5EF4-FFF2-40B4-BE49-F238E27FC236}">
                <a16:creationId xmlns:a16="http://schemas.microsoft.com/office/drawing/2014/main" id="{0A12BF77-0808-5C98-87A7-199A3632ABE3}"/>
              </a:ext>
            </a:extLst>
          </p:cNvPr>
          <p:cNvSpPr/>
          <p:nvPr/>
        </p:nvSpPr>
        <p:spPr>
          <a:xfrm>
            <a:off x="2493594" y="3326197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FEFD98B8-A506-DA3D-A7DE-530E8F11C691}"/>
              </a:ext>
            </a:extLst>
          </p:cNvPr>
          <p:cNvSpPr/>
          <p:nvPr/>
        </p:nvSpPr>
        <p:spPr>
          <a:xfrm>
            <a:off x="2151164" y="3326197"/>
            <a:ext cx="343682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3" name="矩形 372">
            <a:extLst>
              <a:ext uri="{FF2B5EF4-FFF2-40B4-BE49-F238E27FC236}">
                <a16:creationId xmlns:a16="http://schemas.microsoft.com/office/drawing/2014/main" id="{868627F5-E320-05C6-917B-D413F5A48D56}"/>
              </a:ext>
            </a:extLst>
          </p:cNvPr>
          <p:cNvSpPr/>
          <p:nvPr/>
        </p:nvSpPr>
        <p:spPr>
          <a:xfrm>
            <a:off x="2723546" y="3326197"/>
            <a:ext cx="378977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155DDFF3-52E7-1FCA-1176-B201D867DB02}"/>
              </a:ext>
            </a:extLst>
          </p:cNvPr>
          <p:cNvSpPr txBox="1"/>
          <p:nvPr/>
        </p:nvSpPr>
        <p:spPr>
          <a:xfrm>
            <a:off x="2171700" y="2896223"/>
            <a:ext cx="909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Shuffle-and OR Reduction</a:t>
            </a:r>
            <a:endParaRPr kumimoji="1" lang="en-US" altLang="zh-CN" sz="800" dirty="0">
              <a:latin typeface="Helvetica" pitchFamily="2" charset="0"/>
            </a:endParaRPr>
          </a:p>
          <a:p>
            <a:pPr algn="ctr"/>
            <a:r>
              <a:rPr kumimoji="1" lang="en-US" altLang="zh-CN" sz="800" dirty="0">
                <a:latin typeface="Helvetica" pitchFamily="2" charset="0"/>
              </a:rPr>
              <a:t>see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(b)</a:t>
            </a:r>
          </a:p>
        </p:txBody>
      </p:sp>
      <p:sp>
        <p:nvSpPr>
          <p:cNvPr id="376" name="矩形 375">
            <a:extLst>
              <a:ext uri="{FF2B5EF4-FFF2-40B4-BE49-F238E27FC236}">
                <a16:creationId xmlns:a16="http://schemas.microsoft.com/office/drawing/2014/main" id="{0642B976-410E-0EFE-401C-7CE89D7B3B33}"/>
              </a:ext>
            </a:extLst>
          </p:cNvPr>
          <p:cNvSpPr/>
          <p:nvPr/>
        </p:nvSpPr>
        <p:spPr>
          <a:xfrm>
            <a:off x="2323595" y="3335277"/>
            <a:ext cx="163966" cy="1581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9B57F020-1DA9-DCBD-C30E-46852A23F005}"/>
              </a:ext>
            </a:extLst>
          </p:cNvPr>
          <p:cNvSpPr/>
          <p:nvPr/>
        </p:nvSpPr>
        <p:spPr>
          <a:xfrm>
            <a:off x="2930221" y="3335277"/>
            <a:ext cx="163966" cy="1581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" name="圆角矩形 377">
            <a:extLst>
              <a:ext uri="{FF2B5EF4-FFF2-40B4-BE49-F238E27FC236}">
                <a16:creationId xmlns:a16="http://schemas.microsoft.com/office/drawing/2014/main" id="{EBDCDCC0-30F6-8FAE-8096-6B4F23BA02CB}"/>
              </a:ext>
            </a:extLst>
          </p:cNvPr>
          <p:cNvSpPr/>
          <p:nvPr/>
        </p:nvSpPr>
        <p:spPr>
          <a:xfrm>
            <a:off x="2261386" y="3283932"/>
            <a:ext cx="278614" cy="249645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9" name="圆角右箭头 378">
            <a:extLst>
              <a:ext uri="{FF2B5EF4-FFF2-40B4-BE49-F238E27FC236}">
                <a16:creationId xmlns:a16="http://schemas.microsoft.com/office/drawing/2014/main" id="{17BA10D7-64FE-4E9B-87E8-EE5FA3412A88}"/>
              </a:ext>
            </a:extLst>
          </p:cNvPr>
          <p:cNvSpPr/>
          <p:nvPr/>
        </p:nvSpPr>
        <p:spPr>
          <a:xfrm flipV="1">
            <a:off x="2365375" y="3563006"/>
            <a:ext cx="813805" cy="67586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380" name="直线连接符 379">
            <a:extLst>
              <a:ext uri="{FF2B5EF4-FFF2-40B4-BE49-F238E27FC236}">
                <a16:creationId xmlns:a16="http://schemas.microsoft.com/office/drawing/2014/main" id="{3B947196-EB3B-24F5-18E7-9A24AA38E548}"/>
              </a:ext>
            </a:extLst>
          </p:cNvPr>
          <p:cNvCxnSpPr>
            <a:cxnSpLocks/>
          </p:cNvCxnSpPr>
          <p:nvPr/>
        </p:nvCxnSpPr>
        <p:spPr>
          <a:xfrm>
            <a:off x="3249100" y="2711143"/>
            <a:ext cx="0" cy="759265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矩形 382">
            <a:extLst>
              <a:ext uri="{FF2B5EF4-FFF2-40B4-BE49-F238E27FC236}">
                <a16:creationId xmlns:a16="http://schemas.microsoft.com/office/drawing/2014/main" id="{FF61778C-C7B7-BC75-9F87-D49972E76E75}"/>
              </a:ext>
            </a:extLst>
          </p:cNvPr>
          <p:cNvSpPr/>
          <p:nvPr/>
        </p:nvSpPr>
        <p:spPr>
          <a:xfrm>
            <a:off x="4811363" y="1908211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84" name="矩形 383">
            <a:extLst>
              <a:ext uri="{FF2B5EF4-FFF2-40B4-BE49-F238E27FC236}">
                <a16:creationId xmlns:a16="http://schemas.microsoft.com/office/drawing/2014/main" id="{CAA0FA04-08EB-1D1B-DBAB-CCC4600C918A}"/>
              </a:ext>
            </a:extLst>
          </p:cNvPr>
          <p:cNvSpPr/>
          <p:nvPr/>
        </p:nvSpPr>
        <p:spPr>
          <a:xfrm>
            <a:off x="5224703" y="1908211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85" name="矩形 384">
            <a:extLst>
              <a:ext uri="{FF2B5EF4-FFF2-40B4-BE49-F238E27FC236}">
                <a16:creationId xmlns:a16="http://schemas.microsoft.com/office/drawing/2014/main" id="{6104D1C5-5CBF-204A-8487-0994435EA926}"/>
              </a:ext>
            </a:extLst>
          </p:cNvPr>
          <p:cNvSpPr/>
          <p:nvPr/>
        </p:nvSpPr>
        <p:spPr>
          <a:xfrm>
            <a:off x="4252322" y="1908211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386" name="下箭头 385">
            <a:extLst>
              <a:ext uri="{FF2B5EF4-FFF2-40B4-BE49-F238E27FC236}">
                <a16:creationId xmlns:a16="http://schemas.microsoft.com/office/drawing/2014/main" id="{4F10A432-5FC9-223E-B7AD-260532835EC1}"/>
              </a:ext>
            </a:extLst>
          </p:cNvPr>
          <p:cNvSpPr/>
          <p:nvPr/>
        </p:nvSpPr>
        <p:spPr>
          <a:xfrm>
            <a:off x="4985831" y="2097011"/>
            <a:ext cx="45719" cy="520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7" name="圆角矩形 386">
                <a:extLst>
                  <a:ext uri="{FF2B5EF4-FFF2-40B4-BE49-F238E27FC236}">
                    <a16:creationId xmlns:a16="http://schemas.microsoft.com/office/drawing/2014/main" id="{5C8983B0-008C-C49D-71E1-FBA148DCA1D9}"/>
                  </a:ext>
                </a:extLst>
              </p:cNvPr>
              <p:cNvSpPr/>
              <p:nvPr/>
            </p:nvSpPr>
            <p:spPr>
              <a:xfrm>
                <a:off x="4141026" y="2163098"/>
                <a:ext cx="1722621" cy="297723"/>
              </a:xfrm>
              <a:prstGeom prst="roundRect">
                <a:avLst/>
              </a:prstGeom>
              <a:solidFill>
                <a:srgbClr val="FFFFB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((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)&amp;1)|(((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)&amp;2)≪15)</m:t>
                    </m:r>
                  </m:oMath>
                </a14:m>
                <a:r>
                  <a:rPr kumimoji="1" lang="en-US" altLang="zh-CN" sz="800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</a:p>
              <a:p>
                <a:pPr algn="ctr"/>
                <a:r>
                  <a:rPr kumimoji="1" lang="en-US" altLang="zh-CN" sz="800" dirty="0">
                    <a:solidFill>
                      <a:schemeClr val="tx1"/>
                    </a:solidFill>
                    <a:latin typeface="Helvetica" pitchFamily="2" charset="0"/>
                  </a:rPr>
                  <a:t>(vector operation)</a:t>
                </a:r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87" name="圆角矩形 386">
                <a:extLst>
                  <a:ext uri="{FF2B5EF4-FFF2-40B4-BE49-F238E27FC236}">
                    <a16:creationId xmlns:a16="http://schemas.microsoft.com/office/drawing/2014/main" id="{5C8983B0-008C-C49D-71E1-FBA148DCA1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026" y="2163098"/>
                <a:ext cx="1722621" cy="297723"/>
              </a:xfrm>
              <a:prstGeom prst="roundRect">
                <a:avLst/>
              </a:prstGeom>
              <a:blipFill>
                <a:blip r:embed="rId8"/>
                <a:stretch>
                  <a:fillRect b="-769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8" name="矩形 387">
            <a:extLst>
              <a:ext uri="{FF2B5EF4-FFF2-40B4-BE49-F238E27FC236}">
                <a16:creationId xmlns:a16="http://schemas.microsoft.com/office/drawing/2014/main" id="{76223996-E8DC-E9B0-725C-0C41984AEFC8}"/>
              </a:ext>
            </a:extLst>
          </p:cNvPr>
          <p:cNvSpPr/>
          <p:nvPr/>
        </p:nvSpPr>
        <p:spPr>
          <a:xfrm>
            <a:off x="4906987" y="2692743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矩形 388">
                <a:extLst>
                  <a:ext uri="{FF2B5EF4-FFF2-40B4-BE49-F238E27FC236}">
                    <a16:creationId xmlns:a16="http://schemas.microsoft.com/office/drawing/2014/main" id="{A62C67B0-0971-6A50-D0A1-D9C11388B274}"/>
                  </a:ext>
                </a:extLst>
              </p:cNvPr>
              <p:cNvSpPr/>
              <p:nvPr/>
            </p:nvSpPr>
            <p:spPr>
              <a:xfrm>
                <a:off x="4186237" y="2692743"/>
                <a:ext cx="722002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9" name="矩形 388">
                <a:extLst>
                  <a:ext uri="{FF2B5EF4-FFF2-40B4-BE49-F238E27FC236}">
                    <a16:creationId xmlns:a16="http://schemas.microsoft.com/office/drawing/2014/main" id="{A62C67B0-0971-6A50-D0A1-D9C11388B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237" y="2692743"/>
                <a:ext cx="722002" cy="180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0" name="矩形 389">
            <a:extLst>
              <a:ext uri="{FF2B5EF4-FFF2-40B4-BE49-F238E27FC236}">
                <a16:creationId xmlns:a16="http://schemas.microsoft.com/office/drawing/2014/main" id="{989A0FED-67D9-A805-9330-A068F88BD076}"/>
              </a:ext>
            </a:extLst>
          </p:cNvPr>
          <p:cNvSpPr/>
          <p:nvPr/>
        </p:nvSpPr>
        <p:spPr>
          <a:xfrm>
            <a:off x="5136939" y="2692743"/>
            <a:ext cx="721527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下箭头 390">
            <a:extLst>
              <a:ext uri="{FF2B5EF4-FFF2-40B4-BE49-F238E27FC236}">
                <a16:creationId xmlns:a16="http://schemas.microsoft.com/office/drawing/2014/main" id="{9E7D1E1E-EE29-4FB9-6520-CEA513C7ADE3}"/>
              </a:ext>
            </a:extLst>
          </p:cNvPr>
          <p:cNvSpPr/>
          <p:nvPr/>
        </p:nvSpPr>
        <p:spPr>
          <a:xfrm>
            <a:off x="5241769" y="2482400"/>
            <a:ext cx="47861" cy="18363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2" name="文本框 401">
                <a:extLst>
                  <a:ext uri="{FF2B5EF4-FFF2-40B4-BE49-F238E27FC236}">
                    <a16:creationId xmlns:a16="http://schemas.microsoft.com/office/drawing/2014/main" id="{39BBF7CB-35FF-E9F1-4F43-8B501D09E3CB}"/>
                  </a:ext>
                </a:extLst>
              </p:cNvPr>
              <p:cNvSpPr txBox="1"/>
              <p:nvPr/>
            </p:nvSpPr>
            <p:spPr>
              <a:xfrm>
                <a:off x="3995534" y="2455556"/>
                <a:ext cx="1385117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| (</m:t>
                      </m:r>
                      <m:sSub>
                        <m:sSubPr>
                          <m:ctrlP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zh-CN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kumimoji="1" lang="en-US" altLang="zh-CN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16)</m:t>
                      </m:r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2" name="文本框 401">
                <a:extLst>
                  <a:ext uri="{FF2B5EF4-FFF2-40B4-BE49-F238E27FC236}">
                    <a16:creationId xmlns:a16="http://schemas.microsoft.com/office/drawing/2014/main" id="{39BBF7CB-35FF-E9F1-4F43-8B501D09E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534" y="2455556"/>
                <a:ext cx="1385117" cy="2250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4" name="文本框 403">
            <a:extLst>
              <a:ext uri="{FF2B5EF4-FFF2-40B4-BE49-F238E27FC236}">
                <a16:creationId xmlns:a16="http://schemas.microsoft.com/office/drawing/2014/main" id="{82DB791F-7EB0-0A85-09ED-95734CFD766A}"/>
              </a:ext>
            </a:extLst>
          </p:cNvPr>
          <p:cNvSpPr txBox="1"/>
          <p:nvPr/>
        </p:nvSpPr>
        <p:spPr>
          <a:xfrm>
            <a:off x="4113557" y="2892392"/>
            <a:ext cx="14567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Shuffle-and OR Reduction</a:t>
            </a:r>
            <a:endParaRPr kumimoji="1" lang="en-US" altLang="zh-CN" sz="800" dirty="0">
              <a:latin typeface="Helvetica" pitchFamily="2" charset="0"/>
            </a:endParaRPr>
          </a:p>
        </p:txBody>
      </p:sp>
      <p:sp>
        <p:nvSpPr>
          <p:cNvPr id="405" name="下箭头 404">
            <a:extLst>
              <a:ext uri="{FF2B5EF4-FFF2-40B4-BE49-F238E27FC236}">
                <a16:creationId xmlns:a16="http://schemas.microsoft.com/office/drawing/2014/main" id="{BAE51230-AA7C-2F25-CF0E-D0922980840A}"/>
              </a:ext>
            </a:extLst>
          </p:cNvPr>
          <p:cNvSpPr/>
          <p:nvPr/>
        </p:nvSpPr>
        <p:spPr>
          <a:xfrm>
            <a:off x="5549068" y="2998582"/>
            <a:ext cx="46012" cy="11355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041CB301-6AD5-CEFC-8662-1418103A4C25}"/>
              </a:ext>
            </a:extLst>
          </p:cNvPr>
          <p:cNvSpPr/>
          <p:nvPr/>
        </p:nvSpPr>
        <p:spPr>
          <a:xfrm>
            <a:off x="5506950" y="2702483"/>
            <a:ext cx="342000" cy="1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矩形 414">
            <a:extLst>
              <a:ext uri="{FF2B5EF4-FFF2-40B4-BE49-F238E27FC236}">
                <a16:creationId xmlns:a16="http://schemas.microsoft.com/office/drawing/2014/main" id="{4AEB4F8C-5808-5C16-0898-A57846AA9BC9}"/>
              </a:ext>
            </a:extLst>
          </p:cNvPr>
          <p:cNvSpPr/>
          <p:nvPr/>
        </p:nvSpPr>
        <p:spPr>
          <a:xfrm>
            <a:off x="5148175" y="2702483"/>
            <a:ext cx="360000" cy="1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1E33140D-FA9B-D8C5-8FF7-989BB3356A43}"/>
                  </a:ext>
                </a:extLst>
              </p:cNvPr>
              <p:cNvSpPr txBox="1"/>
              <p:nvPr/>
            </p:nvSpPr>
            <p:spPr>
              <a:xfrm>
                <a:off x="5101100" y="2656395"/>
                <a:ext cx="401175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CN" sz="800" b="0" dirty="0"/>
              </a:p>
            </p:txBody>
          </p:sp>
        </mc:Choice>
        <mc:Fallback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1E33140D-FA9B-D8C5-8FF7-989BB3356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100" y="2656395"/>
                <a:ext cx="401175" cy="2250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A7266DB3-D4A9-D55C-BCE4-2FCAE4E391B4}"/>
                  </a:ext>
                </a:extLst>
              </p:cNvPr>
              <p:cNvSpPr txBox="1"/>
              <p:nvPr/>
            </p:nvSpPr>
            <p:spPr>
              <a:xfrm>
                <a:off x="5527379" y="2665664"/>
                <a:ext cx="331887" cy="225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altLang="zh-CN" sz="800" b="0" dirty="0"/>
              </a:p>
            </p:txBody>
          </p:sp>
        </mc:Choice>
        <mc:Fallback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A7266DB3-D4A9-D55C-BCE4-2FCAE4E39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379" y="2665664"/>
                <a:ext cx="331887" cy="22506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" name="矩形 418">
            <a:extLst>
              <a:ext uri="{FF2B5EF4-FFF2-40B4-BE49-F238E27FC236}">
                <a16:creationId xmlns:a16="http://schemas.microsoft.com/office/drawing/2014/main" id="{4CE7C44C-A88F-2A51-B20D-672A655751A1}"/>
              </a:ext>
            </a:extLst>
          </p:cNvPr>
          <p:cNvSpPr/>
          <p:nvPr/>
        </p:nvSpPr>
        <p:spPr>
          <a:xfrm>
            <a:off x="4906987" y="3141556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660C34E9-DA1A-FD80-DC0B-205862C98556}"/>
              </a:ext>
            </a:extLst>
          </p:cNvPr>
          <p:cNvSpPr/>
          <p:nvPr/>
        </p:nvSpPr>
        <p:spPr>
          <a:xfrm>
            <a:off x="4186237" y="3141556"/>
            <a:ext cx="722002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06F2D929-A680-28FC-9AF6-DF0AE664C058}"/>
              </a:ext>
            </a:extLst>
          </p:cNvPr>
          <p:cNvSpPr/>
          <p:nvPr/>
        </p:nvSpPr>
        <p:spPr>
          <a:xfrm>
            <a:off x="5136939" y="3141556"/>
            <a:ext cx="721527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CFC7F816-5928-4A20-F43E-A172BB5C1492}"/>
              </a:ext>
            </a:extLst>
          </p:cNvPr>
          <p:cNvSpPr/>
          <p:nvPr/>
        </p:nvSpPr>
        <p:spPr>
          <a:xfrm>
            <a:off x="5506950" y="3151296"/>
            <a:ext cx="342000" cy="1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5E698300-73DF-6222-BFF7-5F2A9635E224}"/>
              </a:ext>
            </a:extLst>
          </p:cNvPr>
          <p:cNvSpPr/>
          <p:nvPr/>
        </p:nvSpPr>
        <p:spPr>
          <a:xfrm>
            <a:off x="5144546" y="3151296"/>
            <a:ext cx="360000" cy="1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C1B5E989-C011-F73C-DE7E-6681BB70EDA4}"/>
              </a:ext>
            </a:extLst>
          </p:cNvPr>
          <p:cNvSpPr/>
          <p:nvPr/>
        </p:nvSpPr>
        <p:spPr>
          <a:xfrm>
            <a:off x="4557198" y="3151241"/>
            <a:ext cx="342000" cy="16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1D40A3ED-B85B-83F7-C87C-78971640F6B6}"/>
              </a:ext>
            </a:extLst>
          </p:cNvPr>
          <p:cNvSpPr/>
          <p:nvPr/>
        </p:nvSpPr>
        <p:spPr>
          <a:xfrm>
            <a:off x="4194794" y="3151241"/>
            <a:ext cx="360000" cy="1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" name="圆角矩形 439">
            <a:extLst>
              <a:ext uri="{FF2B5EF4-FFF2-40B4-BE49-F238E27FC236}">
                <a16:creationId xmlns:a16="http://schemas.microsoft.com/office/drawing/2014/main" id="{BA9733AF-F57B-88EE-C6BF-597BD626CF47}"/>
              </a:ext>
            </a:extLst>
          </p:cNvPr>
          <p:cNvSpPr/>
          <p:nvPr/>
        </p:nvSpPr>
        <p:spPr>
          <a:xfrm>
            <a:off x="4143829" y="3101854"/>
            <a:ext cx="442684" cy="249645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1" name="圆角矩形 440">
            <a:extLst>
              <a:ext uri="{FF2B5EF4-FFF2-40B4-BE49-F238E27FC236}">
                <a16:creationId xmlns:a16="http://schemas.microsoft.com/office/drawing/2014/main" id="{EC96DB64-696C-26A7-7111-C328087B744D}"/>
              </a:ext>
            </a:extLst>
          </p:cNvPr>
          <p:cNvSpPr/>
          <p:nvPr/>
        </p:nvSpPr>
        <p:spPr>
          <a:xfrm>
            <a:off x="5474111" y="3112141"/>
            <a:ext cx="414593" cy="237359"/>
          </a:xfrm>
          <a:prstGeom prst="roundRect">
            <a:avLst/>
          </a:prstGeom>
          <a:noFill/>
          <a:ln w="254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4" name="圆角右箭头 453">
            <a:extLst>
              <a:ext uri="{FF2B5EF4-FFF2-40B4-BE49-F238E27FC236}">
                <a16:creationId xmlns:a16="http://schemas.microsoft.com/office/drawing/2014/main" id="{1985FE2E-D87C-5C28-E66A-9C5AB73AD2CB}"/>
              </a:ext>
            </a:extLst>
          </p:cNvPr>
          <p:cNvSpPr/>
          <p:nvPr/>
        </p:nvSpPr>
        <p:spPr>
          <a:xfrm flipV="1">
            <a:off x="4217716" y="3454876"/>
            <a:ext cx="105895" cy="120328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55" name="圆角右箭头 454">
            <a:extLst>
              <a:ext uri="{FF2B5EF4-FFF2-40B4-BE49-F238E27FC236}">
                <a16:creationId xmlns:a16="http://schemas.microsoft.com/office/drawing/2014/main" id="{05BCB798-CA77-89E3-943C-8AA47E47968D}"/>
              </a:ext>
            </a:extLst>
          </p:cNvPr>
          <p:cNvSpPr/>
          <p:nvPr/>
        </p:nvSpPr>
        <p:spPr>
          <a:xfrm flipH="1" flipV="1">
            <a:off x="5744370" y="3429000"/>
            <a:ext cx="120837" cy="120328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60" name="圆角矩形 459">
            <a:extLst>
              <a:ext uri="{FF2B5EF4-FFF2-40B4-BE49-F238E27FC236}">
                <a16:creationId xmlns:a16="http://schemas.microsoft.com/office/drawing/2014/main" id="{A612E0D8-BB1B-1982-E3A1-29518C4CBBA6}"/>
              </a:ext>
            </a:extLst>
          </p:cNvPr>
          <p:cNvSpPr/>
          <p:nvPr/>
        </p:nvSpPr>
        <p:spPr>
          <a:xfrm>
            <a:off x="6516681" y="104482"/>
            <a:ext cx="1286920" cy="5661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00E3BE07-57B3-2667-0D16-05225CAFE28D}"/>
                  </a:ext>
                </a:extLst>
              </p:cNvPr>
              <p:cNvSpPr txBox="1"/>
              <p:nvPr/>
            </p:nvSpPr>
            <p:spPr>
              <a:xfrm>
                <a:off x="6603590" y="242098"/>
                <a:ext cx="1144865" cy="165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&gt;&gt;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aln/>
                        </m:rP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&amp;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kumimoji="1" lang="en-US" altLang="zh-CN" sz="1000" b="0" dirty="0"/>
              </a:p>
            </p:txBody>
          </p:sp>
        </mc:Choice>
        <mc:Fallback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00E3BE07-57B3-2667-0D16-05225CAFE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590" y="242098"/>
                <a:ext cx="1144865" cy="165751"/>
              </a:xfrm>
              <a:prstGeom prst="rect">
                <a:avLst/>
              </a:prstGeom>
              <a:blipFill>
                <a:blip r:embed="rId13"/>
                <a:stretch>
                  <a:fillRect l="-2174" t="-7143" r="-108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28B611EF-4AD4-CBB2-99F1-F0B8A6492902}"/>
                  </a:ext>
                </a:extLst>
              </p:cNvPr>
              <p:cNvSpPr txBox="1"/>
              <p:nvPr/>
            </p:nvSpPr>
            <p:spPr>
              <a:xfrm>
                <a:off x="6633666" y="481445"/>
                <a:ext cx="11030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dirty="0">
                    <a:latin typeface="Helvetica" pitchFamily="2" charset="0"/>
                  </a:rPr>
                  <a:t>The </a:t>
                </a:r>
                <a14:m>
                  <m:oMath xmlns:m="http://schemas.openxmlformats.org/officeDocument/2006/math"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m:rPr>
                        <m:sty m:val="p"/>
                      </m:rPr>
                      <a:rPr kumimoji="1" lang="en-US" altLang="zh-CN" sz="800" i="1">
                        <a:latin typeface="Cambria Math" panose="02040503050406030204" pitchFamily="18" charset="0"/>
                      </a:rPr>
                      <m:t>th</m:t>
                    </m:r>
                  </m:oMath>
                </a14:m>
                <a:r>
                  <a:rPr kumimoji="1" lang="en-US" altLang="zh-CN" sz="800" dirty="0">
                    <a:latin typeface="Helvetica" pitchFamily="2" charset="0"/>
                  </a:rPr>
                  <a:t> bit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zh-CN" sz="800" b="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28B611EF-4AD4-CBB2-99F1-F0B8A6492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666" y="481445"/>
                <a:ext cx="1103010" cy="215444"/>
              </a:xfrm>
              <a:prstGeom prst="rect">
                <a:avLst/>
              </a:prstGeom>
              <a:blipFill>
                <a:blip r:embed="rId1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圆角矩形 460">
            <a:extLst>
              <a:ext uri="{FF2B5EF4-FFF2-40B4-BE49-F238E27FC236}">
                <a16:creationId xmlns:a16="http://schemas.microsoft.com/office/drawing/2014/main" id="{17CCCE60-BD8F-90BB-1DEC-ABA3FE9C2E12}"/>
              </a:ext>
            </a:extLst>
          </p:cNvPr>
          <p:cNvSpPr/>
          <p:nvPr/>
        </p:nvSpPr>
        <p:spPr>
          <a:xfrm>
            <a:off x="7891981" y="101397"/>
            <a:ext cx="1771417" cy="5661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CF1D57EE-D592-AADA-311C-20CA7A6C9E7F}"/>
                  </a:ext>
                </a:extLst>
              </p:cNvPr>
              <p:cNvSpPr txBox="1"/>
              <p:nvPr/>
            </p:nvSpPr>
            <p:spPr>
              <a:xfrm>
                <a:off x="8293244" y="153389"/>
                <a:ext cx="1119730" cy="471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5"/>
                            </m:r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1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000" b="0" dirty="0"/>
              </a:p>
              <a:p>
                <a:endParaRPr kumimoji="1" lang="en-US" altLang="zh-CN" sz="1000" b="0" dirty="0"/>
              </a:p>
            </p:txBody>
          </p:sp>
        </mc:Choice>
        <mc:Fallback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CF1D57EE-D592-AADA-311C-20CA7A6C9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44" y="153389"/>
                <a:ext cx="1119730" cy="471091"/>
              </a:xfrm>
              <a:prstGeom prst="rect">
                <a:avLst/>
              </a:prstGeom>
              <a:blipFill>
                <a:blip r:embed="rId15"/>
                <a:stretch>
                  <a:fillRect l="-5556" t="-118919" b="-145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9" name="文本框 458">
                <a:extLst>
                  <a:ext uri="{FF2B5EF4-FFF2-40B4-BE49-F238E27FC236}">
                    <a16:creationId xmlns:a16="http://schemas.microsoft.com/office/drawing/2014/main" id="{E80E8B96-6270-0A77-6C06-56ACF155D073}"/>
                  </a:ext>
                </a:extLst>
              </p:cNvPr>
              <p:cNvSpPr txBox="1"/>
              <p:nvPr/>
            </p:nvSpPr>
            <p:spPr>
              <a:xfrm>
                <a:off x="7940834" y="478167"/>
                <a:ext cx="17557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dirty="0">
                    <a:latin typeface="Helvetica" pitchFamily="2" charset="0"/>
                  </a:rPr>
                  <a:t>16-bit plane mask for bit position </a:t>
                </a:r>
                <a14:m>
                  <m:oMath xmlns:m="http://schemas.openxmlformats.org/officeDocument/2006/math">
                    <m:r>
                      <a:rPr kumimoji="1" lang="en-US" altLang="zh-CN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zh-CN" sz="800" dirty="0">
                    <a:latin typeface="Helvetica" pitchFamily="2" charset="0"/>
                  </a:rPr>
                  <a:t> </a:t>
                </a:r>
                <a:endParaRPr kumimoji="1" lang="en-US" altLang="zh-CN" sz="800" b="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59" name="文本框 458">
                <a:extLst>
                  <a:ext uri="{FF2B5EF4-FFF2-40B4-BE49-F238E27FC236}">
                    <a16:creationId xmlns:a16="http://schemas.microsoft.com/office/drawing/2014/main" id="{E80E8B96-6270-0A77-6C06-56ACF155D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834" y="478167"/>
                <a:ext cx="1755754" cy="215444"/>
              </a:xfrm>
              <a:prstGeom prst="rect">
                <a:avLst/>
              </a:prstGeom>
              <a:blipFill>
                <a:blip r:embed="rId1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2" name="文本框 461">
            <a:extLst>
              <a:ext uri="{FF2B5EF4-FFF2-40B4-BE49-F238E27FC236}">
                <a16:creationId xmlns:a16="http://schemas.microsoft.com/office/drawing/2014/main" id="{AB376F42-9E11-3160-11FB-C0EB05B37AC7}"/>
              </a:ext>
            </a:extLst>
          </p:cNvPr>
          <p:cNvSpPr txBox="1"/>
          <p:nvPr/>
        </p:nvSpPr>
        <p:spPr>
          <a:xfrm>
            <a:off x="6176501" y="1150671"/>
            <a:ext cx="5938459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zh-CN" sz="1000" b="1" dirty="0">
                <a:latin typeface="Helvetica" pitchFamily="2" charset="0"/>
              </a:rPr>
              <a:t>Each SIMD lane represents one bit position and accumulates bits across all coefficients. </a:t>
            </a:r>
            <a:r>
              <a:rPr kumimoji="1" lang="en-US" altLang="zh-CN" sz="1000" b="1" dirty="0">
                <a:latin typeface="Helvetica" pitchFamily="2" charset="0"/>
              </a:rPr>
              <a:t>Computes multiple plane masks in parallel (e.g., 16 planes).</a:t>
            </a:r>
          </a:p>
        </p:txBody>
      </p:sp>
      <p:sp>
        <p:nvSpPr>
          <p:cNvPr id="463" name="圆角矩形 462">
            <a:extLst>
              <a:ext uri="{FF2B5EF4-FFF2-40B4-BE49-F238E27FC236}">
                <a16:creationId xmlns:a16="http://schemas.microsoft.com/office/drawing/2014/main" id="{DA0DB75F-AE97-A0B5-46BA-FB7AE5A8F060}"/>
              </a:ext>
            </a:extLst>
          </p:cNvPr>
          <p:cNvSpPr/>
          <p:nvPr/>
        </p:nvSpPr>
        <p:spPr>
          <a:xfrm>
            <a:off x="6240373" y="1613057"/>
            <a:ext cx="2446428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4" name="圆角矩形 463">
            <a:extLst>
              <a:ext uri="{FF2B5EF4-FFF2-40B4-BE49-F238E27FC236}">
                <a16:creationId xmlns:a16="http://schemas.microsoft.com/office/drawing/2014/main" id="{3E394B5B-E7D8-3607-43CB-FE77BCDDCF30}"/>
              </a:ext>
            </a:extLst>
          </p:cNvPr>
          <p:cNvSpPr/>
          <p:nvPr/>
        </p:nvSpPr>
        <p:spPr>
          <a:xfrm>
            <a:off x="6240371" y="1613057"/>
            <a:ext cx="2446430" cy="249644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F8F63E93-3588-D3F5-AD97-8EA8E4D4973E}"/>
              </a:ext>
            </a:extLst>
          </p:cNvPr>
          <p:cNvSpPr txBox="1"/>
          <p:nvPr/>
        </p:nvSpPr>
        <p:spPr>
          <a:xfrm>
            <a:off x="6240370" y="1617988"/>
            <a:ext cx="2396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1. Broadcast and extract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507" name="圆角矩形 506">
            <a:extLst>
              <a:ext uri="{FF2B5EF4-FFF2-40B4-BE49-F238E27FC236}">
                <a16:creationId xmlns:a16="http://schemas.microsoft.com/office/drawing/2014/main" id="{B88242CE-395E-40B1-D589-6A6794F66ECF}"/>
              </a:ext>
            </a:extLst>
          </p:cNvPr>
          <p:cNvSpPr/>
          <p:nvPr/>
        </p:nvSpPr>
        <p:spPr>
          <a:xfrm>
            <a:off x="8798499" y="1612208"/>
            <a:ext cx="3232501" cy="2217532"/>
          </a:xfrm>
          <a:prstGeom prst="roundRect">
            <a:avLst>
              <a:gd name="adj" fmla="val 2798"/>
            </a:avLst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8" name="圆角矩形 507">
            <a:extLst>
              <a:ext uri="{FF2B5EF4-FFF2-40B4-BE49-F238E27FC236}">
                <a16:creationId xmlns:a16="http://schemas.microsoft.com/office/drawing/2014/main" id="{40698090-CEFC-2487-9D43-76E58F13DCCC}"/>
              </a:ext>
            </a:extLst>
          </p:cNvPr>
          <p:cNvSpPr/>
          <p:nvPr/>
        </p:nvSpPr>
        <p:spPr>
          <a:xfrm>
            <a:off x="8798497" y="1612208"/>
            <a:ext cx="3232503" cy="249644"/>
          </a:xfrm>
          <a:prstGeom prst="roundRect">
            <a:avLst>
              <a:gd name="adj" fmla="val 279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9" name="文本框 508">
            <a:extLst>
              <a:ext uri="{FF2B5EF4-FFF2-40B4-BE49-F238E27FC236}">
                <a16:creationId xmlns:a16="http://schemas.microsoft.com/office/drawing/2014/main" id="{BEAC047C-15D9-D1BE-0B91-5E824A2916EF}"/>
              </a:ext>
            </a:extLst>
          </p:cNvPr>
          <p:cNvSpPr txBox="1"/>
          <p:nvPr/>
        </p:nvSpPr>
        <p:spPr>
          <a:xfrm>
            <a:off x="8798498" y="1617139"/>
            <a:ext cx="2720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dirty="0">
                <a:latin typeface="Helvetica" pitchFamily="2" charset="0"/>
              </a:rPr>
              <a:t>2. Accumulate 16 plane masks</a:t>
            </a:r>
            <a:endParaRPr kumimoji="1" lang="zh-CN" altLang="en-US" sz="1000" dirty="0">
              <a:latin typeface="Helvetica" pitchFamily="2" charset="0"/>
            </a:endParaRPr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FE9B49D9-55EC-768B-8669-B2FB627969F0}"/>
              </a:ext>
            </a:extLst>
          </p:cNvPr>
          <p:cNvSpPr/>
          <p:nvPr/>
        </p:nvSpPr>
        <p:spPr>
          <a:xfrm>
            <a:off x="7463620" y="2034168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文本框 510">
                <a:extLst>
                  <a:ext uri="{FF2B5EF4-FFF2-40B4-BE49-F238E27FC236}">
                    <a16:creationId xmlns:a16="http://schemas.microsoft.com/office/drawing/2014/main" id="{A83D6C2D-7284-42D3-9335-FEE5C9339DCD}"/>
                  </a:ext>
                </a:extLst>
              </p:cNvPr>
              <p:cNvSpPr txBox="1"/>
              <p:nvPr/>
            </p:nvSpPr>
            <p:spPr>
              <a:xfrm>
                <a:off x="6405456" y="2015234"/>
                <a:ext cx="109130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One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kumimoji="1" lang="zh-CN" altLang="en-US" sz="800" b="1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11" name="文本框 510">
                <a:extLst>
                  <a:ext uri="{FF2B5EF4-FFF2-40B4-BE49-F238E27FC236}">
                    <a16:creationId xmlns:a16="http://schemas.microsoft.com/office/drawing/2014/main" id="{A83D6C2D-7284-42D3-9335-FEE5C9339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456" y="2015234"/>
                <a:ext cx="1091301" cy="215444"/>
              </a:xfrm>
              <a:prstGeom prst="rect">
                <a:avLst/>
              </a:prstGeom>
              <a:blipFill>
                <a:blip r:embed="rId1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圆角矩形 511">
            <a:extLst>
              <a:ext uri="{FF2B5EF4-FFF2-40B4-BE49-F238E27FC236}">
                <a16:creationId xmlns:a16="http://schemas.microsoft.com/office/drawing/2014/main" id="{9B73BF77-6B4A-0F43-AACD-04277333B439}"/>
              </a:ext>
            </a:extLst>
          </p:cNvPr>
          <p:cNvSpPr/>
          <p:nvPr/>
        </p:nvSpPr>
        <p:spPr>
          <a:xfrm>
            <a:off x="6324289" y="2349721"/>
            <a:ext cx="1574148" cy="29772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Broadcast to all SIMD lanes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706A0329-63A6-EAFA-242A-2B1291245449}"/>
              </a:ext>
            </a:extLst>
          </p:cNvPr>
          <p:cNvSpPr/>
          <p:nvPr/>
        </p:nvSpPr>
        <p:spPr>
          <a:xfrm>
            <a:off x="6902451" y="2829647"/>
            <a:ext cx="414593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861641E5-5922-AABA-F872-3B25D965B12E}"/>
              </a:ext>
            </a:extLst>
          </p:cNvPr>
          <p:cNvSpPr/>
          <p:nvPr/>
        </p:nvSpPr>
        <p:spPr>
          <a:xfrm>
            <a:off x="7315791" y="282964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15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493EE5DC-D4BE-8EAA-2BD0-24EA07717017}"/>
              </a:ext>
            </a:extLst>
          </p:cNvPr>
          <p:cNvSpPr/>
          <p:nvPr/>
        </p:nvSpPr>
        <p:spPr>
          <a:xfrm>
            <a:off x="6343410" y="2829647"/>
            <a:ext cx="559041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chemeClr val="tx1"/>
                </a:solidFill>
                <a:latin typeface="Helvetica" pitchFamily="2" charset="0"/>
              </a:rPr>
              <a:t>lane 0</a:t>
            </a:r>
            <a:endParaRPr kumimoji="1" lang="zh-CN" altLang="en-US" sz="80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17" name="矩形 516">
            <a:extLst>
              <a:ext uri="{FF2B5EF4-FFF2-40B4-BE49-F238E27FC236}">
                <a16:creationId xmlns:a16="http://schemas.microsoft.com/office/drawing/2014/main" id="{892E0E25-74E2-FCC8-8238-565A6984464F}"/>
              </a:ext>
            </a:extLst>
          </p:cNvPr>
          <p:cNvSpPr/>
          <p:nvPr/>
        </p:nvSpPr>
        <p:spPr>
          <a:xfrm>
            <a:off x="3229338" y="3456972"/>
            <a:ext cx="644324" cy="347241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6" name="下箭头 515">
            <a:extLst>
              <a:ext uri="{FF2B5EF4-FFF2-40B4-BE49-F238E27FC236}">
                <a16:creationId xmlns:a16="http://schemas.microsoft.com/office/drawing/2014/main" id="{AC542C02-6060-FD3F-6613-8BC60BA83509}"/>
              </a:ext>
            </a:extLst>
          </p:cNvPr>
          <p:cNvSpPr/>
          <p:nvPr/>
        </p:nvSpPr>
        <p:spPr>
          <a:xfrm>
            <a:off x="7506394" y="2230420"/>
            <a:ext cx="92465" cy="10000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18" name="组合 517">
            <a:extLst>
              <a:ext uri="{FF2B5EF4-FFF2-40B4-BE49-F238E27FC236}">
                <a16:creationId xmlns:a16="http://schemas.microsoft.com/office/drawing/2014/main" id="{49A280A4-E47B-18E0-88A3-0B72C8241B28}"/>
              </a:ext>
            </a:extLst>
          </p:cNvPr>
          <p:cNvGrpSpPr/>
          <p:nvPr/>
        </p:nvGrpSpPr>
        <p:grpSpPr>
          <a:xfrm>
            <a:off x="3266330" y="3489484"/>
            <a:ext cx="569796" cy="180000"/>
            <a:chOff x="3206379" y="2740540"/>
            <a:chExt cx="569796" cy="180000"/>
          </a:xfrm>
          <a:solidFill>
            <a:schemeClr val="bg1">
              <a:lumMod val="85000"/>
            </a:schemeClr>
          </a:solidFill>
        </p:grpSpPr>
        <p:grpSp>
          <p:nvGrpSpPr>
            <p:cNvPr id="519" name="组合 518">
              <a:extLst>
                <a:ext uri="{FF2B5EF4-FFF2-40B4-BE49-F238E27FC236}">
                  <a16:creationId xmlns:a16="http://schemas.microsoft.com/office/drawing/2014/main" id="{FC15DC67-2307-5DFD-A569-A6D34C8CAA5A}"/>
                </a:ext>
              </a:extLst>
            </p:cNvPr>
            <p:cNvGrpSpPr/>
            <p:nvPr/>
          </p:nvGrpSpPr>
          <p:grpSpPr>
            <a:xfrm>
              <a:off x="3206379" y="2740540"/>
              <a:ext cx="384546" cy="180000"/>
              <a:chOff x="9052106" y="849130"/>
              <a:chExt cx="384546" cy="180000"/>
            </a:xfrm>
            <a:grpFill/>
          </p:grpSpPr>
          <p:sp>
            <p:nvSpPr>
              <p:cNvPr id="521" name="矩形 520">
                <a:extLst>
                  <a:ext uri="{FF2B5EF4-FFF2-40B4-BE49-F238E27FC236}">
                    <a16:creationId xmlns:a16="http://schemas.microsoft.com/office/drawing/2014/main" id="{6B503642-82C4-94B7-E681-C8BE89EF763E}"/>
                  </a:ext>
                </a:extLst>
              </p:cNvPr>
              <p:cNvSpPr/>
              <p:nvPr/>
            </p:nvSpPr>
            <p:spPr>
              <a:xfrm>
                <a:off x="9052106" y="849130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522" name="矩形 521">
                <a:extLst>
                  <a:ext uri="{FF2B5EF4-FFF2-40B4-BE49-F238E27FC236}">
                    <a16:creationId xmlns:a16="http://schemas.microsoft.com/office/drawing/2014/main" id="{105265E2-AA4D-46AB-2AB9-3A5CDF014DF1}"/>
                  </a:ext>
                </a:extLst>
              </p:cNvPr>
              <p:cNvSpPr/>
              <p:nvPr/>
            </p:nvSpPr>
            <p:spPr>
              <a:xfrm>
                <a:off x="9233521" y="849130"/>
                <a:ext cx="203131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0" name="矩形 519">
              <a:extLst>
                <a:ext uri="{FF2B5EF4-FFF2-40B4-BE49-F238E27FC236}">
                  <a16:creationId xmlns:a16="http://schemas.microsoft.com/office/drawing/2014/main" id="{85BFBAC4-F5A9-C6BA-A541-323A854BA487}"/>
                </a:ext>
              </a:extLst>
            </p:cNvPr>
            <p:cNvSpPr/>
            <p:nvPr/>
          </p:nvSpPr>
          <p:spPr>
            <a:xfrm>
              <a:off x="3596175" y="2740540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800" b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7365BAEB-0FCD-CE3A-171A-0CDE8E7140D0}"/>
                  </a:ext>
                </a:extLst>
              </p:cNvPr>
              <p:cNvSpPr txBox="1"/>
              <p:nvPr/>
            </p:nvSpPr>
            <p:spPr>
              <a:xfrm>
                <a:off x="3451438" y="3614728"/>
                <a:ext cx="295796" cy="225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7365BAEB-0FCD-CE3A-171A-0CDE8E714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438" y="3614728"/>
                <a:ext cx="295796" cy="22506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4" name="矩形 523">
            <a:extLst>
              <a:ext uri="{FF2B5EF4-FFF2-40B4-BE49-F238E27FC236}">
                <a16:creationId xmlns:a16="http://schemas.microsoft.com/office/drawing/2014/main" id="{3A7F5A9D-A03B-C76D-9E8B-FF0498506EE2}"/>
              </a:ext>
            </a:extLst>
          </p:cNvPr>
          <p:cNvSpPr/>
          <p:nvPr/>
        </p:nvSpPr>
        <p:spPr>
          <a:xfrm>
            <a:off x="5061623" y="3410323"/>
            <a:ext cx="644324" cy="347241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25" name="组合 524">
            <a:extLst>
              <a:ext uri="{FF2B5EF4-FFF2-40B4-BE49-F238E27FC236}">
                <a16:creationId xmlns:a16="http://schemas.microsoft.com/office/drawing/2014/main" id="{7CAFCF4A-092B-247D-FE19-B47267B2DA88}"/>
              </a:ext>
            </a:extLst>
          </p:cNvPr>
          <p:cNvGrpSpPr/>
          <p:nvPr/>
        </p:nvGrpSpPr>
        <p:grpSpPr>
          <a:xfrm>
            <a:off x="5098615" y="3442835"/>
            <a:ext cx="569796" cy="180000"/>
            <a:chOff x="3206379" y="2740540"/>
            <a:chExt cx="569796" cy="180000"/>
          </a:xfrm>
          <a:solidFill>
            <a:schemeClr val="bg1">
              <a:lumMod val="85000"/>
            </a:schemeClr>
          </a:solidFill>
        </p:grpSpPr>
        <p:grpSp>
          <p:nvGrpSpPr>
            <p:cNvPr id="526" name="组合 525">
              <a:extLst>
                <a:ext uri="{FF2B5EF4-FFF2-40B4-BE49-F238E27FC236}">
                  <a16:creationId xmlns:a16="http://schemas.microsoft.com/office/drawing/2014/main" id="{40427CDB-5E3F-F53C-ED95-AB6766BCD825}"/>
                </a:ext>
              </a:extLst>
            </p:cNvPr>
            <p:cNvGrpSpPr/>
            <p:nvPr/>
          </p:nvGrpSpPr>
          <p:grpSpPr>
            <a:xfrm>
              <a:off x="3206379" y="2740540"/>
              <a:ext cx="384546" cy="180000"/>
              <a:chOff x="9052106" y="849130"/>
              <a:chExt cx="384546" cy="180000"/>
            </a:xfrm>
            <a:grpFill/>
          </p:grpSpPr>
          <p:sp>
            <p:nvSpPr>
              <p:cNvPr id="528" name="矩形 527">
                <a:extLst>
                  <a:ext uri="{FF2B5EF4-FFF2-40B4-BE49-F238E27FC236}">
                    <a16:creationId xmlns:a16="http://schemas.microsoft.com/office/drawing/2014/main" id="{F6E0AF07-14EB-A1F1-CA9F-2E77C2EB7E6B}"/>
                  </a:ext>
                </a:extLst>
              </p:cNvPr>
              <p:cNvSpPr/>
              <p:nvPr/>
            </p:nvSpPr>
            <p:spPr>
              <a:xfrm>
                <a:off x="9052106" y="849130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529" name="矩形 528">
                <a:extLst>
                  <a:ext uri="{FF2B5EF4-FFF2-40B4-BE49-F238E27FC236}">
                    <a16:creationId xmlns:a16="http://schemas.microsoft.com/office/drawing/2014/main" id="{2CBA28D1-5016-FF48-CD91-C8FA87B745AB}"/>
                  </a:ext>
                </a:extLst>
              </p:cNvPr>
              <p:cNvSpPr/>
              <p:nvPr/>
            </p:nvSpPr>
            <p:spPr>
              <a:xfrm>
                <a:off x="9233521" y="849130"/>
                <a:ext cx="203131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7" name="矩形 526">
              <a:extLst>
                <a:ext uri="{FF2B5EF4-FFF2-40B4-BE49-F238E27FC236}">
                  <a16:creationId xmlns:a16="http://schemas.microsoft.com/office/drawing/2014/main" id="{7A4AFDF0-B125-428E-E198-948FE98A570A}"/>
                </a:ext>
              </a:extLst>
            </p:cNvPr>
            <p:cNvSpPr/>
            <p:nvPr/>
          </p:nvSpPr>
          <p:spPr>
            <a:xfrm>
              <a:off x="3596175" y="2740540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800" b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9791643B-62EA-29AD-BCD4-DD51D7C48852}"/>
                  </a:ext>
                </a:extLst>
              </p:cNvPr>
              <p:cNvSpPr txBox="1"/>
              <p:nvPr/>
            </p:nvSpPr>
            <p:spPr>
              <a:xfrm>
                <a:off x="5283723" y="3568079"/>
                <a:ext cx="295796" cy="225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9791643B-62EA-29AD-BCD4-DD51D7C48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723" y="3568079"/>
                <a:ext cx="295796" cy="22506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3" name="矩形 532">
            <a:extLst>
              <a:ext uri="{FF2B5EF4-FFF2-40B4-BE49-F238E27FC236}">
                <a16:creationId xmlns:a16="http://schemas.microsoft.com/office/drawing/2014/main" id="{2F52444D-E889-B6E3-C829-90206E274A53}"/>
              </a:ext>
            </a:extLst>
          </p:cNvPr>
          <p:cNvSpPr/>
          <p:nvPr/>
        </p:nvSpPr>
        <p:spPr>
          <a:xfrm>
            <a:off x="4391387" y="3408717"/>
            <a:ext cx="644324" cy="347241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34" name="组合 533">
            <a:extLst>
              <a:ext uri="{FF2B5EF4-FFF2-40B4-BE49-F238E27FC236}">
                <a16:creationId xmlns:a16="http://schemas.microsoft.com/office/drawing/2014/main" id="{520811E0-652A-7899-BD5B-788540EC1609}"/>
              </a:ext>
            </a:extLst>
          </p:cNvPr>
          <p:cNvGrpSpPr/>
          <p:nvPr/>
        </p:nvGrpSpPr>
        <p:grpSpPr>
          <a:xfrm>
            <a:off x="4428379" y="3441229"/>
            <a:ext cx="569796" cy="180000"/>
            <a:chOff x="3206379" y="2740540"/>
            <a:chExt cx="569796" cy="180000"/>
          </a:xfrm>
          <a:solidFill>
            <a:schemeClr val="bg1">
              <a:lumMod val="95000"/>
            </a:schemeClr>
          </a:solidFill>
        </p:grpSpPr>
        <p:grpSp>
          <p:nvGrpSpPr>
            <p:cNvPr id="535" name="组合 534">
              <a:extLst>
                <a:ext uri="{FF2B5EF4-FFF2-40B4-BE49-F238E27FC236}">
                  <a16:creationId xmlns:a16="http://schemas.microsoft.com/office/drawing/2014/main" id="{8C7FD2B1-1C89-47D0-C6B3-9B7A514CD516}"/>
                </a:ext>
              </a:extLst>
            </p:cNvPr>
            <p:cNvGrpSpPr/>
            <p:nvPr/>
          </p:nvGrpSpPr>
          <p:grpSpPr>
            <a:xfrm>
              <a:off x="3206379" y="2740540"/>
              <a:ext cx="384546" cy="180000"/>
              <a:chOff x="9052106" y="849130"/>
              <a:chExt cx="384546" cy="180000"/>
            </a:xfrm>
            <a:grpFill/>
          </p:grpSpPr>
          <p:sp>
            <p:nvSpPr>
              <p:cNvPr id="537" name="矩形 536">
                <a:extLst>
                  <a:ext uri="{FF2B5EF4-FFF2-40B4-BE49-F238E27FC236}">
                    <a16:creationId xmlns:a16="http://schemas.microsoft.com/office/drawing/2014/main" id="{BC99B464-2F1D-52D7-E2A7-1100B9D95611}"/>
                  </a:ext>
                </a:extLst>
              </p:cNvPr>
              <p:cNvSpPr/>
              <p:nvPr/>
            </p:nvSpPr>
            <p:spPr>
              <a:xfrm>
                <a:off x="9052106" y="849130"/>
                <a:ext cx="180000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538" name="矩形 537">
                <a:extLst>
                  <a:ext uri="{FF2B5EF4-FFF2-40B4-BE49-F238E27FC236}">
                    <a16:creationId xmlns:a16="http://schemas.microsoft.com/office/drawing/2014/main" id="{EAB0D077-C1DD-8FA1-0245-F5FB3468BB41}"/>
                  </a:ext>
                </a:extLst>
              </p:cNvPr>
              <p:cNvSpPr/>
              <p:nvPr/>
            </p:nvSpPr>
            <p:spPr>
              <a:xfrm>
                <a:off x="9233521" y="849130"/>
                <a:ext cx="203131" cy="1800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</a:rPr>
                  <a:t>…</a:t>
                </a:r>
                <a:endParaRPr kumimoji="1"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6" name="矩形 535">
              <a:extLst>
                <a:ext uri="{FF2B5EF4-FFF2-40B4-BE49-F238E27FC236}">
                  <a16:creationId xmlns:a16="http://schemas.microsoft.com/office/drawing/2014/main" id="{77B1344A-E9F3-C980-DA86-DDC248EC8658}"/>
                </a:ext>
              </a:extLst>
            </p:cNvPr>
            <p:cNvSpPr/>
            <p:nvPr/>
          </p:nvSpPr>
          <p:spPr>
            <a:xfrm>
              <a:off x="3596175" y="2740540"/>
              <a:ext cx="180000" cy="1800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800" b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C61E6033-D054-8CFE-60D2-843966736125}"/>
                  </a:ext>
                </a:extLst>
              </p:cNvPr>
              <p:cNvSpPr txBox="1"/>
              <p:nvPr/>
            </p:nvSpPr>
            <p:spPr>
              <a:xfrm>
                <a:off x="4565379" y="3565335"/>
                <a:ext cx="295796" cy="225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en-US" altLang="zh-CN" sz="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C61E6033-D054-8CFE-60D2-843966736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379" y="3565335"/>
                <a:ext cx="295796" cy="225062"/>
              </a:xfrm>
              <a:prstGeom prst="rect">
                <a:avLst/>
              </a:prstGeom>
              <a:blipFill>
                <a:blip r:embed="rId20"/>
                <a:stretch>
                  <a:fillRect l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0" name="下箭头 539">
            <a:extLst>
              <a:ext uri="{FF2B5EF4-FFF2-40B4-BE49-F238E27FC236}">
                <a16:creationId xmlns:a16="http://schemas.microsoft.com/office/drawing/2014/main" id="{014EF5D7-E6C3-D163-CA09-5E596984CA88}"/>
              </a:ext>
            </a:extLst>
          </p:cNvPr>
          <p:cNvSpPr/>
          <p:nvPr/>
        </p:nvSpPr>
        <p:spPr>
          <a:xfrm>
            <a:off x="6557643" y="2665301"/>
            <a:ext cx="101393" cy="14349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1" name="下箭头 540">
            <a:extLst>
              <a:ext uri="{FF2B5EF4-FFF2-40B4-BE49-F238E27FC236}">
                <a16:creationId xmlns:a16="http://schemas.microsoft.com/office/drawing/2014/main" id="{F67F05E0-1E94-BB9F-D05A-3840EBAD7C1A}"/>
              </a:ext>
            </a:extLst>
          </p:cNvPr>
          <p:cNvSpPr/>
          <p:nvPr/>
        </p:nvSpPr>
        <p:spPr>
          <a:xfrm>
            <a:off x="7547876" y="2665301"/>
            <a:ext cx="101393" cy="14349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2" name="矩形 541">
            <a:extLst>
              <a:ext uri="{FF2B5EF4-FFF2-40B4-BE49-F238E27FC236}">
                <a16:creationId xmlns:a16="http://schemas.microsoft.com/office/drawing/2014/main" id="{13248AE6-3B18-371E-94B1-D59996129031}"/>
              </a:ext>
            </a:extLst>
          </p:cNvPr>
          <p:cNvSpPr/>
          <p:nvPr/>
        </p:nvSpPr>
        <p:spPr>
          <a:xfrm>
            <a:off x="6902451" y="3566829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C68A7C20-AC27-D800-99F6-81962E4ABE4A}"/>
                  </a:ext>
                </a:extLst>
              </p:cNvPr>
              <p:cNvSpPr/>
              <p:nvPr/>
            </p:nvSpPr>
            <p:spPr>
              <a:xfrm>
                <a:off x="7315791" y="3566829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C68A7C20-AC27-D800-99F6-81962E4AB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791" y="3566829"/>
                <a:ext cx="559041" cy="180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4A872F49-4B11-F3E7-2E74-2F8ADC54FFE6}"/>
                  </a:ext>
                </a:extLst>
              </p:cNvPr>
              <p:cNvSpPr/>
              <p:nvPr/>
            </p:nvSpPr>
            <p:spPr>
              <a:xfrm>
                <a:off x="6343410" y="3566829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4A872F49-4B11-F3E7-2E74-2F8ADC54FF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410" y="3566829"/>
                <a:ext cx="559041" cy="180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5" name="下箭头 544">
            <a:extLst>
              <a:ext uri="{FF2B5EF4-FFF2-40B4-BE49-F238E27FC236}">
                <a16:creationId xmlns:a16="http://schemas.microsoft.com/office/drawing/2014/main" id="{44152319-AB8A-4BBA-65F5-4B8FD1D037AE}"/>
              </a:ext>
            </a:extLst>
          </p:cNvPr>
          <p:cNvSpPr/>
          <p:nvPr/>
        </p:nvSpPr>
        <p:spPr>
          <a:xfrm>
            <a:off x="6557643" y="341128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6" name="下箭头 545">
            <a:extLst>
              <a:ext uri="{FF2B5EF4-FFF2-40B4-BE49-F238E27FC236}">
                <a16:creationId xmlns:a16="http://schemas.microsoft.com/office/drawing/2014/main" id="{97D67A6A-ABDC-F66B-D079-2B31983CF06F}"/>
              </a:ext>
            </a:extLst>
          </p:cNvPr>
          <p:cNvSpPr/>
          <p:nvPr/>
        </p:nvSpPr>
        <p:spPr>
          <a:xfrm>
            <a:off x="7547876" y="3411279"/>
            <a:ext cx="112715" cy="12446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00347EEA-D680-CFB9-1FD4-F22874967D3E}"/>
              </a:ext>
            </a:extLst>
          </p:cNvPr>
          <p:cNvSpPr/>
          <p:nvPr/>
        </p:nvSpPr>
        <p:spPr>
          <a:xfrm>
            <a:off x="6902451" y="3198590"/>
            <a:ext cx="414593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12D8354D-0184-8736-91BC-B5A98C469E8F}"/>
              </a:ext>
            </a:extLst>
          </p:cNvPr>
          <p:cNvSpPr/>
          <p:nvPr/>
        </p:nvSpPr>
        <p:spPr>
          <a:xfrm>
            <a:off x="7315791" y="3198590"/>
            <a:ext cx="559041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1F0E2BAD-55B1-C4B8-FCDF-C88D7B20A62B}"/>
              </a:ext>
            </a:extLst>
          </p:cNvPr>
          <p:cNvSpPr/>
          <p:nvPr/>
        </p:nvSpPr>
        <p:spPr>
          <a:xfrm>
            <a:off x="6343410" y="3198590"/>
            <a:ext cx="559041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550" name="下箭头 549">
            <a:extLst>
              <a:ext uri="{FF2B5EF4-FFF2-40B4-BE49-F238E27FC236}">
                <a16:creationId xmlns:a16="http://schemas.microsoft.com/office/drawing/2014/main" id="{ADF64B5B-4506-D352-64CC-8119EA83FF12}"/>
              </a:ext>
            </a:extLst>
          </p:cNvPr>
          <p:cNvSpPr/>
          <p:nvPr/>
        </p:nvSpPr>
        <p:spPr>
          <a:xfrm>
            <a:off x="6557643" y="303631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1" name="下箭头 550">
            <a:extLst>
              <a:ext uri="{FF2B5EF4-FFF2-40B4-BE49-F238E27FC236}">
                <a16:creationId xmlns:a16="http://schemas.microsoft.com/office/drawing/2014/main" id="{0F6D80DC-D737-A4A0-7BD2-ABA8AF7DFE00}"/>
              </a:ext>
            </a:extLst>
          </p:cNvPr>
          <p:cNvSpPr/>
          <p:nvPr/>
        </p:nvSpPr>
        <p:spPr>
          <a:xfrm>
            <a:off x="7547876" y="3036310"/>
            <a:ext cx="112715" cy="12446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3" name="直角上箭头 552">
            <a:extLst>
              <a:ext uri="{FF2B5EF4-FFF2-40B4-BE49-F238E27FC236}">
                <a16:creationId xmlns:a16="http://schemas.microsoft.com/office/drawing/2014/main" id="{13CA31E5-8850-471E-1E7C-05EFFE1CBACC}"/>
              </a:ext>
            </a:extLst>
          </p:cNvPr>
          <p:cNvSpPr/>
          <p:nvPr/>
        </p:nvSpPr>
        <p:spPr>
          <a:xfrm>
            <a:off x="7940008" y="2900352"/>
            <a:ext cx="396063" cy="775467"/>
          </a:xfrm>
          <a:prstGeom prst="bentUpArrow">
            <a:avLst>
              <a:gd name="adj1" fmla="val 17841"/>
              <a:gd name="adj2" fmla="val 15081"/>
              <a:gd name="adj3" fmla="val 2367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4" name="直角上箭头 553">
            <a:extLst>
              <a:ext uri="{FF2B5EF4-FFF2-40B4-BE49-F238E27FC236}">
                <a16:creationId xmlns:a16="http://schemas.microsoft.com/office/drawing/2014/main" id="{6E263BDD-9412-525E-AC0E-DB89C3E8B265}"/>
              </a:ext>
            </a:extLst>
          </p:cNvPr>
          <p:cNvSpPr/>
          <p:nvPr/>
        </p:nvSpPr>
        <p:spPr>
          <a:xfrm rot="-5400000">
            <a:off x="7688498" y="2271307"/>
            <a:ext cx="801315" cy="456776"/>
          </a:xfrm>
          <a:prstGeom prst="bentUpArrow">
            <a:avLst>
              <a:gd name="adj1" fmla="val 17841"/>
              <a:gd name="adj2" fmla="val 15081"/>
              <a:gd name="adj3" fmla="val 23677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5" name="矩形 554">
            <a:extLst>
              <a:ext uri="{FF2B5EF4-FFF2-40B4-BE49-F238E27FC236}">
                <a16:creationId xmlns:a16="http://schemas.microsoft.com/office/drawing/2014/main" id="{21AAE029-7348-74B4-1A5B-5B3CD3339003}"/>
              </a:ext>
            </a:extLst>
          </p:cNvPr>
          <p:cNvSpPr/>
          <p:nvPr/>
        </p:nvSpPr>
        <p:spPr>
          <a:xfrm>
            <a:off x="7940008" y="2594535"/>
            <a:ext cx="690425" cy="575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A5389824-14A9-E16A-0D03-F13F1D47A49C}"/>
                  </a:ext>
                </a:extLst>
              </p:cNvPr>
              <p:cNvSpPr txBox="1"/>
              <p:nvPr/>
            </p:nvSpPr>
            <p:spPr>
              <a:xfrm>
                <a:off x="7752000" y="2579316"/>
                <a:ext cx="109130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Repeat</a:t>
                </a:r>
              </a:p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for all</a:t>
                </a:r>
              </a:p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16 coefficients</a:t>
                </a:r>
              </a:p>
              <a:p>
                <a:pPr algn="ctr"/>
                <a:r>
                  <a:rPr kumimoji="1" lang="en-US" altLang="zh-CN" sz="800" b="1" dirty="0">
                    <a:latin typeface="Helvetica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+15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)</a:t>
                </a:r>
                <a:endParaRPr kumimoji="1" lang="zh-CN" altLang="en-US" sz="800" b="1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A5389824-14A9-E16A-0D03-F13F1D47A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000" y="2579316"/>
                <a:ext cx="1091301" cy="584775"/>
              </a:xfrm>
              <a:prstGeom prst="rect">
                <a:avLst/>
              </a:prstGeom>
              <a:blipFill>
                <a:blip r:embed="rId23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6" name="文本框 555">
            <a:extLst>
              <a:ext uri="{FF2B5EF4-FFF2-40B4-BE49-F238E27FC236}">
                <a16:creationId xmlns:a16="http://schemas.microsoft.com/office/drawing/2014/main" id="{51C3305C-68E4-B8E6-B531-9B85FE8E4D39}"/>
              </a:ext>
            </a:extLst>
          </p:cNvPr>
          <p:cNvSpPr txBox="1"/>
          <p:nvPr/>
        </p:nvSpPr>
        <p:spPr>
          <a:xfrm>
            <a:off x="8777947" y="1859934"/>
            <a:ext cx="32775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800" b="1" dirty="0">
                <a:latin typeface="Helvetica" pitchFamily="2" charset="0"/>
              </a:rPr>
              <a:t>Each lane accumulates one bit position across all coefficients</a:t>
            </a:r>
            <a:r>
              <a:rPr kumimoji="1" lang="en-US" altLang="zh-CN" sz="800" b="1" dirty="0">
                <a:latin typeface="Helvetica" pitchFamily="2" charset="0"/>
              </a:rPr>
              <a:t>.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557" name="矩形 556">
            <a:extLst>
              <a:ext uri="{FF2B5EF4-FFF2-40B4-BE49-F238E27FC236}">
                <a16:creationId xmlns:a16="http://schemas.microsoft.com/office/drawing/2014/main" id="{641CE4D8-183C-E71D-C51D-AD059FBB389E}"/>
              </a:ext>
            </a:extLst>
          </p:cNvPr>
          <p:cNvSpPr/>
          <p:nvPr/>
        </p:nvSpPr>
        <p:spPr>
          <a:xfrm>
            <a:off x="9110651" y="2188120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1ABAFD77-3B0E-0894-5584-46EAB2212144}"/>
              </a:ext>
            </a:extLst>
          </p:cNvPr>
          <p:cNvSpPr/>
          <p:nvPr/>
        </p:nvSpPr>
        <p:spPr>
          <a:xfrm>
            <a:off x="10779474" y="2190932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9" name="矩形 558">
                <a:extLst>
                  <a:ext uri="{FF2B5EF4-FFF2-40B4-BE49-F238E27FC236}">
                    <a16:creationId xmlns:a16="http://schemas.microsoft.com/office/drawing/2014/main" id="{85B80231-B7CA-7929-D9E9-7937B6CCEA52}"/>
                  </a:ext>
                </a:extLst>
              </p:cNvPr>
              <p:cNvSpPr/>
              <p:nvPr/>
            </p:nvSpPr>
            <p:spPr>
              <a:xfrm>
                <a:off x="11192814" y="2190932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59" name="矩形 558">
                <a:extLst>
                  <a:ext uri="{FF2B5EF4-FFF2-40B4-BE49-F238E27FC236}">
                    <a16:creationId xmlns:a16="http://schemas.microsoft.com/office/drawing/2014/main" id="{85B80231-B7CA-7929-D9E9-7937B6CCE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814" y="2190932"/>
                <a:ext cx="559041" cy="180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0" name="矩形 559">
                <a:extLst>
                  <a:ext uri="{FF2B5EF4-FFF2-40B4-BE49-F238E27FC236}">
                    <a16:creationId xmlns:a16="http://schemas.microsoft.com/office/drawing/2014/main" id="{914E99CE-1456-E8B9-31D1-E1BA6586E8E2}"/>
                  </a:ext>
                </a:extLst>
              </p:cNvPr>
              <p:cNvSpPr/>
              <p:nvPr/>
            </p:nvSpPr>
            <p:spPr>
              <a:xfrm>
                <a:off x="10220433" y="2190932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0" name="矩形 559">
                <a:extLst>
                  <a:ext uri="{FF2B5EF4-FFF2-40B4-BE49-F238E27FC236}">
                    <a16:creationId xmlns:a16="http://schemas.microsoft.com/office/drawing/2014/main" id="{914E99CE-1456-E8B9-31D1-E1BA6586E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433" y="2190932"/>
                <a:ext cx="559041" cy="180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4" name="矩形 563">
                <a:extLst>
                  <a:ext uri="{FF2B5EF4-FFF2-40B4-BE49-F238E27FC236}">
                    <a16:creationId xmlns:a16="http://schemas.microsoft.com/office/drawing/2014/main" id="{BC98484F-04D8-E55C-39BC-BB84085B8B70}"/>
                  </a:ext>
                </a:extLst>
              </p:cNvPr>
              <p:cNvSpPr/>
              <p:nvPr/>
            </p:nvSpPr>
            <p:spPr>
              <a:xfrm>
                <a:off x="9660412" y="2191664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4" name="矩形 563">
                <a:extLst>
                  <a:ext uri="{FF2B5EF4-FFF2-40B4-BE49-F238E27FC236}">
                    <a16:creationId xmlns:a16="http://schemas.microsoft.com/office/drawing/2014/main" id="{BC98484F-04D8-E55C-39BC-BB84085B8B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12" y="2191664"/>
                <a:ext cx="559041" cy="180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5" name="矩形 564">
            <a:extLst>
              <a:ext uri="{FF2B5EF4-FFF2-40B4-BE49-F238E27FC236}">
                <a16:creationId xmlns:a16="http://schemas.microsoft.com/office/drawing/2014/main" id="{AADC79D4-6F58-6618-EAFD-CF8FF236660E}"/>
              </a:ext>
            </a:extLst>
          </p:cNvPr>
          <p:cNvSpPr/>
          <p:nvPr/>
        </p:nvSpPr>
        <p:spPr>
          <a:xfrm>
            <a:off x="10779474" y="2455970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54B6B30C-1054-A0AB-BF3F-7A585A58E671}"/>
                  </a:ext>
                </a:extLst>
              </p:cNvPr>
              <p:cNvSpPr/>
              <p:nvPr/>
            </p:nvSpPr>
            <p:spPr>
              <a:xfrm>
                <a:off x="11192814" y="24559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54B6B30C-1054-A0AB-BF3F-7A585A58E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814" y="2455970"/>
                <a:ext cx="559041" cy="18000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7" name="矩形 566">
                <a:extLst>
                  <a:ext uri="{FF2B5EF4-FFF2-40B4-BE49-F238E27FC236}">
                    <a16:creationId xmlns:a16="http://schemas.microsoft.com/office/drawing/2014/main" id="{A4A7A0DE-AEEB-5CAE-6897-992FC5C4CD7C}"/>
                  </a:ext>
                </a:extLst>
              </p:cNvPr>
              <p:cNvSpPr/>
              <p:nvPr/>
            </p:nvSpPr>
            <p:spPr>
              <a:xfrm>
                <a:off x="10220433" y="24559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7" name="矩形 566">
                <a:extLst>
                  <a:ext uri="{FF2B5EF4-FFF2-40B4-BE49-F238E27FC236}">
                    <a16:creationId xmlns:a16="http://schemas.microsoft.com/office/drawing/2014/main" id="{A4A7A0DE-AEEB-5CAE-6897-992FC5C4CD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433" y="2455970"/>
                <a:ext cx="559041" cy="18000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8" name="矩形 567">
                <a:extLst>
                  <a:ext uri="{FF2B5EF4-FFF2-40B4-BE49-F238E27FC236}">
                    <a16:creationId xmlns:a16="http://schemas.microsoft.com/office/drawing/2014/main" id="{5B8F788F-B48B-7FA4-40C7-B6271B5EFE7B}"/>
                  </a:ext>
                </a:extLst>
              </p:cNvPr>
              <p:cNvSpPr/>
              <p:nvPr/>
            </p:nvSpPr>
            <p:spPr>
              <a:xfrm>
                <a:off x="9660412" y="24565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68" name="矩形 567">
                <a:extLst>
                  <a:ext uri="{FF2B5EF4-FFF2-40B4-BE49-F238E27FC236}">
                    <a16:creationId xmlns:a16="http://schemas.microsoft.com/office/drawing/2014/main" id="{5B8F788F-B48B-7FA4-40C7-B6271B5EFE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12" y="2456570"/>
                <a:ext cx="559041" cy="1800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9" name="矩形 568">
            <a:extLst>
              <a:ext uri="{FF2B5EF4-FFF2-40B4-BE49-F238E27FC236}">
                <a16:creationId xmlns:a16="http://schemas.microsoft.com/office/drawing/2014/main" id="{67899AC1-265B-2357-AFC1-80340508EAF0}"/>
              </a:ext>
            </a:extLst>
          </p:cNvPr>
          <p:cNvSpPr/>
          <p:nvPr/>
        </p:nvSpPr>
        <p:spPr>
          <a:xfrm>
            <a:off x="10779474" y="2889738"/>
            <a:ext cx="414593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0" name="矩形 569">
                <a:extLst>
                  <a:ext uri="{FF2B5EF4-FFF2-40B4-BE49-F238E27FC236}">
                    <a16:creationId xmlns:a16="http://schemas.microsoft.com/office/drawing/2014/main" id="{EE693031-8517-1B6F-B308-AB5F68A41874}"/>
                  </a:ext>
                </a:extLst>
              </p:cNvPr>
              <p:cNvSpPr/>
              <p:nvPr/>
            </p:nvSpPr>
            <p:spPr>
              <a:xfrm>
                <a:off x="11192814" y="2889738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70" name="矩形 569">
                <a:extLst>
                  <a:ext uri="{FF2B5EF4-FFF2-40B4-BE49-F238E27FC236}">
                    <a16:creationId xmlns:a16="http://schemas.microsoft.com/office/drawing/2014/main" id="{EE693031-8517-1B6F-B308-AB5F68A41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814" y="2889738"/>
                <a:ext cx="559041" cy="18000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1" name="矩形 570">
                <a:extLst>
                  <a:ext uri="{FF2B5EF4-FFF2-40B4-BE49-F238E27FC236}">
                    <a16:creationId xmlns:a16="http://schemas.microsoft.com/office/drawing/2014/main" id="{D793D08C-3B7E-AB58-A2CE-BE07554C6EFE}"/>
                  </a:ext>
                </a:extLst>
              </p:cNvPr>
              <p:cNvSpPr/>
              <p:nvPr/>
            </p:nvSpPr>
            <p:spPr>
              <a:xfrm>
                <a:off x="10220433" y="2889738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71" name="矩形 570">
                <a:extLst>
                  <a:ext uri="{FF2B5EF4-FFF2-40B4-BE49-F238E27FC236}">
                    <a16:creationId xmlns:a16="http://schemas.microsoft.com/office/drawing/2014/main" id="{D793D08C-3B7E-AB58-A2CE-BE07554C6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433" y="2889738"/>
                <a:ext cx="559041" cy="18000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2" name="矩形 571">
                <a:extLst>
                  <a:ext uri="{FF2B5EF4-FFF2-40B4-BE49-F238E27FC236}">
                    <a16:creationId xmlns:a16="http://schemas.microsoft.com/office/drawing/2014/main" id="{0F755B64-1935-EFBB-45F7-24F953559B99}"/>
                  </a:ext>
                </a:extLst>
              </p:cNvPr>
              <p:cNvSpPr/>
              <p:nvPr/>
            </p:nvSpPr>
            <p:spPr>
              <a:xfrm>
                <a:off x="9660412" y="2890470"/>
                <a:ext cx="559041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72" name="矩形 571">
                <a:extLst>
                  <a:ext uri="{FF2B5EF4-FFF2-40B4-BE49-F238E27FC236}">
                    <a16:creationId xmlns:a16="http://schemas.microsoft.com/office/drawing/2014/main" id="{0F755B64-1935-EFBB-45F7-24F953559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12" y="2890470"/>
                <a:ext cx="559041" cy="18000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7" name="矩形 576">
            <a:extLst>
              <a:ext uri="{FF2B5EF4-FFF2-40B4-BE49-F238E27FC236}">
                <a16:creationId xmlns:a16="http://schemas.microsoft.com/office/drawing/2014/main" id="{9D2DBFA2-5FB6-55A3-1193-FAC76E8953B1}"/>
              </a:ext>
            </a:extLst>
          </p:cNvPr>
          <p:cNvSpPr/>
          <p:nvPr/>
        </p:nvSpPr>
        <p:spPr>
          <a:xfrm>
            <a:off x="9110651" y="2459587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8" name="矩形 577">
            <a:extLst>
              <a:ext uri="{FF2B5EF4-FFF2-40B4-BE49-F238E27FC236}">
                <a16:creationId xmlns:a16="http://schemas.microsoft.com/office/drawing/2014/main" id="{4405DD34-1A96-5C31-04A5-DEA9BD9145D2}"/>
              </a:ext>
            </a:extLst>
          </p:cNvPr>
          <p:cNvSpPr/>
          <p:nvPr/>
        </p:nvSpPr>
        <p:spPr>
          <a:xfrm>
            <a:off x="9110651" y="2897567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0" name="文本框 579">
            <a:extLst>
              <a:ext uri="{FF2B5EF4-FFF2-40B4-BE49-F238E27FC236}">
                <a16:creationId xmlns:a16="http://schemas.microsoft.com/office/drawing/2014/main" id="{C14902E1-1EAF-0B20-9053-2508B3F1D11B}"/>
              </a:ext>
            </a:extLst>
          </p:cNvPr>
          <p:cNvSpPr txBox="1"/>
          <p:nvPr/>
        </p:nvSpPr>
        <p:spPr>
          <a:xfrm>
            <a:off x="8958237" y="2586436"/>
            <a:ext cx="47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</a:rPr>
              <a:t>…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581" name="文本框 580">
            <a:extLst>
              <a:ext uri="{FF2B5EF4-FFF2-40B4-BE49-F238E27FC236}">
                <a16:creationId xmlns:a16="http://schemas.microsoft.com/office/drawing/2014/main" id="{337D05D0-D53E-1DD4-E017-9769701B30DF}"/>
              </a:ext>
            </a:extLst>
          </p:cNvPr>
          <p:cNvSpPr txBox="1"/>
          <p:nvPr/>
        </p:nvSpPr>
        <p:spPr>
          <a:xfrm>
            <a:off x="10542293" y="2585974"/>
            <a:ext cx="47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</a:rPr>
              <a:t>…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" name="文本框 582">
                <a:extLst>
                  <a:ext uri="{FF2B5EF4-FFF2-40B4-BE49-F238E27FC236}">
                    <a16:creationId xmlns:a16="http://schemas.microsoft.com/office/drawing/2014/main" id="{99D7273E-0E41-7E23-ECFB-AA8A6BA684A9}"/>
                  </a:ext>
                </a:extLst>
              </p:cNvPr>
              <p:cNvSpPr txBox="1"/>
              <p:nvPr/>
            </p:nvSpPr>
            <p:spPr>
              <a:xfrm>
                <a:off x="8858800" y="2146041"/>
                <a:ext cx="2785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583" name="文本框 582">
                <a:extLst>
                  <a:ext uri="{FF2B5EF4-FFF2-40B4-BE49-F238E27FC236}">
                    <a16:creationId xmlns:a16="http://schemas.microsoft.com/office/drawing/2014/main" id="{99D7273E-0E41-7E23-ECFB-AA8A6BA68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800" y="2146041"/>
                <a:ext cx="278538" cy="21544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6" name="文本框 585">
                <a:extLst>
                  <a:ext uri="{FF2B5EF4-FFF2-40B4-BE49-F238E27FC236}">
                    <a16:creationId xmlns:a16="http://schemas.microsoft.com/office/drawing/2014/main" id="{FF60E458-142B-EEB8-16FA-BF8D0922FC0C}"/>
                  </a:ext>
                </a:extLst>
              </p:cNvPr>
              <p:cNvSpPr txBox="1"/>
              <p:nvPr/>
            </p:nvSpPr>
            <p:spPr>
              <a:xfrm>
                <a:off x="8799507" y="2404389"/>
                <a:ext cx="2785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586" name="文本框 585">
                <a:extLst>
                  <a:ext uri="{FF2B5EF4-FFF2-40B4-BE49-F238E27FC236}">
                    <a16:creationId xmlns:a16="http://schemas.microsoft.com/office/drawing/2014/main" id="{FF60E458-142B-EEB8-16FA-BF8D0922F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507" y="2404389"/>
                <a:ext cx="278538" cy="215444"/>
              </a:xfrm>
              <a:prstGeom prst="rect">
                <a:avLst/>
              </a:prstGeom>
              <a:blipFill>
                <a:blip r:embed="rId34"/>
                <a:stretch>
                  <a:fillRect r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7" name="文本框 586">
                <a:extLst>
                  <a:ext uri="{FF2B5EF4-FFF2-40B4-BE49-F238E27FC236}">
                    <a16:creationId xmlns:a16="http://schemas.microsoft.com/office/drawing/2014/main" id="{98C84E78-4252-B836-E5E3-28293BF17345}"/>
                  </a:ext>
                </a:extLst>
              </p:cNvPr>
              <p:cNvSpPr txBox="1"/>
              <p:nvPr/>
            </p:nvSpPr>
            <p:spPr>
              <a:xfrm>
                <a:off x="8744018" y="2848046"/>
                <a:ext cx="27853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+15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587" name="文本框 586">
                <a:extLst>
                  <a:ext uri="{FF2B5EF4-FFF2-40B4-BE49-F238E27FC236}">
                    <a16:creationId xmlns:a16="http://schemas.microsoft.com/office/drawing/2014/main" id="{98C84E78-4252-B836-E5E3-28293BF17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4018" y="2848046"/>
                <a:ext cx="278538" cy="215444"/>
              </a:xfrm>
              <a:prstGeom prst="rect">
                <a:avLst/>
              </a:prstGeom>
              <a:blipFill>
                <a:blip r:embed="rId35"/>
                <a:stretch>
                  <a:fillRect r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8" name="右箭头 587">
            <a:extLst>
              <a:ext uri="{FF2B5EF4-FFF2-40B4-BE49-F238E27FC236}">
                <a16:creationId xmlns:a16="http://schemas.microsoft.com/office/drawing/2014/main" id="{060D1F5C-C2ED-1019-5772-204E4008C77A}"/>
              </a:ext>
            </a:extLst>
          </p:cNvPr>
          <p:cNvSpPr/>
          <p:nvPr/>
        </p:nvSpPr>
        <p:spPr>
          <a:xfrm>
            <a:off x="9353320" y="2247858"/>
            <a:ext cx="268689" cy="741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9" name="右箭头 588">
            <a:extLst>
              <a:ext uri="{FF2B5EF4-FFF2-40B4-BE49-F238E27FC236}">
                <a16:creationId xmlns:a16="http://schemas.microsoft.com/office/drawing/2014/main" id="{2326C82A-474D-EF5A-F41E-764AC0CBE9A4}"/>
              </a:ext>
            </a:extLst>
          </p:cNvPr>
          <p:cNvSpPr/>
          <p:nvPr/>
        </p:nvSpPr>
        <p:spPr>
          <a:xfrm>
            <a:off x="9353320" y="2506485"/>
            <a:ext cx="268689" cy="741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0" name="右箭头 589">
            <a:extLst>
              <a:ext uri="{FF2B5EF4-FFF2-40B4-BE49-F238E27FC236}">
                <a16:creationId xmlns:a16="http://schemas.microsoft.com/office/drawing/2014/main" id="{0C2F5CFE-8507-2595-6D3A-59E661851A81}"/>
              </a:ext>
            </a:extLst>
          </p:cNvPr>
          <p:cNvSpPr/>
          <p:nvPr/>
        </p:nvSpPr>
        <p:spPr>
          <a:xfrm>
            <a:off x="9348573" y="2955768"/>
            <a:ext cx="268689" cy="7414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1" name="圆角矩形 590">
            <a:extLst>
              <a:ext uri="{FF2B5EF4-FFF2-40B4-BE49-F238E27FC236}">
                <a16:creationId xmlns:a16="http://schemas.microsoft.com/office/drawing/2014/main" id="{488E7CAE-05FA-D9CE-2826-28FFBA62916E}"/>
              </a:ext>
            </a:extLst>
          </p:cNvPr>
          <p:cNvSpPr/>
          <p:nvPr/>
        </p:nvSpPr>
        <p:spPr>
          <a:xfrm>
            <a:off x="9627675" y="2148483"/>
            <a:ext cx="620070" cy="979548"/>
          </a:xfrm>
          <a:prstGeom prst="round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2" name="圆角矩形 591">
            <a:extLst>
              <a:ext uri="{FF2B5EF4-FFF2-40B4-BE49-F238E27FC236}">
                <a16:creationId xmlns:a16="http://schemas.microsoft.com/office/drawing/2014/main" id="{78DBA49E-EA15-F98E-77BE-DD4942FFBAA2}"/>
              </a:ext>
            </a:extLst>
          </p:cNvPr>
          <p:cNvSpPr/>
          <p:nvPr/>
        </p:nvSpPr>
        <p:spPr>
          <a:xfrm>
            <a:off x="11160752" y="2148483"/>
            <a:ext cx="620070" cy="979548"/>
          </a:xfrm>
          <a:prstGeom prst="round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3" name="矩形 592">
            <a:extLst>
              <a:ext uri="{FF2B5EF4-FFF2-40B4-BE49-F238E27FC236}">
                <a16:creationId xmlns:a16="http://schemas.microsoft.com/office/drawing/2014/main" id="{4B7CBE97-E085-8A6C-EE3F-0F3C5833B1C8}"/>
              </a:ext>
            </a:extLst>
          </p:cNvPr>
          <p:cNvSpPr/>
          <p:nvPr/>
        </p:nvSpPr>
        <p:spPr>
          <a:xfrm>
            <a:off x="10765305" y="3406724"/>
            <a:ext cx="414593" cy="180000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4" name="矩形 593">
                <a:extLst>
                  <a:ext uri="{FF2B5EF4-FFF2-40B4-BE49-F238E27FC236}">
                    <a16:creationId xmlns:a16="http://schemas.microsoft.com/office/drawing/2014/main" id="{DB4DD862-27E9-35AF-D0C9-BF3EEC8F77CE}"/>
                  </a:ext>
                </a:extLst>
              </p:cNvPr>
              <p:cNvSpPr/>
              <p:nvPr/>
            </p:nvSpPr>
            <p:spPr>
              <a:xfrm>
                <a:off x="11178645" y="3406724"/>
                <a:ext cx="559041" cy="180000"/>
              </a:xfrm>
              <a:prstGeom prst="rect">
                <a:avLst/>
              </a:prstGeom>
              <a:solidFill>
                <a:srgbClr val="FFA1A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94" name="矩形 593">
                <a:extLst>
                  <a:ext uri="{FF2B5EF4-FFF2-40B4-BE49-F238E27FC236}">
                    <a16:creationId xmlns:a16="http://schemas.microsoft.com/office/drawing/2014/main" id="{DB4DD862-27E9-35AF-D0C9-BF3EEC8F7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8645" y="3406724"/>
                <a:ext cx="559041" cy="18000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5" name="矩形 594">
                <a:extLst>
                  <a:ext uri="{FF2B5EF4-FFF2-40B4-BE49-F238E27FC236}">
                    <a16:creationId xmlns:a16="http://schemas.microsoft.com/office/drawing/2014/main" id="{B5CAF1E7-478D-732F-133C-9EE5B834E946}"/>
                  </a:ext>
                </a:extLst>
              </p:cNvPr>
              <p:cNvSpPr/>
              <p:nvPr/>
            </p:nvSpPr>
            <p:spPr>
              <a:xfrm>
                <a:off x="10206264" y="3406724"/>
                <a:ext cx="559041" cy="180000"/>
              </a:xfrm>
              <a:prstGeom prst="rect">
                <a:avLst/>
              </a:prstGeom>
              <a:solidFill>
                <a:srgbClr val="FFA1A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95" name="矩形 594">
                <a:extLst>
                  <a:ext uri="{FF2B5EF4-FFF2-40B4-BE49-F238E27FC236}">
                    <a16:creationId xmlns:a16="http://schemas.microsoft.com/office/drawing/2014/main" id="{B5CAF1E7-478D-732F-133C-9EE5B834E9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264" y="3406724"/>
                <a:ext cx="559041" cy="18000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6" name="矩形 595">
                <a:extLst>
                  <a:ext uri="{FF2B5EF4-FFF2-40B4-BE49-F238E27FC236}">
                    <a16:creationId xmlns:a16="http://schemas.microsoft.com/office/drawing/2014/main" id="{691E60C8-FB59-BC9A-63E2-02A757932285}"/>
                  </a:ext>
                </a:extLst>
              </p:cNvPr>
              <p:cNvSpPr/>
              <p:nvPr/>
            </p:nvSpPr>
            <p:spPr>
              <a:xfrm>
                <a:off x="9646243" y="3407456"/>
                <a:ext cx="559041" cy="180000"/>
              </a:xfrm>
              <a:prstGeom prst="rect">
                <a:avLst/>
              </a:prstGeom>
              <a:solidFill>
                <a:srgbClr val="FFA1A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+15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96" name="矩形 595">
                <a:extLst>
                  <a:ext uri="{FF2B5EF4-FFF2-40B4-BE49-F238E27FC236}">
                    <a16:creationId xmlns:a16="http://schemas.microsoft.com/office/drawing/2014/main" id="{691E60C8-FB59-BC9A-63E2-02A757932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243" y="3407456"/>
                <a:ext cx="559041" cy="18000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7" name="下箭头 596">
            <a:extLst>
              <a:ext uri="{FF2B5EF4-FFF2-40B4-BE49-F238E27FC236}">
                <a16:creationId xmlns:a16="http://schemas.microsoft.com/office/drawing/2014/main" id="{19012B04-B3D9-0D2F-3BB6-9FD128E2B0B5}"/>
              </a:ext>
            </a:extLst>
          </p:cNvPr>
          <p:cNvSpPr/>
          <p:nvPr/>
        </p:nvSpPr>
        <p:spPr>
          <a:xfrm>
            <a:off x="9862797" y="3147263"/>
            <a:ext cx="112715" cy="24709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8" name="下箭头 597">
            <a:extLst>
              <a:ext uri="{FF2B5EF4-FFF2-40B4-BE49-F238E27FC236}">
                <a16:creationId xmlns:a16="http://schemas.microsoft.com/office/drawing/2014/main" id="{90BE9A46-108E-8B8E-88DA-1D25C130CED5}"/>
              </a:ext>
            </a:extLst>
          </p:cNvPr>
          <p:cNvSpPr/>
          <p:nvPr/>
        </p:nvSpPr>
        <p:spPr>
          <a:xfrm>
            <a:off x="11403011" y="3147692"/>
            <a:ext cx="112715" cy="24709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9" name="文本框 598">
            <a:extLst>
              <a:ext uri="{FF2B5EF4-FFF2-40B4-BE49-F238E27FC236}">
                <a16:creationId xmlns:a16="http://schemas.microsoft.com/office/drawing/2014/main" id="{FEF374EB-727A-8F48-ECF4-2A8905F3CF50}"/>
              </a:ext>
            </a:extLst>
          </p:cNvPr>
          <p:cNvSpPr txBox="1"/>
          <p:nvPr/>
        </p:nvSpPr>
        <p:spPr>
          <a:xfrm>
            <a:off x="9502441" y="3596155"/>
            <a:ext cx="24201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16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lanes</a:t>
            </a:r>
            <a:r>
              <a:rPr kumimoji="1" lang="zh-CN" altLang="en-US" sz="800" dirty="0">
                <a:latin typeface="Helvetica" pitchFamily="2" charset="0"/>
              </a:rPr>
              <a:t> </a:t>
            </a:r>
            <a:r>
              <a:rPr kumimoji="1" lang="en-US" altLang="zh-CN" sz="800" dirty="0">
                <a:latin typeface="Helvetica" pitchFamily="2" charset="0"/>
              </a:rPr>
              <a:t>maintain 16 plane masks</a:t>
            </a:r>
            <a:endParaRPr kumimoji="1" lang="zh-CN" altLang="en-US" sz="800" dirty="0">
              <a:latin typeface="Helvetica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2" name="文本框 601">
                <a:extLst>
                  <a:ext uri="{FF2B5EF4-FFF2-40B4-BE49-F238E27FC236}">
                    <a16:creationId xmlns:a16="http://schemas.microsoft.com/office/drawing/2014/main" id="{8A346C41-570A-4A56-74D6-602844BF5E21}"/>
                  </a:ext>
                </a:extLst>
              </p:cNvPr>
              <p:cNvSpPr txBox="1"/>
              <p:nvPr/>
            </p:nvSpPr>
            <p:spPr>
              <a:xfrm>
                <a:off x="9720622" y="119360"/>
                <a:ext cx="2466263" cy="606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  : </a:t>
                </a:r>
                <a:r>
                  <a:rPr kumimoji="1" lang="en-US" altLang="zh-CN" sz="8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800" b="1" dirty="0" err="1">
                    <a:latin typeface="Helvetica" pitchFamily="2" charset="0"/>
                  </a:rPr>
                  <a:t>-th</a:t>
                </a:r>
                <a:r>
                  <a:rPr kumimoji="1" lang="en-US" altLang="zh-CN" sz="800" b="1" dirty="0">
                    <a:latin typeface="Helvetica" pitchFamily="2" charset="0"/>
                  </a:rPr>
                  <a:t> transformed coefficient in a ZFP block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: </a:t>
                </a:r>
                <a:r>
                  <a:rPr kumimoji="1" lang="en-US" altLang="zh-CN" sz="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CN" sz="800" b="1" dirty="0">
                    <a:latin typeface="Helvetica" pitchFamily="2" charset="0"/>
                  </a:rPr>
                  <a:t>-</a:t>
                </a:r>
                <a:r>
                  <a:rPr kumimoji="1" lang="en-US" altLang="zh-CN" sz="800" b="1" dirty="0" err="1">
                    <a:latin typeface="Helvetica" pitchFamily="2" charset="0"/>
                  </a:rPr>
                  <a:t>th</a:t>
                </a:r>
                <a:r>
                  <a:rPr kumimoji="1" lang="en-US" altLang="zh-CN" sz="800" b="1" dirty="0">
                    <a:latin typeface="Helvetica" pitchFamily="2" charset="0"/>
                  </a:rPr>
                  <a:t> bit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kumimoji="1" lang="en-US" altLang="zh-CN" sz="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(0 or 1)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kumimoji="1" lang="en-US" altLang="zh-CN" sz="8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kumimoji="1" lang="en-US" altLang="zh-CN" sz="800" b="1" dirty="0">
                    <a:latin typeface="Helvetica" pitchFamily="2" charset="0"/>
                  </a:rPr>
                  <a:t> : 16-bit mask formed by the </a:t>
                </a:r>
                <a:r>
                  <a:rPr kumimoji="1" lang="en-US" altLang="zh-CN" sz="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CN" sz="800" b="1" dirty="0">
                    <a:latin typeface="Helvetica" pitchFamily="2" charset="0"/>
                  </a:rPr>
                  <a:t>-</a:t>
                </a:r>
                <a:r>
                  <a:rPr kumimoji="1" lang="en-US" altLang="zh-CN" sz="800" b="1" dirty="0" err="1">
                    <a:latin typeface="Helvetica" pitchFamily="2" charset="0"/>
                  </a:rPr>
                  <a:t>th</a:t>
                </a:r>
                <a:r>
                  <a:rPr kumimoji="1" lang="en-US" altLang="zh-CN" sz="800" b="1" dirty="0">
                    <a:latin typeface="Helvetica" pitchFamily="2" charset="0"/>
                  </a:rPr>
                  <a:t> bits of 16</a:t>
                </a:r>
              </a:p>
              <a:p>
                <a:pPr/>
                <a:r>
                  <a:rPr kumimoji="1" lang="en-US" altLang="zh-CN" sz="800" b="1" dirty="0">
                    <a:latin typeface="Helvetica" pitchFamily="2" charset="0"/>
                  </a:rPr>
                  <a:t>        coefficients</a:t>
                </a:r>
              </a:p>
            </p:txBody>
          </p:sp>
        </mc:Choice>
        <mc:Fallback>
          <p:sp>
            <p:nvSpPr>
              <p:cNvPr id="602" name="文本框 601">
                <a:extLst>
                  <a:ext uri="{FF2B5EF4-FFF2-40B4-BE49-F238E27FC236}">
                    <a16:creationId xmlns:a16="http://schemas.microsoft.com/office/drawing/2014/main" id="{8A346C41-570A-4A56-74D6-602844BF5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622" y="119360"/>
                <a:ext cx="2466263" cy="606961"/>
              </a:xfrm>
              <a:prstGeom prst="rect">
                <a:avLst/>
              </a:prstGeom>
              <a:blipFill>
                <a:blip r:embed="rId39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" name="圆角矩形 603">
            <a:extLst>
              <a:ext uri="{FF2B5EF4-FFF2-40B4-BE49-F238E27FC236}">
                <a16:creationId xmlns:a16="http://schemas.microsoft.com/office/drawing/2014/main" id="{3FE8F408-9E97-EAB0-E22E-636BF59CEC5E}"/>
              </a:ext>
            </a:extLst>
          </p:cNvPr>
          <p:cNvSpPr/>
          <p:nvPr/>
        </p:nvSpPr>
        <p:spPr>
          <a:xfrm>
            <a:off x="73101" y="5972687"/>
            <a:ext cx="12046527" cy="3681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5" name="立方体 604">
            <a:extLst>
              <a:ext uri="{FF2B5EF4-FFF2-40B4-BE49-F238E27FC236}">
                <a16:creationId xmlns:a16="http://schemas.microsoft.com/office/drawing/2014/main" id="{E5E00C5C-9DCA-37C5-D2A0-83175DA9C25E}"/>
              </a:ext>
            </a:extLst>
          </p:cNvPr>
          <p:cNvSpPr/>
          <p:nvPr/>
        </p:nvSpPr>
        <p:spPr>
          <a:xfrm>
            <a:off x="336223" y="6035651"/>
            <a:ext cx="221482" cy="221482"/>
          </a:xfrm>
          <a:prstGeom prst="cub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06" name="文本框 605">
            <a:extLst>
              <a:ext uri="{FF2B5EF4-FFF2-40B4-BE49-F238E27FC236}">
                <a16:creationId xmlns:a16="http://schemas.microsoft.com/office/drawing/2014/main" id="{4ADB0A9C-6570-90F7-1CB6-7C08BD7A17BE}"/>
              </a:ext>
            </a:extLst>
          </p:cNvPr>
          <p:cNvSpPr txBox="1"/>
          <p:nvPr/>
        </p:nvSpPr>
        <p:spPr>
          <a:xfrm>
            <a:off x="542616" y="6035651"/>
            <a:ext cx="14229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A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ZFP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block</a:t>
            </a:r>
            <a:r>
              <a:rPr kumimoji="1" lang="zh-CN" altLang="en-US" sz="800" b="1" dirty="0">
                <a:latin typeface="Helvetica" pitchFamily="2" charset="0"/>
              </a:rPr>
              <a:t>（</a:t>
            </a:r>
            <a:r>
              <a:rPr kumimoji="1" lang="en-US" altLang="zh-CN" sz="800" b="1" dirty="0">
                <a:latin typeface="Helvetica" pitchFamily="2" charset="0"/>
              </a:rPr>
              <a:t>4</a:t>
            </a:r>
            <a:r>
              <a:rPr kumimoji="1" lang="en-US" altLang="zh-CN" sz="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values</a:t>
            </a:r>
            <a:r>
              <a:rPr kumimoji="1" lang="zh-CN" altLang="en-US" sz="800" b="1" dirty="0">
                <a:latin typeface="Helvetica" pitchFamily="2" charset="0"/>
              </a:rPr>
              <a:t>）</a:t>
            </a:r>
          </a:p>
        </p:txBody>
      </p:sp>
      <p:sp>
        <p:nvSpPr>
          <p:cNvPr id="607" name="矩形 606">
            <a:extLst>
              <a:ext uri="{FF2B5EF4-FFF2-40B4-BE49-F238E27FC236}">
                <a16:creationId xmlns:a16="http://schemas.microsoft.com/office/drawing/2014/main" id="{831D484A-FE04-9331-8A24-0CFE36C5EFE1}"/>
              </a:ext>
            </a:extLst>
          </p:cNvPr>
          <p:cNvSpPr/>
          <p:nvPr/>
        </p:nvSpPr>
        <p:spPr>
          <a:xfrm>
            <a:off x="2123226" y="6072971"/>
            <a:ext cx="180000" cy="18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08" name="文本框 607">
            <a:extLst>
              <a:ext uri="{FF2B5EF4-FFF2-40B4-BE49-F238E27FC236}">
                <a16:creationId xmlns:a16="http://schemas.microsoft.com/office/drawing/2014/main" id="{E2E47501-9A76-D9A8-CBC6-90226E94CE0D}"/>
              </a:ext>
            </a:extLst>
          </p:cNvPr>
          <p:cNvSpPr txBox="1"/>
          <p:nvPr/>
        </p:nvSpPr>
        <p:spPr>
          <a:xfrm>
            <a:off x="2236584" y="6035651"/>
            <a:ext cx="1035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Coefficient value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610" name="矩形 609">
            <a:extLst>
              <a:ext uri="{FF2B5EF4-FFF2-40B4-BE49-F238E27FC236}">
                <a16:creationId xmlns:a16="http://schemas.microsoft.com/office/drawing/2014/main" id="{74BB8CC7-D059-296B-5111-781554987819}"/>
              </a:ext>
            </a:extLst>
          </p:cNvPr>
          <p:cNvSpPr/>
          <p:nvPr/>
        </p:nvSpPr>
        <p:spPr>
          <a:xfrm>
            <a:off x="3513378" y="6071379"/>
            <a:ext cx="18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1" name="文本框 610">
            <a:extLst>
              <a:ext uri="{FF2B5EF4-FFF2-40B4-BE49-F238E27FC236}">
                <a16:creationId xmlns:a16="http://schemas.microsoft.com/office/drawing/2014/main" id="{C9D4D854-1471-2BD6-A33A-5E6EEF27E314}"/>
              </a:ext>
            </a:extLst>
          </p:cNvPr>
          <p:cNvSpPr txBox="1"/>
          <p:nvPr/>
        </p:nvSpPr>
        <p:spPr>
          <a:xfrm>
            <a:off x="3608274" y="6035651"/>
            <a:ext cx="859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SIMD lane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612" name="矩形 611">
            <a:extLst>
              <a:ext uri="{FF2B5EF4-FFF2-40B4-BE49-F238E27FC236}">
                <a16:creationId xmlns:a16="http://schemas.microsoft.com/office/drawing/2014/main" id="{FDB50219-1147-B7A8-0FED-A7ED57A49CA8}"/>
              </a:ext>
            </a:extLst>
          </p:cNvPr>
          <p:cNvSpPr/>
          <p:nvPr/>
        </p:nvSpPr>
        <p:spPr>
          <a:xfrm>
            <a:off x="4762894" y="6062295"/>
            <a:ext cx="190800" cy="180000"/>
          </a:xfrm>
          <a:prstGeom prst="rect">
            <a:avLst/>
          </a:prstGeom>
          <a:solidFill>
            <a:srgbClr val="FFFFB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13" name="文本框 612">
            <a:extLst>
              <a:ext uri="{FF2B5EF4-FFF2-40B4-BE49-F238E27FC236}">
                <a16:creationId xmlns:a16="http://schemas.microsoft.com/office/drawing/2014/main" id="{8D8EEB3B-67E8-D702-176D-88669A256B0D}"/>
              </a:ext>
            </a:extLst>
          </p:cNvPr>
          <p:cNvSpPr txBox="1"/>
          <p:nvPr/>
        </p:nvSpPr>
        <p:spPr>
          <a:xfrm>
            <a:off x="4834524" y="6035651"/>
            <a:ext cx="1850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Bit extraction / shift operation</a:t>
            </a:r>
            <a:endParaRPr kumimoji="1" lang="zh-CN" altLang="en-US" sz="800" b="1" dirty="0">
              <a:latin typeface="Helvetica" pitchFamily="2" charset="0"/>
            </a:endParaRPr>
          </a:p>
        </p:txBody>
      </p:sp>
      <p:sp>
        <p:nvSpPr>
          <p:cNvPr id="615" name="矩形 614">
            <a:extLst>
              <a:ext uri="{FF2B5EF4-FFF2-40B4-BE49-F238E27FC236}">
                <a16:creationId xmlns:a16="http://schemas.microsoft.com/office/drawing/2014/main" id="{9ECE57E6-F8E8-1229-6842-9990F220B63A}"/>
              </a:ext>
            </a:extLst>
          </p:cNvPr>
          <p:cNvSpPr/>
          <p:nvPr/>
        </p:nvSpPr>
        <p:spPr>
          <a:xfrm>
            <a:off x="6853408" y="6059515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CDE49950-F7D4-4FDC-C6ED-0810A1D85913}"/>
              </a:ext>
            </a:extLst>
          </p:cNvPr>
          <p:cNvSpPr/>
          <p:nvPr/>
        </p:nvSpPr>
        <p:spPr>
          <a:xfrm>
            <a:off x="8051463" y="6052428"/>
            <a:ext cx="180000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17" name="文本框 616">
            <a:extLst>
              <a:ext uri="{FF2B5EF4-FFF2-40B4-BE49-F238E27FC236}">
                <a16:creationId xmlns:a16="http://schemas.microsoft.com/office/drawing/2014/main" id="{DFE38A56-C7CC-64D3-03C5-BCB8F0EDD9E4}"/>
              </a:ext>
            </a:extLst>
          </p:cNvPr>
          <p:cNvSpPr txBox="1"/>
          <p:nvPr/>
        </p:nvSpPr>
        <p:spPr>
          <a:xfrm>
            <a:off x="6827849" y="6021127"/>
            <a:ext cx="11427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Bit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of plane 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800" b="1" dirty="0">
                <a:latin typeface="Helvetica" pitchFamily="2" charset="0"/>
              </a:rPr>
              <a:t> </a:t>
            </a:r>
          </a:p>
        </p:txBody>
      </p:sp>
      <p:sp>
        <p:nvSpPr>
          <p:cNvPr id="618" name="文本框 617">
            <a:extLst>
              <a:ext uri="{FF2B5EF4-FFF2-40B4-BE49-F238E27FC236}">
                <a16:creationId xmlns:a16="http://schemas.microsoft.com/office/drawing/2014/main" id="{042C5B6F-76DF-4ABC-C92D-BBF20E94D689}"/>
              </a:ext>
            </a:extLst>
          </p:cNvPr>
          <p:cNvSpPr txBox="1"/>
          <p:nvPr/>
        </p:nvSpPr>
        <p:spPr>
          <a:xfrm>
            <a:off x="7971147" y="6028216"/>
            <a:ext cx="13154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Bit</a:t>
            </a:r>
            <a:r>
              <a:rPr kumimoji="1" lang="zh-CN" altLang="en-US" sz="800" b="1" dirty="0">
                <a:latin typeface="Helvetica" pitchFamily="2" charset="0"/>
              </a:rPr>
              <a:t> </a:t>
            </a:r>
            <a:r>
              <a:rPr kumimoji="1" lang="en-US" altLang="zh-CN" sz="800" b="1" dirty="0">
                <a:latin typeface="Helvetica" pitchFamily="2" charset="0"/>
              </a:rPr>
              <a:t>of plane </a:t>
            </a:r>
            <a:r>
              <a:rPr kumimoji="1" lang="en-US" altLang="zh-CN" sz="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p+</a:t>
            </a:r>
            <a:r>
              <a:rPr kumimoji="1" lang="en-US" altLang="zh-CN" sz="800" b="1" dirty="0">
                <a:latin typeface="Helvetica" pitchFamily="2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800" b="1" dirty="0">
                <a:latin typeface="Helvetica" pitchFamily="2" charset="0"/>
              </a:rPr>
              <a:t> </a:t>
            </a:r>
          </a:p>
        </p:txBody>
      </p:sp>
      <p:sp>
        <p:nvSpPr>
          <p:cNvPr id="619" name="矩形 618">
            <a:extLst>
              <a:ext uri="{FF2B5EF4-FFF2-40B4-BE49-F238E27FC236}">
                <a16:creationId xmlns:a16="http://schemas.microsoft.com/office/drawing/2014/main" id="{9D8D6FC1-0BEE-92D2-0118-8E9A204028F2}"/>
              </a:ext>
            </a:extLst>
          </p:cNvPr>
          <p:cNvSpPr/>
          <p:nvPr/>
        </p:nvSpPr>
        <p:spPr>
          <a:xfrm>
            <a:off x="9294641" y="6056055"/>
            <a:ext cx="180000" cy="180000"/>
          </a:xfrm>
          <a:prstGeom prst="rect">
            <a:avLst/>
          </a:prstGeom>
          <a:solidFill>
            <a:srgbClr val="FFA1A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0" name="文本框 619">
            <a:extLst>
              <a:ext uri="{FF2B5EF4-FFF2-40B4-BE49-F238E27FC236}">
                <a16:creationId xmlns:a16="http://schemas.microsoft.com/office/drawing/2014/main" id="{41BCF17B-41D4-8647-33C7-0C1E90FCEB80}"/>
              </a:ext>
            </a:extLst>
          </p:cNvPr>
          <p:cNvSpPr txBox="1"/>
          <p:nvPr/>
        </p:nvSpPr>
        <p:spPr>
          <a:xfrm>
            <a:off x="9338003" y="6047053"/>
            <a:ext cx="13154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Plane mask (16 bits)</a:t>
            </a:r>
          </a:p>
        </p:txBody>
      </p:sp>
      <p:sp>
        <p:nvSpPr>
          <p:cNvPr id="621" name="矩形 620">
            <a:extLst>
              <a:ext uri="{FF2B5EF4-FFF2-40B4-BE49-F238E27FC236}">
                <a16:creationId xmlns:a16="http://schemas.microsoft.com/office/drawing/2014/main" id="{262CA1EF-FC3B-1F0C-EEB8-81778BC83BE9}"/>
              </a:ext>
            </a:extLst>
          </p:cNvPr>
          <p:cNvSpPr/>
          <p:nvPr/>
        </p:nvSpPr>
        <p:spPr>
          <a:xfrm>
            <a:off x="10681683" y="6060098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800" b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622" name="文本框 621">
            <a:extLst>
              <a:ext uri="{FF2B5EF4-FFF2-40B4-BE49-F238E27FC236}">
                <a16:creationId xmlns:a16="http://schemas.microsoft.com/office/drawing/2014/main" id="{140807C5-0B11-0F35-66B1-49E83E08B989}"/>
              </a:ext>
            </a:extLst>
          </p:cNvPr>
          <p:cNvSpPr txBox="1"/>
          <p:nvPr/>
        </p:nvSpPr>
        <p:spPr>
          <a:xfrm>
            <a:off x="10727403" y="6042421"/>
            <a:ext cx="13154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b="1" dirty="0">
                <a:latin typeface="Helvetica" pitchFamily="2" charset="0"/>
              </a:rPr>
              <a:t>64-bit coefficient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A236C207-B3FA-BD45-6AE9-8542A4B77C4B}"/>
                  </a:ext>
                </a:extLst>
              </p:cNvPr>
              <p:cNvSpPr txBox="1"/>
              <p:nvPr/>
            </p:nvSpPr>
            <p:spPr>
              <a:xfrm>
                <a:off x="6248401" y="3182026"/>
                <a:ext cx="78405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≫(</m:t>
                      </m:r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+15)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A236C207-B3FA-BD45-6AE9-8542A4B77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1" y="3182026"/>
                <a:ext cx="784052" cy="21544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B77043B2-6427-D2BF-AA03-7F5BFA8261CD}"/>
                  </a:ext>
                </a:extLst>
              </p:cNvPr>
              <p:cNvSpPr txBox="1"/>
              <p:nvPr/>
            </p:nvSpPr>
            <p:spPr>
              <a:xfrm>
                <a:off x="7216660" y="3172110"/>
                <a:ext cx="78405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B77043B2-6427-D2BF-AA03-7F5BFA826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660" y="3172110"/>
                <a:ext cx="784052" cy="21544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741A7CF9-85E4-5F03-1F6C-9F2EA1BE3CB3}"/>
              </a:ext>
            </a:extLst>
          </p:cNvPr>
          <p:cNvSpPr/>
          <p:nvPr/>
        </p:nvSpPr>
        <p:spPr>
          <a:xfrm>
            <a:off x="1256560" y="4707729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9D6AC08-DB63-97CB-AC85-82DC847B5DBD}"/>
                  </a:ext>
                </a:extLst>
              </p:cNvPr>
              <p:cNvSpPr/>
              <p:nvPr/>
            </p:nvSpPr>
            <p:spPr>
              <a:xfrm>
                <a:off x="233337" y="4707729"/>
                <a:ext cx="343682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9D6AC08-DB63-97CB-AC85-82DC847B5D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37" y="4707729"/>
                <a:ext cx="343682" cy="18000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F8B50EC-1CB4-EF09-D900-FABA9DCA5FC2}"/>
                  </a:ext>
                </a:extLst>
              </p:cNvPr>
              <p:cNvSpPr/>
              <p:nvPr/>
            </p:nvSpPr>
            <p:spPr>
              <a:xfrm>
                <a:off x="1486512" y="4707729"/>
                <a:ext cx="378977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F8B50EC-1CB4-EF09-D900-FABA9DCA5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512" y="4707729"/>
                <a:ext cx="378977" cy="18000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9B9AD27-E777-FFA4-F082-03F06891A298}"/>
                  </a:ext>
                </a:extLst>
              </p:cNvPr>
              <p:cNvSpPr/>
              <p:nvPr/>
            </p:nvSpPr>
            <p:spPr>
              <a:xfrm>
                <a:off x="575842" y="4707719"/>
                <a:ext cx="343682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9B9AD27-E777-FFA4-F082-03F06891A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42" y="4707719"/>
                <a:ext cx="343682" cy="18000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DFE50E4-A757-F43B-8386-AC173D8A1C0E}"/>
                  </a:ext>
                </a:extLst>
              </p:cNvPr>
              <p:cNvSpPr/>
              <p:nvPr/>
            </p:nvSpPr>
            <p:spPr>
              <a:xfrm>
                <a:off x="911293" y="4707719"/>
                <a:ext cx="343682" cy="180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en-US" altLang="zh-CN" sz="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DFE50E4-A757-F43B-8386-AC173D8A1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93" y="4707719"/>
                <a:ext cx="343682" cy="18000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13227DC3-A883-224F-282E-E2D7C2B83802}"/>
              </a:ext>
            </a:extLst>
          </p:cNvPr>
          <p:cNvSpPr txBox="1"/>
          <p:nvPr/>
        </p:nvSpPr>
        <p:spPr>
          <a:xfrm>
            <a:off x="2750546" y="4069977"/>
            <a:ext cx="1398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" dirty="0">
                <a:latin typeface="Helvetica" pitchFamily="2" charset="0"/>
              </a:rPr>
              <a:t>(Single-plane example)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1217CD2-0AEA-23E2-3658-A120E6DE3086}"/>
                  </a:ext>
                </a:extLst>
              </p:cNvPr>
              <p:cNvSpPr txBox="1"/>
              <p:nvPr/>
            </p:nvSpPr>
            <p:spPr>
              <a:xfrm>
                <a:off x="329380" y="4364135"/>
                <a:ext cx="1398568" cy="348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800" dirty="0">
                    <a:latin typeface="Helvetica" pitchFamily="2" charset="0"/>
                  </a:rPr>
                  <a:t>Each</a:t>
                </a:r>
                <a:r>
                  <a:rPr kumimoji="1" lang="zh-CN" altLang="en-US" sz="800" dirty="0">
                    <a:latin typeface="Helvetica" pitchFamily="2" charset="0"/>
                  </a:rPr>
                  <a:t> </a:t>
                </a:r>
                <a:r>
                  <a:rPr kumimoji="1" lang="en-US" altLang="zh-CN" sz="800" dirty="0">
                    <a:latin typeface="Helvetica" pitchFamily="2" charset="0"/>
                  </a:rPr>
                  <a:t>lane holds one extracted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kumimoji="1" lang="en-US" altLang="zh-CN" sz="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kumimoji="1" lang="en-US" altLang="zh-CN" sz="800" dirty="0">
                    <a:latin typeface="Helvetica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1217CD2-0AEA-23E2-3658-A120E6DE3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80" y="4364135"/>
                <a:ext cx="1398568" cy="34817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49CA7E9C-8CB1-5B49-F969-18EFA01285E6}"/>
              </a:ext>
            </a:extLst>
          </p:cNvPr>
          <p:cNvSpPr/>
          <p:nvPr/>
        </p:nvSpPr>
        <p:spPr>
          <a:xfrm>
            <a:off x="1250765" y="5086717"/>
            <a:ext cx="230106" cy="180000"/>
          </a:xfrm>
          <a:prstGeom prst="rect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A3F9D8A-81ED-F450-5662-6F647ADFC6CE}"/>
              </a:ext>
            </a:extLst>
          </p:cNvPr>
          <p:cNvSpPr/>
          <p:nvPr/>
        </p:nvSpPr>
        <p:spPr>
          <a:xfrm>
            <a:off x="227542" y="5086717"/>
            <a:ext cx="343682" cy="180000"/>
          </a:xfrm>
          <a:prstGeom prst="rect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8A7E185-C7C8-7B63-A2F7-927795B4A903}"/>
              </a:ext>
            </a:extLst>
          </p:cNvPr>
          <p:cNvSpPr/>
          <p:nvPr/>
        </p:nvSpPr>
        <p:spPr>
          <a:xfrm>
            <a:off x="1480717" y="5086717"/>
            <a:ext cx="378977" cy="180000"/>
          </a:xfrm>
          <a:prstGeom prst="rect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C47F241-2A30-E8A7-ECD4-FB7EDA54B7C6}"/>
              </a:ext>
            </a:extLst>
          </p:cNvPr>
          <p:cNvSpPr/>
          <p:nvPr/>
        </p:nvSpPr>
        <p:spPr>
          <a:xfrm>
            <a:off x="570047" y="5086707"/>
            <a:ext cx="343682" cy="180000"/>
          </a:xfrm>
          <a:prstGeom prst="rect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04F1B55-8B74-2785-A668-BB74FB9B8400}"/>
              </a:ext>
            </a:extLst>
          </p:cNvPr>
          <p:cNvSpPr/>
          <p:nvPr/>
        </p:nvSpPr>
        <p:spPr>
          <a:xfrm>
            <a:off x="905498" y="5086707"/>
            <a:ext cx="343682" cy="180000"/>
          </a:xfrm>
          <a:prstGeom prst="rect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93C1DF9-1FEC-1208-E95C-E2770324FAE1}"/>
                  </a:ext>
                </a:extLst>
              </p:cNvPr>
              <p:cNvSpPr txBox="1"/>
              <p:nvPr/>
            </p:nvSpPr>
            <p:spPr>
              <a:xfrm>
                <a:off x="1449656" y="5069458"/>
                <a:ext cx="44137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≪15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93C1DF9-1FEC-1208-E95C-E2770324F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656" y="5069458"/>
                <a:ext cx="441370" cy="21544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52286DE-DC5D-AF8A-49B5-DF5EACCE91A4}"/>
                  </a:ext>
                </a:extLst>
              </p:cNvPr>
              <p:cNvSpPr txBox="1"/>
              <p:nvPr/>
            </p:nvSpPr>
            <p:spPr>
              <a:xfrm>
                <a:off x="927599" y="5065017"/>
                <a:ext cx="30105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≪2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52286DE-DC5D-AF8A-49B5-DF5EACCE9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599" y="5065017"/>
                <a:ext cx="301056" cy="215444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>
                <a:extLst>
                  <a:ext uri="{FF2B5EF4-FFF2-40B4-BE49-F238E27FC236}">
                    <a16:creationId xmlns:a16="http://schemas.microsoft.com/office/drawing/2014/main" id="{2E8974E3-4523-4462-4AAD-8DDB73E9796E}"/>
                  </a:ext>
                </a:extLst>
              </p:cNvPr>
              <p:cNvSpPr txBox="1"/>
              <p:nvPr/>
            </p:nvSpPr>
            <p:spPr>
              <a:xfrm>
                <a:off x="596144" y="5065017"/>
                <a:ext cx="30105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≪1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48" name="文本框 447">
                <a:extLst>
                  <a:ext uri="{FF2B5EF4-FFF2-40B4-BE49-F238E27FC236}">
                    <a16:creationId xmlns:a16="http://schemas.microsoft.com/office/drawing/2014/main" id="{2E8974E3-4523-4462-4AAD-8DDB73E97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44" y="5065017"/>
                <a:ext cx="301056" cy="215444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43A731CF-8E38-37C4-CA64-5E4AA611A3F4}"/>
                  </a:ext>
                </a:extLst>
              </p:cNvPr>
              <p:cNvSpPr txBox="1"/>
              <p:nvPr/>
            </p:nvSpPr>
            <p:spPr>
              <a:xfrm>
                <a:off x="253486" y="5065017"/>
                <a:ext cx="30105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zh-CN" sz="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≪0</m:t>
                      </m:r>
                    </m:oMath>
                  </m:oMathPara>
                </a14:m>
                <a:endParaRPr kumimoji="1" lang="zh-CN" altLang="en-US" sz="800" b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43A731CF-8E38-37C4-CA64-5E4AA611A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86" y="5065017"/>
                <a:ext cx="301056" cy="215444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下箭头 449">
            <a:extLst>
              <a:ext uri="{FF2B5EF4-FFF2-40B4-BE49-F238E27FC236}">
                <a16:creationId xmlns:a16="http://schemas.microsoft.com/office/drawing/2014/main" id="{14B05712-EA02-2C77-35D3-5ABE5932C555}"/>
              </a:ext>
            </a:extLst>
          </p:cNvPr>
          <p:cNvSpPr/>
          <p:nvPr/>
        </p:nvSpPr>
        <p:spPr>
          <a:xfrm>
            <a:off x="340296" y="492182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1" name="下箭头 450">
            <a:extLst>
              <a:ext uri="{FF2B5EF4-FFF2-40B4-BE49-F238E27FC236}">
                <a16:creationId xmlns:a16="http://schemas.microsoft.com/office/drawing/2014/main" id="{639F5A21-752D-09E2-9604-9AA57D767A4A}"/>
              </a:ext>
            </a:extLst>
          </p:cNvPr>
          <p:cNvSpPr/>
          <p:nvPr/>
        </p:nvSpPr>
        <p:spPr>
          <a:xfrm>
            <a:off x="714130" y="492211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2" name="下箭头 451">
            <a:extLst>
              <a:ext uri="{FF2B5EF4-FFF2-40B4-BE49-F238E27FC236}">
                <a16:creationId xmlns:a16="http://schemas.microsoft.com/office/drawing/2014/main" id="{F133F967-4052-F15B-B60B-5D9791FCDD3C}"/>
              </a:ext>
            </a:extLst>
          </p:cNvPr>
          <p:cNvSpPr/>
          <p:nvPr/>
        </p:nvSpPr>
        <p:spPr>
          <a:xfrm>
            <a:off x="1036372" y="492211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3" name="下箭头 452">
            <a:extLst>
              <a:ext uri="{FF2B5EF4-FFF2-40B4-BE49-F238E27FC236}">
                <a16:creationId xmlns:a16="http://schemas.microsoft.com/office/drawing/2014/main" id="{37D92335-73DD-76F2-E1DA-C52439CE6A1F}"/>
              </a:ext>
            </a:extLst>
          </p:cNvPr>
          <p:cNvSpPr/>
          <p:nvPr/>
        </p:nvSpPr>
        <p:spPr>
          <a:xfrm>
            <a:off x="1626555" y="4917420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6" name="矩形 465">
            <a:extLst>
              <a:ext uri="{FF2B5EF4-FFF2-40B4-BE49-F238E27FC236}">
                <a16:creationId xmlns:a16="http://schemas.microsoft.com/office/drawing/2014/main" id="{3D138134-A206-04B2-07CC-39216174DE8D}"/>
              </a:ext>
            </a:extLst>
          </p:cNvPr>
          <p:cNvSpPr/>
          <p:nvPr/>
        </p:nvSpPr>
        <p:spPr>
          <a:xfrm>
            <a:off x="1258203" y="5423648"/>
            <a:ext cx="230106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BC8ABC79-8E5A-4FF4-A3B1-28965D2E54EB}"/>
              </a:ext>
            </a:extLst>
          </p:cNvPr>
          <p:cNvSpPr/>
          <p:nvPr/>
        </p:nvSpPr>
        <p:spPr>
          <a:xfrm>
            <a:off x="234980" y="5423648"/>
            <a:ext cx="343682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4B38CFE1-38CF-3EA2-4927-7EBA305A8B29}"/>
              </a:ext>
            </a:extLst>
          </p:cNvPr>
          <p:cNvSpPr/>
          <p:nvPr/>
        </p:nvSpPr>
        <p:spPr>
          <a:xfrm>
            <a:off x="1488155" y="5423648"/>
            <a:ext cx="378977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58992D8A-83FF-AA85-8D3C-81DA3409BC8A}"/>
              </a:ext>
            </a:extLst>
          </p:cNvPr>
          <p:cNvSpPr/>
          <p:nvPr/>
        </p:nvSpPr>
        <p:spPr>
          <a:xfrm>
            <a:off x="577485" y="5423638"/>
            <a:ext cx="343682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AA58A888-A94C-9A7E-A819-71D3D50E5E30}"/>
              </a:ext>
            </a:extLst>
          </p:cNvPr>
          <p:cNvSpPr/>
          <p:nvPr/>
        </p:nvSpPr>
        <p:spPr>
          <a:xfrm>
            <a:off x="912936" y="5423638"/>
            <a:ext cx="343682" cy="1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" name="下箭头 470">
            <a:extLst>
              <a:ext uri="{FF2B5EF4-FFF2-40B4-BE49-F238E27FC236}">
                <a16:creationId xmlns:a16="http://schemas.microsoft.com/office/drawing/2014/main" id="{DFAB6EEB-1D7B-915D-00F7-F56AF67E5972}"/>
              </a:ext>
            </a:extLst>
          </p:cNvPr>
          <p:cNvSpPr/>
          <p:nvPr/>
        </p:nvSpPr>
        <p:spPr>
          <a:xfrm>
            <a:off x="340296" y="5282402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2" name="下箭头 471">
            <a:extLst>
              <a:ext uri="{FF2B5EF4-FFF2-40B4-BE49-F238E27FC236}">
                <a16:creationId xmlns:a16="http://schemas.microsoft.com/office/drawing/2014/main" id="{5478CDCD-B713-7DCE-D927-740AB87C5655}"/>
              </a:ext>
            </a:extLst>
          </p:cNvPr>
          <p:cNvSpPr/>
          <p:nvPr/>
        </p:nvSpPr>
        <p:spPr>
          <a:xfrm>
            <a:off x="714130" y="5282692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3" name="下箭头 472">
            <a:extLst>
              <a:ext uri="{FF2B5EF4-FFF2-40B4-BE49-F238E27FC236}">
                <a16:creationId xmlns:a16="http://schemas.microsoft.com/office/drawing/2014/main" id="{F3B27F80-59B7-3B81-9AF6-4CA6C9E4E49A}"/>
              </a:ext>
            </a:extLst>
          </p:cNvPr>
          <p:cNvSpPr/>
          <p:nvPr/>
        </p:nvSpPr>
        <p:spPr>
          <a:xfrm>
            <a:off x="1036372" y="5282692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4" name="下箭头 473">
            <a:extLst>
              <a:ext uri="{FF2B5EF4-FFF2-40B4-BE49-F238E27FC236}">
                <a16:creationId xmlns:a16="http://schemas.microsoft.com/office/drawing/2014/main" id="{8E1B9C5D-27E1-5B25-C6D3-4EB1AD7EC7DC}"/>
              </a:ext>
            </a:extLst>
          </p:cNvPr>
          <p:cNvSpPr/>
          <p:nvPr/>
        </p:nvSpPr>
        <p:spPr>
          <a:xfrm>
            <a:off x="1626555" y="5278002"/>
            <a:ext cx="101393" cy="1244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5" name="文本框 474">
                <a:extLst>
                  <a:ext uri="{FF2B5EF4-FFF2-40B4-BE49-F238E27FC236}">
                    <a16:creationId xmlns:a16="http://schemas.microsoft.com/office/drawing/2014/main" id="{00D680A6-A285-9748-591E-9D1CF334E29E}"/>
                  </a:ext>
                </a:extLst>
              </p:cNvPr>
              <p:cNvSpPr txBox="1"/>
              <p:nvPr/>
            </p:nvSpPr>
            <p:spPr>
              <a:xfrm>
                <a:off x="564860" y="5618793"/>
                <a:ext cx="929856" cy="165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kumimoji="1" lang="en-US" altLang="zh-CN" sz="10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kumimoji="1" lang="en-US" altLang="zh-CN" sz="1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75" name="文本框 474">
                <a:extLst>
                  <a:ext uri="{FF2B5EF4-FFF2-40B4-BE49-F238E27FC236}">
                    <a16:creationId xmlns:a16="http://schemas.microsoft.com/office/drawing/2014/main" id="{00D680A6-A285-9748-591E-9D1CF334E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60" y="5618793"/>
                <a:ext cx="929856" cy="165751"/>
              </a:xfrm>
              <a:prstGeom prst="rect">
                <a:avLst/>
              </a:prstGeom>
              <a:blipFill>
                <a:blip r:embed="rId51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文本框 128">
            <a:extLst>
              <a:ext uri="{FF2B5EF4-FFF2-40B4-BE49-F238E27FC236}">
                <a16:creationId xmlns:a16="http://schemas.microsoft.com/office/drawing/2014/main" id="{E838C937-8514-03BD-8BC9-84075925B598}"/>
              </a:ext>
            </a:extLst>
          </p:cNvPr>
          <p:cNvSpPr txBox="1"/>
          <p:nvPr/>
        </p:nvSpPr>
        <p:spPr>
          <a:xfrm>
            <a:off x="2040836" y="4302847"/>
            <a:ext cx="2595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1" dirty="0">
                <a:latin typeface="Helvetica" pitchFamily="2" charset="0"/>
              </a:rPr>
              <a:t>Shuffle-and-OR Stages</a:t>
            </a:r>
          </a:p>
          <a:p>
            <a:r>
              <a:rPr kumimoji="1" lang="en-US" altLang="zh-CN" sz="600" b="1" dirty="0">
                <a:latin typeface="Helvetica" pitchFamily="2" charset="0"/>
              </a:rPr>
              <a:t>Stage 1 </a:t>
            </a:r>
            <a:r>
              <a:rPr kumimoji="1" lang="en-US" altLang="zh-CN" sz="600" dirty="0">
                <a:latin typeface="Helvetica" pitchFamily="2" charset="0"/>
              </a:rPr>
              <a:t>: {1 0 3 2 5 4 7 6 9 8 11 10 13 12 15 14}</a:t>
            </a:r>
            <a:r>
              <a:rPr kumimoji="1" lang="zh-CN" altLang="en-US" sz="600" dirty="0">
                <a:latin typeface="Helvetica" pitchFamily="2" charset="0"/>
              </a:rPr>
              <a:t> </a:t>
            </a:r>
            <a:r>
              <a:rPr lang="zh-CN" altLang="zh-CN" sz="600" b="1" dirty="0">
                <a:latin typeface="Helvetica" pitchFamily="2" charset="0"/>
              </a:rPr>
              <a:t>2-lane partial masks</a:t>
            </a:r>
            <a:endParaRPr kumimoji="1" lang="en-US" altLang="zh-CN" sz="600" b="1" dirty="0">
              <a:latin typeface="Helvetica" pitchFamily="2" charset="0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D57AC8E4-CA4C-4136-07F4-F350EA046338}"/>
              </a:ext>
            </a:extLst>
          </p:cNvPr>
          <p:cNvSpPr/>
          <p:nvPr/>
        </p:nvSpPr>
        <p:spPr>
          <a:xfrm>
            <a:off x="3465592" y="4573065"/>
            <a:ext cx="230106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DD282F4A-7156-A2AE-4E7A-44FF2901466B}"/>
              </a:ext>
            </a:extLst>
          </p:cNvPr>
          <p:cNvSpPr/>
          <p:nvPr/>
        </p:nvSpPr>
        <p:spPr>
          <a:xfrm>
            <a:off x="2219168" y="4573070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9663B752-962D-AFFC-D69E-6253B3ED1BA1}"/>
              </a:ext>
            </a:extLst>
          </p:cNvPr>
          <p:cNvSpPr/>
          <p:nvPr/>
        </p:nvSpPr>
        <p:spPr>
          <a:xfrm>
            <a:off x="2468228" y="4573065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31C8E7EE-DBC2-4EE1-EB0A-5EE26DEADC4D}"/>
              </a:ext>
            </a:extLst>
          </p:cNvPr>
          <p:cNvSpPr/>
          <p:nvPr/>
        </p:nvSpPr>
        <p:spPr>
          <a:xfrm>
            <a:off x="2719200" y="4573659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3AB232C-3C40-353C-DE16-623CAE14E9A2}"/>
              </a:ext>
            </a:extLst>
          </p:cNvPr>
          <p:cNvSpPr/>
          <p:nvPr/>
        </p:nvSpPr>
        <p:spPr>
          <a:xfrm>
            <a:off x="2968260" y="4573654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C1DFBA8-91B5-DA00-4EDC-09DB7F592AEF}"/>
              </a:ext>
            </a:extLst>
          </p:cNvPr>
          <p:cNvSpPr/>
          <p:nvPr/>
        </p:nvSpPr>
        <p:spPr>
          <a:xfrm>
            <a:off x="3218433" y="4573065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72989FE3-570A-D789-1AA1-FC5703B563F5}"/>
              </a:ext>
            </a:extLst>
          </p:cNvPr>
          <p:cNvSpPr/>
          <p:nvPr/>
        </p:nvSpPr>
        <p:spPr>
          <a:xfrm>
            <a:off x="3697626" y="4573040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57B482D1-5E4A-D310-E41C-0377786AB94D}"/>
              </a:ext>
            </a:extLst>
          </p:cNvPr>
          <p:cNvSpPr/>
          <p:nvPr/>
        </p:nvSpPr>
        <p:spPr>
          <a:xfrm>
            <a:off x="3465181" y="4847366"/>
            <a:ext cx="230106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DD08A0B4-EC11-5026-1DC0-A76B840C3D91}"/>
              </a:ext>
            </a:extLst>
          </p:cNvPr>
          <p:cNvSpPr/>
          <p:nvPr/>
        </p:nvSpPr>
        <p:spPr>
          <a:xfrm>
            <a:off x="2218757" y="4847371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B664D8D2-150D-54AA-903D-0D270C82E451}"/>
              </a:ext>
            </a:extLst>
          </p:cNvPr>
          <p:cNvSpPr/>
          <p:nvPr/>
        </p:nvSpPr>
        <p:spPr>
          <a:xfrm>
            <a:off x="2467817" y="4847366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9F21228-5D2B-1BD3-397B-33A5E3B511FA}"/>
              </a:ext>
            </a:extLst>
          </p:cNvPr>
          <p:cNvSpPr/>
          <p:nvPr/>
        </p:nvSpPr>
        <p:spPr>
          <a:xfrm>
            <a:off x="2718789" y="4847960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F72F72C6-B394-F98E-7012-17BBB776D0CB}"/>
              </a:ext>
            </a:extLst>
          </p:cNvPr>
          <p:cNvSpPr/>
          <p:nvPr/>
        </p:nvSpPr>
        <p:spPr>
          <a:xfrm>
            <a:off x="2967849" y="4847955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6" name="矩形 575">
            <a:extLst>
              <a:ext uri="{FF2B5EF4-FFF2-40B4-BE49-F238E27FC236}">
                <a16:creationId xmlns:a16="http://schemas.microsoft.com/office/drawing/2014/main" id="{A2B3D985-399E-4F1A-F7FC-A5489DFED7B5}"/>
              </a:ext>
            </a:extLst>
          </p:cNvPr>
          <p:cNvSpPr/>
          <p:nvPr/>
        </p:nvSpPr>
        <p:spPr>
          <a:xfrm>
            <a:off x="3218022" y="4847366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9" name="矩形 578">
            <a:extLst>
              <a:ext uri="{FF2B5EF4-FFF2-40B4-BE49-F238E27FC236}">
                <a16:creationId xmlns:a16="http://schemas.microsoft.com/office/drawing/2014/main" id="{F1E4EABB-021D-133E-6861-9BF93A144124}"/>
              </a:ext>
            </a:extLst>
          </p:cNvPr>
          <p:cNvSpPr/>
          <p:nvPr/>
        </p:nvSpPr>
        <p:spPr>
          <a:xfrm>
            <a:off x="3697215" y="4847341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" name="矩形 583">
            <a:extLst>
              <a:ext uri="{FF2B5EF4-FFF2-40B4-BE49-F238E27FC236}">
                <a16:creationId xmlns:a16="http://schemas.microsoft.com/office/drawing/2014/main" id="{B6D7E83F-148D-81CE-DF70-359FC0D976F8}"/>
              </a:ext>
            </a:extLst>
          </p:cNvPr>
          <p:cNvSpPr/>
          <p:nvPr/>
        </p:nvSpPr>
        <p:spPr>
          <a:xfrm>
            <a:off x="3468350" y="5143424"/>
            <a:ext cx="230106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85" name="矩形 584">
            <a:extLst>
              <a:ext uri="{FF2B5EF4-FFF2-40B4-BE49-F238E27FC236}">
                <a16:creationId xmlns:a16="http://schemas.microsoft.com/office/drawing/2014/main" id="{707F2F3B-07E7-3A50-68F7-E1C961A688B3}"/>
              </a:ext>
            </a:extLst>
          </p:cNvPr>
          <p:cNvSpPr/>
          <p:nvPr/>
        </p:nvSpPr>
        <p:spPr>
          <a:xfrm>
            <a:off x="2221926" y="5143429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0" name="矩形 599">
            <a:extLst>
              <a:ext uri="{FF2B5EF4-FFF2-40B4-BE49-F238E27FC236}">
                <a16:creationId xmlns:a16="http://schemas.microsoft.com/office/drawing/2014/main" id="{15BB4B95-0C92-954A-4559-D9DE8C671944}"/>
              </a:ext>
            </a:extLst>
          </p:cNvPr>
          <p:cNvSpPr/>
          <p:nvPr/>
        </p:nvSpPr>
        <p:spPr>
          <a:xfrm>
            <a:off x="2470986" y="5143424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3" name="矩形 602">
            <a:extLst>
              <a:ext uri="{FF2B5EF4-FFF2-40B4-BE49-F238E27FC236}">
                <a16:creationId xmlns:a16="http://schemas.microsoft.com/office/drawing/2014/main" id="{4ADD5451-A7BE-7836-B9E8-3C85460B9544}"/>
              </a:ext>
            </a:extLst>
          </p:cNvPr>
          <p:cNvSpPr/>
          <p:nvPr/>
        </p:nvSpPr>
        <p:spPr>
          <a:xfrm>
            <a:off x="2721958" y="5144018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9" name="矩形 608">
            <a:extLst>
              <a:ext uri="{FF2B5EF4-FFF2-40B4-BE49-F238E27FC236}">
                <a16:creationId xmlns:a16="http://schemas.microsoft.com/office/drawing/2014/main" id="{337E9F80-1A8C-36F6-4EBA-2B7249F4F213}"/>
              </a:ext>
            </a:extLst>
          </p:cNvPr>
          <p:cNvSpPr/>
          <p:nvPr/>
        </p:nvSpPr>
        <p:spPr>
          <a:xfrm>
            <a:off x="2971018" y="5144013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" name="矩形 613">
            <a:extLst>
              <a:ext uri="{FF2B5EF4-FFF2-40B4-BE49-F238E27FC236}">
                <a16:creationId xmlns:a16="http://schemas.microsoft.com/office/drawing/2014/main" id="{1B62F376-C2D8-5C47-C031-E45B5A57E50A}"/>
              </a:ext>
            </a:extLst>
          </p:cNvPr>
          <p:cNvSpPr/>
          <p:nvPr/>
        </p:nvSpPr>
        <p:spPr>
          <a:xfrm>
            <a:off x="3221191" y="5143424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3" name="矩形 622">
            <a:extLst>
              <a:ext uri="{FF2B5EF4-FFF2-40B4-BE49-F238E27FC236}">
                <a16:creationId xmlns:a16="http://schemas.microsoft.com/office/drawing/2014/main" id="{481AEFBE-6330-3674-9E19-1CD6D8E4714C}"/>
              </a:ext>
            </a:extLst>
          </p:cNvPr>
          <p:cNvSpPr/>
          <p:nvPr/>
        </p:nvSpPr>
        <p:spPr>
          <a:xfrm>
            <a:off x="3700384" y="5143399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6" name="矩形 625">
            <a:extLst>
              <a:ext uri="{FF2B5EF4-FFF2-40B4-BE49-F238E27FC236}">
                <a16:creationId xmlns:a16="http://schemas.microsoft.com/office/drawing/2014/main" id="{B14DF16C-D999-76D3-3C88-BB2638DE40D5}"/>
              </a:ext>
            </a:extLst>
          </p:cNvPr>
          <p:cNvSpPr/>
          <p:nvPr/>
        </p:nvSpPr>
        <p:spPr>
          <a:xfrm>
            <a:off x="3467939" y="5429168"/>
            <a:ext cx="230106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27" name="矩形 626">
            <a:extLst>
              <a:ext uri="{FF2B5EF4-FFF2-40B4-BE49-F238E27FC236}">
                <a16:creationId xmlns:a16="http://schemas.microsoft.com/office/drawing/2014/main" id="{A215B856-D14E-A4E8-BFD3-BDAA0C9897A9}"/>
              </a:ext>
            </a:extLst>
          </p:cNvPr>
          <p:cNvSpPr/>
          <p:nvPr/>
        </p:nvSpPr>
        <p:spPr>
          <a:xfrm>
            <a:off x="2221515" y="5429173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矩形 627">
            <a:extLst>
              <a:ext uri="{FF2B5EF4-FFF2-40B4-BE49-F238E27FC236}">
                <a16:creationId xmlns:a16="http://schemas.microsoft.com/office/drawing/2014/main" id="{196BF123-EF91-AAB1-8E2A-784CF7CF9751}"/>
              </a:ext>
            </a:extLst>
          </p:cNvPr>
          <p:cNvSpPr/>
          <p:nvPr/>
        </p:nvSpPr>
        <p:spPr>
          <a:xfrm>
            <a:off x="2470575" y="5429168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矩形 628">
            <a:extLst>
              <a:ext uri="{FF2B5EF4-FFF2-40B4-BE49-F238E27FC236}">
                <a16:creationId xmlns:a16="http://schemas.microsoft.com/office/drawing/2014/main" id="{2F489F6E-25BE-D8FA-F10F-3CD0299DAF23}"/>
              </a:ext>
            </a:extLst>
          </p:cNvPr>
          <p:cNvSpPr/>
          <p:nvPr/>
        </p:nvSpPr>
        <p:spPr>
          <a:xfrm>
            <a:off x="2721547" y="5429762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矩形 629">
            <a:extLst>
              <a:ext uri="{FF2B5EF4-FFF2-40B4-BE49-F238E27FC236}">
                <a16:creationId xmlns:a16="http://schemas.microsoft.com/office/drawing/2014/main" id="{DF84ACA3-994F-99C2-62F8-B80FF29E8743}"/>
              </a:ext>
            </a:extLst>
          </p:cNvPr>
          <p:cNvSpPr/>
          <p:nvPr/>
        </p:nvSpPr>
        <p:spPr>
          <a:xfrm>
            <a:off x="2970607" y="5429757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1" name="矩形 630">
            <a:extLst>
              <a:ext uri="{FF2B5EF4-FFF2-40B4-BE49-F238E27FC236}">
                <a16:creationId xmlns:a16="http://schemas.microsoft.com/office/drawing/2014/main" id="{3D275689-5E59-721B-AF85-2A34D8CED3CE}"/>
              </a:ext>
            </a:extLst>
          </p:cNvPr>
          <p:cNvSpPr/>
          <p:nvPr/>
        </p:nvSpPr>
        <p:spPr>
          <a:xfrm>
            <a:off x="3220780" y="5429168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2" name="矩形 631">
            <a:extLst>
              <a:ext uri="{FF2B5EF4-FFF2-40B4-BE49-F238E27FC236}">
                <a16:creationId xmlns:a16="http://schemas.microsoft.com/office/drawing/2014/main" id="{81C34675-AD80-096D-1F18-1045EAD0735F}"/>
              </a:ext>
            </a:extLst>
          </p:cNvPr>
          <p:cNvSpPr/>
          <p:nvPr/>
        </p:nvSpPr>
        <p:spPr>
          <a:xfrm>
            <a:off x="3699973" y="5429143"/>
            <a:ext cx="251999" cy="116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3" name="左右箭头 632">
            <a:extLst>
              <a:ext uri="{FF2B5EF4-FFF2-40B4-BE49-F238E27FC236}">
                <a16:creationId xmlns:a16="http://schemas.microsoft.com/office/drawing/2014/main" id="{426CFE0E-1218-57F1-6DE4-3DCC94E00324}"/>
              </a:ext>
            </a:extLst>
          </p:cNvPr>
          <p:cNvSpPr/>
          <p:nvPr/>
        </p:nvSpPr>
        <p:spPr>
          <a:xfrm>
            <a:off x="2384764" y="4607048"/>
            <a:ext cx="150077" cy="56059"/>
          </a:xfrm>
          <a:prstGeom prst="left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4" name="左右箭头 633">
            <a:extLst>
              <a:ext uri="{FF2B5EF4-FFF2-40B4-BE49-F238E27FC236}">
                <a16:creationId xmlns:a16="http://schemas.microsoft.com/office/drawing/2014/main" id="{64B54018-348E-4AAD-47B7-90FEBF1C0FF5}"/>
              </a:ext>
            </a:extLst>
          </p:cNvPr>
          <p:cNvSpPr/>
          <p:nvPr/>
        </p:nvSpPr>
        <p:spPr>
          <a:xfrm>
            <a:off x="2894246" y="4609058"/>
            <a:ext cx="150077" cy="56059"/>
          </a:xfrm>
          <a:prstGeom prst="left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5" name="左右箭头 634">
            <a:extLst>
              <a:ext uri="{FF2B5EF4-FFF2-40B4-BE49-F238E27FC236}">
                <a16:creationId xmlns:a16="http://schemas.microsoft.com/office/drawing/2014/main" id="{4501E46A-55FA-CC38-677D-30095E43F921}"/>
              </a:ext>
            </a:extLst>
          </p:cNvPr>
          <p:cNvSpPr/>
          <p:nvPr/>
        </p:nvSpPr>
        <p:spPr>
          <a:xfrm>
            <a:off x="3386622" y="4598189"/>
            <a:ext cx="150077" cy="56059"/>
          </a:xfrm>
          <a:prstGeom prst="left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6" name="左右箭头 635">
            <a:extLst>
              <a:ext uri="{FF2B5EF4-FFF2-40B4-BE49-F238E27FC236}">
                <a16:creationId xmlns:a16="http://schemas.microsoft.com/office/drawing/2014/main" id="{B69C732F-A772-957C-47F3-DBD6CAA644CF}"/>
              </a:ext>
            </a:extLst>
          </p:cNvPr>
          <p:cNvSpPr/>
          <p:nvPr/>
        </p:nvSpPr>
        <p:spPr>
          <a:xfrm>
            <a:off x="3621057" y="4591243"/>
            <a:ext cx="150077" cy="56059"/>
          </a:xfrm>
          <a:prstGeom prst="left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7" name="圆角矩形 636">
            <a:extLst>
              <a:ext uri="{FF2B5EF4-FFF2-40B4-BE49-F238E27FC236}">
                <a16:creationId xmlns:a16="http://schemas.microsoft.com/office/drawing/2014/main" id="{B85DFCBA-2A83-5A54-2B29-697158B420AE}"/>
              </a:ext>
            </a:extLst>
          </p:cNvPr>
          <p:cNvSpPr/>
          <p:nvPr/>
        </p:nvSpPr>
        <p:spPr>
          <a:xfrm>
            <a:off x="2188464" y="4821814"/>
            <a:ext cx="569549" cy="163974"/>
          </a:xfrm>
          <a:prstGeom prst="round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9" name="圆角矩形 638">
            <a:extLst>
              <a:ext uri="{FF2B5EF4-FFF2-40B4-BE49-F238E27FC236}">
                <a16:creationId xmlns:a16="http://schemas.microsoft.com/office/drawing/2014/main" id="{48EC3746-4A34-86B0-5A62-303FEF732BA5}"/>
              </a:ext>
            </a:extLst>
          </p:cNvPr>
          <p:cNvSpPr/>
          <p:nvPr/>
        </p:nvSpPr>
        <p:spPr>
          <a:xfrm>
            <a:off x="2672792" y="4823943"/>
            <a:ext cx="581124" cy="163974"/>
          </a:xfrm>
          <a:prstGeom prst="round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0" name="圆角矩形 219">
            <a:extLst>
              <a:ext uri="{FF2B5EF4-FFF2-40B4-BE49-F238E27FC236}">
                <a16:creationId xmlns:a16="http://schemas.microsoft.com/office/drawing/2014/main" id="{782AEC5A-8E4C-DBC1-7388-9679A7158A57}"/>
              </a:ext>
            </a:extLst>
          </p:cNvPr>
          <p:cNvSpPr/>
          <p:nvPr/>
        </p:nvSpPr>
        <p:spPr>
          <a:xfrm>
            <a:off x="3621057" y="4823700"/>
            <a:ext cx="354374" cy="163974"/>
          </a:xfrm>
          <a:prstGeom prst="round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1" name="左右箭头 220">
            <a:extLst>
              <a:ext uri="{FF2B5EF4-FFF2-40B4-BE49-F238E27FC236}">
                <a16:creationId xmlns:a16="http://schemas.microsoft.com/office/drawing/2014/main" id="{48BE8816-58A9-27BE-C0C8-8B3751BAF783}"/>
              </a:ext>
            </a:extLst>
          </p:cNvPr>
          <p:cNvSpPr/>
          <p:nvPr/>
        </p:nvSpPr>
        <p:spPr>
          <a:xfrm>
            <a:off x="2623569" y="4868950"/>
            <a:ext cx="150077" cy="45719"/>
          </a:xfrm>
          <a:prstGeom prst="left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2" name="左右箭头 221">
            <a:extLst>
              <a:ext uri="{FF2B5EF4-FFF2-40B4-BE49-F238E27FC236}">
                <a16:creationId xmlns:a16="http://schemas.microsoft.com/office/drawing/2014/main" id="{B420A02C-8896-3C65-CB39-6FE61553D624}"/>
              </a:ext>
            </a:extLst>
          </p:cNvPr>
          <p:cNvSpPr/>
          <p:nvPr/>
        </p:nvSpPr>
        <p:spPr>
          <a:xfrm>
            <a:off x="3531207" y="4887848"/>
            <a:ext cx="150077" cy="45719"/>
          </a:xfrm>
          <a:prstGeom prst="left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3" name="圆角矩形 222">
            <a:extLst>
              <a:ext uri="{FF2B5EF4-FFF2-40B4-BE49-F238E27FC236}">
                <a16:creationId xmlns:a16="http://schemas.microsoft.com/office/drawing/2014/main" id="{F06CA499-95FD-6228-B70B-59EB6C9FEAD8}"/>
              </a:ext>
            </a:extLst>
          </p:cNvPr>
          <p:cNvSpPr/>
          <p:nvPr/>
        </p:nvSpPr>
        <p:spPr>
          <a:xfrm>
            <a:off x="2192522" y="5114105"/>
            <a:ext cx="1061928" cy="163974"/>
          </a:xfrm>
          <a:prstGeom prst="round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2" name="圆角矩形 231">
            <a:extLst>
              <a:ext uri="{FF2B5EF4-FFF2-40B4-BE49-F238E27FC236}">
                <a16:creationId xmlns:a16="http://schemas.microsoft.com/office/drawing/2014/main" id="{D80678F8-232E-2193-4F35-B143C0C3B265}"/>
              </a:ext>
            </a:extLst>
          </p:cNvPr>
          <p:cNvSpPr/>
          <p:nvPr/>
        </p:nvSpPr>
        <p:spPr>
          <a:xfrm>
            <a:off x="3627383" y="5119813"/>
            <a:ext cx="362431" cy="163974"/>
          </a:xfrm>
          <a:prstGeom prst="round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6" name="左右箭头 235">
            <a:extLst>
              <a:ext uri="{FF2B5EF4-FFF2-40B4-BE49-F238E27FC236}">
                <a16:creationId xmlns:a16="http://schemas.microsoft.com/office/drawing/2014/main" id="{CAAAAD72-816B-90BF-DE13-6F40B721F951}"/>
              </a:ext>
            </a:extLst>
          </p:cNvPr>
          <p:cNvSpPr/>
          <p:nvPr/>
        </p:nvSpPr>
        <p:spPr>
          <a:xfrm>
            <a:off x="3179411" y="5175403"/>
            <a:ext cx="150077" cy="45719"/>
          </a:xfrm>
          <a:prstGeom prst="left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7" name="左右箭头 236">
            <a:extLst>
              <a:ext uri="{FF2B5EF4-FFF2-40B4-BE49-F238E27FC236}">
                <a16:creationId xmlns:a16="http://schemas.microsoft.com/office/drawing/2014/main" id="{B672F0D7-C30B-B3DD-F927-9C60DE51FE0E}"/>
              </a:ext>
            </a:extLst>
          </p:cNvPr>
          <p:cNvSpPr/>
          <p:nvPr/>
        </p:nvSpPr>
        <p:spPr>
          <a:xfrm>
            <a:off x="3543382" y="5175403"/>
            <a:ext cx="150077" cy="45719"/>
          </a:xfrm>
          <a:prstGeom prst="left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7" name="圆角矩形 246">
            <a:extLst>
              <a:ext uri="{FF2B5EF4-FFF2-40B4-BE49-F238E27FC236}">
                <a16:creationId xmlns:a16="http://schemas.microsoft.com/office/drawing/2014/main" id="{C44727E8-CD64-8D41-B3F4-0691D69767BE}"/>
              </a:ext>
            </a:extLst>
          </p:cNvPr>
          <p:cNvSpPr/>
          <p:nvPr/>
        </p:nvSpPr>
        <p:spPr>
          <a:xfrm>
            <a:off x="2184163" y="5402516"/>
            <a:ext cx="1397121" cy="163974"/>
          </a:xfrm>
          <a:prstGeom prst="round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9" name="圆角矩形 248">
            <a:extLst>
              <a:ext uri="{FF2B5EF4-FFF2-40B4-BE49-F238E27FC236}">
                <a16:creationId xmlns:a16="http://schemas.microsoft.com/office/drawing/2014/main" id="{FD82CCBA-85EF-CFFD-4CC8-64E6DBB5C245}"/>
              </a:ext>
            </a:extLst>
          </p:cNvPr>
          <p:cNvSpPr/>
          <p:nvPr/>
        </p:nvSpPr>
        <p:spPr>
          <a:xfrm>
            <a:off x="3606818" y="5401499"/>
            <a:ext cx="376387" cy="163974"/>
          </a:xfrm>
          <a:prstGeom prst="roundRect">
            <a:avLst/>
          </a:prstGeom>
          <a:noFill/>
          <a:ln w="1587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6" name="左右箭头 255">
            <a:extLst>
              <a:ext uri="{FF2B5EF4-FFF2-40B4-BE49-F238E27FC236}">
                <a16:creationId xmlns:a16="http://schemas.microsoft.com/office/drawing/2014/main" id="{0F552CEF-37CF-9477-C03A-DBBF7F8ED0EF}"/>
              </a:ext>
            </a:extLst>
          </p:cNvPr>
          <p:cNvSpPr/>
          <p:nvPr/>
        </p:nvSpPr>
        <p:spPr>
          <a:xfrm>
            <a:off x="3518785" y="5461643"/>
            <a:ext cx="150077" cy="45719"/>
          </a:xfrm>
          <a:prstGeom prst="left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704F81DC-C22B-DE76-1971-039947492BC3}"/>
              </a:ext>
            </a:extLst>
          </p:cNvPr>
          <p:cNvSpPr txBox="1"/>
          <p:nvPr/>
        </p:nvSpPr>
        <p:spPr>
          <a:xfrm>
            <a:off x="2043324" y="4669798"/>
            <a:ext cx="26225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b="1" dirty="0">
                <a:latin typeface="Helvetica" pitchFamily="2" charset="0"/>
              </a:rPr>
              <a:t>Stage 2</a:t>
            </a:r>
            <a:r>
              <a:rPr kumimoji="1" lang="en-US" altLang="zh-CN" sz="600" dirty="0">
                <a:latin typeface="Helvetica" pitchFamily="2" charset="0"/>
              </a:rPr>
              <a:t> : {2 3 0 1 6 7 4 5 10 11 8 9 14 15 12 13}</a:t>
            </a:r>
            <a:r>
              <a:rPr kumimoji="1" lang="zh-CN" altLang="en-US" sz="600" dirty="0">
                <a:latin typeface="Helvetica" pitchFamily="2" charset="0"/>
              </a:rPr>
              <a:t> </a:t>
            </a:r>
            <a:r>
              <a:rPr kumimoji="1" lang="en-US" altLang="zh-CN" sz="600" b="1" dirty="0">
                <a:latin typeface="Helvetica" pitchFamily="2" charset="0"/>
              </a:rPr>
              <a:t>4-lane partial masks</a:t>
            </a: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198DAB4E-D9AF-5B1D-3600-9A42F85F2FF3}"/>
              </a:ext>
            </a:extLst>
          </p:cNvPr>
          <p:cNvSpPr txBox="1"/>
          <p:nvPr/>
        </p:nvSpPr>
        <p:spPr>
          <a:xfrm>
            <a:off x="2045479" y="4968638"/>
            <a:ext cx="26380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b="1" dirty="0">
                <a:latin typeface="Helvetica" pitchFamily="2" charset="0"/>
              </a:rPr>
              <a:t>Stage 3</a:t>
            </a:r>
            <a:r>
              <a:rPr kumimoji="1" lang="en-US" altLang="zh-CN" sz="600" dirty="0">
                <a:latin typeface="Helvetica" pitchFamily="2" charset="0"/>
              </a:rPr>
              <a:t> : {4 5 6 7 0 1 2 3 12 13 14 15 8 9 10 11}</a:t>
            </a:r>
            <a:r>
              <a:rPr kumimoji="1" lang="zh-CN" altLang="en-US" sz="600" dirty="0">
                <a:latin typeface="Helvetica" pitchFamily="2" charset="0"/>
              </a:rPr>
              <a:t> </a:t>
            </a:r>
            <a:r>
              <a:rPr kumimoji="1" lang="en-US" altLang="zh-CN" sz="600" b="1" dirty="0">
                <a:latin typeface="Helvetica" pitchFamily="2" charset="0"/>
              </a:rPr>
              <a:t>8-lane partial masks</a:t>
            </a: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79F58CF1-64A0-920B-B325-F2B7B724B86B}"/>
              </a:ext>
            </a:extLst>
          </p:cNvPr>
          <p:cNvSpPr txBox="1"/>
          <p:nvPr/>
        </p:nvSpPr>
        <p:spPr>
          <a:xfrm>
            <a:off x="2044718" y="5242934"/>
            <a:ext cx="24969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b="1" dirty="0">
                <a:latin typeface="Helvetica" pitchFamily="2" charset="0"/>
              </a:rPr>
              <a:t>Stage 4</a:t>
            </a:r>
            <a:r>
              <a:rPr kumimoji="1" lang="en-US" altLang="zh-CN" sz="600" dirty="0">
                <a:latin typeface="Helvetica" pitchFamily="2" charset="0"/>
              </a:rPr>
              <a:t> : {8 9 10 11 12 13 14 15 0 1 2 3 4 5 6 7} </a:t>
            </a:r>
            <a:r>
              <a:rPr kumimoji="1" lang="en-US" altLang="zh-CN" sz="600" b="1" dirty="0">
                <a:latin typeface="Helvetica" pitchFamily="2" charset="0"/>
              </a:rPr>
              <a:t>16-bit</a:t>
            </a:r>
            <a:r>
              <a:rPr kumimoji="1" lang="zh-CN" altLang="en-US" sz="600" b="1" dirty="0">
                <a:latin typeface="Helvetica" pitchFamily="2" charset="0"/>
              </a:rPr>
              <a:t> </a:t>
            </a:r>
            <a:r>
              <a:rPr kumimoji="1" lang="en-US" altLang="zh-CN" sz="600" b="1" dirty="0">
                <a:latin typeface="Helvetica" pitchFamily="2" charset="0"/>
              </a:rPr>
              <a:t>plane mask</a:t>
            </a: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2FAC2396-72C5-3C34-CCDB-4598C393D812}"/>
              </a:ext>
            </a:extLst>
          </p:cNvPr>
          <p:cNvSpPr/>
          <p:nvPr/>
        </p:nvSpPr>
        <p:spPr>
          <a:xfrm>
            <a:off x="3463759" y="5685540"/>
            <a:ext cx="230106" cy="116307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F367E8FE-D964-2FDD-92EB-55983AEC1573}"/>
              </a:ext>
            </a:extLst>
          </p:cNvPr>
          <p:cNvSpPr/>
          <p:nvPr/>
        </p:nvSpPr>
        <p:spPr>
          <a:xfrm>
            <a:off x="2217335" y="5685545"/>
            <a:ext cx="251999" cy="116307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7F725C0D-8AA7-1A78-5D09-26D9339567F3}"/>
              </a:ext>
            </a:extLst>
          </p:cNvPr>
          <p:cNvSpPr/>
          <p:nvPr/>
        </p:nvSpPr>
        <p:spPr>
          <a:xfrm>
            <a:off x="2466395" y="5685540"/>
            <a:ext cx="251999" cy="116307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BAE74262-C964-A58B-4B4C-556BCF9179BD}"/>
              </a:ext>
            </a:extLst>
          </p:cNvPr>
          <p:cNvSpPr/>
          <p:nvPr/>
        </p:nvSpPr>
        <p:spPr>
          <a:xfrm>
            <a:off x="2717367" y="5686134"/>
            <a:ext cx="251999" cy="116307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189A5BF9-33E3-CCD6-E1CB-A09B3C7AE306}"/>
              </a:ext>
            </a:extLst>
          </p:cNvPr>
          <p:cNvSpPr/>
          <p:nvPr/>
        </p:nvSpPr>
        <p:spPr>
          <a:xfrm>
            <a:off x="2966427" y="5686129"/>
            <a:ext cx="251999" cy="116307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786912D9-1A61-29B6-8515-3178C0122C2A}"/>
              </a:ext>
            </a:extLst>
          </p:cNvPr>
          <p:cNvSpPr/>
          <p:nvPr/>
        </p:nvSpPr>
        <p:spPr>
          <a:xfrm>
            <a:off x="3216600" y="5685540"/>
            <a:ext cx="251999" cy="116307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384B1C9E-FD22-CADA-5F65-49C58CBF02A1}"/>
              </a:ext>
            </a:extLst>
          </p:cNvPr>
          <p:cNvSpPr/>
          <p:nvPr/>
        </p:nvSpPr>
        <p:spPr>
          <a:xfrm>
            <a:off x="3695793" y="5685515"/>
            <a:ext cx="251999" cy="116307"/>
          </a:xfrm>
          <a:prstGeom prst="rect">
            <a:avLst/>
          </a:prstGeom>
          <a:solidFill>
            <a:srgbClr val="FFA1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sz="800" b="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下箭头 303">
            <a:extLst>
              <a:ext uri="{FF2B5EF4-FFF2-40B4-BE49-F238E27FC236}">
                <a16:creationId xmlns:a16="http://schemas.microsoft.com/office/drawing/2014/main" id="{78ED9F16-03DC-36D6-2E0D-B946477E7CCC}"/>
              </a:ext>
            </a:extLst>
          </p:cNvPr>
          <p:cNvSpPr/>
          <p:nvPr/>
        </p:nvSpPr>
        <p:spPr>
          <a:xfrm>
            <a:off x="2026004" y="4505324"/>
            <a:ext cx="74377" cy="116681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05" name="直线连接符 304">
            <a:extLst>
              <a:ext uri="{FF2B5EF4-FFF2-40B4-BE49-F238E27FC236}">
                <a16:creationId xmlns:a16="http://schemas.microsoft.com/office/drawing/2014/main" id="{EEEF76E9-EBFE-B961-176E-F7B3F2168B41}"/>
              </a:ext>
            </a:extLst>
          </p:cNvPr>
          <p:cNvCxnSpPr>
            <a:cxnSpLocks/>
          </p:cNvCxnSpPr>
          <p:nvPr/>
        </p:nvCxnSpPr>
        <p:spPr>
          <a:xfrm>
            <a:off x="1958546" y="4335608"/>
            <a:ext cx="0" cy="157238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69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9947</TotalTime>
  <Words>1610</Words>
  <Application>Microsoft Macintosh PowerPoint</Application>
  <PresentationFormat>宽屏</PresentationFormat>
  <Paragraphs>539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Arial</vt:lpstr>
      <vt:lpstr>Cambria Math</vt:lpstr>
      <vt:lpstr>Helvetica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贵亮 马</dc:creator>
  <cp:lastModifiedBy>贵亮 马</cp:lastModifiedBy>
  <cp:revision>58</cp:revision>
  <dcterms:created xsi:type="dcterms:W3CDTF">2026-10-02T09:01:53Z</dcterms:created>
  <dcterms:modified xsi:type="dcterms:W3CDTF">2026-10-09T06:49:08Z</dcterms:modified>
</cp:coreProperties>
</file>